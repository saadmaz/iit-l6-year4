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embeddedFontLst>
    <p:embeddedFont>
      <p:font typeface="Playfair Display"/>
      <p:regular r:id="rId30"/>
    </p:embeddedFont>
    <p:embeddedFont>
      <p:font typeface="Inter"/>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rId30.fntdata"/><Relationship Id="rId31" Type="http://schemas.openxmlformats.org/officeDocument/2006/relationships/font" Target="fonts/rId3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supervisor and the one-line question.
Hook: moisture testing alone takes about 6 hours in the oven; an NIR scan takes seconds.
Say the plan: prove it on moisture, then map which other tea parameters are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slides in six sections; aim to finish the talk by 17.5 minutes
Signal the structure: problem, aim, literature, solution, management, references
Transition: "Let me start with why tea testing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who is affected, then the time cost of each test.
Stress: the 6 h is the oven time in my own lab procedure; ISO 1573 only says "to constant mass".
Computing angle: this is a signal-processing and generalisation problem, not just a gadget.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slowly; it is the anchor for everything after.
Note: the 2025 export figure is 257.44 million kg; 245.79 million kg was 2024.
Likely question: why not just buy an NIR analyser? Answer: proprietary calibrations, cost, and no local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main question first, then RQ1 to RQ5
RQ1 to RQ4 are experimental on moisture; RQ5 is evidence synthesis
Likely question: "Why only moisture experimentally?" Oven and balance are the only in-house reference methods
Transition: "Each question maps to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RQ tag on each objective: every RQ has at least one objective
Scope: screening estimates, not certified results; no glyphosate by NIR
Success criteria are fixed before data collection (R2p 0.90, RPD 2.5, under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Synthesise, do not narrate papers: one sentence per theme.
Contradiction to mention: the same spectra gave Rp 0.971 for moisture but 0.795 for polyphenols (Bai et al.,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RQ5 at proposal stage
All evidence is from Q1/Q2 journals
Stress the honest negatives: no Q1/Q2 NIR study of added sugar in black tea; glyphosate needs LC-MS/MS
Likely question: "Why include parameters you will not test?" To produce a feasibility map that guides future work
Transition: "So what do existing tools already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each solution as strength then limitation.
Land on the closest study (Zou et al., 2022) and say exactly how Tea Sense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line of the gap aloud; examiners often push on novelty.
Show how requirements come from gaps, not from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8 pipeline steps; point out steps 3 and 7 as where the research rigour sits.
Technically hardest: generalisation with a small dataset, which is why the evaluation is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has a rejected alternative and a reason; say the reason, not the tool name.
If asked about deep learning, use the yellow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methodology (how evidence is produced) from development process (how the pipeline is built).
Mention the narrow made-tea moisture range and how conditioning widens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examiners scrutinise most: tie every metric to an RQ.
Be honest about the proof of concept: meat spectra (Borggaard and Thodberg, 1992), wider moisture range, different instrument.
It shows the code and leakage-safe protocol work, and that SNV, CARS and SVR behave as the literature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Surrogate data (Tecator meat NIR), not tea: say this first
The point is that the full pipeline already runs end to end
SVR beat PLSR here; the real tea data may differ, and that is acceptable
Transition: "Now the responsibilities that come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real harm: mouldy tea released because of a wrong low reading.
Mention the AI-use register openly; it is part of professional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critical path and the contingency, not every phase.
Dates are indicative until checked against official IIT and UoW deadlines.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risk on the left lines up with its response on the right.
Biggest risk: spectrometer access; say the fallback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Harvard style; journal names in italics
Every journal article is in a Q1 or Q2 journal (SCImago); quartiles listed in Appendix A, Table A2 of the proposal
Do not read the list; pause for 5 seconds,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and the export statistic are not journal articles; they define reference methods and context
Full list (33 journal articles) is in the proposal
Transition: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summary the examiners will remember
Read the quote, pause, then walk through the five points
Transition: "I would be glad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whole Q&amp;A
The five prepared answers are on screen; expand on whichever is asked
If asked about results: stress that the proof of concept used surrogate data, not tea
If asked about sugar: no Q1/Q2 NIR study exists for added sugar in black tea, which is why it is graded low to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the supervisor
Keep this slide up only briefly if Q&amp;A has already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20"/>
        </a:solidFill>
      </p:bgPr>
    </p:bg>
    <p:spTree>
      <p:nvGrpSpPr>
        <p:cNvPr id="1" name=""/>
        <p:cNvGrpSpPr/>
        <p:nvPr/>
      </p:nvGrpSpPr>
      <p:grpSpPr>
        <a:xfrm>
          <a:off x="0" y="0"/>
          <a:ext cx="0" cy="0"/>
          <a:chOff x="0" y="0"/>
          <a:chExt cx="0" cy="0"/>
        </a:xfrm>
      </p:grpSpPr>
      <p:sp>
        <p:nvSpPr>
          <p:cNvPr id="3" name="Shape 0"/>
          <p:cNvSpPr/>
          <p:nvPr/>
        </p:nvSpPr>
        <p:spPr>
          <a:xfrm>
            <a:off x="5619750" y="-2000250"/>
            <a:ext cx="5715000" cy="5715000"/>
          </a:xfrm>
          <a:prstGeom prst="ellipse">
            <a:avLst/>
          </a:prstGeom>
          <a:solidFill>
            <a:srgbClr val="1F5C4F">
              <a:alpha val="28000"/>
            </a:srgbClr>
          </a:solidFill>
          <a:ln/>
        </p:spPr>
      </p:sp>
      <p:sp>
        <p:nvSpPr>
          <p:cNvPr id="4" name="Shape 1"/>
          <p:cNvSpPr/>
          <p:nvPr/>
        </p:nvSpPr>
        <p:spPr>
          <a:xfrm>
            <a:off x="6000750" y="-1619250"/>
            <a:ext cx="5715000" cy="5715000"/>
          </a:xfrm>
          <a:prstGeom prst="ellipse">
            <a:avLst/>
          </a:prstGeom>
          <a:noFill/>
          <a:ln w="6787">
            <a:solidFill>
              <a:srgbClr val="C9A24E">
                <a:alpha val="35000"/>
              </a:srgbClr>
            </a:solidFill>
            <a:prstDash val="solid"/>
          </a:ln>
        </p:spPr>
      </p:sp>
      <p:sp>
        <p:nvSpPr>
          <p:cNvPr id="5" name="Shape 2"/>
          <p:cNvSpPr/>
          <p:nvPr/>
        </p:nvSpPr>
        <p:spPr>
          <a:xfrm>
            <a:off x="514350" y="885825"/>
            <a:ext cx="4572000" cy="762000"/>
          </a:xfrm>
          <a:prstGeom prst="rect">
            <a:avLst/>
          </a:prstGeom>
          <a:noFill/>
          <a:ln/>
        </p:spPr>
      </p:sp>
      <p:sp>
        <p:nvSpPr>
          <p:cNvPr id="6" name="Shape 3"/>
          <p:cNvSpPr/>
          <p:nvPr/>
        </p:nvSpPr>
        <p:spPr>
          <a:xfrm>
            <a:off x="514350" y="885825"/>
            <a:ext cx="4572000" cy="762000"/>
          </a:xfrm>
          <a:prstGeom prst="rect">
            <a:avLst/>
          </a:prstGeom>
          <a:noFill/>
          <a:ln/>
        </p:spPr>
      </p:sp>
      <p:sp>
        <p:nvSpPr>
          <p:cNvPr id="7" name="Text 4"/>
          <p:cNvSpPr/>
          <p:nvPr/>
        </p:nvSpPr>
        <p:spPr>
          <a:xfrm>
            <a:off x="514350" y="885825"/>
            <a:ext cx="4572000" cy="762000"/>
          </a:xfrm>
          <a:prstGeom prst="rect">
            <a:avLst/>
          </a:prstGeom>
          <a:noFill/>
          <a:ln/>
        </p:spPr>
        <p:txBody>
          <a:bodyPr wrap="square" lIns="0" tIns="0" rIns="0" bIns="0" rtlCol="0" anchor="t"/>
          <a:lstStyle/>
          <a:p>
            <a:pPr algn="l" indent="0" marL="0">
              <a:lnSpc>
                <a:spcPts val="5330"/>
              </a:lnSpc>
              <a:buNone/>
            </a:pPr>
            <a:r>
              <a:rPr lang="en-US" sz="4845" b="1" dirty="0">
                <a:solidFill>
                  <a:srgbClr val="FFFFFF">
                    <a:alpha val="99000"/>
                  </a:srgbClr>
                </a:solidFill>
                <a:latin typeface="Playfair Display" pitchFamily="34" charset="0"/>
                <a:ea typeface="Playfair Display" pitchFamily="34" charset="-122"/>
                <a:cs typeface="Playfair Display" pitchFamily="34" charset="-120"/>
              </a:rPr>
              <a:t>Tea Sense</a:t>
            </a:r>
            <a:endParaRPr lang="en-US" sz="4845" dirty="0"/>
          </a:p>
        </p:txBody>
      </p:sp>
      <p:sp>
        <p:nvSpPr>
          <p:cNvPr id="8" name="Shape 5"/>
          <p:cNvSpPr/>
          <p:nvPr/>
        </p:nvSpPr>
        <p:spPr>
          <a:xfrm>
            <a:off x="542925" y="1695450"/>
            <a:ext cx="4286250" cy="247650"/>
          </a:xfrm>
          <a:prstGeom prst="rect">
            <a:avLst/>
          </a:prstGeom>
          <a:noFill/>
          <a:ln/>
        </p:spPr>
      </p:sp>
      <p:sp>
        <p:nvSpPr>
          <p:cNvPr id="9" name="Shape 6"/>
          <p:cNvSpPr/>
          <p:nvPr/>
        </p:nvSpPr>
        <p:spPr>
          <a:xfrm>
            <a:off x="542925" y="1695450"/>
            <a:ext cx="4286250" cy="247650"/>
          </a:xfrm>
          <a:prstGeom prst="rect">
            <a:avLst/>
          </a:prstGeom>
          <a:noFill/>
          <a:ln/>
        </p:spPr>
      </p:sp>
      <p:sp>
        <p:nvSpPr>
          <p:cNvPr id="10" name="Text 7"/>
          <p:cNvSpPr/>
          <p:nvPr/>
        </p:nvSpPr>
        <p:spPr>
          <a:xfrm>
            <a:off x="542925" y="1695450"/>
            <a:ext cx="4286250" cy="247650"/>
          </a:xfrm>
          <a:prstGeom prst="rect">
            <a:avLst/>
          </a:prstGeom>
          <a:noFill/>
          <a:ln/>
        </p:spPr>
        <p:txBody>
          <a:bodyPr wrap="square" lIns="0" tIns="0" rIns="0" bIns="0" rtlCol="0" anchor="t"/>
          <a:lstStyle/>
          <a:p>
            <a:pPr algn="l" indent="0" marL="0">
              <a:lnSpc>
                <a:spcPts val="1552"/>
              </a:lnSpc>
              <a:buNone/>
            </a:pPr>
            <a:r>
              <a:rPr lang="en-US" sz="1283" dirty="0">
                <a:solidFill>
                  <a:srgbClr val="D3E3DD">
                    <a:alpha val="99000"/>
                  </a:srgbClr>
                </a:solidFill>
                <a:latin typeface="Inter" pitchFamily="34" charset="0"/>
                <a:ea typeface="Inter" pitchFamily="34" charset="-122"/>
                <a:cs typeface="Inter" pitchFamily="34" charset="-120"/>
              </a:rPr>
              <a:t>NIR spectroscopy + AI for rapid tea testing</a:t>
            </a:r>
            <a:endParaRPr lang="en-US" sz="1283" dirty="0"/>
          </a:p>
        </p:txBody>
      </p:sp>
      <p:sp>
        <p:nvSpPr>
          <p:cNvPr id="11" name="Shape 8"/>
          <p:cNvSpPr/>
          <p:nvPr/>
        </p:nvSpPr>
        <p:spPr>
          <a:xfrm>
            <a:off x="533400" y="2276475"/>
            <a:ext cx="4191000" cy="1019175"/>
          </a:xfrm>
          <a:prstGeom prst="roundRect">
            <a:avLst/>
          </a:prstGeom>
          <a:solidFill>
            <a:srgbClr val="FFFFFF">
              <a:alpha val="6000"/>
            </a:srgbClr>
          </a:solidFill>
          <a:ln w="4524">
            <a:solidFill>
              <a:srgbClr val="FFFFFF">
                <a:alpha val="14000"/>
              </a:srgbClr>
            </a:solidFill>
            <a:prstDash val="solid"/>
          </a:ln>
        </p:spPr>
      </p:sp>
      <p:sp>
        <p:nvSpPr>
          <p:cNvPr id="12" name="Shape 9"/>
          <p:cNvSpPr/>
          <p:nvPr/>
        </p:nvSpPr>
        <p:spPr>
          <a:xfrm>
            <a:off x="704850" y="2409825"/>
            <a:ext cx="3857625" cy="809625"/>
          </a:xfrm>
          <a:prstGeom prst="rect">
            <a:avLst/>
          </a:prstGeom>
          <a:noFill/>
          <a:ln/>
        </p:spPr>
      </p:sp>
      <p:sp>
        <p:nvSpPr>
          <p:cNvPr id="13" name="Shape 10"/>
          <p:cNvSpPr/>
          <p:nvPr/>
        </p:nvSpPr>
        <p:spPr>
          <a:xfrm>
            <a:off x="704850" y="2409825"/>
            <a:ext cx="3857625" cy="809625"/>
          </a:xfrm>
          <a:prstGeom prst="rect">
            <a:avLst/>
          </a:prstGeom>
          <a:noFill/>
          <a:ln/>
        </p:spPr>
      </p:sp>
      <p:sp>
        <p:nvSpPr>
          <p:cNvPr id="14" name="Text 11"/>
          <p:cNvSpPr/>
          <p:nvPr/>
        </p:nvSpPr>
        <p:spPr>
          <a:xfrm>
            <a:off x="704850" y="2409825"/>
            <a:ext cx="3857625" cy="809625"/>
          </a:xfrm>
          <a:prstGeom prst="rect">
            <a:avLst/>
          </a:prstGeom>
          <a:noFill/>
          <a:ln/>
        </p:spPr>
        <p:txBody>
          <a:bodyPr wrap="square" lIns="0" tIns="0" rIns="0" bIns="0" rtlCol="0" anchor="t"/>
          <a:lstStyle/>
          <a:p>
            <a:pPr algn="l" indent="0" marL="0">
              <a:lnSpc>
                <a:spcPts val="1122"/>
              </a:lnSpc>
              <a:buNone/>
            </a:pPr>
            <a:r>
              <a:rPr lang="en-US" sz="748" b="1" dirty="0">
                <a:solidFill>
                  <a:srgbClr val="FFFFFF">
                    <a:alpha val="99000"/>
                  </a:srgbClr>
                </a:solidFill>
                <a:latin typeface="Inter" pitchFamily="34" charset="0"/>
                <a:ea typeface="Inter" pitchFamily="34" charset="-122"/>
                <a:cs typeface="Inter" pitchFamily="34" charset="-120"/>
              </a:rPr>
              <a:t>TEA SENSE: A Spectroscopic System for Estimating Moisture and Quality Parameters in Black Tea</a:t>
            </a:r>
            <a:endParaRPr lang="en-US" sz="748" dirty="0"/>
          </a:p>
          <a:p>
            <a:pPr algn="l" indent="0" marL="0">
              <a:lnSpc>
                <a:spcPts val="1122"/>
              </a:lnSpc>
              <a:buNone/>
            </a:pPr>
            <a:r>
              <a:rPr lang="en-US" sz="748" dirty="0">
                <a:solidFill>
                  <a:srgbClr val="DCE7E3">
                    <a:alpha val="99000"/>
                  </a:srgbClr>
                </a:solidFill>
                <a:latin typeface="Inter" pitchFamily="34" charset="0"/>
                <a:ea typeface="Inter" pitchFamily="34" charset="-122"/>
                <a:cs typeface="Inter" pitchFamily="34" charset="-120"/>
              </a:rPr>
              <a:t>Muhammed Saad Mazhar (IIT 20221804, UoW W2053223)</a:t>
            </a:r>
            <a:endParaRPr lang="en-US" sz="748" dirty="0"/>
          </a:p>
          <a:p>
            <a:pPr algn="l" indent="0" marL="0">
              <a:lnSpc>
                <a:spcPts val="1122"/>
              </a:lnSpc>
              <a:buNone/>
            </a:pPr>
            <a:r>
              <a:rPr lang="en-US" sz="748" dirty="0">
                <a:solidFill>
                  <a:srgbClr val="DCE7E3">
                    <a:alpha val="99000"/>
                  </a:srgbClr>
                </a:solidFill>
                <a:latin typeface="Inter" pitchFamily="34" charset="0"/>
                <a:ea typeface="Inter" pitchFamily="34" charset="-122"/>
                <a:cs typeface="Inter" pitchFamily="34" charset="-120"/>
              </a:rPr>
              <a:t>Supervisor: Mr. Ajeevan Sivanandhan</a:t>
            </a:r>
            <a:endParaRPr lang="en-US" sz="748" dirty="0"/>
          </a:p>
          <a:p>
            <a:pPr algn="l" indent="0" marL="0">
              <a:lnSpc>
                <a:spcPts val="1122"/>
              </a:lnSpc>
              <a:buNone/>
            </a:pPr>
            <a:r>
              <a:rPr lang="en-US" sz="748" dirty="0">
                <a:solidFill>
                  <a:srgbClr val="DCE7E3">
                    <a:alpha val="99000"/>
                  </a:srgbClr>
                </a:solidFill>
                <a:latin typeface="Inter" pitchFamily="34" charset="0"/>
                <a:ea typeface="Inter" pitchFamily="34" charset="-122"/>
                <a:cs typeface="Inter" pitchFamily="34" charset="-120"/>
              </a:rPr>
              <a:t>BSc (Hons) Computer Science, IIT / University of Westminster</a:t>
            </a:r>
            <a:endParaRPr lang="en-US" sz="748" dirty="0"/>
          </a:p>
        </p:txBody>
      </p:sp>
      <p:sp>
        <p:nvSpPr>
          <p:cNvPr id="15" name="Shape 12"/>
          <p:cNvSpPr/>
          <p:nvPr/>
        </p:nvSpPr>
        <p:spPr>
          <a:xfrm>
            <a:off x="5286375" y="714375"/>
            <a:ext cx="3286125" cy="3048000"/>
          </a:xfrm>
          <a:prstGeom prst="roundRect">
            <a:avLst/>
          </a:prstGeom>
          <a:solidFill>
            <a:srgbClr val="F5F2EA"/>
          </a:solidFill>
          <a:ln/>
        </p:spPr>
      </p:sp>
      <p:sp>
        <p:nvSpPr>
          <p:cNvPr id="16" name="Shape 13"/>
          <p:cNvSpPr/>
          <p:nvPr/>
        </p:nvSpPr>
        <p:spPr>
          <a:xfrm>
            <a:off x="5572125" y="1019175"/>
            <a:ext cx="2714625" cy="161925"/>
          </a:xfrm>
          <a:prstGeom prst="rect">
            <a:avLst/>
          </a:prstGeom>
          <a:noFill/>
          <a:ln/>
        </p:spPr>
      </p:sp>
      <p:sp>
        <p:nvSpPr>
          <p:cNvPr id="17" name="Shape 14"/>
          <p:cNvSpPr/>
          <p:nvPr/>
        </p:nvSpPr>
        <p:spPr>
          <a:xfrm>
            <a:off x="5572125" y="1019175"/>
            <a:ext cx="2714625" cy="161925"/>
          </a:xfrm>
          <a:prstGeom prst="rect">
            <a:avLst/>
          </a:prstGeom>
          <a:noFill/>
          <a:ln/>
        </p:spPr>
      </p:sp>
      <p:sp>
        <p:nvSpPr>
          <p:cNvPr id="18" name="Text 15"/>
          <p:cNvSpPr/>
          <p:nvPr/>
        </p:nvSpPr>
        <p:spPr>
          <a:xfrm>
            <a:off x="5572125" y="1019175"/>
            <a:ext cx="2714625" cy="161925"/>
          </a:xfrm>
          <a:prstGeom prst="rect">
            <a:avLst/>
          </a:prstGeom>
          <a:noFill/>
          <a:ln/>
        </p:spPr>
        <p:txBody>
          <a:bodyPr wrap="square" lIns="0" tIns="0" rIns="0" bIns="0" rtlCol="0" anchor="t"/>
          <a:lstStyle/>
          <a:p>
            <a:pPr algn="l" indent="0" marL="0">
              <a:lnSpc>
                <a:spcPts val="862"/>
              </a:lnSpc>
              <a:buNone/>
            </a:pPr>
            <a:r>
              <a:rPr lang="en-US" sz="713" b="1" spc="128" kern="0" dirty="0">
                <a:solidFill>
                  <a:srgbClr val="A87B2F">
                    <a:alpha val="99000"/>
                  </a:srgbClr>
                </a:solidFill>
                <a:latin typeface="Inter" pitchFamily="34" charset="0"/>
                <a:ea typeface="Inter" pitchFamily="34" charset="-122"/>
                <a:cs typeface="Inter" pitchFamily="34" charset="-120"/>
              </a:rPr>
              <a:t>RESEARCH QUESTION</a:t>
            </a:r>
            <a:endParaRPr lang="en-US" sz="713" dirty="0"/>
          </a:p>
        </p:txBody>
      </p:sp>
      <p:sp>
        <p:nvSpPr>
          <p:cNvPr id="19" name="Shape 16"/>
          <p:cNvSpPr/>
          <p:nvPr/>
        </p:nvSpPr>
        <p:spPr>
          <a:xfrm>
            <a:off x="5572125" y="1428750"/>
            <a:ext cx="2714625" cy="2095500"/>
          </a:xfrm>
          <a:prstGeom prst="rect">
            <a:avLst/>
          </a:prstGeom>
          <a:noFill/>
          <a:ln/>
        </p:spPr>
      </p:sp>
      <p:sp>
        <p:nvSpPr>
          <p:cNvPr id="20" name="Shape 17"/>
          <p:cNvSpPr/>
          <p:nvPr/>
        </p:nvSpPr>
        <p:spPr>
          <a:xfrm>
            <a:off x="5572125" y="1428750"/>
            <a:ext cx="2714625" cy="2095500"/>
          </a:xfrm>
          <a:prstGeom prst="rect">
            <a:avLst/>
          </a:prstGeom>
          <a:noFill/>
          <a:ln/>
        </p:spPr>
      </p:sp>
      <p:sp>
        <p:nvSpPr>
          <p:cNvPr id="21" name="Text 18"/>
          <p:cNvSpPr/>
          <p:nvPr/>
        </p:nvSpPr>
        <p:spPr>
          <a:xfrm>
            <a:off x="5572125" y="1428750"/>
            <a:ext cx="2714625" cy="2095500"/>
          </a:xfrm>
          <a:prstGeom prst="rect">
            <a:avLst/>
          </a:prstGeom>
          <a:noFill/>
          <a:ln/>
        </p:spPr>
        <p:txBody>
          <a:bodyPr wrap="square" lIns="0" tIns="0" rIns="0" bIns="0" rtlCol="0" anchor="t"/>
          <a:lstStyle/>
          <a:p>
            <a:pPr algn="l" indent="0" marL="0">
              <a:lnSpc>
                <a:spcPts val="1967"/>
              </a:lnSpc>
              <a:buNone/>
            </a:pPr>
            <a:r>
              <a:rPr lang="en-US" sz="1425" spc="-7" kern="0" dirty="0">
                <a:solidFill>
                  <a:srgbClr val="0E2A26">
                    <a:alpha val="99000"/>
                  </a:srgbClr>
                </a:solidFill>
                <a:latin typeface="Inter" pitchFamily="34" charset="0"/>
                <a:ea typeface="Inter" pitchFamily="34" charset="-122"/>
                <a:cs typeface="Inter" pitchFamily="34" charset="-120"/>
              </a:rPr>
              <a:t>Can a few seconds of near-infrared light, read by AI, replace hours of laboratory testing for screening black-tea moisture and quality?</a:t>
            </a:r>
            <a:endParaRPr lang="en-US" sz="1425" dirty="0"/>
          </a:p>
        </p:txBody>
      </p:sp>
      <p:sp>
        <p:nvSpPr>
          <p:cNvPr id="22" name="Shape 19"/>
          <p:cNvSpPr/>
          <p:nvPr/>
        </p:nvSpPr>
        <p:spPr>
          <a:xfrm>
            <a:off x="542925" y="4572000"/>
            <a:ext cx="4762500" cy="171450"/>
          </a:xfrm>
          <a:prstGeom prst="rect">
            <a:avLst/>
          </a:prstGeom>
          <a:noFill/>
          <a:ln/>
        </p:spPr>
      </p:sp>
      <p:sp>
        <p:nvSpPr>
          <p:cNvPr id="23" name="Shape 20"/>
          <p:cNvSpPr/>
          <p:nvPr/>
        </p:nvSpPr>
        <p:spPr>
          <a:xfrm>
            <a:off x="542925" y="4572000"/>
            <a:ext cx="4762500" cy="171450"/>
          </a:xfrm>
          <a:prstGeom prst="rect">
            <a:avLst/>
          </a:prstGeom>
          <a:noFill/>
          <a:ln/>
        </p:spPr>
      </p:sp>
      <p:sp>
        <p:nvSpPr>
          <p:cNvPr id="24" name="Text 21"/>
          <p:cNvSpPr/>
          <p:nvPr/>
        </p:nvSpPr>
        <p:spPr>
          <a:xfrm>
            <a:off x="542925" y="4572000"/>
            <a:ext cx="4762500" cy="171450"/>
          </a:xfrm>
          <a:prstGeom prst="rect">
            <a:avLst/>
          </a:prstGeom>
          <a:noFill/>
          <a:ln/>
        </p:spPr>
        <p:txBody>
          <a:bodyPr wrap="square" lIns="0" tIns="0" rIns="0" bIns="0" rtlCol="0" anchor="t"/>
          <a:lstStyle/>
          <a:p>
            <a:pPr algn="l" indent="0" marL="0">
              <a:lnSpc>
                <a:spcPts val="819"/>
              </a:lnSpc>
              <a:buNone/>
            </a:pPr>
            <a:r>
              <a:rPr lang="en-US" sz="677" spc="27" kern="0" dirty="0">
                <a:solidFill>
                  <a:srgbClr val="9DB7AF">
                    <a:alpha val="99000"/>
                  </a:srgbClr>
                </a:solidFill>
                <a:latin typeface="Inter" pitchFamily="34" charset="0"/>
                <a:ea typeface="Inter" pitchFamily="34" charset="-122"/>
                <a:cs typeface="Inter" pitchFamily="34" charset="-120"/>
              </a:rPr>
              <a:t>Project Proposal live presentation  •  October 2026</a:t>
            </a:r>
            <a:endParaRPr lang="en-US" sz="677" dirty="0"/>
          </a:p>
        </p:txBody>
      </p:sp>
      <p:sp>
        <p:nvSpPr>
          <p:cNvPr id="25" name="Text 22"/>
          <p:cNvSpPr/>
          <p:nvPr/>
        </p:nvSpPr>
        <p:spPr>
          <a:xfrm>
            <a:off x="542925" y="714375"/>
            <a:ext cx="2809875" cy="114300"/>
          </a:xfrm>
          <a:prstGeom prst="rect">
            <a:avLst/>
          </a:prstGeom>
          <a:noFill/>
          <a:ln/>
        </p:spPr>
        <p:txBody>
          <a:bodyPr wrap="square" lIns="0" tIns="0" rIns="0" bIns="0" rtlCol="0" anchor="t"/>
          <a:lstStyle/>
          <a:p>
            <a:pPr algn="l" indent="0" marL="0">
              <a:lnSpc>
                <a:spcPts val="862"/>
              </a:lnSpc>
              <a:buNone/>
            </a:pPr>
            <a:r>
              <a:rPr lang="en-US" sz="713" b="1" spc="128" kern="0" dirty="0">
                <a:solidFill>
                  <a:srgbClr val="C9A24E">
                    <a:alpha val="99000"/>
                  </a:srgbClr>
                </a:solidFill>
                <a:latin typeface="Inter" pitchFamily="34" charset="0"/>
                <a:ea typeface="Inter" pitchFamily="34" charset="-122"/>
                <a:cs typeface="Inter" pitchFamily="34" charset="-120"/>
              </a:rPr>
              <a:t>FINAL YEAR PROJECT PROPOSAL   ·   2026/27</a:t>
            </a:r>
            <a:endParaRPr lang="en-US" sz="713" dirty="0"/>
          </a:p>
        </p:txBody>
      </p:sp>
      <p:sp>
        <p:nvSpPr>
          <p:cNvPr id="26" name="Shape 23"/>
          <p:cNvSpPr/>
          <p:nvPr/>
        </p:nvSpPr>
        <p:spPr>
          <a:xfrm>
            <a:off x="542925" y="2085975"/>
            <a:ext cx="457200" cy="19050"/>
          </a:xfrm>
          <a:prstGeom prst="roundRect">
            <a:avLst/>
          </a:prstGeom>
          <a:solidFill>
            <a:srgbClr val="C9A24E"/>
          </a:solidFill>
          <a:ln/>
        </p:spPr>
      </p:sp>
      <p:sp>
        <p:nvSpPr>
          <p:cNvPr id="27" name="Shape 24"/>
          <p:cNvSpPr/>
          <p:nvPr/>
        </p:nvSpPr>
        <p:spPr>
          <a:xfrm>
            <a:off x="5572125" y="1247775"/>
            <a:ext cx="304800" cy="14288"/>
          </a:xfrm>
          <a:prstGeom prst="rect">
            <a:avLst/>
          </a:prstGeom>
          <a:solidFill>
            <a:srgbClr val="C9A24E"/>
          </a:solidFill>
          <a:ln/>
        </p:spPr>
      </p:sp>
      <p:sp>
        <p:nvSpPr>
          <p:cNvPr id="28" name="Shape 25"/>
          <p:cNvSpPr/>
          <p:nvPr/>
        </p:nvSpPr>
        <p:spPr>
          <a:xfrm>
            <a:off x="533400" y="3581400"/>
            <a:ext cx="2667000" cy="647700"/>
          </a:xfrm>
          <a:prstGeom prst="roundRect">
            <a:avLst/>
          </a:prstGeom>
          <a:solidFill>
            <a:srgbClr val="FFFFFF"/>
          </a:solidFill>
          <a:ln/>
        </p:spPr>
      </p:sp>
      <p:pic>
        <p:nvPicPr>
          <p:cNvPr id="29" name="Image 0" descr="preencoded.png">    </p:cNvPr>
          <p:cNvPicPr>
            <a:picLocks noChangeAspect="1"/>
          </p:cNvPicPr>
          <p:nvPr/>
        </p:nvPicPr>
        <p:blipFill>
          <a:blip r:embed="rId1"/>
          <a:srcRect l="0" r="0" t="0" b="0"/>
          <a:stretch/>
        </p:blipFill>
        <p:spPr>
          <a:xfrm>
            <a:off x="666750" y="3648075"/>
            <a:ext cx="981075" cy="514350"/>
          </a:xfrm>
          <a:prstGeom prst="rect">
            <a:avLst/>
          </a:prstGeom>
        </p:spPr>
      </p:pic>
      <p:pic>
        <p:nvPicPr>
          <p:cNvPr id="30" name="Image 1" descr="preencoded.png">    </p:cNvPr>
          <p:cNvPicPr>
            <a:picLocks noChangeAspect="1"/>
          </p:cNvPicPr>
          <p:nvPr/>
        </p:nvPicPr>
        <p:blipFill>
          <a:blip r:embed="rId2"/>
          <a:srcRect l="0" r="0" t="0" b="0"/>
          <a:stretch/>
        </p:blipFill>
        <p:spPr>
          <a:xfrm>
            <a:off x="1828800" y="3748087"/>
            <a:ext cx="1238250" cy="314325"/>
          </a:xfrm>
          <a:prstGeom prst="rect">
            <a:avLst/>
          </a:prstGeom>
        </p:spPr>
      </p:pic>
      <p:sp>
        <p:nvSpPr>
          <p:cNvPr id="31" name="Shape 26"/>
          <p:cNvSpPr/>
          <p:nvPr/>
        </p:nvSpPr>
        <p:spPr>
          <a:xfrm>
            <a:off x="1743075" y="3724275"/>
            <a:ext cx="4763" cy="361950"/>
          </a:xfrm>
          <a:prstGeom prst="rect">
            <a:avLst/>
          </a:prstGeom>
          <a:solidFill>
            <a:srgbClr val="0E2A26">
              <a:alpha val="15000"/>
            </a:srgbClr>
          </a:solidFill>
          <a:ln/>
        </p:spPr>
      </p:sp>
      <p:sp>
        <p:nvSpPr>
          <p:cNvPr id="32" name="Shape 27"/>
          <p:cNvSpPr/>
          <p:nvPr/>
        </p:nvSpPr>
        <p:spPr>
          <a:xfrm>
            <a:off x="5572125" y="3048000"/>
            <a:ext cx="2714625" cy="4763"/>
          </a:xfrm>
          <a:prstGeom prst="rect">
            <a:avLst/>
          </a:prstGeom>
          <a:solidFill>
            <a:srgbClr val="0E2A26">
              <a:alpha val="12000"/>
            </a:srgbClr>
          </a:solidFill>
          <a:ln/>
        </p:spPr>
      </p:sp>
      <p:sp>
        <p:nvSpPr>
          <p:cNvPr id="33" name="Text 28"/>
          <p:cNvSpPr/>
          <p:nvPr/>
        </p:nvSpPr>
        <p:spPr>
          <a:xfrm>
            <a:off x="5572125" y="3162300"/>
            <a:ext cx="371475"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1F5C4F">
                    <a:alpha val="99000"/>
                  </a:srgbClr>
                </a:solidFill>
                <a:latin typeface="Inter" pitchFamily="34" charset="0"/>
                <a:ea typeface="Inter" pitchFamily="34" charset="-122"/>
                <a:cs typeface="Inter" pitchFamily="34" charset="-120"/>
              </a:rPr>
              <a:t>~6 h</a:t>
            </a:r>
            <a:endParaRPr lang="en-US" sz="1283" dirty="0"/>
          </a:p>
        </p:txBody>
      </p:sp>
      <p:sp>
        <p:nvSpPr>
          <p:cNvPr id="34" name="Text 29"/>
          <p:cNvSpPr/>
          <p:nvPr/>
        </p:nvSpPr>
        <p:spPr>
          <a:xfrm>
            <a:off x="5572125" y="3438525"/>
            <a:ext cx="714375" cy="100013"/>
          </a:xfrm>
          <a:prstGeom prst="rect">
            <a:avLst/>
          </a:prstGeom>
          <a:noFill/>
          <a:ln/>
        </p:spPr>
        <p:txBody>
          <a:bodyPr wrap="square" lIns="0" tIns="0" rIns="0" bIns="0" rtlCol="0" anchor="t"/>
          <a:lstStyle/>
          <a:p>
            <a:pPr algn="l" indent="0" marL="0">
              <a:lnSpc>
                <a:spcPts val="733"/>
              </a:lnSpc>
              <a:buNone/>
            </a:pPr>
            <a:r>
              <a:rPr lang="en-US" sz="606" dirty="0">
                <a:solidFill>
                  <a:srgbClr val="6B7570">
                    <a:alpha val="99000"/>
                  </a:srgbClr>
                </a:solidFill>
                <a:latin typeface="Inter" pitchFamily="34" charset="0"/>
                <a:ea typeface="Inter" pitchFamily="34" charset="-122"/>
                <a:cs typeface="Inter" pitchFamily="34" charset="-120"/>
              </a:rPr>
              <a:t>oven-drying today</a:t>
            </a:r>
            <a:endParaRPr lang="en-US" sz="606" dirty="0"/>
          </a:p>
        </p:txBody>
      </p:sp>
      <p:sp>
        <p:nvSpPr>
          <p:cNvPr id="35" name="Text 30"/>
          <p:cNvSpPr/>
          <p:nvPr/>
        </p:nvSpPr>
        <p:spPr>
          <a:xfrm>
            <a:off x="6524625" y="3162300"/>
            <a:ext cx="714375"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1F5C4F">
                    <a:alpha val="99000"/>
                  </a:srgbClr>
                </a:solidFill>
                <a:latin typeface="Inter" pitchFamily="34" charset="0"/>
                <a:ea typeface="Inter" pitchFamily="34" charset="-122"/>
                <a:cs typeface="Inter" pitchFamily="34" charset="-120"/>
              </a:rPr>
              <a:t>Seconds</a:t>
            </a:r>
            <a:endParaRPr lang="en-US" sz="1283" dirty="0"/>
          </a:p>
        </p:txBody>
      </p:sp>
      <p:sp>
        <p:nvSpPr>
          <p:cNvPr id="36" name="Text 31"/>
          <p:cNvSpPr/>
          <p:nvPr/>
        </p:nvSpPr>
        <p:spPr>
          <a:xfrm>
            <a:off x="6524625" y="3438525"/>
            <a:ext cx="490538" cy="100013"/>
          </a:xfrm>
          <a:prstGeom prst="rect">
            <a:avLst/>
          </a:prstGeom>
          <a:noFill/>
          <a:ln/>
        </p:spPr>
        <p:txBody>
          <a:bodyPr wrap="square" lIns="0" tIns="0" rIns="0" bIns="0" rtlCol="0" anchor="t"/>
          <a:lstStyle/>
          <a:p>
            <a:pPr algn="l" indent="0" marL="0">
              <a:lnSpc>
                <a:spcPts val="733"/>
              </a:lnSpc>
              <a:buNone/>
            </a:pPr>
            <a:r>
              <a:rPr lang="en-US" sz="606" dirty="0">
                <a:solidFill>
                  <a:srgbClr val="6B7570">
                    <a:alpha val="99000"/>
                  </a:srgbClr>
                </a:solidFill>
                <a:latin typeface="Inter" pitchFamily="34" charset="0"/>
                <a:ea typeface="Inter" pitchFamily="34" charset="-122"/>
                <a:cs typeface="Inter" pitchFamily="34" charset="-120"/>
              </a:rPr>
              <a:t>per NIR scan</a:t>
            </a:r>
            <a:endParaRPr lang="en-US" sz="606" dirty="0"/>
          </a:p>
        </p:txBody>
      </p:sp>
      <p:sp>
        <p:nvSpPr>
          <p:cNvPr id="37" name="Text 32"/>
          <p:cNvSpPr/>
          <p:nvPr/>
        </p:nvSpPr>
        <p:spPr>
          <a:xfrm>
            <a:off x="7477125" y="3162300"/>
            <a:ext cx="109538"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1F5C4F">
                    <a:alpha val="99000"/>
                  </a:srgbClr>
                </a:solidFill>
                <a:latin typeface="Inter" pitchFamily="34" charset="0"/>
                <a:ea typeface="Inter" pitchFamily="34" charset="-122"/>
                <a:cs typeface="Inter" pitchFamily="34" charset="-120"/>
              </a:rPr>
              <a:t>5</a:t>
            </a:r>
            <a:endParaRPr lang="en-US" sz="1283" dirty="0"/>
          </a:p>
        </p:txBody>
      </p:sp>
      <p:sp>
        <p:nvSpPr>
          <p:cNvPr id="38" name="Text 33"/>
          <p:cNvSpPr/>
          <p:nvPr/>
        </p:nvSpPr>
        <p:spPr>
          <a:xfrm>
            <a:off x="7477125" y="3438525"/>
            <a:ext cx="833438" cy="100013"/>
          </a:xfrm>
          <a:prstGeom prst="rect">
            <a:avLst/>
          </a:prstGeom>
          <a:noFill/>
          <a:ln/>
        </p:spPr>
        <p:txBody>
          <a:bodyPr wrap="square" lIns="0" tIns="0" rIns="0" bIns="0" rtlCol="0" anchor="t"/>
          <a:lstStyle/>
          <a:p>
            <a:pPr algn="l" indent="0" marL="0">
              <a:lnSpc>
                <a:spcPts val="733"/>
              </a:lnSpc>
              <a:buNone/>
            </a:pPr>
            <a:r>
              <a:rPr lang="en-US" sz="606" dirty="0">
                <a:solidFill>
                  <a:srgbClr val="6B7570">
                    <a:alpha val="99000"/>
                  </a:srgbClr>
                </a:solidFill>
                <a:latin typeface="Inter" pitchFamily="34" charset="0"/>
                <a:ea typeface="Inter" pitchFamily="34" charset="-122"/>
                <a:cs typeface="Inter" pitchFamily="34" charset="-120"/>
              </a:rPr>
              <a:t>parameters assessed</a:t>
            </a:r>
            <a:endParaRPr lang="en-US" sz="60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74295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02   ·   AGENDA</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Agenda and timing</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Text 3"/>
          <p:cNvSpPr/>
          <p:nvPr/>
        </p:nvSpPr>
        <p:spPr>
          <a:xfrm>
            <a:off x="7891463" y="335756"/>
            <a:ext cx="6334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Delivery/Q&amp;A 30%</a:t>
            </a:r>
            <a:endParaRPr lang="en-US" sz="499" dirty="0"/>
          </a:p>
        </p:txBody>
      </p:sp>
      <p:sp>
        <p:nvSpPr>
          <p:cNvPr id="7" name="Shape 4"/>
          <p:cNvSpPr/>
          <p:nvPr/>
        </p:nvSpPr>
        <p:spPr>
          <a:xfrm>
            <a:off x="7805738" y="295275"/>
            <a:ext cx="804863" cy="161925"/>
          </a:xfrm>
          <a:prstGeom prst="roundRect">
            <a:avLst/>
          </a:prstGeom>
          <a:noFill/>
          <a:ln w="5429">
            <a:solidFill>
              <a:srgbClr val="B8893B"/>
            </a:solidFill>
            <a:prstDash val="solid"/>
          </a:ln>
        </p:spPr>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9527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02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2476500" cy="3629025"/>
          </a:xfrm>
          <a:prstGeom prst="roundRect">
            <a:avLst/>
          </a:prstGeom>
          <a:solidFill>
            <a:srgbClr val="0E2A26"/>
          </a:solidFill>
          <a:ln/>
        </p:spPr>
      </p:sp>
      <p:sp>
        <p:nvSpPr>
          <p:cNvPr id="15" name="Text 10"/>
          <p:cNvSpPr/>
          <p:nvPr/>
        </p:nvSpPr>
        <p:spPr>
          <a:xfrm>
            <a:off x="762000" y="1914525"/>
            <a:ext cx="1038225" cy="809625"/>
          </a:xfrm>
          <a:prstGeom prst="rect">
            <a:avLst/>
          </a:prstGeom>
          <a:noFill/>
          <a:ln/>
        </p:spPr>
        <p:txBody>
          <a:bodyPr wrap="square" lIns="0" tIns="0" rIns="0" bIns="0" rtlCol="0" anchor="t"/>
          <a:lstStyle/>
          <a:p>
            <a:pPr algn="l" indent="0" marL="0">
              <a:lnSpc>
                <a:spcPts val="6056"/>
              </a:lnSpc>
              <a:buNone/>
            </a:pPr>
            <a:r>
              <a:rPr lang="en-US" sz="6056" b="1" spc="-61" kern="0" dirty="0">
                <a:solidFill>
                  <a:srgbClr val="D4AF63">
                    <a:alpha val="99000"/>
                  </a:srgbClr>
                </a:solidFill>
                <a:latin typeface="Inter" pitchFamily="34" charset="0"/>
                <a:ea typeface="Inter" pitchFamily="34" charset="-122"/>
                <a:cs typeface="Inter" pitchFamily="34" charset="-120"/>
              </a:rPr>
              <a:t>20</a:t>
            </a:r>
            <a:endParaRPr lang="en-US" sz="6056" dirty="0"/>
          </a:p>
        </p:txBody>
      </p:sp>
      <p:sp>
        <p:nvSpPr>
          <p:cNvPr id="16" name="Text 11"/>
          <p:cNvSpPr/>
          <p:nvPr/>
        </p:nvSpPr>
        <p:spPr>
          <a:xfrm>
            <a:off x="800100" y="2819400"/>
            <a:ext cx="700088" cy="228600"/>
          </a:xfrm>
          <a:prstGeom prst="rect">
            <a:avLst/>
          </a:prstGeom>
          <a:noFill/>
          <a:ln/>
        </p:spPr>
        <p:txBody>
          <a:bodyPr wrap="square" lIns="0" tIns="0" rIns="0" bIns="0" rtlCol="0" anchor="t"/>
          <a:lstStyle/>
          <a:p>
            <a:pPr algn="l" indent="0" marL="0">
              <a:lnSpc>
                <a:spcPts val="1725"/>
              </a:lnSpc>
              <a:buNone/>
            </a:pPr>
            <a:r>
              <a:rPr lang="en-US" sz="1425" spc="-7" kern="0" dirty="0">
                <a:solidFill>
                  <a:srgbClr val="FFFFFF">
                    <a:alpha val="99000"/>
                  </a:srgbClr>
                </a:solidFill>
                <a:latin typeface="Inter" pitchFamily="34" charset="0"/>
                <a:ea typeface="Inter" pitchFamily="34" charset="-122"/>
                <a:cs typeface="Inter" pitchFamily="34" charset="-120"/>
              </a:rPr>
              <a:t>minutes</a:t>
            </a:r>
            <a:endParaRPr lang="en-US" sz="1425" dirty="0"/>
          </a:p>
        </p:txBody>
      </p:sp>
      <p:sp>
        <p:nvSpPr>
          <p:cNvPr id="17" name="Shape 12"/>
          <p:cNvSpPr/>
          <p:nvPr/>
        </p:nvSpPr>
        <p:spPr>
          <a:xfrm>
            <a:off x="800100" y="3200400"/>
            <a:ext cx="228600" cy="14288"/>
          </a:xfrm>
          <a:prstGeom prst="rect">
            <a:avLst/>
          </a:prstGeom>
          <a:solidFill>
            <a:srgbClr val="D4AF63"/>
          </a:solidFill>
          <a:ln/>
        </p:spPr>
      </p:sp>
      <p:sp>
        <p:nvSpPr>
          <p:cNvPr id="18" name="Text 13"/>
          <p:cNvSpPr/>
          <p:nvPr/>
        </p:nvSpPr>
        <p:spPr>
          <a:xfrm>
            <a:off x="800100" y="3333750"/>
            <a:ext cx="1952625" cy="457200"/>
          </a:xfrm>
          <a:prstGeom prst="rect">
            <a:avLst/>
          </a:prstGeom>
          <a:noFill/>
          <a:ln/>
        </p:spPr>
        <p:txBody>
          <a:bodyPr wrap="square" lIns="0" tIns="0" rIns="0" bIns="0" rtlCol="0" anchor="t"/>
          <a:lstStyle/>
          <a:p>
            <a:pPr algn="l" indent="0" marL="0">
              <a:lnSpc>
                <a:spcPts val="1122"/>
              </a:lnSpc>
              <a:buNone/>
            </a:pPr>
            <a:r>
              <a:rPr lang="en-US" sz="748" dirty="0">
                <a:solidFill>
                  <a:srgbClr val="DCE7E3">
                    <a:alpha val="99000"/>
                  </a:srgbClr>
                </a:solidFill>
                <a:latin typeface="Inter" pitchFamily="34" charset="0"/>
                <a:ea typeface="Inter" pitchFamily="34" charset="-122"/>
                <a:cs typeface="Inter" pitchFamily="34" charset="-120"/>
              </a:rPr>
              <a:t>23 slides in six sections. The talk ends at about 17.5 minutes, leaving time for questions.</a:t>
            </a:r>
            <a:endParaRPr lang="en-US" sz="748" dirty="0"/>
          </a:p>
        </p:txBody>
      </p:sp>
      <p:sp>
        <p:nvSpPr>
          <p:cNvPr id="19" name="Text 14"/>
          <p:cNvSpPr/>
          <p:nvPr/>
        </p:nvSpPr>
        <p:spPr>
          <a:xfrm>
            <a:off x="3238500" y="1143000"/>
            <a:ext cx="219075"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01</a:t>
            </a:r>
            <a:endParaRPr lang="en-US" sz="1425" dirty="0"/>
          </a:p>
        </p:txBody>
      </p:sp>
      <p:sp>
        <p:nvSpPr>
          <p:cNvPr id="20" name="Text 15"/>
          <p:cNvSpPr/>
          <p:nvPr/>
        </p:nvSpPr>
        <p:spPr>
          <a:xfrm>
            <a:off x="3667125" y="1133475"/>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Problem and aim</a:t>
            </a:r>
            <a:endParaRPr lang="en-US" sz="1069" dirty="0"/>
          </a:p>
        </p:txBody>
      </p:sp>
      <p:sp>
        <p:nvSpPr>
          <p:cNvPr id="21" name="Text 16"/>
          <p:cNvSpPr/>
          <p:nvPr/>
        </p:nvSpPr>
        <p:spPr>
          <a:xfrm>
            <a:off x="3667125" y="1343025"/>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Problem, evidence, research questions, objectives</a:t>
            </a:r>
            <a:endParaRPr lang="en-US" sz="641" dirty="0"/>
          </a:p>
        </p:txBody>
      </p:sp>
      <p:sp>
        <p:nvSpPr>
          <p:cNvPr id="22" name="Text 17"/>
          <p:cNvSpPr/>
          <p:nvPr/>
        </p:nvSpPr>
        <p:spPr>
          <a:xfrm>
            <a:off x="7143750" y="1162050"/>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3 to 6</a:t>
            </a:r>
            <a:endParaRPr lang="en-US" sz="641" dirty="0"/>
          </a:p>
        </p:txBody>
      </p:sp>
      <p:sp>
        <p:nvSpPr>
          <p:cNvPr id="23" name="Text 18"/>
          <p:cNvSpPr/>
          <p:nvPr/>
        </p:nvSpPr>
        <p:spPr>
          <a:xfrm>
            <a:off x="7143750" y="1304925"/>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0 to 4 min</a:t>
            </a:r>
            <a:endParaRPr lang="en-US" sz="606" dirty="0"/>
          </a:p>
        </p:txBody>
      </p:sp>
      <p:sp>
        <p:nvSpPr>
          <p:cNvPr id="24" name="Shape 19"/>
          <p:cNvSpPr/>
          <p:nvPr/>
        </p:nvSpPr>
        <p:spPr>
          <a:xfrm>
            <a:off x="3238500" y="1643063"/>
            <a:ext cx="5372100" cy="4763"/>
          </a:xfrm>
          <a:prstGeom prst="rect">
            <a:avLst/>
          </a:prstGeom>
          <a:solidFill>
            <a:srgbClr val="E3DACA"/>
          </a:solidFill>
          <a:ln/>
        </p:spPr>
      </p:sp>
      <p:sp>
        <p:nvSpPr>
          <p:cNvPr id="25" name="Text 20"/>
          <p:cNvSpPr/>
          <p:nvPr/>
        </p:nvSpPr>
        <p:spPr>
          <a:xfrm>
            <a:off x="3238500" y="1747838"/>
            <a:ext cx="247650"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02</a:t>
            </a:r>
            <a:endParaRPr lang="en-US" sz="1425" dirty="0"/>
          </a:p>
        </p:txBody>
      </p:sp>
      <p:sp>
        <p:nvSpPr>
          <p:cNvPr id="26" name="Text 21"/>
          <p:cNvSpPr/>
          <p:nvPr/>
        </p:nvSpPr>
        <p:spPr>
          <a:xfrm>
            <a:off x="3667125" y="1738313"/>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Literature</a:t>
            </a:r>
            <a:endParaRPr lang="en-US" sz="1069" dirty="0"/>
          </a:p>
        </p:txBody>
      </p:sp>
      <p:sp>
        <p:nvSpPr>
          <p:cNvPr id="27" name="Text 22"/>
          <p:cNvSpPr/>
          <p:nvPr/>
        </p:nvSpPr>
        <p:spPr>
          <a:xfrm>
            <a:off x="3667125" y="1947863"/>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Review, parameter feasibility, existing solutions, gap</a:t>
            </a:r>
            <a:endParaRPr lang="en-US" sz="641" dirty="0"/>
          </a:p>
        </p:txBody>
      </p:sp>
      <p:sp>
        <p:nvSpPr>
          <p:cNvPr id="28" name="Text 23"/>
          <p:cNvSpPr/>
          <p:nvPr/>
        </p:nvSpPr>
        <p:spPr>
          <a:xfrm>
            <a:off x="7143750" y="1766888"/>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7 to 10</a:t>
            </a:r>
            <a:endParaRPr lang="en-US" sz="641" dirty="0"/>
          </a:p>
        </p:txBody>
      </p:sp>
      <p:sp>
        <p:nvSpPr>
          <p:cNvPr id="29" name="Text 24"/>
          <p:cNvSpPr/>
          <p:nvPr/>
        </p:nvSpPr>
        <p:spPr>
          <a:xfrm>
            <a:off x="7143750" y="1909762"/>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4 to 8 min</a:t>
            </a:r>
            <a:endParaRPr lang="en-US" sz="606" dirty="0"/>
          </a:p>
        </p:txBody>
      </p:sp>
      <p:sp>
        <p:nvSpPr>
          <p:cNvPr id="30" name="Shape 25"/>
          <p:cNvSpPr/>
          <p:nvPr/>
        </p:nvSpPr>
        <p:spPr>
          <a:xfrm>
            <a:off x="3238500" y="2247900"/>
            <a:ext cx="5372100" cy="4763"/>
          </a:xfrm>
          <a:prstGeom prst="rect">
            <a:avLst/>
          </a:prstGeom>
          <a:solidFill>
            <a:srgbClr val="E3DACA"/>
          </a:solidFill>
          <a:ln/>
        </p:spPr>
      </p:sp>
      <p:sp>
        <p:nvSpPr>
          <p:cNvPr id="31" name="Text 26"/>
          <p:cNvSpPr/>
          <p:nvPr/>
        </p:nvSpPr>
        <p:spPr>
          <a:xfrm>
            <a:off x="3238500" y="2352675"/>
            <a:ext cx="252413"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03</a:t>
            </a:r>
            <a:endParaRPr lang="en-US" sz="1425" dirty="0"/>
          </a:p>
        </p:txBody>
      </p:sp>
      <p:sp>
        <p:nvSpPr>
          <p:cNvPr id="32" name="Text 27"/>
          <p:cNvSpPr/>
          <p:nvPr/>
        </p:nvSpPr>
        <p:spPr>
          <a:xfrm>
            <a:off x="3667125" y="2343150"/>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Solution and method</a:t>
            </a:r>
            <a:endParaRPr lang="en-US" sz="1069" dirty="0"/>
          </a:p>
        </p:txBody>
      </p:sp>
      <p:sp>
        <p:nvSpPr>
          <p:cNvPr id="33" name="Text 28"/>
          <p:cNvSpPr/>
          <p:nvPr/>
        </p:nvSpPr>
        <p:spPr>
          <a:xfrm>
            <a:off x="3667125" y="2552700"/>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Solution, tools, methodology, evaluation, proof of concept</a:t>
            </a:r>
            <a:endParaRPr lang="en-US" sz="641" dirty="0"/>
          </a:p>
        </p:txBody>
      </p:sp>
      <p:sp>
        <p:nvSpPr>
          <p:cNvPr id="34" name="Text 29"/>
          <p:cNvSpPr/>
          <p:nvPr/>
        </p:nvSpPr>
        <p:spPr>
          <a:xfrm>
            <a:off x="7143750" y="2371725"/>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11 to 15</a:t>
            </a:r>
            <a:endParaRPr lang="en-US" sz="641" dirty="0"/>
          </a:p>
        </p:txBody>
      </p:sp>
      <p:sp>
        <p:nvSpPr>
          <p:cNvPr id="35" name="Text 30"/>
          <p:cNvSpPr/>
          <p:nvPr/>
        </p:nvSpPr>
        <p:spPr>
          <a:xfrm>
            <a:off x="7143750" y="2514600"/>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8 to 14 min</a:t>
            </a:r>
            <a:endParaRPr lang="en-US" sz="606" dirty="0"/>
          </a:p>
        </p:txBody>
      </p:sp>
      <p:sp>
        <p:nvSpPr>
          <p:cNvPr id="36" name="Shape 31"/>
          <p:cNvSpPr/>
          <p:nvPr/>
        </p:nvSpPr>
        <p:spPr>
          <a:xfrm>
            <a:off x="3238500" y="2852738"/>
            <a:ext cx="5372100" cy="4763"/>
          </a:xfrm>
          <a:prstGeom prst="rect">
            <a:avLst/>
          </a:prstGeom>
          <a:solidFill>
            <a:srgbClr val="E3DACA"/>
          </a:solidFill>
          <a:ln/>
        </p:spPr>
      </p:sp>
      <p:sp>
        <p:nvSpPr>
          <p:cNvPr id="37" name="Text 32"/>
          <p:cNvSpPr/>
          <p:nvPr/>
        </p:nvSpPr>
        <p:spPr>
          <a:xfrm>
            <a:off x="3238500" y="2957513"/>
            <a:ext cx="252413"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04</a:t>
            </a:r>
            <a:endParaRPr lang="en-US" sz="1425" dirty="0"/>
          </a:p>
        </p:txBody>
      </p:sp>
      <p:sp>
        <p:nvSpPr>
          <p:cNvPr id="38" name="Text 33"/>
          <p:cNvSpPr/>
          <p:nvPr/>
        </p:nvSpPr>
        <p:spPr>
          <a:xfrm>
            <a:off x="3667125" y="2947988"/>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Project management</a:t>
            </a:r>
            <a:endParaRPr lang="en-US" sz="1069" dirty="0"/>
          </a:p>
        </p:txBody>
      </p:sp>
      <p:sp>
        <p:nvSpPr>
          <p:cNvPr id="39" name="Text 34"/>
          <p:cNvSpPr/>
          <p:nvPr/>
        </p:nvSpPr>
        <p:spPr>
          <a:xfrm>
            <a:off x="3667125" y="3157538"/>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Ethics, schedule, risks</a:t>
            </a:r>
            <a:endParaRPr lang="en-US" sz="641" dirty="0"/>
          </a:p>
        </p:txBody>
      </p:sp>
      <p:sp>
        <p:nvSpPr>
          <p:cNvPr id="40" name="Text 35"/>
          <p:cNvSpPr/>
          <p:nvPr/>
        </p:nvSpPr>
        <p:spPr>
          <a:xfrm>
            <a:off x="7143750" y="2976563"/>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16 to 18</a:t>
            </a:r>
            <a:endParaRPr lang="en-US" sz="641" dirty="0"/>
          </a:p>
        </p:txBody>
      </p:sp>
      <p:sp>
        <p:nvSpPr>
          <p:cNvPr id="41" name="Text 36"/>
          <p:cNvSpPr/>
          <p:nvPr/>
        </p:nvSpPr>
        <p:spPr>
          <a:xfrm>
            <a:off x="7143750" y="3119438"/>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14 to 16.5 min</a:t>
            </a:r>
            <a:endParaRPr lang="en-US" sz="606" dirty="0"/>
          </a:p>
        </p:txBody>
      </p:sp>
      <p:sp>
        <p:nvSpPr>
          <p:cNvPr id="42" name="Shape 37"/>
          <p:cNvSpPr/>
          <p:nvPr/>
        </p:nvSpPr>
        <p:spPr>
          <a:xfrm>
            <a:off x="3238500" y="3457575"/>
            <a:ext cx="5372100" cy="4763"/>
          </a:xfrm>
          <a:prstGeom prst="rect">
            <a:avLst/>
          </a:prstGeom>
          <a:solidFill>
            <a:srgbClr val="E3DACA"/>
          </a:solidFill>
          <a:ln/>
        </p:spPr>
      </p:sp>
      <p:sp>
        <p:nvSpPr>
          <p:cNvPr id="43" name="Text 38"/>
          <p:cNvSpPr/>
          <p:nvPr/>
        </p:nvSpPr>
        <p:spPr>
          <a:xfrm>
            <a:off x="3238500" y="3562350"/>
            <a:ext cx="247650"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05</a:t>
            </a:r>
            <a:endParaRPr lang="en-US" sz="1425" dirty="0"/>
          </a:p>
        </p:txBody>
      </p:sp>
      <p:sp>
        <p:nvSpPr>
          <p:cNvPr id="44" name="Text 39"/>
          <p:cNvSpPr/>
          <p:nvPr/>
        </p:nvSpPr>
        <p:spPr>
          <a:xfrm>
            <a:off x="3667125" y="3552825"/>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References and conclusion</a:t>
            </a:r>
            <a:endParaRPr lang="en-US" sz="1069" dirty="0"/>
          </a:p>
        </p:txBody>
      </p:sp>
      <p:sp>
        <p:nvSpPr>
          <p:cNvPr id="45" name="Text 40"/>
          <p:cNvSpPr/>
          <p:nvPr/>
        </p:nvSpPr>
        <p:spPr>
          <a:xfrm>
            <a:off x="3667125" y="3762375"/>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Q1/Q2 references, closing statement</a:t>
            </a:r>
            <a:endParaRPr lang="en-US" sz="641" dirty="0"/>
          </a:p>
        </p:txBody>
      </p:sp>
      <p:sp>
        <p:nvSpPr>
          <p:cNvPr id="46" name="Text 41"/>
          <p:cNvSpPr/>
          <p:nvPr/>
        </p:nvSpPr>
        <p:spPr>
          <a:xfrm>
            <a:off x="7143750" y="3581400"/>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19 to 21</a:t>
            </a:r>
            <a:endParaRPr lang="en-US" sz="641" dirty="0"/>
          </a:p>
        </p:txBody>
      </p:sp>
      <p:sp>
        <p:nvSpPr>
          <p:cNvPr id="47" name="Text 42"/>
          <p:cNvSpPr/>
          <p:nvPr/>
        </p:nvSpPr>
        <p:spPr>
          <a:xfrm>
            <a:off x="7143750" y="3724275"/>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16.5 to 17.5 min</a:t>
            </a:r>
            <a:endParaRPr lang="en-US" sz="606" dirty="0"/>
          </a:p>
        </p:txBody>
      </p:sp>
      <p:sp>
        <p:nvSpPr>
          <p:cNvPr id="48" name="Shape 43"/>
          <p:cNvSpPr/>
          <p:nvPr/>
        </p:nvSpPr>
        <p:spPr>
          <a:xfrm>
            <a:off x="3238500" y="4062412"/>
            <a:ext cx="5372100" cy="4763"/>
          </a:xfrm>
          <a:prstGeom prst="rect">
            <a:avLst/>
          </a:prstGeom>
          <a:solidFill>
            <a:srgbClr val="E3DACA"/>
          </a:solidFill>
          <a:ln/>
        </p:spPr>
      </p:sp>
      <p:sp>
        <p:nvSpPr>
          <p:cNvPr id="49" name="Text 44"/>
          <p:cNvSpPr/>
          <p:nvPr/>
        </p:nvSpPr>
        <p:spPr>
          <a:xfrm>
            <a:off x="3238500" y="4167188"/>
            <a:ext cx="252413"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B8893B">
                    <a:alpha val="99000"/>
                  </a:srgbClr>
                </a:solidFill>
                <a:latin typeface="Inter" pitchFamily="34" charset="0"/>
                <a:ea typeface="Inter" pitchFamily="34" charset="-122"/>
                <a:cs typeface="Inter" pitchFamily="34" charset="-120"/>
              </a:rPr>
              <a:t>06</a:t>
            </a:r>
            <a:endParaRPr lang="en-US" sz="1425" dirty="0"/>
          </a:p>
        </p:txBody>
      </p:sp>
      <p:sp>
        <p:nvSpPr>
          <p:cNvPr id="50" name="Text 45"/>
          <p:cNvSpPr/>
          <p:nvPr/>
        </p:nvSpPr>
        <p:spPr>
          <a:xfrm>
            <a:off x="3667125" y="4157663"/>
            <a:ext cx="3333750" cy="190500"/>
          </a:xfrm>
          <a:prstGeom prst="rect">
            <a:avLst/>
          </a:prstGeom>
          <a:noFill/>
          <a:ln/>
        </p:spPr>
        <p:txBody>
          <a:bodyPr wrap="square" lIns="0" tIns="0" rIns="0" bIns="0" rtlCol="0" anchor="t"/>
          <a:lstStyle/>
          <a:p>
            <a:pPr algn="l" indent="0" marL="0">
              <a:lnSpc>
                <a:spcPts val="1425"/>
              </a:lnSpc>
              <a:buNone/>
            </a:pPr>
            <a:r>
              <a:rPr lang="en-US" sz="1069" b="1" dirty="0">
                <a:solidFill>
                  <a:srgbClr val="0E2A26">
                    <a:alpha val="99000"/>
                  </a:srgbClr>
                </a:solidFill>
                <a:latin typeface="Playfair Display" pitchFamily="34" charset="0"/>
                <a:ea typeface="Playfair Display" pitchFamily="34" charset="-122"/>
                <a:cs typeface="Playfair Display" pitchFamily="34" charset="-120"/>
              </a:rPr>
              <a:t>Questions</a:t>
            </a:r>
            <a:endParaRPr lang="en-US" sz="1069" dirty="0"/>
          </a:p>
        </p:txBody>
      </p:sp>
      <p:sp>
        <p:nvSpPr>
          <p:cNvPr id="51" name="Text 46"/>
          <p:cNvSpPr/>
          <p:nvPr/>
        </p:nvSpPr>
        <p:spPr>
          <a:xfrm>
            <a:off x="3667125" y="4367213"/>
            <a:ext cx="3333750" cy="104775"/>
          </a:xfrm>
          <a:prstGeom prst="rect">
            <a:avLst/>
          </a:prstGeom>
          <a:noFill/>
          <a:ln/>
        </p:spPr>
        <p:txBody>
          <a:bodyPr wrap="square" lIns="0" tIns="0" rIns="0" bIns="0" rtlCol="0" anchor="t"/>
          <a:lstStyle/>
          <a:p>
            <a:pPr algn="l" indent="0" marL="0">
              <a:lnSpc>
                <a:spcPts val="776"/>
              </a:lnSpc>
              <a:buNone/>
            </a:pPr>
            <a:r>
              <a:rPr lang="en-US" sz="641" dirty="0">
                <a:solidFill>
                  <a:srgbClr val="6E7672">
                    <a:alpha val="99000"/>
                  </a:srgbClr>
                </a:solidFill>
                <a:latin typeface="Inter" pitchFamily="34" charset="0"/>
                <a:ea typeface="Inter" pitchFamily="34" charset="-122"/>
                <a:cs typeface="Inter" pitchFamily="34" charset="-120"/>
              </a:rPr>
              <a:t>Q&amp;A and thank you</a:t>
            </a:r>
            <a:endParaRPr lang="en-US" sz="641" dirty="0"/>
          </a:p>
        </p:txBody>
      </p:sp>
      <p:sp>
        <p:nvSpPr>
          <p:cNvPr id="52" name="Text 47"/>
          <p:cNvSpPr/>
          <p:nvPr/>
        </p:nvSpPr>
        <p:spPr>
          <a:xfrm>
            <a:off x="7143750" y="4186238"/>
            <a:ext cx="1466850" cy="104775"/>
          </a:xfrm>
          <a:prstGeom prst="rect">
            <a:avLst/>
          </a:prstGeom>
          <a:noFill/>
          <a:ln/>
        </p:spPr>
        <p:txBody>
          <a:bodyPr wrap="square" lIns="0" tIns="0" rIns="0" bIns="0" rtlCol="0" anchor="t"/>
          <a:lstStyle/>
          <a:p>
            <a:pPr algn="r" indent="0" marL="0">
              <a:lnSpc>
                <a:spcPts val="776"/>
              </a:lnSpc>
              <a:buNone/>
            </a:pPr>
            <a:r>
              <a:rPr lang="en-US" sz="641" b="1" dirty="0">
                <a:solidFill>
                  <a:srgbClr val="1F5C4F">
                    <a:alpha val="99000"/>
                  </a:srgbClr>
                </a:solidFill>
                <a:latin typeface="Inter" pitchFamily="34" charset="0"/>
                <a:ea typeface="Inter" pitchFamily="34" charset="-122"/>
                <a:cs typeface="Inter" pitchFamily="34" charset="-120"/>
              </a:rPr>
              <a:t>Slides 22 to 23</a:t>
            </a:r>
            <a:endParaRPr lang="en-US" sz="641" dirty="0"/>
          </a:p>
        </p:txBody>
      </p:sp>
      <p:sp>
        <p:nvSpPr>
          <p:cNvPr id="53" name="Text 48"/>
          <p:cNvSpPr/>
          <p:nvPr/>
        </p:nvSpPr>
        <p:spPr>
          <a:xfrm>
            <a:off x="7143750" y="4329113"/>
            <a:ext cx="1466850" cy="100013"/>
          </a:xfrm>
          <a:prstGeom prst="rect">
            <a:avLst/>
          </a:prstGeom>
          <a:noFill/>
          <a:ln/>
        </p:spPr>
        <p:txBody>
          <a:bodyPr wrap="square" lIns="0" tIns="0" rIns="0" bIns="0" rtlCol="0" anchor="t"/>
          <a:lstStyle/>
          <a:p>
            <a:pPr algn="r" indent="0" marL="0">
              <a:lnSpc>
                <a:spcPts val="733"/>
              </a:lnSpc>
              <a:buNone/>
            </a:pPr>
            <a:r>
              <a:rPr lang="en-US" sz="606" dirty="0">
                <a:solidFill>
                  <a:srgbClr val="B8893B">
                    <a:alpha val="99000"/>
                  </a:srgbClr>
                </a:solidFill>
                <a:latin typeface="Inter" pitchFamily="34" charset="0"/>
                <a:ea typeface="Inter" pitchFamily="34" charset="-122"/>
                <a:cs typeface="Inter" pitchFamily="34" charset="-120"/>
              </a:rPr>
              <a:t>17.5 to 20 min</a:t>
            </a:r>
            <a:endParaRPr lang="en-US" sz="606"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804863"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03   ·   PROBLEM</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Problem context</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453312" y="295275"/>
            <a:ext cx="1157288" cy="161925"/>
          </a:xfrm>
          <a:prstGeom prst="roundRect">
            <a:avLst/>
          </a:prstGeom>
          <a:noFill/>
          <a:ln w="5429">
            <a:solidFill>
              <a:srgbClr val="B8893B"/>
            </a:solidFill>
            <a:prstDash val="solid"/>
          </a:ln>
        </p:spPr>
      </p:sp>
      <p:sp>
        <p:nvSpPr>
          <p:cNvPr id="7" name="Text 4"/>
          <p:cNvSpPr/>
          <p:nvPr/>
        </p:nvSpPr>
        <p:spPr>
          <a:xfrm>
            <a:off x="7539037" y="335756"/>
            <a:ext cx="9858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Problem/aim/objectives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30003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03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5953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THE PROBLEM</a:t>
            </a:r>
            <a:endParaRPr lang="en-US" sz="499" dirty="0"/>
          </a:p>
        </p:txBody>
      </p:sp>
      <p:sp>
        <p:nvSpPr>
          <p:cNvPr id="15" name="Shape 10"/>
          <p:cNvSpPr/>
          <p:nvPr/>
        </p:nvSpPr>
        <p:spPr>
          <a:xfrm>
            <a:off x="533400" y="1181100"/>
            <a:ext cx="3810000" cy="4763"/>
          </a:xfrm>
          <a:prstGeom prst="rect">
            <a:avLst/>
          </a:prstGeom>
          <a:solidFill>
            <a:srgbClr val="0E2A26">
              <a:alpha val="18000"/>
            </a:srgbClr>
          </a:solidFill>
          <a:ln/>
        </p:spPr>
      </p:sp>
      <p:sp>
        <p:nvSpPr>
          <p:cNvPr id="16" name="Text 11"/>
          <p:cNvSpPr/>
          <p:nvPr/>
        </p:nvSpPr>
        <p:spPr>
          <a:xfrm>
            <a:off x="533400" y="1285875"/>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Domain</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Black-tea quality control in Sri Lanka, which exported 257.44 million kg in 2025 (Daily FT, 2026)</a:t>
            </a:r>
            <a:endParaRPr lang="en-US" sz="784" dirty="0"/>
          </a:p>
        </p:txBody>
      </p:sp>
      <p:sp>
        <p:nvSpPr>
          <p:cNvPr id="17" name="Shape 12"/>
          <p:cNvSpPr/>
          <p:nvPr/>
        </p:nvSpPr>
        <p:spPr>
          <a:xfrm>
            <a:off x="533400" y="1676400"/>
            <a:ext cx="3810000" cy="4763"/>
          </a:xfrm>
          <a:prstGeom prst="rect">
            <a:avLst/>
          </a:prstGeom>
          <a:solidFill>
            <a:srgbClr val="E3DACA"/>
          </a:solidFill>
          <a:ln/>
        </p:spPr>
      </p:sp>
      <p:sp>
        <p:nvSpPr>
          <p:cNvPr id="18" name="Text 13"/>
          <p:cNvSpPr/>
          <p:nvPr/>
        </p:nvSpPr>
        <p:spPr>
          <a:xfrm>
            <a:off x="533400" y="1771650"/>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Parameters</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Moisture, polyphenols, TF:TR ratio, caffeine, added sugar and glyphosate residues</a:t>
            </a:r>
            <a:endParaRPr lang="en-US" sz="784" dirty="0"/>
          </a:p>
        </p:txBody>
      </p:sp>
      <p:sp>
        <p:nvSpPr>
          <p:cNvPr id="19" name="Shape 14"/>
          <p:cNvSpPr/>
          <p:nvPr/>
        </p:nvSpPr>
        <p:spPr>
          <a:xfrm>
            <a:off x="533400" y="2162175"/>
            <a:ext cx="3810000" cy="4763"/>
          </a:xfrm>
          <a:prstGeom prst="rect">
            <a:avLst/>
          </a:prstGeom>
          <a:solidFill>
            <a:srgbClr val="E3DACA"/>
          </a:solidFill>
          <a:ln/>
        </p:spPr>
      </p:sp>
      <p:sp>
        <p:nvSpPr>
          <p:cNvPr id="20" name="Text 15"/>
          <p:cNvSpPr/>
          <p:nvPr/>
        </p:nvSpPr>
        <p:spPr>
          <a:xfrm>
            <a:off x="533400" y="2257425"/>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Limitation</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Each needs its own laboratory method; oven-drying to constant mass takes about 6 h (ISO 1573)</a:t>
            </a:r>
            <a:endParaRPr lang="en-US" sz="784" dirty="0"/>
          </a:p>
        </p:txBody>
      </p:sp>
      <p:sp>
        <p:nvSpPr>
          <p:cNvPr id="21" name="Shape 16"/>
          <p:cNvSpPr/>
          <p:nvPr/>
        </p:nvSpPr>
        <p:spPr>
          <a:xfrm>
            <a:off x="533400" y="2647950"/>
            <a:ext cx="3810000" cy="4763"/>
          </a:xfrm>
          <a:prstGeom prst="rect">
            <a:avLst/>
          </a:prstGeom>
          <a:solidFill>
            <a:srgbClr val="E3DACA"/>
          </a:solidFill>
          <a:ln/>
        </p:spPr>
      </p:sp>
      <p:sp>
        <p:nvSpPr>
          <p:cNvPr id="22" name="Text 17"/>
          <p:cNvSpPr/>
          <p:nvPr/>
        </p:nvSpPr>
        <p:spPr>
          <a:xfrm>
            <a:off x="533400" y="2743200"/>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Affected</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Factories, dryer operators, QC staff, brokers, the Tea Board and laboratories</a:t>
            </a:r>
            <a:endParaRPr lang="en-US" sz="784" dirty="0"/>
          </a:p>
        </p:txBody>
      </p:sp>
      <p:sp>
        <p:nvSpPr>
          <p:cNvPr id="23" name="Shape 18"/>
          <p:cNvSpPr/>
          <p:nvPr/>
        </p:nvSpPr>
        <p:spPr>
          <a:xfrm>
            <a:off x="533400" y="3133725"/>
            <a:ext cx="3810000" cy="4763"/>
          </a:xfrm>
          <a:prstGeom prst="rect">
            <a:avLst/>
          </a:prstGeom>
          <a:solidFill>
            <a:srgbClr val="E3DACA"/>
          </a:solidFill>
          <a:ln/>
        </p:spPr>
      </p:sp>
      <p:sp>
        <p:nvSpPr>
          <p:cNvPr id="24" name="Text 19"/>
          <p:cNvSpPr/>
          <p:nvPr/>
        </p:nvSpPr>
        <p:spPr>
          <a:xfrm>
            <a:off x="533400" y="3228975"/>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Consequence</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Results arrive after drying, grading and trading decisions are made</a:t>
            </a:r>
            <a:endParaRPr lang="en-US" sz="784" dirty="0"/>
          </a:p>
        </p:txBody>
      </p:sp>
      <p:sp>
        <p:nvSpPr>
          <p:cNvPr id="25" name="Shape 20"/>
          <p:cNvSpPr/>
          <p:nvPr/>
        </p:nvSpPr>
        <p:spPr>
          <a:xfrm>
            <a:off x="533400" y="3619500"/>
            <a:ext cx="3810000" cy="4763"/>
          </a:xfrm>
          <a:prstGeom prst="rect">
            <a:avLst/>
          </a:prstGeom>
          <a:solidFill>
            <a:srgbClr val="E3DACA"/>
          </a:solidFill>
          <a:ln/>
        </p:spPr>
      </p:sp>
      <p:sp>
        <p:nvSpPr>
          <p:cNvPr id="26" name="Text 21"/>
          <p:cNvSpPr/>
          <p:nvPr/>
        </p:nvSpPr>
        <p:spPr>
          <a:xfrm>
            <a:off x="533400" y="3714750"/>
            <a:ext cx="3810000" cy="295275"/>
          </a:xfrm>
          <a:prstGeom prst="rect">
            <a:avLst/>
          </a:prstGeom>
          <a:noFill/>
          <a:ln/>
        </p:spPr>
        <p:txBody>
          <a:bodyPr wrap="square" lIns="0" tIns="0" rIns="0" bIns="0" rtlCol="0" anchor="t"/>
          <a:lstStyle/>
          <a:p>
            <a:pPr algn="l" indent="0" marL="0">
              <a:lnSpc>
                <a:spcPts val="1113"/>
              </a:lnSpc>
              <a:buNone/>
            </a:pPr>
            <a:r>
              <a:rPr lang="en-US" sz="784" b="1" dirty="0">
                <a:solidFill>
                  <a:srgbClr val="1F5C4F">
                    <a:alpha val="99000"/>
                  </a:srgbClr>
                </a:solidFill>
                <a:latin typeface="Inter" pitchFamily="34" charset="0"/>
                <a:ea typeface="Inter" pitchFamily="34" charset="-122"/>
                <a:cs typeface="Inter" pitchFamily="34" charset="-120"/>
              </a:rPr>
              <a:t>Computing problem</a:t>
            </a:r>
            <a:pPr algn="l" indent="0" marL="0">
              <a:lnSpc>
                <a:spcPts val="1113"/>
              </a:lnSpc>
              <a:buNone/>
            </a:pPr>
            <a:r>
              <a:rPr lang="en-US" sz="784" dirty="0">
                <a:solidFill>
                  <a:srgbClr val="23302D">
                    <a:alpha val="99000"/>
                  </a:srgbClr>
                </a:solidFill>
                <a:latin typeface="Inter" pitchFamily="34" charset="0"/>
                <a:ea typeface="Inter" pitchFamily="34" charset="-122"/>
                <a:cs typeface="Inter" pitchFamily="34" charset="-120"/>
              </a:rPr>
              <a:t>  Turning noisy, high-dimensional NIR spectra into reliable estimates that hold on unseen tea</a:t>
            </a:r>
            <a:endParaRPr lang="en-US" sz="784" dirty="0"/>
          </a:p>
        </p:txBody>
      </p:sp>
      <p:sp>
        <p:nvSpPr>
          <p:cNvPr id="27" name="Text 22"/>
          <p:cNvSpPr/>
          <p:nvPr/>
        </p:nvSpPr>
        <p:spPr>
          <a:xfrm>
            <a:off x="4648200" y="1038225"/>
            <a:ext cx="13001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CONVENTIONAL TESTS VS NIR</a:t>
            </a:r>
            <a:endParaRPr lang="en-US" sz="499" dirty="0"/>
          </a:p>
        </p:txBody>
      </p:sp>
      <p:sp>
        <p:nvSpPr>
          <p:cNvPr id="28" name="Shape 23"/>
          <p:cNvSpPr/>
          <p:nvPr/>
        </p:nvSpPr>
        <p:spPr>
          <a:xfrm>
            <a:off x="4648200" y="1181100"/>
            <a:ext cx="3962400" cy="4763"/>
          </a:xfrm>
          <a:prstGeom prst="rect">
            <a:avLst/>
          </a:prstGeom>
          <a:solidFill>
            <a:srgbClr val="0E2A26">
              <a:alpha val="18000"/>
            </a:srgbClr>
          </a:solidFill>
          <a:ln/>
        </p:spPr>
      </p:sp>
      <p:sp>
        <p:nvSpPr>
          <p:cNvPr id="29" name="Shape 24"/>
          <p:cNvSpPr/>
          <p:nvPr/>
        </p:nvSpPr>
        <p:spPr>
          <a:xfrm>
            <a:off x="4648200" y="1285875"/>
            <a:ext cx="3962400" cy="1485900"/>
          </a:xfrm>
          <a:prstGeom prst="roundRect">
            <a:avLst>
              <a:gd name="adj" fmla="val 9846"/>
            </a:avLst>
          </a:prstGeom>
          <a:solidFill>
            <a:srgbClr val="FFFFFF"/>
          </a:solidFill>
          <a:ln w="4524">
            <a:solidFill>
              <a:srgbClr val="E3DACA"/>
            </a:solidFill>
            <a:prstDash val="solid"/>
          </a:ln>
        </p:spPr>
      </p:sp>
      <p:sp>
        <p:nvSpPr>
          <p:cNvPr id="30" name="Shape 25"/>
          <p:cNvSpPr/>
          <p:nvPr/>
        </p:nvSpPr>
        <p:spPr>
          <a:xfrm>
            <a:off x="4648200" y="1285875"/>
            <a:ext cx="3962400" cy="247650"/>
          </a:xfrm>
          <a:prstGeom prst="rect">
            <a:avLst/>
          </a:prstGeom>
          <a:solidFill>
            <a:srgbClr val="FFFFFF"/>
          </a:solidFill>
          <a:ln/>
        </p:spPr>
      </p:sp>
      <p:sp>
        <p:nvSpPr>
          <p:cNvPr id="31" name="Text 26"/>
          <p:cNvSpPr/>
          <p:nvPr/>
        </p:nvSpPr>
        <p:spPr>
          <a:xfrm>
            <a:off x="4762500" y="134778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0E2A26">
                    <a:alpha val="99000"/>
                  </a:srgbClr>
                </a:solidFill>
                <a:latin typeface="Inter" pitchFamily="34" charset="0"/>
                <a:ea typeface="Inter" pitchFamily="34" charset="-122"/>
                <a:cs typeface="Inter" pitchFamily="34" charset="-120"/>
              </a:rPr>
              <a:t>Moisture</a:t>
            </a:r>
            <a:endParaRPr lang="en-US" sz="677" dirty="0"/>
          </a:p>
        </p:txBody>
      </p:sp>
      <p:sp>
        <p:nvSpPr>
          <p:cNvPr id="32" name="Text 27"/>
          <p:cNvSpPr/>
          <p:nvPr/>
        </p:nvSpPr>
        <p:spPr>
          <a:xfrm>
            <a:off x="5838825" y="134778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23302D">
                    <a:alpha val="99000"/>
                  </a:srgbClr>
                </a:solidFill>
                <a:latin typeface="Inter" pitchFamily="34" charset="0"/>
                <a:ea typeface="Inter" pitchFamily="34" charset="-122"/>
                <a:cs typeface="Inter" pitchFamily="34" charset="-120"/>
              </a:rPr>
              <a:t>Oven-drying to constant mass; about 6 h; destructive</a:t>
            </a:r>
            <a:endParaRPr lang="en-US" sz="677" dirty="0"/>
          </a:p>
        </p:txBody>
      </p:sp>
      <p:sp>
        <p:nvSpPr>
          <p:cNvPr id="33" name="Shape 28"/>
          <p:cNvSpPr/>
          <p:nvPr/>
        </p:nvSpPr>
        <p:spPr>
          <a:xfrm>
            <a:off x="4648200" y="1533525"/>
            <a:ext cx="3962400" cy="247650"/>
          </a:xfrm>
          <a:prstGeom prst="rect">
            <a:avLst/>
          </a:prstGeom>
          <a:solidFill>
            <a:srgbClr val="FBF9F4"/>
          </a:solidFill>
          <a:ln/>
        </p:spPr>
      </p:sp>
      <p:sp>
        <p:nvSpPr>
          <p:cNvPr id="34" name="Text 29"/>
          <p:cNvSpPr/>
          <p:nvPr/>
        </p:nvSpPr>
        <p:spPr>
          <a:xfrm>
            <a:off x="4762500" y="159543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0E2A26">
                    <a:alpha val="99000"/>
                  </a:srgbClr>
                </a:solidFill>
                <a:latin typeface="Inter" pitchFamily="34" charset="0"/>
                <a:ea typeface="Inter" pitchFamily="34" charset="-122"/>
                <a:cs typeface="Inter" pitchFamily="34" charset="-120"/>
              </a:rPr>
              <a:t>Polyphenols</a:t>
            </a:r>
            <a:endParaRPr lang="en-US" sz="677" dirty="0"/>
          </a:p>
        </p:txBody>
      </p:sp>
      <p:sp>
        <p:nvSpPr>
          <p:cNvPr id="35" name="Text 30"/>
          <p:cNvSpPr/>
          <p:nvPr/>
        </p:nvSpPr>
        <p:spPr>
          <a:xfrm>
            <a:off x="5838825" y="159543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23302D">
                    <a:alpha val="99000"/>
                  </a:srgbClr>
                </a:solidFill>
                <a:latin typeface="Inter" pitchFamily="34" charset="0"/>
                <a:ea typeface="Inter" pitchFamily="34" charset="-122"/>
                <a:cs typeface="Inter" pitchFamily="34" charset="-120"/>
              </a:rPr>
              <a:t>Folin-Ciocalteu (ISO 14502-1); hours; reagents</a:t>
            </a:r>
            <a:endParaRPr lang="en-US" sz="677" dirty="0"/>
          </a:p>
        </p:txBody>
      </p:sp>
      <p:sp>
        <p:nvSpPr>
          <p:cNvPr id="36" name="Shape 31"/>
          <p:cNvSpPr/>
          <p:nvPr/>
        </p:nvSpPr>
        <p:spPr>
          <a:xfrm>
            <a:off x="4648200" y="1533525"/>
            <a:ext cx="3962400" cy="4763"/>
          </a:xfrm>
          <a:prstGeom prst="rect">
            <a:avLst/>
          </a:prstGeom>
          <a:solidFill>
            <a:srgbClr val="E3DACA"/>
          </a:solidFill>
          <a:ln/>
        </p:spPr>
      </p:sp>
      <p:sp>
        <p:nvSpPr>
          <p:cNvPr id="37" name="Shape 32"/>
          <p:cNvSpPr/>
          <p:nvPr/>
        </p:nvSpPr>
        <p:spPr>
          <a:xfrm>
            <a:off x="4648200" y="1781175"/>
            <a:ext cx="3962400" cy="247650"/>
          </a:xfrm>
          <a:prstGeom prst="rect">
            <a:avLst/>
          </a:prstGeom>
          <a:solidFill>
            <a:srgbClr val="FFFFFF"/>
          </a:solidFill>
          <a:ln/>
        </p:spPr>
      </p:sp>
      <p:sp>
        <p:nvSpPr>
          <p:cNvPr id="38" name="Text 33"/>
          <p:cNvSpPr/>
          <p:nvPr/>
        </p:nvSpPr>
        <p:spPr>
          <a:xfrm>
            <a:off x="4762500" y="184308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0E2A26">
                    <a:alpha val="99000"/>
                  </a:srgbClr>
                </a:solidFill>
                <a:latin typeface="Inter" pitchFamily="34" charset="0"/>
                <a:ea typeface="Inter" pitchFamily="34" charset="-122"/>
                <a:cs typeface="Inter" pitchFamily="34" charset="-120"/>
              </a:rPr>
              <a:t>TF and TR</a:t>
            </a:r>
            <a:endParaRPr lang="en-US" sz="677" dirty="0"/>
          </a:p>
        </p:txBody>
      </p:sp>
      <p:sp>
        <p:nvSpPr>
          <p:cNvPr id="39" name="Text 34"/>
          <p:cNvSpPr/>
          <p:nvPr/>
        </p:nvSpPr>
        <p:spPr>
          <a:xfrm>
            <a:off x="5838825" y="184308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23302D">
                    <a:alpha val="99000"/>
                  </a:srgbClr>
                </a:solidFill>
                <a:latin typeface="Inter" pitchFamily="34" charset="0"/>
                <a:ea typeface="Inter" pitchFamily="34" charset="-122"/>
                <a:cs typeface="Inter" pitchFamily="34" charset="-120"/>
              </a:rPr>
              <a:t>Solvent extraction (Roberts and Smith, 1961)</a:t>
            </a:r>
            <a:endParaRPr lang="en-US" sz="677" dirty="0"/>
          </a:p>
        </p:txBody>
      </p:sp>
      <p:sp>
        <p:nvSpPr>
          <p:cNvPr id="40" name="Shape 35"/>
          <p:cNvSpPr/>
          <p:nvPr/>
        </p:nvSpPr>
        <p:spPr>
          <a:xfrm>
            <a:off x="4648200" y="1781175"/>
            <a:ext cx="3962400" cy="4763"/>
          </a:xfrm>
          <a:prstGeom prst="rect">
            <a:avLst/>
          </a:prstGeom>
          <a:solidFill>
            <a:srgbClr val="E3DACA"/>
          </a:solidFill>
          <a:ln/>
        </p:spPr>
      </p:sp>
      <p:sp>
        <p:nvSpPr>
          <p:cNvPr id="41" name="Shape 36"/>
          <p:cNvSpPr/>
          <p:nvPr/>
        </p:nvSpPr>
        <p:spPr>
          <a:xfrm>
            <a:off x="4648200" y="2028825"/>
            <a:ext cx="3962400" cy="247650"/>
          </a:xfrm>
          <a:prstGeom prst="rect">
            <a:avLst/>
          </a:prstGeom>
          <a:solidFill>
            <a:srgbClr val="FBF9F4"/>
          </a:solidFill>
          <a:ln/>
        </p:spPr>
      </p:sp>
      <p:sp>
        <p:nvSpPr>
          <p:cNvPr id="42" name="Text 37"/>
          <p:cNvSpPr/>
          <p:nvPr/>
        </p:nvSpPr>
        <p:spPr>
          <a:xfrm>
            <a:off x="4762500" y="209073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0E2A26">
                    <a:alpha val="99000"/>
                  </a:srgbClr>
                </a:solidFill>
                <a:latin typeface="Inter" pitchFamily="34" charset="0"/>
                <a:ea typeface="Inter" pitchFamily="34" charset="-122"/>
                <a:cs typeface="Inter" pitchFamily="34" charset="-120"/>
              </a:rPr>
              <a:t>Caffeine, sugars</a:t>
            </a:r>
            <a:endParaRPr lang="en-US" sz="677" dirty="0"/>
          </a:p>
        </p:txBody>
      </p:sp>
      <p:sp>
        <p:nvSpPr>
          <p:cNvPr id="43" name="Text 38"/>
          <p:cNvSpPr/>
          <p:nvPr/>
        </p:nvSpPr>
        <p:spPr>
          <a:xfrm>
            <a:off x="5838825" y="209073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23302D">
                    <a:alpha val="99000"/>
                  </a:srgbClr>
                </a:solidFill>
                <a:latin typeface="Inter" pitchFamily="34" charset="0"/>
                <a:ea typeface="Inter" pitchFamily="34" charset="-122"/>
                <a:cs typeface="Inter" pitchFamily="34" charset="-120"/>
              </a:rPr>
              <a:t>HPLC after extraction</a:t>
            </a:r>
            <a:endParaRPr lang="en-US" sz="677" dirty="0"/>
          </a:p>
        </p:txBody>
      </p:sp>
      <p:sp>
        <p:nvSpPr>
          <p:cNvPr id="44" name="Shape 39"/>
          <p:cNvSpPr/>
          <p:nvPr/>
        </p:nvSpPr>
        <p:spPr>
          <a:xfrm>
            <a:off x="4648200" y="2028825"/>
            <a:ext cx="3962400" cy="4763"/>
          </a:xfrm>
          <a:prstGeom prst="rect">
            <a:avLst/>
          </a:prstGeom>
          <a:solidFill>
            <a:srgbClr val="E3DACA"/>
          </a:solidFill>
          <a:ln/>
        </p:spPr>
      </p:sp>
      <p:sp>
        <p:nvSpPr>
          <p:cNvPr id="45" name="Shape 40"/>
          <p:cNvSpPr/>
          <p:nvPr/>
        </p:nvSpPr>
        <p:spPr>
          <a:xfrm>
            <a:off x="4648200" y="2276475"/>
            <a:ext cx="3962400" cy="247650"/>
          </a:xfrm>
          <a:prstGeom prst="rect">
            <a:avLst/>
          </a:prstGeom>
          <a:solidFill>
            <a:srgbClr val="FFFFFF"/>
          </a:solidFill>
          <a:ln/>
        </p:spPr>
      </p:sp>
      <p:sp>
        <p:nvSpPr>
          <p:cNvPr id="46" name="Text 41"/>
          <p:cNvSpPr/>
          <p:nvPr/>
        </p:nvSpPr>
        <p:spPr>
          <a:xfrm>
            <a:off x="4762500" y="233838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0E2A26">
                    <a:alpha val="99000"/>
                  </a:srgbClr>
                </a:solidFill>
                <a:latin typeface="Inter" pitchFamily="34" charset="0"/>
                <a:ea typeface="Inter" pitchFamily="34" charset="-122"/>
                <a:cs typeface="Inter" pitchFamily="34" charset="-120"/>
              </a:rPr>
              <a:t>Glyphosate</a:t>
            </a:r>
            <a:endParaRPr lang="en-US" sz="677" dirty="0"/>
          </a:p>
        </p:txBody>
      </p:sp>
      <p:sp>
        <p:nvSpPr>
          <p:cNvPr id="47" name="Text 42"/>
          <p:cNvSpPr/>
          <p:nvPr/>
        </p:nvSpPr>
        <p:spPr>
          <a:xfrm>
            <a:off x="5838825" y="233838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23302D">
                    <a:alpha val="99000"/>
                  </a:srgbClr>
                </a:solidFill>
                <a:latin typeface="Inter" pitchFamily="34" charset="0"/>
                <a:ea typeface="Inter" pitchFamily="34" charset="-122"/>
                <a:cs typeface="Inter" pitchFamily="34" charset="-120"/>
              </a:rPr>
              <a:t>LC-MS/MS after selective extraction (Wang et al., 2023)</a:t>
            </a:r>
            <a:endParaRPr lang="en-US" sz="677" dirty="0"/>
          </a:p>
        </p:txBody>
      </p:sp>
      <p:sp>
        <p:nvSpPr>
          <p:cNvPr id="48" name="Shape 43"/>
          <p:cNvSpPr/>
          <p:nvPr/>
        </p:nvSpPr>
        <p:spPr>
          <a:xfrm>
            <a:off x="4648200" y="2276475"/>
            <a:ext cx="3962400" cy="4763"/>
          </a:xfrm>
          <a:prstGeom prst="rect">
            <a:avLst/>
          </a:prstGeom>
          <a:solidFill>
            <a:srgbClr val="E3DACA"/>
          </a:solidFill>
          <a:ln/>
        </p:spPr>
      </p:sp>
      <p:sp>
        <p:nvSpPr>
          <p:cNvPr id="49" name="Shape 44"/>
          <p:cNvSpPr/>
          <p:nvPr/>
        </p:nvSpPr>
        <p:spPr>
          <a:xfrm>
            <a:off x="4648200" y="2524125"/>
            <a:ext cx="3962400" cy="247650"/>
          </a:xfrm>
          <a:prstGeom prst="rect">
            <a:avLst/>
          </a:prstGeom>
          <a:solidFill>
            <a:srgbClr val="0E2A26"/>
          </a:solidFill>
          <a:ln/>
        </p:spPr>
      </p:sp>
      <p:sp>
        <p:nvSpPr>
          <p:cNvPr id="50" name="Text 45"/>
          <p:cNvSpPr/>
          <p:nvPr/>
        </p:nvSpPr>
        <p:spPr>
          <a:xfrm>
            <a:off x="4762500" y="2586038"/>
            <a:ext cx="1019175" cy="123825"/>
          </a:xfrm>
          <a:prstGeom prst="rect">
            <a:avLst/>
          </a:prstGeom>
          <a:noFill/>
          <a:ln/>
        </p:spPr>
        <p:txBody>
          <a:bodyPr wrap="square" lIns="0" tIns="0" rIns="0" bIns="0" rtlCol="0" anchor="t"/>
          <a:lstStyle/>
          <a:p>
            <a:pPr algn="l" indent="0" marL="0">
              <a:lnSpc>
                <a:spcPts val="914"/>
              </a:lnSpc>
              <a:buNone/>
            </a:pPr>
            <a:r>
              <a:rPr lang="en-US" sz="677" b="1" dirty="0">
                <a:solidFill>
                  <a:srgbClr val="D4AF63">
                    <a:alpha val="99000"/>
                  </a:srgbClr>
                </a:solidFill>
                <a:latin typeface="Inter" pitchFamily="34" charset="0"/>
                <a:ea typeface="Inter" pitchFamily="34" charset="-122"/>
                <a:cs typeface="Inter" pitchFamily="34" charset="-120"/>
              </a:rPr>
              <a:t>NIR scan</a:t>
            </a:r>
            <a:endParaRPr lang="en-US" sz="677" dirty="0"/>
          </a:p>
        </p:txBody>
      </p:sp>
      <p:sp>
        <p:nvSpPr>
          <p:cNvPr id="51" name="Text 46"/>
          <p:cNvSpPr/>
          <p:nvPr/>
        </p:nvSpPr>
        <p:spPr>
          <a:xfrm>
            <a:off x="5838825" y="2586038"/>
            <a:ext cx="2657475" cy="123825"/>
          </a:xfrm>
          <a:prstGeom prst="rect">
            <a:avLst/>
          </a:prstGeom>
          <a:noFill/>
          <a:ln/>
        </p:spPr>
        <p:txBody>
          <a:bodyPr wrap="square" lIns="0" tIns="0" rIns="0" bIns="0" rtlCol="0" anchor="t"/>
          <a:lstStyle/>
          <a:p>
            <a:pPr algn="l" indent="0" marL="0">
              <a:lnSpc>
                <a:spcPts val="914"/>
              </a:lnSpc>
              <a:buNone/>
            </a:pPr>
            <a:r>
              <a:rPr lang="en-US" sz="677" dirty="0">
                <a:solidFill>
                  <a:srgbClr val="E8EFEC">
                    <a:alpha val="99000"/>
                  </a:srgbClr>
                </a:solidFill>
                <a:latin typeface="Inter" pitchFamily="34" charset="0"/>
                <a:ea typeface="Inter" pitchFamily="34" charset="-122"/>
                <a:cs typeface="Inter" pitchFamily="34" charset="-120"/>
              </a:rPr>
              <a:t>Seconds; no reagents; the sample stays intact</a:t>
            </a:r>
            <a:endParaRPr lang="en-US" sz="677" dirty="0"/>
          </a:p>
        </p:txBody>
      </p:sp>
      <p:sp>
        <p:nvSpPr>
          <p:cNvPr id="52" name="Shape 47"/>
          <p:cNvSpPr/>
          <p:nvPr/>
        </p:nvSpPr>
        <p:spPr>
          <a:xfrm>
            <a:off x="4648200" y="2524125"/>
            <a:ext cx="3962400" cy="4763"/>
          </a:xfrm>
          <a:prstGeom prst="rect">
            <a:avLst/>
          </a:prstGeom>
          <a:solidFill>
            <a:srgbClr val="E3DACA"/>
          </a:solidFill>
          <a:ln/>
        </p:spPr>
      </p:sp>
      <p:sp>
        <p:nvSpPr>
          <p:cNvPr id="53" name="Shape 48"/>
          <p:cNvSpPr/>
          <p:nvPr/>
        </p:nvSpPr>
        <p:spPr>
          <a:xfrm>
            <a:off x="4648200" y="2886075"/>
            <a:ext cx="3962400" cy="1781175"/>
          </a:xfrm>
          <a:prstGeom prst="roundRect">
            <a:avLst/>
          </a:prstGeom>
          <a:solidFill>
            <a:srgbClr val="0E2A26"/>
          </a:solidFill>
          <a:ln/>
        </p:spPr>
      </p:sp>
      <p:sp>
        <p:nvSpPr>
          <p:cNvPr id="54" name="Text 49"/>
          <p:cNvSpPr/>
          <p:nvPr/>
        </p:nvSpPr>
        <p:spPr>
          <a:xfrm>
            <a:off x="4819650" y="3305175"/>
            <a:ext cx="4572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KEY POINT</a:t>
            </a:r>
            <a:endParaRPr lang="en-US" sz="499" dirty="0"/>
          </a:p>
        </p:txBody>
      </p:sp>
      <p:sp>
        <p:nvSpPr>
          <p:cNvPr id="55" name="Text 50"/>
          <p:cNvSpPr/>
          <p:nvPr/>
        </p:nvSpPr>
        <p:spPr>
          <a:xfrm>
            <a:off x="4819650" y="3438525"/>
            <a:ext cx="3619500" cy="300038"/>
          </a:xfrm>
          <a:prstGeom prst="rect">
            <a:avLst/>
          </a:prstGeom>
          <a:noFill/>
          <a:ln/>
        </p:spPr>
        <p:txBody>
          <a:bodyPr wrap="square" lIns="0" tIns="0" rIns="0" bIns="0" rtlCol="0" anchor="t"/>
          <a:lstStyle/>
          <a:p>
            <a:pPr algn="l" indent="0" marL="0">
              <a:lnSpc>
                <a:spcPts val="2242"/>
              </a:lnSpc>
              <a:buNone/>
            </a:pPr>
            <a:r>
              <a:rPr lang="en-US" sz="1852" b="1" spc="-19" kern="0" dirty="0">
                <a:solidFill>
                  <a:srgbClr val="D4AF63">
                    <a:alpha val="99000"/>
                  </a:srgbClr>
                </a:solidFill>
                <a:latin typeface="Inter" pitchFamily="34" charset="0"/>
                <a:ea typeface="Inter" pitchFamily="34" charset="-122"/>
                <a:cs typeface="Inter" pitchFamily="34" charset="-120"/>
              </a:rPr>
              <a:t>6 hours  →  seconds</a:t>
            </a:r>
            <a:endParaRPr lang="en-US" sz="1852" dirty="0"/>
          </a:p>
        </p:txBody>
      </p:sp>
      <p:sp>
        <p:nvSpPr>
          <p:cNvPr id="56" name="Text 51"/>
          <p:cNvSpPr/>
          <p:nvPr/>
        </p:nvSpPr>
        <p:spPr>
          <a:xfrm>
            <a:off x="4819650" y="3833812"/>
            <a:ext cx="3619500" cy="414338"/>
          </a:xfrm>
          <a:prstGeom prst="rect">
            <a:avLst/>
          </a:prstGeom>
          <a:noFill/>
          <a:ln/>
        </p:spPr>
        <p:txBody>
          <a:bodyPr wrap="square" lIns="0" tIns="0" rIns="0" bIns="0" rtlCol="0" anchor="t"/>
          <a:lstStyle/>
          <a:p>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One NIR spectrum carries O-H, C-H and N-H information about several components at once, so one scan could feed several AI models (Wang et al., 2025).</a:t>
            </a:r>
            <a:endParaRPr lang="en-US" sz="71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833438"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04   ·   EVIDENCE</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Evidence and problem statement</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453312" y="295275"/>
            <a:ext cx="1157288" cy="161925"/>
          </a:xfrm>
          <a:prstGeom prst="roundRect">
            <a:avLst/>
          </a:prstGeom>
          <a:noFill/>
          <a:ln w="5429">
            <a:solidFill>
              <a:srgbClr val="B8893B"/>
            </a:solidFill>
            <a:prstDash val="solid"/>
          </a:ln>
        </p:spPr>
      </p:sp>
      <p:sp>
        <p:nvSpPr>
          <p:cNvPr id="7" name="Text 4"/>
          <p:cNvSpPr/>
          <p:nvPr/>
        </p:nvSpPr>
        <p:spPr>
          <a:xfrm>
            <a:off x="7539037" y="335756"/>
            <a:ext cx="9858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Problem/aim/objectives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30003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04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9382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PROBLEM STATEMENT</a:t>
            </a:r>
            <a:endParaRPr lang="en-US" sz="499" dirty="0"/>
          </a:p>
        </p:txBody>
      </p:sp>
      <p:sp>
        <p:nvSpPr>
          <p:cNvPr id="15" name="Shape 10"/>
          <p:cNvSpPr/>
          <p:nvPr/>
        </p:nvSpPr>
        <p:spPr>
          <a:xfrm>
            <a:off x="533400" y="1181100"/>
            <a:ext cx="3429000" cy="4763"/>
          </a:xfrm>
          <a:prstGeom prst="rect">
            <a:avLst/>
          </a:prstGeom>
          <a:solidFill>
            <a:srgbClr val="0E2A26">
              <a:alpha val="18000"/>
            </a:srgbClr>
          </a:solidFill>
          <a:ln/>
        </p:spPr>
      </p:sp>
      <p:sp>
        <p:nvSpPr>
          <p:cNvPr id="16" name="Text 11"/>
          <p:cNvSpPr/>
          <p:nvPr/>
        </p:nvSpPr>
        <p:spPr>
          <a:xfrm>
            <a:off x="533400" y="1285875"/>
            <a:ext cx="3429000" cy="1600200"/>
          </a:xfrm>
          <a:prstGeom prst="rect">
            <a:avLst/>
          </a:prstGeom>
          <a:noFill/>
          <a:ln/>
        </p:spPr>
        <p:txBody>
          <a:bodyPr wrap="square" lIns="0" tIns="0" rIns="0" bIns="0" rtlCol="0" anchor="t"/>
          <a:lstStyle/>
          <a:p>
            <a:pPr algn="l" indent="0" marL="0">
              <a:lnSpc>
                <a:spcPts val="1498"/>
              </a:lnSpc>
              <a:buNone/>
            </a:pPr>
            <a:r>
              <a:rPr lang="en-US" sz="1033" spc="-5" kern="0" dirty="0">
                <a:solidFill>
                  <a:srgbClr val="0E2A26">
                    <a:alpha val="99000"/>
                  </a:srgbClr>
                </a:solidFill>
                <a:latin typeface="Inter" pitchFamily="34" charset="0"/>
                <a:ea typeface="Inter" pitchFamily="34" charset="-122"/>
                <a:cs typeface="Inter" pitchFamily="34" charset="-120"/>
              </a:rPr>
              <a:t>Black-tea quality is assessed with separate, slow, destructive laboratory methods, about six hours for moisture alone. There is a need to evaluate whether NIR spectroscopy with chemometric and AI models can estimate these parameters, starting with moisture, accurately and rapidly enough for screening, and to establish which further parameters such a framework can realistically estimate.</a:t>
            </a:r>
            <a:endParaRPr lang="en-US" sz="1033" dirty="0"/>
          </a:p>
        </p:txBody>
      </p:sp>
      <p:sp>
        <p:nvSpPr>
          <p:cNvPr id="17" name="Shape 12"/>
          <p:cNvSpPr/>
          <p:nvPr/>
        </p:nvSpPr>
        <p:spPr>
          <a:xfrm>
            <a:off x="533400" y="3681413"/>
            <a:ext cx="3429000" cy="985838"/>
          </a:xfrm>
          <a:prstGeom prst="roundRect">
            <a:avLst/>
          </a:prstGeom>
          <a:solidFill>
            <a:srgbClr val="0E2A26"/>
          </a:solidFill>
          <a:ln/>
        </p:spPr>
      </p:sp>
      <p:sp>
        <p:nvSpPr>
          <p:cNvPr id="18" name="Shape 13"/>
          <p:cNvSpPr/>
          <p:nvPr/>
        </p:nvSpPr>
        <p:spPr>
          <a:xfrm>
            <a:off x="704850" y="3843338"/>
            <a:ext cx="152400" cy="14288"/>
          </a:xfrm>
          <a:prstGeom prst="rect">
            <a:avLst/>
          </a:prstGeom>
          <a:solidFill>
            <a:srgbClr val="D4AF63"/>
          </a:solidFill>
          <a:ln/>
        </p:spPr>
      </p:sp>
      <p:sp>
        <p:nvSpPr>
          <p:cNvPr id="19" name="Text 14"/>
          <p:cNvSpPr/>
          <p:nvPr/>
        </p:nvSpPr>
        <p:spPr>
          <a:xfrm>
            <a:off x="704850" y="3919537"/>
            <a:ext cx="74295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WHY IT MATTERS</a:t>
            </a:r>
            <a:endParaRPr lang="en-US" sz="499" dirty="0"/>
          </a:p>
        </p:txBody>
      </p:sp>
      <p:sp>
        <p:nvSpPr>
          <p:cNvPr id="20" name="Text 15"/>
          <p:cNvSpPr/>
          <p:nvPr/>
        </p:nvSpPr>
        <p:spPr>
          <a:xfrm>
            <a:off x="704850" y="4081463"/>
            <a:ext cx="3086100" cy="414338"/>
          </a:xfrm>
          <a:prstGeom prst="rect">
            <a:avLst/>
          </a:prstGeom>
          <a:noFill/>
          <a:ln/>
        </p:spPr>
        <p:txBody>
          <a:bodyPr wrap="square" lIns="0" tIns="0" rIns="0" bIns="0" rtlCol="0" anchor="t"/>
          <a:lstStyle/>
          <a:p>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Drying, release and adulteration decisions are made before laboratory results arrive, and existing NIR models have not been validated on Sri Lankan black tea.</a:t>
            </a:r>
            <a:endParaRPr lang="en-US" sz="713" dirty="0"/>
          </a:p>
        </p:txBody>
      </p:sp>
      <p:sp>
        <p:nvSpPr>
          <p:cNvPr id="21" name="Text 16"/>
          <p:cNvSpPr/>
          <p:nvPr/>
        </p:nvSpPr>
        <p:spPr>
          <a:xfrm>
            <a:off x="4343400" y="1038225"/>
            <a:ext cx="4238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EVIDENCE</a:t>
            </a:r>
            <a:endParaRPr lang="en-US" sz="499" dirty="0"/>
          </a:p>
        </p:txBody>
      </p:sp>
      <p:sp>
        <p:nvSpPr>
          <p:cNvPr id="22" name="Shape 17"/>
          <p:cNvSpPr/>
          <p:nvPr/>
        </p:nvSpPr>
        <p:spPr>
          <a:xfrm>
            <a:off x="4343400" y="1181100"/>
            <a:ext cx="4267200" cy="4763"/>
          </a:xfrm>
          <a:prstGeom prst="rect">
            <a:avLst/>
          </a:prstGeom>
          <a:solidFill>
            <a:srgbClr val="0E2A26">
              <a:alpha val="18000"/>
            </a:srgbClr>
          </a:solidFill>
          <a:ln/>
        </p:spPr>
      </p:sp>
      <p:sp>
        <p:nvSpPr>
          <p:cNvPr id="23" name="Text 18"/>
          <p:cNvSpPr/>
          <p:nvPr/>
        </p:nvSpPr>
        <p:spPr>
          <a:xfrm>
            <a:off x="4343400" y="1271588"/>
            <a:ext cx="14287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01</a:t>
            </a:r>
            <a:endParaRPr lang="en-US" sz="926" dirty="0"/>
          </a:p>
        </p:txBody>
      </p:sp>
      <p:sp>
        <p:nvSpPr>
          <p:cNvPr id="24" name="Text 19"/>
          <p:cNvSpPr/>
          <p:nvPr/>
        </p:nvSpPr>
        <p:spPr>
          <a:xfrm>
            <a:off x="4638675" y="1285875"/>
            <a:ext cx="3971925"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Scale</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257.44 million kg exported, about US$1.51 billion in 2025 (Daily FT, 2026)</a:t>
            </a:r>
            <a:endParaRPr lang="en-US" sz="784" dirty="0"/>
          </a:p>
        </p:txBody>
      </p:sp>
      <p:sp>
        <p:nvSpPr>
          <p:cNvPr id="25" name="Shape 20"/>
          <p:cNvSpPr/>
          <p:nvPr/>
        </p:nvSpPr>
        <p:spPr>
          <a:xfrm>
            <a:off x="4343400" y="1552575"/>
            <a:ext cx="4267200" cy="4763"/>
          </a:xfrm>
          <a:prstGeom prst="rect">
            <a:avLst/>
          </a:prstGeom>
          <a:solidFill>
            <a:srgbClr val="E3DACA"/>
          </a:solidFill>
          <a:ln/>
        </p:spPr>
      </p:sp>
      <p:sp>
        <p:nvSpPr>
          <p:cNvPr id="26" name="Text 21"/>
          <p:cNvSpPr/>
          <p:nvPr/>
        </p:nvSpPr>
        <p:spPr>
          <a:xfrm>
            <a:off x="4343400" y="16525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02</a:t>
            </a:r>
            <a:endParaRPr lang="en-US" sz="926" dirty="0"/>
          </a:p>
        </p:txBody>
      </p:sp>
      <p:sp>
        <p:nvSpPr>
          <p:cNvPr id="27" name="Text 22"/>
          <p:cNvSpPr/>
          <p:nvPr/>
        </p:nvSpPr>
        <p:spPr>
          <a:xfrm>
            <a:off x="4638675" y="1666875"/>
            <a:ext cx="3971925"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Integrity</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Tea is a high-risk product for fraud and adulteration (Wu et al., 2027)</a:t>
            </a:r>
            <a:endParaRPr lang="en-US" sz="784" dirty="0"/>
          </a:p>
        </p:txBody>
      </p:sp>
      <p:sp>
        <p:nvSpPr>
          <p:cNvPr id="28" name="Shape 23"/>
          <p:cNvSpPr/>
          <p:nvPr/>
        </p:nvSpPr>
        <p:spPr>
          <a:xfrm>
            <a:off x="4343400" y="1933575"/>
            <a:ext cx="4267200" cy="4763"/>
          </a:xfrm>
          <a:prstGeom prst="rect">
            <a:avLst/>
          </a:prstGeom>
          <a:solidFill>
            <a:srgbClr val="E3DACA"/>
          </a:solidFill>
          <a:ln/>
        </p:spPr>
      </p:sp>
      <p:sp>
        <p:nvSpPr>
          <p:cNvPr id="29" name="Text 24"/>
          <p:cNvSpPr/>
          <p:nvPr/>
        </p:nvSpPr>
        <p:spPr>
          <a:xfrm>
            <a:off x="4343400" y="2033588"/>
            <a:ext cx="166688"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03</a:t>
            </a:r>
            <a:endParaRPr lang="en-US" sz="926" dirty="0"/>
          </a:p>
        </p:txBody>
      </p:sp>
      <p:sp>
        <p:nvSpPr>
          <p:cNvPr id="30" name="Text 25"/>
          <p:cNvSpPr/>
          <p:nvPr/>
        </p:nvSpPr>
        <p:spPr>
          <a:xfrm>
            <a:off x="4638675" y="2047875"/>
            <a:ext cx="39719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Slow methods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Laboratory tests are reagent-heavy and unsuited to real-time control (Wang et al., 2025)</a:t>
            </a:r>
            <a:endParaRPr lang="en-US" sz="784" dirty="0"/>
          </a:p>
        </p:txBody>
      </p:sp>
      <p:sp>
        <p:nvSpPr>
          <p:cNvPr id="31" name="Shape 26"/>
          <p:cNvSpPr/>
          <p:nvPr/>
        </p:nvSpPr>
        <p:spPr>
          <a:xfrm>
            <a:off x="4343400" y="2466975"/>
            <a:ext cx="4267200" cy="4763"/>
          </a:xfrm>
          <a:prstGeom prst="rect">
            <a:avLst/>
          </a:prstGeom>
          <a:solidFill>
            <a:srgbClr val="E3DACA"/>
          </a:solidFill>
          <a:ln/>
        </p:spPr>
      </p:sp>
      <p:sp>
        <p:nvSpPr>
          <p:cNvPr id="32" name="Text 27"/>
          <p:cNvSpPr/>
          <p:nvPr/>
        </p:nvSpPr>
        <p:spPr>
          <a:xfrm>
            <a:off x="4343400" y="2566988"/>
            <a:ext cx="166688"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04</a:t>
            </a:r>
            <a:endParaRPr lang="en-US" sz="926" dirty="0"/>
          </a:p>
        </p:txBody>
      </p:sp>
      <p:sp>
        <p:nvSpPr>
          <p:cNvPr id="33" name="Text 28"/>
          <p:cNvSpPr/>
          <p:nvPr/>
        </p:nvSpPr>
        <p:spPr>
          <a:xfrm>
            <a:off x="4638675" y="2581275"/>
            <a:ext cx="39719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Single-site models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Every NIR moisture study reviewed used one cultivar, site or season (Zou et al., 2022; Lan et al., 2022; Tao et al., 2026)</a:t>
            </a:r>
            <a:endParaRPr lang="en-US" sz="784" dirty="0"/>
          </a:p>
        </p:txBody>
      </p:sp>
      <p:sp>
        <p:nvSpPr>
          <p:cNvPr id="34" name="Shape 29"/>
          <p:cNvSpPr/>
          <p:nvPr/>
        </p:nvSpPr>
        <p:spPr>
          <a:xfrm>
            <a:off x="4343400" y="3000375"/>
            <a:ext cx="4267200" cy="4763"/>
          </a:xfrm>
          <a:prstGeom prst="rect">
            <a:avLst/>
          </a:prstGeom>
          <a:solidFill>
            <a:srgbClr val="E3DACA"/>
          </a:solidFill>
          <a:ln/>
        </p:spPr>
      </p:sp>
      <p:sp>
        <p:nvSpPr>
          <p:cNvPr id="35" name="Text 30"/>
          <p:cNvSpPr/>
          <p:nvPr/>
        </p:nvSpPr>
        <p:spPr>
          <a:xfrm>
            <a:off x="4343400" y="31003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05</a:t>
            </a:r>
            <a:endParaRPr lang="en-US" sz="926" dirty="0"/>
          </a:p>
        </p:txBody>
      </p:sp>
      <p:sp>
        <p:nvSpPr>
          <p:cNvPr id="36" name="Text 31"/>
          <p:cNvSpPr/>
          <p:nvPr/>
        </p:nvSpPr>
        <p:spPr>
          <a:xfrm>
            <a:off x="4638675" y="3114675"/>
            <a:ext cx="39719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Overstated accuracy</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98.3% in calibration vs 92.3% in validation (Revilla et al., 2024)</a:t>
            </a:r>
            <a:endParaRPr lang="en-US" sz="784" dirty="0"/>
          </a:p>
        </p:txBody>
      </p:sp>
      <p:sp>
        <p:nvSpPr>
          <p:cNvPr id="37" name="Shape 32"/>
          <p:cNvSpPr/>
          <p:nvPr/>
        </p:nvSpPr>
        <p:spPr>
          <a:xfrm>
            <a:off x="4343400" y="3533775"/>
            <a:ext cx="4267200" cy="4763"/>
          </a:xfrm>
          <a:prstGeom prst="rect">
            <a:avLst/>
          </a:prstGeom>
          <a:solidFill>
            <a:srgbClr val="E3DACA"/>
          </a:solidFill>
          <a:ln/>
        </p:spPr>
      </p:sp>
      <p:sp>
        <p:nvSpPr>
          <p:cNvPr id="38" name="Text 33"/>
          <p:cNvSpPr/>
          <p:nvPr/>
        </p:nvSpPr>
        <p:spPr>
          <a:xfrm>
            <a:off x="4343400" y="36337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06</a:t>
            </a:r>
            <a:endParaRPr lang="en-US" sz="926" dirty="0"/>
          </a:p>
        </p:txBody>
      </p:sp>
      <p:sp>
        <p:nvSpPr>
          <p:cNvPr id="39" name="Text 34"/>
          <p:cNvSpPr/>
          <p:nvPr/>
        </p:nvSpPr>
        <p:spPr>
          <a:xfrm>
            <a:off x="4638675" y="3648075"/>
            <a:ext cx="39719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Poor generalisation</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A leaf-moisture model fell from Rp 0.903 to 0.138 in a new year (Liu et al., 2025)</a:t>
            </a:r>
            <a:endParaRPr lang="en-US" sz="78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90500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05   ·   AIM AND RESEARCH QUESTIONS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Research aim and questions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Text 3"/>
          <p:cNvSpPr/>
          <p:nvPr/>
        </p:nvSpPr>
        <p:spPr>
          <a:xfrm>
            <a:off x="7539037" y="335756"/>
            <a:ext cx="9858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Problem/aim/objectives 10%</a:t>
            </a:r>
            <a:endParaRPr lang="en-US" sz="499" dirty="0"/>
          </a:p>
        </p:txBody>
      </p:sp>
      <p:sp>
        <p:nvSpPr>
          <p:cNvPr id="7" name="Shape 4"/>
          <p:cNvSpPr/>
          <p:nvPr/>
        </p:nvSpPr>
        <p:spPr>
          <a:xfrm>
            <a:off x="7453312" y="295275"/>
            <a:ext cx="1157288" cy="161925"/>
          </a:xfrm>
          <a:prstGeom prst="roundRect">
            <a:avLst/>
          </a:prstGeom>
          <a:noFill/>
          <a:ln w="5429">
            <a:solidFill>
              <a:srgbClr val="B8893B"/>
            </a:solidFill>
            <a:prstDash val="solid"/>
          </a:ln>
        </p:spPr>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9527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05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1571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AIM</a:t>
            </a:r>
            <a:endParaRPr lang="en-US" sz="499" dirty="0"/>
          </a:p>
        </p:txBody>
      </p:sp>
      <p:sp>
        <p:nvSpPr>
          <p:cNvPr id="15" name="Shape 10"/>
          <p:cNvSpPr/>
          <p:nvPr/>
        </p:nvSpPr>
        <p:spPr>
          <a:xfrm>
            <a:off x="533400" y="1181100"/>
            <a:ext cx="8077200" cy="4763"/>
          </a:xfrm>
          <a:prstGeom prst="rect">
            <a:avLst/>
          </a:prstGeom>
          <a:solidFill>
            <a:srgbClr val="0E2A26">
              <a:alpha val="18000"/>
            </a:srgbClr>
          </a:solidFill>
          <a:ln/>
        </p:spPr>
      </p:sp>
      <p:sp>
        <p:nvSpPr>
          <p:cNvPr id="16" name="Text 11"/>
          <p:cNvSpPr/>
          <p:nvPr/>
        </p:nvSpPr>
        <p:spPr>
          <a:xfrm>
            <a:off x="533400" y="1285875"/>
            <a:ext cx="8077200" cy="557213"/>
          </a:xfrm>
          <a:prstGeom prst="rect">
            <a:avLst/>
          </a:prstGeom>
          <a:noFill/>
          <a:ln/>
        </p:spPr>
        <p:txBody>
          <a:bodyPr wrap="square" lIns="0" tIns="0" rIns="0" bIns="0" rtlCol="0" anchor="t"/>
          <a:lstStyle/>
          <a:p>
            <a:pPr algn="l" indent="0" marL="0">
              <a:lnSpc>
                <a:spcPts val="1397"/>
              </a:lnSpc>
              <a:buNone/>
            </a:pPr>
            <a:r>
              <a:rPr lang="en-US" sz="998" spc="-5" kern="0" dirty="0">
                <a:solidFill>
                  <a:srgbClr val="0E2A26">
                    <a:alpha val="99000"/>
                  </a:srgbClr>
                </a:solidFill>
                <a:latin typeface="Inter" pitchFamily="34" charset="0"/>
                <a:ea typeface="Inter" pitchFamily="34" charset="-122"/>
                <a:cs typeface="Inter" pitchFamily="34" charset="-120"/>
              </a:rPr>
              <a:t>Design, develop and evaluate a near-infrared spectroscopy and AI framework for rapid, non-destructive estimation of black-tea quality parameters: validated experimentally on moisture, and assessed by evidence synthesis for polyphenols, TF:TR, caffeine, added sugar and glyphosate.</a:t>
            </a:r>
            <a:endParaRPr lang="en-US" sz="998" dirty="0"/>
          </a:p>
        </p:txBody>
      </p:sp>
      <p:sp>
        <p:nvSpPr>
          <p:cNvPr id="17" name="Shape 12"/>
          <p:cNvSpPr/>
          <p:nvPr/>
        </p:nvSpPr>
        <p:spPr>
          <a:xfrm>
            <a:off x="533400" y="2033588"/>
            <a:ext cx="1524000" cy="2014538"/>
          </a:xfrm>
          <a:prstGeom prst="roundRect">
            <a:avLst/>
          </a:prstGeom>
          <a:solidFill>
            <a:srgbClr val="FFFFFF"/>
          </a:solidFill>
          <a:ln w="4524">
            <a:solidFill>
              <a:srgbClr val="E3DACA"/>
            </a:solidFill>
            <a:prstDash val="solid"/>
          </a:ln>
        </p:spPr>
      </p:sp>
      <p:sp>
        <p:nvSpPr>
          <p:cNvPr id="18" name="Text 13"/>
          <p:cNvSpPr/>
          <p:nvPr/>
        </p:nvSpPr>
        <p:spPr>
          <a:xfrm>
            <a:off x="666750" y="2157413"/>
            <a:ext cx="323850"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B8893B">
                    <a:alpha val="99000"/>
                  </a:srgbClr>
                </a:solidFill>
                <a:latin typeface="Inter" pitchFamily="34" charset="0"/>
                <a:ea typeface="Inter" pitchFamily="34" charset="-122"/>
                <a:cs typeface="Inter" pitchFamily="34" charset="-120"/>
              </a:rPr>
              <a:t>RQ1</a:t>
            </a:r>
            <a:endParaRPr lang="en-US" sz="1283" dirty="0"/>
          </a:p>
        </p:txBody>
      </p:sp>
      <p:sp>
        <p:nvSpPr>
          <p:cNvPr id="19" name="Text 14"/>
          <p:cNvSpPr/>
          <p:nvPr/>
        </p:nvSpPr>
        <p:spPr>
          <a:xfrm>
            <a:off x="666750" y="2443163"/>
            <a:ext cx="1257300" cy="942975"/>
          </a:xfrm>
          <a:prstGeom prst="rect">
            <a:avLst/>
          </a:prstGeom>
          <a:noFill/>
          <a:ln/>
        </p:spPr>
        <p:txBody>
          <a:bodyPr wrap="square" lIns="0" tIns="0" rIns="0" bIns="0" rtlCol="0" anchor="t"/>
          <a:lstStyle/>
          <a:p>
            <a:pPr algn="l" indent="0" marL="0">
              <a:lnSpc>
                <a:spcPts val="1160"/>
              </a:lnSpc>
              <a:buNone/>
            </a:pPr>
            <a:r>
              <a:rPr lang="en-US" sz="784" dirty="0">
                <a:solidFill>
                  <a:srgbClr val="23302D">
                    <a:alpha val="99000"/>
                  </a:srgbClr>
                </a:solidFill>
                <a:latin typeface="Inter" pitchFamily="34" charset="0"/>
                <a:ea typeface="Inter" pitchFamily="34" charset="-122"/>
                <a:cs typeface="Inter" pitchFamily="34" charset="-120"/>
              </a:rPr>
              <a:t>To what extent can NIR spectra predict the moisture of Sri Lankan black tea against oven-drying on unseen samples?</a:t>
            </a:r>
            <a:endParaRPr lang="en-US" sz="784" dirty="0"/>
          </a:p>
        </p:txBody>
      </p:sp>
      <p:sp>
        <p:nvSpPr>
          <p:cNvPr id="20" name="Shape 15"/>
          <p:cNvSpPr/>
          <p:nvPr/>
        </p:nvSpPr>
        <p:spPr>
          <a:xfrm>
            <a:off x="666750" y="3810000"/>
            <a:ext cx="509587" cy="133350"/>
          </a:xfrm>
          <a:prstGeom prst="roundRect">
            <a:avLst/>
          </a:prstGeom>
          <a:solidFill>
            <a:srgbClr val="DCE8E3"/>
          </a:solidFill>
          <a:ln/>
        </p:spPr>
      </p:sp>
      <p:sp>
        <p:nvSpPr>
          <p:cNvPr id="21" name="Text 16"/>
          <p:cNvSpPr/>
          <p:nvPr/>
        </p:nvSpPr>
        <p:spPr>
          <a:xfrm>
            <a:off x="733425" y="3838575"/>
            <a:ext cx="376238" cy="76200"/>
          </a:xfrm>
          <a:prstGeom prst="rect">
            <a:avLst/>
          </a:prstGeom>
          <a:noFill/>
          <a:ln/>
        </p:spPr>
        <p:txBody>
          <a:bodyPr wrap="square" lIns="0" tIns="0" rIns="0" bIns="0" rtlCol="0" anchor="t"/>
          <a:lstStyle/>
          <a:p>
            <a:pPr algn="l" indent="0" marL="0">
              <a:lnSpc>
                <a:spcPts val="560"/>
              </a:lnSpc>
              <a:buNone/>
            </a:pPr>
            <a:r>
              <a:rPr lang="en-US" sz="463" b="1" spc="28" kern="0" dirty="0">
                <a:solidFill>
                  <a:srgbClr val="1F5C4F">
                    <a:alpha val="99000"/>
                  </a:srgbClr>
                </a:solidFill>
                <a:latin typeface="Inter" pitchFamily="34" charset="0"/>
                <a:ea typeface="Inter" pitchFamily="34" charset="-122"/>
                <a:cs typeface="Inter" pitchFamily="34" charset="-120"/>
              </a:rPr>
              <a:t>Experiment</a:t>
            </a:r>
            <a:endParaRPr lang="en-US" sz="463" dirty="0"/>
          </a:p>
        </p:txBody>
      </p:sp>
      <p:sp>
        <p:nvSpPr>
          <p:cNvPr id="22" name="Shape 17"/>
          <p:cNvSpPr/>
          <p:nvPr/>
        </p:nvSpPr>
        <p:spPr>
          <a:xfrm>
            <a:off x="2171700" y="2033588"/>
            <a:ext cx="1524000" cy="2014538"/>
          </a:xfrm>
          <a:prstGeom prst="roundRect">
            <a:avLst/>
          </a:prstGeom>
          <a:solidFill>
            <a:srgbClr val="FFFFFF"/>
          </a:solidFill>
          <a:ln w="4524">
            <a:solidFill>
              <a:srgbClr val="E3DACA"/>
            </a:solidFill>
            <a:prstDash val="solid"/>
          </a:ln>
        </p:spPr>
      </p:sp>
      <p:sp>
        <p:nvSpPr>
          <p:cNvPr id="23" name="Text 18"/>
          <p:cNvSpPr/>
          <p:nvPr/>
        </p:nvSpPr>
        <p:spPr>
          <a:xfrm>
            <a:off x="2305050" y="2157413"/>
            <a:ext cx="347663"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B8893B">
                    <a:alpha val="99000"/>
                  </a:srgbClr>
                </a:solidFill>
                <a:latin typeface="Inter" pitchFamily="34" charset="0"/>
                <a:ea typeface="Inter" pitchFamily="34" charset="-122"/>
                <a:cs typeface="Inter" pitchFamily="34" charset="-120"/>
              </a:rPr>
              <a:t>RQ2</a:t>
            </a:r>
            <a:endParaRPr lang="en-US" sz="1283" dirty="0"/>
          </a:p>
        </p:txBody>
      </p:sp>
      <p:sp>
        <p:nvSpPr>
          <p:cNvPr id="24" name="Text 19"/>
          <p:cNvSpPr/>
          <p:nvPr/>
        </p:nvSpPr>
        <p:spPr>
          <a:xfrm>
            <a:off x="2305050" y="2443163"/>
            <a:ext cx="1257300" cy="785813"/>
          </a:xfrm>
          <a:prstGeom prst="rect">
            <a:avLst/>
          </a:prstGeom>
          <a:noFill/>
          <a:ln/>
        </p:spPr>
        <p:txBody>
          <a:bodyPr wrap="square" lIns="0" tIns="0" rIns="0" bIns="0" rtlCol="0" anchor="t"/>
          <a:lstStyle/>
          <a:p>
            <a:pPr algn="l" indent="0" marL="0">
              <a:lnSpc>
                <a:spcPts val="1160"/>
              </a:lnSpc>
              <a:buNone/>
            </a:pPr>
            <a:r>
              <a:rPr lang="en-US" sz="784" dirty="0">
                <a:solidFill>
                  <a:srgbClr val="23302D">
                    <a:alpha val="99000"/>
                  </a:srgbClr>
                </a:solidFill>
                <a:latin typeface="Inter" pitchFamily="34" charset="0"/>
                <a:ea typeface="Inter" pitchFamily="34" charset="-122"/>
                <a:cs typeface="Inter" pitchFamily="34" charset="-120"/>
              </a:rPr>
              <a:t>How do preprocessing (SNV, MSC, Savitzky-Golay) and wavelength selection (CARS, SPA / iPLS) affect accuracy?</a:t>
            </a:r>
            <a:endParaRPr lang="en-US" sz="784" dirty="0"/>
          </a:p>
        </p:txBody>
      </p:sp>
      <p:sp>
        <p:nvSpPr>
          <p:cNvPr id="25" name="Shape 20"/>
          <p:cNvSpPr/>
          <p:nvPr/>
        </p:nvSpPr>
        <p:spPr>
          <a:xfrm>
            <a:off x="2305050" y="3810000"/>
            <a:ext cx="509587" cy="133350"/>
          </a:xfrm>
          <a:prstGeom prst="roundRect">
            <a:avLst/>
          </a:prstGeom>
          <a:solidFill>
            <a:srgbClr val="DCE8E3"/>
          </a:solidFill>
          <a:ln/>
        </p:spPr>
      </p:sp>
      <p:sp>
        <p:nvSpPr>
          <p:cNvPr id="26" name="Text 21"/>
          <p:cNvSpPr/>
          <p:nvPr/>
        </p:nvSpPr>
        <p:spPr>
          <a:xfrm>
            <a:off x="2371725" y="3838575"/>
            <a:ext cx="376238" cy="76200"/>
          </a:xfrm>
          <a:prstGeom prst="rect">
            <a:avLst/>
          </a:prstGeom>
          <a:noFill/>
          <a:ln/>
        </p:spPr>
        <p:txBody>
          <a:bodyPr wrap="square" lIns="0" tIns="0" rIns="0" bIns="0" rtlCol="0" anchor="t"/>
          <a:lstStyle/>
          <a:p>
            <a:pPr algn="l" indent="0" marL="0">
              <a:lnSpc>
                <a:spcPts val="560"/>
              </a:lnSpc>
              <a:buNone/>
            </a:pPr>
            <a:r>
              <a:rPr lang="en-US" sz="463" b="1" spc="28" kern="0" dirty="0">
                <a:solidFill>
                  <a:srgbClr val="1F5C4F">
                    <a:alpha val="99000"/>
                  </a:srgbClr>
                </a:solidFill>
                <a:latin typeface="Inter" pitchFamily="34" charset="0"/>
                <a:ea typeface="Inter" pitchFamily="34" charset="-122"/>
                <a:cs typeface="Inter" pitchFamily="34" charset="-120"/>
              </a:rPr>
              <a:t>Experiment</a:t>
            </a:r>
            <a:endParaRPr lang="en-US" sz="463" dirty="0"/>
          </a:p>
        </p:txBody>
      </p:sp>
      <p:sp>
        <p:nvSpPr>
          <p:cNvPr id="27" name="Shape 22"/>
          <p:cNvSpPr/>
          <p:nvPr/>
        </p:nvSpPr>
        <p:spPr>
          <a:xfrm>
            <a:off x="3810000" y="2033588"/>
            <a:ext cx="1524000" cy="2014538"/>
          </a:xfrm>
          <a:prstGeom prst="roundRect">
            <a:avLst/>
          </a:prstGeom>
          <a:solidFill>
            <a:srgbClr val="FFFFFF"/>
          </a:solidFill>
          <a:ln w="4524">
            <a:solidFill>
              <a:srgbClr val="E3DACA"/>
            </a:solidFill>
            <a:prstDash val="solid"/>
          </a:ln>
        </p:spPr>
      </p:sp>
      <p:sp>
        <p:nvSpPr>
          <p:cNvPr id="28" name="Text 23"/>
          <p:cNvSpPr/>
          <p:nvPr/>
        </p:nvSpPr>
        <p:spPr>
          <a:xfrm>
            <a:off x="3943350" y="2157413"/>
            <a:ext cx="357188"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B8893B">
                    <a:alpha val="99000"/>
                  </a:srgbClr>
                </a:solidFill>
                <a:latin typeface="Inter" pitchFamily="34" charset="0"/>
                <a:ea typeface="Inter" pitchFamily="34" charset="-122"/>
                <a:cs typeface="Inter" pitchFamily="34" charset="-120"/>
              </a:rPr>
              <a:t>RQ3</a:t>
            </a:r>
            <a:endParaRPr lang="en-US" sz="1283" dirty="0"/>
          </a:p>
        </p:txBody>
      </p:sp>
      <p:sp>
        <p:nvSpPr>
          <p:cNvPr id="29" name="Text 24"/>
          <p:cNvSpPr/>
          <p:nvPr/>
        </p:nvSpPr>
        <p:spPr>
          <a:xfrm>
            <a:off x="3943350" y="2443163"/>
            <a:ext cx="1257300" cy="785813"/>
          </a:xfrm>
          <a:prstGeom prst="rect">
            <a:avLst/>
          </a:prstGeom>
          <a:noFill/>
          <a:ln/>
        </p:spPr>
        <p:txBody>
          <a:bodyPr wrap="square" lIns="0" tIns="0" rIns="0" bIns="0" rtlCol="0" anchor="t"/>
          <a:lstStyle/>
          <a:p>
            <a:pPr algn="l" indent="0" marL="0">
              <a:lnSpc>
                <a:spcPts val="1160"/>
              </a:lnSpc>
              <a:buNone/>
            </a:pPr>
            <a:r>
              <a:rPr lang="en-US" sz="784" dirty="0">
                <a:solidFill>
                  <a:srgbClr val="23302D">
                    <a:alpha val="99000"/>
                  </a:srgbClr>
                </a:solidFill>
                <a:latin typeface="Inter" pitchFamily="34" charset="0"/>
                <a:ea typeface="Inter" pitchFamily="34" charset="-122"/>
                <a:cs typeface="Inter" pitchFamily="34" charset="-120"/>
              </a:rPr>
              <a:t>Do machine-learning models (SVR, RF) outperform PLSR, and do they hold on an unseen source?</a:t>
            </a:r>
            <a:endParaRPr lang="en-US" sz="784" dirty="0"/>
          </a:p>
        </p:txBody>
      </p:sp>
      <p:sp>
        <p:nvSpPr>
          <p:cNvPr id="30" name="Shape 25"/>
          <p:cNvSpPr/>
          <p:nvPr/>
        </p:nvSpPr>
        <p:spPr>
          <a:xfrm>
            <a:off x="3943350" y="3810000"/>
            <a:ext cx="509587" cy="133350"/>
          </a:xfrm>
          <a:prstGeom prst="roundRect">
            <a:avLst/>
          </a:prstGeom>
          <a:solidFill>
            <a:srgbClr val="DCE8E3"/>
          </a:solidFill>
          <a:ln/>
        </p:spPr>
      </p:sp>
      <p:sp>
        <p:nvSpPr>
          <p:cNvPr id="31" name="Text 26"/>
          <p:cNvSpPr/>
          <p:nvPr/>
        </p:nvSpPr>
        <p:spPr>
          <a:xfrm>
            <a:off x="4010025" y="3838575"/>
            <a:ext cx="376238" cy="76200"/>
          </a:xfrm>
          <a:prstGeom prst="rect">
            <a:avLst/>
          </a:prstGeom>
          <a:noFill/>
          <a:ln/>
        </p:spPr>
        <p:txBody>
          <a:bodyPr wrap="square" lIns="0" tIns="0" rIns="0" bIns="0" rtlCol="0" anchor="t"/>
          <a:lstStyle/>
          <a:p>
            <a:pPr algn="l" indent="0" marL="0">
              <a:lnSpc>
                <a:spcPts val="560"/>
              </a:lnSpc>
              <a:buNone/>
            </a:pPr>
            <a:r>
              <a:rPr lang="en-US" sz="463" b="1" spc="28" kern="0" dirty="0">
                <a:solidFill>
                  <a:srgbClr val="1F5C4F">
                    <a:alpha val="99000"/>
                  </a:srgbClr>
                </a:solidFill>
                <a:latin typeface="Inter" pitchFamily="34" charset="0"/>
                <a:ea typeface="Inter" pitchFamily="34" charset="-122"/>
                <a:cs typeface="Inter" pitchFamily="34" charset="-120"/>
              </a:rPr>
              <a:t>Experiment</a:t>
            </a:r>
            <a:endParaRPr lang="en-US" sz="463" dirty="0"/>
          </a:p>
        </p:txBody>
      </p:sp>
      <p:sp>
        <p:nvSpPr>
          <p:cNvPr id="32" name="Shape 27"/>
          <p:cNvSpPr/>
          <p:nvPr/>
        </p:nvSpPr>
        <p:spPr>
          <a:xfrm>
            <a:off x="5448300" y="2033588"/>
            <a:ext cx="1524000" cy="2014538"/>
          </a:xfrm>
          <a:prstGeom prst="roundRect">
            <a:avLst/>
          </a:prstGeom>
          <a:solidFill>
            <a:srgbClr val="FFFFFF"/>
          </a:solidFill>
          <a:ln w="4524">
            <a:solidFill>
              <a:srgbClr val="E3DACA"/>
            </a:solidFill>
            <a:prstDash val="solid"/>
          </a:ln>
        </p:spPr>
      </p:sp>
      <p:sp>
        <p:nvSpPr>
          <p:cNvPr id="33" name="Text 28"/>
          <p:cNvSpPr/>
          <p:nvPr/>
        </p:nvSpPr>
        <p:spPr>
          <a:xfrm>
            <a:off x="5581650" y="2157413"/>
            <a:ext cx="357188"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B8893B">
                    <a:alpha val="99000"/>
                  </a:srgbClr>
                </a:solidFill>
                <a:latin typeface="Inter" pitchFamily="34" charset="0"/>
                <a:ea typeface="Inter" pitchFamily="34" charset="-122"/>
                <a:cs typeface="Inter" pitchFamily="34" charset="-120"/>
              </a:rPr>
              <a:t>RQ4</a:t>
            </a:r>
            <a:endParaRPr lang="en-US" sz="1283" dirty="0"/>
          </a:p>
        </p:txBody>
      </p:sp>
      <p:sp>
        <p:nvSpPr>
          <p:cNvPr id="34" name="Text 29"/>
          <p:cNvSpPr/>
          <p:nvPr/>
        </p:nvSpPr>
        <p:spPr>
          <a:xfrm>
            <a:off x="5581650" y="2443163"/>
            <a:ext cx="1257300" cy="785813"/>
          </a:xfrm>
          <a:prstGeom prst="rect">
            <a:avLst/>
          </a:prstGeom>
          <a:noFill/>
          <a:ln/>
        </p:spPr>
        <p:txBody>
          <a:bodyPr wrap="square" lIns="0" tIns="0" rIns="0" bIns="0" rtlCol="0" anchor="t"/>
          <a:lstStyle/>
          <a:p>
            <a:pPr algn="l" indent="0" marL="0">
              <a:lnSpc>
                <a:spcPts val="1160"/>
              </a:lnSpc>
              <a:buNone/>
            </a:pPr>
            <a:r>
              <a:rPr lang="en-US" sz="784" dirty="0">
                <a:solidFill>
                  <a:srgbClr val="23302D">
                    <a:alpha val="99000"/>
                  </a:srgbClr>
                </a:solidFill>
                <a:latin typeface="Inter" pitchFamily="34" charset="0"/>
                <a:ea typeface="Inter" pitchFamily="34" charset="-122"/>
                <a:cs typeface="Inter" pitchFamily="34" charset="-120"/>
              </a:rPr>
              <a:t>How much measurement time is saved against oven-drying, and does accuracy hold in the field?</a:t>
            </a:r>
            <a:endParaRPr lang="en-US" sz="784" dirty="0"/>
          </a:p>
        </p:txBody>
      </p:sp>
      <p:sp>
        <p:nvSpPr>
          <p:cNvPr id="35" name="Shape 30"/>
          <p:cNvSpPr/>
          <p:nvPr/>
        </p:nvSpPr>
        <p:spPr>
          <a:xfrm>
            <a:off x="5581650" y="3810000"/>
            <a:ext cx="509587" cy="133350"/>
          </a:xfrm>
          <a:prstGeom prst="roundRect">
            <a:avLst/>
          </a:prstGeom>
          <a:solidFill>
            <a:srgbClr val="DCE8E3"/>
          </a:solidFill>
          <a:ln/>
        </p:spPr>
      </p:sp>
      <p:sp>
        <p:nvSpPr>
          <p:cNvPr id="36" name="Text 31"/>
          <p:cNvSpPr/>
          <p:nvPr/>
        </p:nvSpPr>
        <p:spPr>
          <a:xfrm>
            <a:off x="5648325" y="3838575"/>
            <a:ext cx="376238" cy="76200"/>
          </a:xfrm>
          <a:prstGeom prst="rect">
            <a:avLst/>
          </a:prstGeom>
          <a:noFill/>
          <a:ln/>
        </p:spPr>
        <p:txBody>
          <a:bodyPr wrap="square" lIns="0" tIns="0" rIns="0" bIns="0" rtlCol="0" anchor="t"/>
          <a:lstStyle/>
          <a:p>
            <a:pPr algn="l" indent="0" marL="0">
              <a:lnSpc>
                <a:spcPts val="560"/>
              </a:lnSpc>
              <a:buNone/>
            </a:pPr>
            <a:r>
              <a:rPr lang="en-US" sz="463" b="1" spc="28" kern="0" dirty="0">
                <a:solidFill>
                  <a:srgbClr val="1F5C4F">
                    <a:alpha val="99000"/>
                  </a:srgbClr>
                </a:solidFill>
                <a:latin typeface="Inter" pitchFamily="34" charset="0"/>
                <a:ea typeface="Inter" pitchFamily="34" charset="-122"/>
                <a:cs typeface="Inter" pitchFamily="34" charset="-120"/>
              </a:rPr>
              <a:t>Experiment</a:t>
            </a:r>
            <a:endParaRPr lang="en-US" sz="463" dirty="0"/>
          </a:p>
        </p:txBody>
      </p:sp>
      <p:sp>
        <p:nvSpPr>
          <p:cNvPr id="37" name="Shape 32"/>
          <p:cNvSpPr/>
          <p:nvPr/>
        </p:nvSpPr>
        <p:spPr>
          <a:xfrm>
            <a:off x="7086600" y="2033588"/>
            <a:ext cx="1524000" cy="2014538"/>
          </a:xfrm>
          <a:prstGeom prst="roundRect">
            <a:avLst/>
          </a:prstGeom>
          <a:solidFill>
            <a:srgbClr val="FFFFFF"/>
          </a:solidFill>
          <a:ln w="4524">
            <a:solidFill>
              <a:srgbClr val="E3DACA"/>
            </a:solidFill>
            <a:prstDash val="solid"/>
          </a:ln>
        </p:spPr>
      </p:sp>
      <p:sp>
        <p:nvSpPr>
          <p:cNvPr id="38" name="Text 33"/>
          <p:cNvSpPr/>
          <p:nvPr/>
        </p:nvSpPr>
        <p:spPr>
          <a:xfrm>
            <a:off x="7219950" y="2157413"/>
            <a:ext cx="352425"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B8893B">
                    <a:alpha val="99000"/>
                  </a:srgbClr>
                </a:solidFill>
                <a:latin typeface="Inter" pitchFamily="34" charset="0"/>
                <a:ea typeface="Inter" pitchFamily="34" charset="-122"/>
                <a:cs typeface="Inter" pitchFamily="34" charset="-120"/>
              </a:rPr>
              <a:t>RQ5</a:t>
            </a:r>
            <a:endParaRPr lang="en-US" sz="1283" dirty="0"/>
          </a:p>
        </p:txBody>
      </p:sp>
      <p:sp>
        <p:nvSpPr>
          <p:cNvPr id="39" name="Text 34"/>
          <p:cNvSpPr/>
          <p:nvPr/>
        </p:nvSpPr>
        <p:spPr>
          <a:xfrm>
            <a:off x="7219950" y="2443163"/>
            <a:ext cx="1257300" cy="628650"/>
          </a:xfrm>
          <a:prstGeom prst="rect">
            <a:avLst/>
          </a:prstGeom>
          <a:noFill/>
          <a:ln/>
        </p:spPr>
        <p:txBody>
          <a:bodyPr wrap="square" lIns="0" tIns="0" rIns="0" bIns="0" rtlCol="0" anchor="t"/>
          <a:lstStyle/>
          <a:p>
            <a:pPr algn="l" indent="0" marL="0">
              <a:lnSpc>
                <a:spcPts val="1160"/>
              </a:lnSpc>
              <a:buNone/>
            </a:pPr>
            <a:r>
              <a:rPr lang="en-US" sz="784" dirty="0">
                <a:solidFill>
                  <a:srgbClr val="23302D">
                    <a:alpha val="99000"/>
                  </a:srgbClr>
                </a:solidFill>
                <a:latin typeface="Inter" pitchFamily="34" charset="0"/>
                <a:ea typeface="Inter" pitchFamily="34" charset="-122"/>
                <a:cs typeface="Inter" pitchFamily="34" charset="-120"/>
              </a:rPr>
              <a:t>Which further parameters can one NIR framework realistically estimate?</a:t>
            </a:r>
            <a:endParaRPr lang="en-US" sz="784" dirty="0"/>
          </a:p>
        </p:txBody>
      </p:sp>
      <p:sp>
        <p:nvSpPr>
          <p:cNvPr id="40" name="Shape 35"/>
          <p:cNvSpPr/>
          <p:nvPr/>
        </p:nvSpPr>
        <p:spPr>
          <a:xfrm>
            <a:off x="7219950" y="3810000"/>
            <a:ext cx="781050" cy="133350"/>
          </a:xfrm>
          <a:prstGeom prst="roundRect">
            <a:avLst/>
          </a:prstGeom>
          <a:solidFill>
            <a:srgbClr val="F3E9D3"/>
          </a:solidFill>
          <a:ln/>
        </p:spPr>
      </p:sp>
      <p:sp>
        <p:nvSpPr>
          <p:cNvPr id="41" name="Text 36"/>
          <p:cNvSpPr/>
          <p:nvPr/>
        </p:nvSpPr>
        <p:spPr>
          <a:xfrm>
            <a:off x="7286625" y="3838575"/>
            <a:ext cx="647700" cy="76200"/>
          </a:xfrm>
          <a:prstGeom prst="rect">
            <a:avLst/>
          </a:prstGeom>
          <a:noFill/>
          <a:ln/>
        </p:spPr>
        <p:txBody>
          <a:bodyPr wrap="square" lIns="0" tIns="0" rIns="0" bIns="0" rtlCol="0" anchor="t"/>
          <a:lstStyle/>
          <a:p>
            <a:pPr algn="l" indent="0" marL="0">
              <a:lnSpc>
                <a:spcPts val="560"/>
              </a:lnSpc>
              <a:buNone/>
            </a:pPr>
            <a:r>
              <a:rPr lang="en-US" sz="463" b="1" spc="28" kern="0" dirty="0">
                <a:solidFill>
                  <a:srgbClr val="B8893B">
                    <a:alpha val="99000"/>
                  </a:srgbClr>
                </a:solidFill>
                <a:latin typeface="Inter" pitchFamily="34" charset="0"/>
                <a:ea typeface="Inter" pitchFamily="34" charset="-122"/>
                <a:cs typeface="Inter" pitchFamily="34" charset="-120"/>
              </a:rPr>
              <a:t>Evidence synthesis</a:t>
            </a:r>
            <a:endParaRPr lang="en-US" sz="463" dirty="0"/>
          </a:p>
        </p:txBody>
      </p:sp>
      <p:sp>
        <p:nvSpPr>
          <p:cNvPr id="42" name="Shape 37"/>
          <p:cNvSpPr/>
          <p:nvPr/>
        </p:nvSpPr>
        <p:spPr>
          <a:xfrm>
            <a:off x="533400" y="4162425"/>
            <a:ext cx="8077200" cy="504825"/>
          </a:xfrm>
          <a:prstGeom prst="roundRect">
            <a:avLst/>
          </a:prstGeom>
          <a:solidFill>
            <a:srgbClr val="0E2A26"/>
          </a:solidFill>
          <a:ln/>
        </p:spPr>
      </p:sp>
      <p:sp>
        <p:nvSpPr>
          <p:cNvPr id="43" name="Text 38"/>
          <p:cNvSpPr/>
          <p:nvPr/>
        </p:nvSpPr>
        <p:spPr>
          <a:xfrm>
            <a:off x="704850" y="4286250"/>
            <a:ext cx="116205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HOW THEY ARE ANSWERED</a:t>
            </a:r>
            <a:endParaRPr lang="en-US" sz="499" dirty="0"/>
          </a:p>
        </p:txBody>
      </p:sp>
      <p:sp>
        <p:nvSpPr>
          <p:cNvPr id="44" name="Text 39"/>
          <p:cNvSpPr/>
          <p:nvPr/>
        </p:nvSpPr>
        <p:spPr>
          <a:xfrm>
            <a:off x="704850" y="4419600"/>
            <a:ext cx="7715250" cy="114300"/>
          </a:xfrm>
          <a:prstGeom prst="rect">
            <a:avLst/>
          </a:prstGeom>
          <a:noFill/>
          <a:ln/>
        </p:spPr>
        <p:txBody>
          <a:bodyPr wrap="square" lIns="0" tIns="0" rIns="0" bIns="0" rtlCol="0" anchor="t"/>
          <a:lstStyle/>
          <a:p>
            <a:pPr algn="l" indent="0" marL="0">
              <a:lnSpc>
                <a:spcPts val="862"/>
              </a:lnSpc>
              <a:buNone/>
            </a:pPr>
            <a:r>
              <a:rPr lang="en-US" sz="713" dirty="0">
                <a:solidFill>
                  <a:srgbClr val="E8EFEC">
                    <a:alpha val="99000"/>
                  </a:srgbClr>
                </a:solidFill>
                <a:latin typeface="Inter" pitchFamily="34" charset="0"/>
                <a:ea typeface="Inter" pitchFamily="34" charset="-122"/>
                <a:cs typeface="Inter" pitchFamily="34" charset="-120"/>
              </a:rPr>
              <a:t>RQ1 to RQ4: a quantitative experiment on moisture.   RQ5: an evidence-graded feasibility synthesis of Q1/Q2 literature (slide 8).</a:t>
            </a:r>
            <a:endParaRPr lang="en-US" sz="71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547813"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06   ·   OBJECTIVES AND SCOPE</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Objectives and scope</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453312" y="295275"/>
            <a:ext cx="1157288" cy="161925"/>
          </a:xfrm>
          <a:prstGeom prst="roundRect">
            <a:avLst/>
          </a:prstGeom>
          <a:noFill/>
          <a:ln w="5429">
            <a:solidFill>
              <a:srgbClr val="B8893B"/>
            </a:solidFill>
            <a:prstDash val="solid"/>
          </a:ln>
        </p:spPr>
      </p:sp>
      <p:sp>
        <p:nvSpPr>
          <p:cNvPr id="7" name="Text 4"/>
          <p:cNvSpPr/>
          <p:nvPr/>
        </p:nvSpPr>
        <p:spPr>
          <a:xfrm>
            <a:off x="7539037" y="335756"/>
            <a:ext cx="9858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Problem/aim/objectives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30003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06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210978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OBJECTIVES, MAPPED TO RESEARCH QUESTIONS</a:t>
            </a:r>
            <a:endParaRPr lang="en-US" sz="499" dirty="0"/>
          </a:p>
        </p:txBody>
      </p:sp>
      <p:sp>
        <p:nvSpPr>
          <p:cNvPr id="15" name="Shape 10"/>
          <p:cNvSpPr/>
          <p:nvPr/>
        </p:nvSpPr>
        <p:spPr>
          <a:xfrm>
            <a:off x="533400" y="1181100"/>
            <a:ext cx="5238750" cy="4763"/>
          </a:xfrm>
          <a:prstGeom prst="rect">
            <a:avLst/>
          </a:prstGeom>
          <a:solidFill>
            <a:srgbClr val="0E2A26">
              <a:alpha val="18000"/>
            </a:srgbClr>
          </a:solidFill>
          <a:ln/>
        </p:spPr>
      </p:sp>
      <p:sp>
        <p:nvSpPr>
          <p:cNvPr id="16" name="Shape 11"/>
          <p:cNvSpPr/>
          <p:nvPr/>
        </p:nvSpPr>
        <p:spPr>
          <a:xfrm>
            <a:off x="533400" y="1285875"/>
            <a:ext cx="2562225" cy="773906"/>
          </a:xfrm>
          <a:prstGeom prst="roundRect">
            <a:avLst/>
          </a:prstGeom>
          <a:solidFill>
            <a:srgbClr val="FFFFFF"/>
          </a:solidFill>
          <a:ln w="4524">
            <a:solidFill>
              <a:srgbClr val="E3DACA"/>
            </a:solidFill>
            <a:prstDash val="solid"/>
          </a:ln>
        </p:spPr>
      </p:sp>
      <p:sp>
        <p:nvSpPr>
          <p:cNvPr id="17" name="Text 12"/>
          <p:cNvSpPr/>
          <p:nvPr/>
        </p:nvSpPr>
        <p:spPr>
          <a:xfrm>
            <a:off x="666750" y="1587103"/>
            <a:ext cx="180975"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O1</a:t>
            </a:r>
            <a:endParaRPr lang="en-US" sz="1069" dirty="0"/>
          </a:p>
        </p:txBody>
      </p:sp>
      <p:sp>
        <p:nvSpPr>
          <p:cNvPr id="18" name="Text 13"/>
          <p:cNvSpPr/>
          <p:nvPr/>
        </p:nvSpPr>
        <p:spPr>
          <a:xfrm>
            <a:off x="1009650" y="1539478"/>
            <a:ext cx="1590675"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Review NIR, chemometrics and AI for tea parameters</a:t>
            </a:r>
            <a:endParaRPr lang="en-US" sz="713" dirty="0"/>
          </a:p>
        </p:txBody>
      </p:sp>
      <p:sp>
        <p:nvSpPr>
          <p:cNvPr id="19" name="Shape 14"/>
          <p:cNvSpPr/>
          <p:nvPr/>
        </p:nvSpPr>
        <p:spPr>
          <a:xfrm>
            <a:off x="2714625" y="1606153"/>
            <a:ext cx="266700" cy="133350"/>
          </a:xfrm>
          <a:prstGeom prst="roundRect">
            <a:avLst/>
          </a:prstGeom>
          <a:solidFill>
            <a:srgbClr val="DCE8E3"/>
          </a:solidFill>
          <a:ln/>
        </p:spPr>
      </p:sp>
      <p:sp>
        <p:nvSpPr>
          <p:cNvPr id="20" name="Text 15"/>
          <p:cNvSpPr/>
          <p:nvPr/>
        </p:nvSpPr>
        <p:spPr>
          <a:xfrm>
            <a:off x="2781300" y="1634728"/>
            <a:ext cx="133350"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RQ5</a:t>
            </a:r>
            <a:endParaRPr lang="en-US" sz="463" dirty="0"/>
          </a:p>
        </p:txBody>
      </p:sp>
      <p:sp>
        <p:nvSpPr>
          <p:cNvPr id="21" name="Shape 16"/>
          <p:cNvSpPr/>
          <p:nvPr/>
        </p:nvSpPr>
        <p:spPr>
          <a:xfrm>
            <a:off x="3209925" y="1285875"/>
            <a:ext cx="2562225" cy="773906"/>
          </a:xfrm>
          <a:prstGeom prst="roundRect">
            <a:avLst/>
          </a:prstGeom>
          <a:solidFill>
            <a:srgbClr val="FFFFFF"/>
          </a:solidFill>
          <a:ln w="4524">
            <a:solidFill>
              <a:srgbClr val="E3DACA"/>
            </a:solidFill>
            <a:prstDash val="solid"/>
          </a:ln>
        </p:spPr>
      </p:sp>
      <p:sp>
        <p:nvSpPr>
          <p:cNvPr id="22" name="Text 17"/>
          <p:cNvSpPr/>
          <p:nvPr/>
        </p:nvSpPr>
        <p:spPr>
          <a:xfrm>
            <a:off x="3343275" y="1587103"/>
            <a:ext cx="200025"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O2</a:t>
            </a:r>
            <a:endParaRPr lang="en-US" sz="1069" dirty="0"/>
          </a:p>
        </p:txBody>
      </p:sp>
      <p:sp>
        <p:nvSpPr>
          <p:cNvPr id="23" name="Text 18"/>
          <p:cNvSpPr/>
          <p:nvPr/>
        </p:nvSpPr>
        <p:spPr>
          <a:xfrm>
            <a:off x="3686175" y="1539478"/>
            <a:ext cx="1600200"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Collect NIR spectra and triplicate oven moisture, 80 to 120 samples</a:t>
            </a:r>
            <a:endParaRPr lang="en-US" sz="713" dirty="0"/>
          </a:p>
        </p:txBody>
      </p:sp>
      <p:sp>
        <p:nvSpPr>
          <p:cNvPr id="24" name="Shape 19"/>
          <p:cNvSpPr/>
          <p:nvPr/>
        </p:nvSpPr>
        <p:spPr>
          <a:xfrm>
            <a:off x="5400675" y="1606153"/>
            <a:ext cx="257175" cy="133350"/>
          </a:xfrm>
          <a:prstGeom prst="roundRect">
            <a:avLst/>
          </a:prstGeom>
          <a:solidFill>
            <a:srgbClr val="DCE8E3"/>
          </a:solidFill>
          <a:ln/>
        </p:spPr>
      </p:sp>
      <p:sp>
        <p:nvSpPr>
          <p:cNvPr id="25" name="Text 20"/>
          <p:cNvSpPr/>
          <p:nvPr/>
        </p:nvSpPr>
        <p:spPr>
          <a:xfrm>
            <a:off x="5467350" y="1634728"/>
            <a:ext cx="1238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RQ1</a:t>
            </a:r>
            <a:endParaRPr lang="en-US" sz="463" dirty="0"/>
          </a:p>
        </p:txBody>
      </p:sp>
      <p:sp>
        <p:nvSpPr>
          <p:cNvPr id="26" name="Shape 21"/>
          <p:cNvSpPr/>
          <p:nvPr/>
        </p:nvSpPr>
        <p:spPr>
          <a:xfrm>
            <a:off x="533400" y="2155031"/>
            <a:ext cx="2562225" cy="773906"/>
          </a:xfrm>
          <a:prstGeom prst="roundRect">
            <a:avLst/>
          </a:prstGeom>
          <a:solidFill>
            <a:srgbClr val="FFFFFF"/>
          </a:solidFill>
          <a:ln w="4524">
            <a:solidFill>
              <a:srgbClr val="E3DACA"/>
            </a:solidFill>
            <a:prstDash val="solid"/>
          </a:ln>
        </p:spPr>
      </p:sp>
      <p:sp>
        <p:nvSpPr>
          <p:cNvPr id="27" name="Text 22"/>
          <p:cNvSpPr/>
          <p:nvPr/>
        </p:nvSpPr>
        <p:spPr>
          <a:xfrm>
            <a:off x="666750" y="2456259"/>
            <a:ext cx="204788"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O3</a:t>
            </a:r>
            <a:endParaRPr lang="en-US" sz="1069" dirty="0"/>
          </a:p>
        </p:txBody>
      </p:sp>
      <p:sp>
        <p:nvSpPr>
          <p:cNvPr id="28" name="Text 23"/>
          <p:cNvSpPr/>
          <p:nvPr/>
        </p:nvSpPr>
        <p:spPr>
          <a:xfrm>
            <a:off x="1009650" y="2408634"/>
            <a:ext cx="1590675"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Compare SNV, MSC and Savitzky-Golay preprocessing</a:t>
            </a:r>
            <a:endParaRPr lang="en-US" sz="713" dirty="0"/>
          </a:p>
        </p:txBody>
      </p:sp>
      <p:sp>
        <p:nvSpPr>
          <p:cNvPr id="29" name="Shape 24"/>
          <p:cNvSpPr/>
          <p:nvPr/>
        </p:nvSpPr>
        <p:spPr>
          <a:xfrm>
            <a:off x="2714625" y="2475309"/>
            <a:ext cx="266700" cy="133350"/>
          </a:xfrm>
          <a:prstGeom prst="roundRect">
            <a:avLst/>
          </a:prstGeom>
          <a:solidFill>
            <a:srgbClr val="DCE8E3"/>
          </a:solidFill>
          <a:ln/>
        </p:spPr>
      </p:sp>
      <p:sp>
        <p:nvSpPr>
          <p:cNvPr id="30" name="Text 25"/>
          <p:cNvSpPr/>
          <p:nvPr/>
        </p:nvSpPr>
        <p:spPr>
          <a:xfrm>
            <a:off x="2781300" y="2503884"/>
            <a:ext cx="133350"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RQ2</a:t>
            </a:r>
            <a:endParaRPr lang="en-US" sz="463" dirty="0"/>
          </a:p>
        </p:txBody>
      </p:sp>
      <p:sp>
        <p:nvSpPr>
          <p:cNvPr id="31" name="Shape 26"/>
          <p:cNvSpPr/>
          <p:nvPr/>
        </p:nvSpPr>
        <p:spPr>
          <a:xfrm>
            <a:off x="3209925" y="2155031"/>
            <a:ext cx="2562225" cy="773906"/>
          </a:xfrm>
          <a:prstGeom prst="roundRect">
            <a:avLst/>
          </a:prstGeom>
          <a:solidFill>
            <a:srgbClr val="FFFFFF"/>
          </a:solidFill>
          <a:ln w="4524">
            <a:solidFill>
              <a:srgbClr val="E3DACA"/>
            </a:solidFill>
            <a:prstDash val="solid"/>
          </a:ln>
        </p:spPr>
      </p:sp>
      <p:sp>
        <p:nvSpPr>
          <p:cNvPr id="32" name="Text 27"/>
          <p:cNvSpPr/>
          <p:nvPr/>
        </p:nvSpPr>
        <p:spPr>
          <a:xfrm>
            <a:off x="3343275" y="2456259"/>
            <a:ext cx="204788"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O4</a:t>
            </a:r>
            <a:endParaRPr lang="en-US" sz="1069" dirty="0"/>
          </a:p>
        </p:txBody>
      </p:sp>
      <p:sp>
        <p:nvSpPr>
          <p:cNvPr id="33" name="Text 28"/>
          <p:cNvSpPr/>
          <p:nvPr/>
        </p:nvSpPr>
        <p:spPr>
          <a:xfrm>
            <a:off x="3686175" y="2408634"/>
            <a:ext cx="1590675"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Compare CARS with SPA / iPLS wavelength selection</a:t>
            </a:r>
            <a:endParaRPr lang="en-US" sz="713" dirty="0"/>
          </a:p>
        </p:txBody>
      </p:sp>
      <p:sp>
        <p:nvSpPr>
          <p:cNvPr id="34" name="Shape 29"/>
          <p:cNvSpPr/>
          <p:nvPr/>
        </p:nvSpPr>
        <p:spPr>
          <a:xfrm>
            <a:off x="5391150" y="2475309"/>
            <a:ext cx="266700" cy="133350"/>
          </a:xfrm>
          <a:prstGeom prst="roundRect">
            <a:avLst/>
          </a:prstGeom>
          <a:solidFill>
            <a:srgbClr val="DCE8E3"/>
          </a:solidFill>
          <a:ln/>
        </p:spPr>
      </p:sp>
      <p:sp>
        <p:nvSpPr>
          <p:cNvPr id="35" name="Text 30"/>
          <p:cNvSpPr/>
          <p:nvPr/>
        </p:nvSpPr>
        <p:spPr>
          <a:xfrm>
            <a:off x="5457825" y="2503884"/>
            <a:ext cx="133350"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RQ2</a:t>
            </a:r>
            <a:endParaRPr lang="en-US" sz="463" dirty="0"/>
          </a:p>
        </p:txBody>
      </p:sp>
      <p:sp>
        <p:nvSpPr>
          <p:cNvPr id="36" name="Shape 31"/>
          <p:cNvSpPr/>
          <p:nvPr/>
        </p:nvSpPr>
        <p:spPr>
          <a:xfrm>
            <a:off x="533400" y="3024188"/>
            <a:ext cx="2562225" cy="773906"/>
          </a:xfrm>
          <a:prstGeom prst="roundRect">
            <a:avLst/>
          </a:prstGeom>
          <a:solidFill>
            <a:srgbClr val="FFFFFF"/>
          </a:solidFill>
          <a:ln w="4524">
            <a:solidFill>
              <a:srgbClr val="E3DACA"/>
            </a:solidFill>
            <a:prstDash val="solid"/>
          </a:ln>
        </p:spPr>
      </p:sp>
      <p:sp>
        <p:nvSpPr>
          <p:cNvPr id="37" name="Text 32"/>
          <p:cNvSpPr/>
          <p:nvPr/>
        </p:nvSpPr>
        <p:spPr>
          <a:xfrm>
            <a:off x="666750" y="3325416"/>
            <a:ext cx="200025"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O5</a:t>
            </a:r>
            <a:endParaRPr lang="en-US" sz="1069" dirty="0"/>
          </a:p>
        </p:txBody>
      </p:sp>
      <p:sp>
        <p:nvSpPr>
          <p:cNvPr id="38" name="Text 33"/>
          <p:cNvSpPr/>
          <p:nvPr/>
        </p:nvSpPr>
        <p:spPr>
          <a:xfrm>
            <a:off x="1009650" y="3277791"/>
            <a:ext cx="1585913"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Compare PLSR, SVR and RF; optional neural network</a:t>
            </a:r>
            <a:endParaRPr lang="en-US" sz="713" dirty="0"/>
          </a:p>
        </p:txBody>
      </p:sp>
      <p:sp>
        <p:nvSpPr>
          <p:cNvPr id="39" name="Shape 34"/>
          <p:cNvSpPr/>
          <p:nvPr/>
        </p:nvSpPr>
        <p:spPr>
          <a:xfrm>
            <a:off x="2709863" y="3344466"/>
            <a:ext cx="271463" cy="133350"/>
          </a:xfrm>
          <a:prstGeom prst="roundRect">
            <a:avLst/>
          </a:prstGeom>
          <a:solidFill>
            <a:srgbClr val="DCE8E3"/>
          </a:solidFill>
          <a:ln/>
        </p:spPr>
      </p:sp>
      <p:sp>
        <p:nvSpPr>
          <p:cNvPr id="40" name="Text 35"/>
          <p:cNvSpPr/>
          <p:nvPr/>
        </p:nvSpPr>
        <p:spPr>
          <a:xfrm>
            <a:off x="2776538" y="3373041"/>
            <a:ext cx="13811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RQ3</a:t>
            </a:r>
            <a:endParaRPr lang="en-US" sz="463" dirty="0"/>
          </a:p>
        </p:txBody>
      </p:sp>
      <p:sp>
        <p:nvSpPr>
          <p:cNvPr id="41" name="Shape 36"/>
          <p:cNvSpPr/>
          <p:nvPr/>
        </p:nvSpPr>
        <p:spPr>
          <a:xfrm>
            <a:off x="3209925" y="3024188"/>
            <a:ext cx="2562225" cy="773906"/>
          </a:xfrm>
          <a:prstGeom prst="roundRect">
            <a:avLst/>
          </a:prstGeom>
          <a:solidFill>
            <a:srgbClr val="FFFFFF"/>
          </a:solidFill>
          <a:ln w="4524">
            <a:solidFill>
              <a:srgbClr val="E3DACA"/>
            </a:solidFill>
            <a:prstDash val="solid"/>
          </a:ln>
        </p:spPr>
      </p:sp>
      <p:sp>
        <p:nvSpPr>
          <p:cNvPr id="42" name="Text 37"/>
          <p:cNvSpPr/>
          <p:nvPr/>
        </p:nvSpPr>
        <p:spPr>
          <a:xfrm>
            <a:off x="3343275" y="3325416"/>
            <a:ext cx="204788"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O6</a:t>
            </a:r>
            <a:endParaRPr lang="en-US" sz="1069" dirty="0"/>
          </a:p>
        </p:txBody>
      </p:sp>
      <p:sp>
        <p:nvSpPr>
          <p:cNvPr id="43" name="Text 38"/>
          <p:cNvSpPr/>
          <p:nvPr/>
        </p:nvSpPr>
        <p:spPr>
          <a:xfrm>
            <a:off x="3686175" y="3277791"/>
            <a:ext cx="1428750"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Evaluate on held-out and unseen-source samples</a:t>
            </a:r>
            <a:endParaRPr lang="en-US" sz="713" dirty="0"/>
          </a:p>
        </p:txBody>
      </p:sp>
      <p:sp>
        <p:nvSpPr>
          <p:cNvPr id="44" name="Shape 39"/>
          <p:cNvSpPr/>
          <p:nvPr/>
        </p:nvSpPr>
        <p:spPr>
          <a:xfrm>
            <a:off x="5229225" y="3344466"/>
            <a:ext cx="428625" cy="133350"/>
          </a:xfrm>
          <a:prstGeom prst="roundRect">
            <a:avLst/>
          </a:prstGeom>
          <a:solidFill>
            <a:srgbClr val="DCE8E3"/>
          </a:solidFill>
          <a:ln/>
        </p:spPr>
      </p:sp>
      <p:sp>
        <p:nvSpPr>
          <p:cNvPr id="45" name="Text 40"/>
          <p:cNvSpPr/>
          <p:nvPr/>
        </p:nvSpPr>
        <p:spPr>
          <a:xfrm>
            <a:off x="5295900" y="3373041"/>
            <a:ext cx="2952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RQ1, RQ3</a:t>
            </a:r>
            <a:endParaRPr lang="en-US" sz="463" dirty="0"/>
          </a:p>
        </p:txBody>
      </p:sp>
      <p:sp>
        <p:nvSpPr>
          <p:cNvPr id="46" name="Shape 41"/>
          <p:cNvSpPr/>
          <p:nvPr/>
        </p:nvSpPr>
        <p:spPr>
          <a:xfrm>
            <a:off x="533400" y="3893344"/>
            <a:ext cx="2562225" cy="773906"/>
          </a:xfrm>
          <a:prstGeom prst="roundRect">
            <a:avLst/>
          </a:prstGeom>
          <a:solidFill>
            <a:srgbClr val="FFFFFF"/>
          </a:solidFill>
          <a:ln w="4524">
            <a:solidFill>
              <a:srgbClr val="E3DACA"/>
            </a:solidFill>
            <a:prstDash val="solid"/>
          </a:ln>
        </p:spPr>
      </p:sp>
      <p:sp>
        <p:nvSpPr>
          <p:cNvPr id="47" name="Text 42"/>
          <p:cNvSpPr/>
          <p:nvPr/>
        </p:nvSpPr>
        <p:spPr>
          <a:xfrm>
            <a:off x="666750" y="4194572"/>
            <a:ext cx="195263"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O7</a:t>
            </a:r>
            <a:endParaRPr lang="en-US" sz="1069" dirty="0"/>
          </a:p>
        </p:txBody>
      </p:sp>
      <p:sp>
        <p:nvSpPr>
          <p:cNvPr id="48" name="Text 43"/>
          <p:cNvSpPr/>
          <p:nvPr/>
        </p:nvSpPr>
        <p:spPr>
          <a:xfrm>
            <a:off x="1009650" y="4146947"/>
            <a:ext cx="1585913"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Field-test the prototype against an oven-checked subset</a:t>
            </a:r>
            <a:endParaRPr lang="en-US" sz="713" dirty="0"/>
          </a:p>
        </p:txBody>
      </p:sp>
      <p:sp>
        <p:nvSpPr>
          <p:cNvPr id="49" name="Shape 44"/>
          <p:cNvSpPr/>
          <p:nvPr/>
        </p:nvSpPr>
        <p:spPr>
          <a:xfrm>
            <a:off x="2709863" y="4213622"/>
            <a:ext cx="271463" cy="133350"/>
          </a:xfrm>
          <a:prstGeom prst="roundRect">
            <a:avLst/>
          </a:prstGeom>
          <a:solidFill>
            <a:srgbClr val="DCE8E3"/>
          </a:solidFill>
          <a:ln/>
        </p:spPr>
      </p:sp>
      <p:sp>
        <p:nvSpPr>
          <p:cNvPr id="50" name="Text 45"/>
          <p:cNvSpPr/>
          <p:nvPr/>
        </p:nvSpPr>
        <p:spPr>
          <a:xfrm>
            <a:off x="2776538" y="4242197"/>
            <a:ext cx="13811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RQ4</a:t>
            </a:r>
            <a:endParaRPr lang="en-US" sz="463" dirty="0"/>
          </a:p>
        </p:txBody>
      </p:sp>
      <p:sp>
        <p:nvSpPr>
          <p:cNvPr id="51" name="Shape 46"/>
          <p:cNvSpPr/>
          <p:nvPr/>
        </p:nvSpPr>
        <p:spPr>
          <a:xfrm>
            <a:off x="3209925" y="3893344"/>
            <a:ext cx="2562225" cy="773906"/>
          </a:xfrm>
          <a:prstGeom prst="roundRect">
            <a:avLst/>
          </a:prstGeom>
          <a:solidFill>
            <a:srgbClr val="FFFFFF"/>
          </a:solidFill>
          <a:ln w="4524">
            <a:solidFill>
              <a:srgbClr val="E3DACA"/>
            </a:solidFill>
            <a:prstDash val="solid"/>
          </a:ln>
        </p:spPr>
      </p:sp>
      <p:sp>
        <p:nvSpPr>
          <p:cNvPr id="52" name="Text 47"/>
          <p:cNvSpPr/>
          <p:nvPr/>
        </p:nvSpPr>
        <p:spPr>
          <a:xfrm>
            <a:off x="3343275" y="4194572"/>
            <a:ext cx="204788"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B8893B">
                    <a:alpha val="99000"/>
                  </a:srgbClr>
                </a:solidFill>
                <a:latin typeface="Inter" pitchFamily="34" charset="0"/>
                <a:ea typeface="Inter" pitchFamily="34" charset="-122"/>
                <a:cs typeface="Inter" pitchFamily="34" charset="-120"/>
              </a:rPr>
              <a:t>O8</a:t>
            </a:r>
            <a:endParaRPr lang="en-US" sz="1069" dirty="0"/>
          </a:p>
        </p:txBody>
      </p:sp>
      <p:sp>
        <p:nvSpPr>
          <p:cNvPr id="53" name="Text 48"/>
          <p:cNvSpPr/>
          <p:nvPr/>
        </p:nvSpPr>
        <p:spPr>
          <a:xfrm>
            <a:off x="3686175" y="4146947"/>
            <a:ext cx="1590675" cy="266700"/>
          </a:xfrm>
          <a:prstGeom prst="rect">
            <a:avLst/>
          </a:prstGeom>
          <a:noFill/>
          <a:ln/>
        </p:spPr>
        <p:txBody>
          <a:bodyPr wrap="square" lIns="0" tIns="0" rIns="0" bIns="0" rtlCol="0" anchor="t"/>
          <a:lstStyle/>
          <a:p>
            <a:pPr algn="l" indent="0" marL="0">
              <a:lnSpc>
                <a:spcPts val="998"/>
              </a:lnSpc>
              <a:buNone/>
            </a:pPr>
            <a:r>
              <a:rPr lang="en-US" sz="713" dirty="0">
                <a:solidFill>
                  <a:srgbClr val="23302D">
                    <a:alpha val="99000"/>
                  </a:srgbClr>
                </a:solidFill>
                <a:latin typeface="Inter" pitchFamily="34" charset="0"/>
                <a:ea typeface="Inter" pitchFamily="34" charset="-122"/>
                <a:cs typeface="Inter" pitchFamily="34" charset="-120"/>
              </a:rPr>
              <a:t>Build a feasibility map for five further parameters</a:t>
            </a:r>
            <a:endParaRPr lang="en-US" sz="713" dirty="0"/>
          </a:p>
        </p:txBody>
      </p:sp>
      <p:sp>
        <p:nvSpPr>
          <p:cNvPr id="54" name="Shape 49"/>
          <p:cNvSpPr/>
          <p:nvPr/>
        </p:nvSpPr>
        <p:spPr>
          <a:xfrm>
            <a:off x="5391150" y="4213622"/>
            <a:ext cx="266700" cy="133350"/>
          </a:xfrm>
          <a:prstGeom prst="roundRect">
            <a:avLst/>
          </a:prstGeom>
          <a:solidFill>
            <a:srgbClr val="DCE8E3"/>
          </a:solidFill>
          <a:ln/>
        </p:spPr>
      </p:sp>
      <p:sp>
        <p:nvSpPr>
          <p:cNvPr id="55" name="Text 50"/>
          <p:cNvSpPr/>
          <p:nvPr/>
        </p:nvSpPr>
        <p:spPr>
          <a:xfrm>
            <a:off x="5457825" y="4242197"/>
            <a:ext cx="133350"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RQ5</a:t>
            </a:r>
            <a:endParaRPr lang="en-US" sz="463" dirty="0"/>
          </a:p>
        </p:txBody>
      </p:sp>
      <p:sp>
        <p:nvSpPr>
          <p:cNvPr id="56" name="Text 51"/>
          <p:cNvSpPr/>
          <p:nvPr/>
        </p:nvSpPr>
        <p:spPr>
          <a:xfrm>
            <a:off x="6000750" y="1038225"/>
            <a:ext cx="28098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SCOPE</a:t>
            </a:r>
            <a:endParaRPr lang="en-US" sz="499" dirty="0"/>
          </a:p>
        </p:txBody>
      </p:sp>
      <p:sp>
        <p:nvSpPr>
          <p:cNvPr id="57" name="Shape 52"/>
          <p:cNvSpPr/>
          <p:nvPr/>
        </p:nvSpPr>
        <p:spPr>
          <a:xfrm>
            <a:off x="6000750" y="1181100"/>
            <a:ext cx="2609850" cy="4763"/>
          </a:xfrm>
          <a:prstGeom prst="rect">
            <a:avLst/>
          </a:prstGeom>
          <a:solidFill>
            <a:srgbClr val="0E2A26">
              <a:alpha val="18000"/>
            </a:srgbClr>
          </a:solidFill>
          <a:ln/>
        </p:spPr>
      </p:sp>
      <p:sp>
        <p:nvSpPr>
          <p:cNvPr id="58" name="Shape 53"/>
          <p:cNvSpPr/>
          <p:nvPr/>
        </p:nvSpPr>
        <p:spPr>
          <a:xfrm>
            <a:off x="6000750" y="1285875"/>
            <a:ext cx="195263" cy="123825"/>
          </a:xfrm>
          <a:prstGeom prst="roundRect">
            <a:avLst/>
          </a:prstGeom>
          <a:solidFill>
            <a:srgbClr val="DCE8E3"/>
          </a:solidFill>
          <a:ln/>
        </p:spPr>
      </p:sp>
      <p:sp>
        <p:nvSpPr>
          <p:cNvPr id="59" name="Text 54"/>
          <p:cNvSpPr/>
          <p:nvPr/>
        </p:nvSpPr>
        <p:spPr>
          <a:xfrm>
            <a:off x="6067425" y="1312069"/>
            <a:ext cx="61912" cy="71438"/>
          </a:xfrm>
          <a:prstGeom prst="rect">
            <a:avLst/>
          </a:prstGeom>
          <a:noFill/>
          <a:ln/>
        </p:spPr>
        <p:txBody>
          <a:bodyPr wrap="square" lIns="0" tIns="0" rIns="0" bIns="0" rtlCol="0" anchor="t"/>
          <a:lstStyle/>
          <a:p>
            <a:pPr algn="l" indent="0" marL="0">
              <a:lnSpc>
                <a:spcPts val="517"/>
              </a:lnSpc>
              <a:buNone/>
            </a:pPr>
            <a:r>
              <a:rPr lang="en-US" sz="427" b="1" spc="17" kern="0" dirty="0">
                <a:solidFill>
                  <a:srgbClr val="1F5C4F">
                    <a:alpha val="99000"/>
                  </a:srgbClr>
                </a:solidFill>
                <a:latin typeface="Inter" pitchFamily="34" charset="0"/>
                <a:ea typeface="Inter" pitchFamily="34" charset="-122"/>
                <a:cs typeface="Inter" pitchFamily="34" charset="-120"/>
              </a:rPr>
              <a:t>IN</a:t>
            </a:r>
            <a:endParaRPr lang="en-US" sz="427" dirty="0"/>
          </a:p>
        </p:txBody>
      </p:sp>
      <p:sp>
        <p:nvSpPr>
          <p:cNvPr id="60" name="Text 55"/>
          <p:cNvSpPr/>
          <p:nvPr/>
        </p:nvSpPr>
        <p:spPr>
          <a:xfrm>
            <a:off x="6362700" y="1290638"/>
            <a:ext cx="2247900" cy="257175"/>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Portable 900 to 1700 nm NIR on Sri Lankan made black tea</a:t>
            </a:r>
            <a:endParaRPr lang="en-US" sz="677" dirty="0"/>
          </a:p>
        </p:txBody>
      </p:sp>
      <p:sp>
        <p:nvSpPr>
          <p:cNvPr id="61" name="Shape 56"/>
          <p:cNvSpPr/>
          <p:nvPr/>
        </p:nvSpPr>
        <p:spPr>
          <a:xfrm>
            <a:off x="6000750" y="1619250"/>
            <a:ext cx="195263" cy="123825"/>
          </a:xfrm>
          <a:prstGeom prst="roundRect">
            <a:avLst/>
          </a:prstGeom>
          <a:solidFill>
            <a:srgbClr val="DCE8E3"/>
          </a:solidFill>
          <a:ln/>
        </p:spPr>
      </p:sp>
      <p:sp>
        <p:nvSpPr>
          <p:cNvPr id="62" name="Text 57"/>
          <p:cNvSpPr/>
          <p:nvPr/>
        </p:nvSpPr>
        <p:spPr>
          <a:xfrm>
            <a:off x="6067425" y="1645444"/>
            <a:ext cx="61912" cy="71438"/>
          </a:xfrm>
          <a:prstGeom prst="rect">
            <a:avLst/>
          </a:prstGeom>
          <a:noFill/>
          <a:ln/>
        </p:spPr>
        <p:txBody>
          <a:bodyPr wrap="square" lIns="0" tIns="0" rIns="0" bIns="0" rtlCol="0" anchor="t"/>
          <a:lstStyle/>
          <a:p>
            <a:pPr algn="l" indent="0" marL="0">
              <a:lnSpc>
                <a:spcPts val="517"/>
              </a:lnSpc>
              <a:buNone/>
            </a:pPr>
            <a:r>
              <a:rPr lang="en-US" sz="427" b="1" spc="17" kern="0" dirty="0">
                <a:solidFill>
                  <a:srgbClr val="1F5C4F">
                    <a:alpha val="99000"/>
                  </a:srgbClr>
                </a:solidFill>
                <a:latin typeface="Inter" pitchFamily="34" charset="0"/>
                <a:ea typeface="Inter" pitchFamily="34" charset="-122"/>
                <a:cs typeface="Inter" pitchFamily="34" charset="-120"/>
              </a:rPr>
              <a:t>IN</a:t>
            </a:r>
            <a:endParaRPr lang="en-US" sz="427" dirty="0"/>
          </a:p>
        </p:txBody>
      </p:sp>
      <p:sp>
        <p:nvSpPr>
          <p:cNvPr id="63" name="Text 58"/>
          <p:cNvSpPr/>
          <p:nvPr/>
        </p:nvSpPr>
        <p:spPr>
          <a:xfrm>
            <a:off x="6362700" y="1624013"/>
            <a:ext cx="2247900" cy="257175"/>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Full experiment for moisture; prototype with value, interval and flag</a:t>
            </a:r>
            <a:endParaRPr lang="en-US" sz="677" dirty="0"/>
          </a:p>
        </p:txBody>
      </p:sp>
      <p:sp>
        <p:nvSpPr>
          <p:cNvPr id="64" name="Shape 59"/>
          <p:cNvSpPr/>
          <p:nvPr/>
        </p:nvSpPr>
        <p:spPr>
          <a:xfrm>
            <a:off x="6000750" y="1952625"/>
            <a:ext cx="261937" cy="123825"/>
          </a:xfrm>
          <a:prstGeom prst="roundRect">
            <a:avLst/>
          </a:prstGeom>
          <a:solidFill>
            <a:srgbClr val="F2DED8"/>
          </a:solidFill>
          <a:ln/>
        </p:spPr>
      </p:sp>
      <p:sp>
        <p:nvSpPr>
          <p:cNvPr id="65" name="Text 60"/>
          <p:cNvSpPr/>
          <p:nvPr/>
        </p:nvSpPr>
        <p:spPr>
          <a:xfrm>
            <a:off x="6067425" y="1978819"/>
            <a:ext cx="128588" cy="71438"/>
          </a:xfrm>
          <a:prstGeom prst="rect">
            <a:avLst/>
          </a:prstGeom>
          <a:noFill/>
          <a:ln/>
        </p:spPr>
        <p:txBody>
          <a:bodyPr wrap="square" lIns="0" tIns="0" rIns="0" bIns="0" rtlCol="0" anchor="t"/>
          <a:lstStyle/>
          <a:p>
            <a:pPr algn="l" indent="0" marL="0">
              <a:lnSpc>
                <a:spcPts val="517"/>
              </a:lnSpc>
              <a:buNone/>
            </a:pPr>
            <a:r>
              <a:rPr lang="en-US" sz="427" b="1" spc="17" kern="0" dirty="0">
                <a:solidFill>
                  <a:srgbClr val="9A3B2E">
                    <a:alpha val="99000"/>
                  </a:srgbClr>
                </a:solidFill>
                <a:latin typeface="Inter" pitchFamily="34" charset="0"/>
                <a:ea typeface="Inter" pitchFamily="34" charset="-122"/>
                <a:cs typeface="Inter" pitchFamily="34" charset="-120"/>
              </a:rPr>
              <a:t>OUT</a:t>
            </a:r>
            <a:endParaRPr lang="en-US" sz="427" dirty="0"/>
          </a:p>
        </p:txBody>
      </p:sp>
      <p:sp>
        <p:nvSpPr>
          <p:cNvPr id="66" name="Text 61"/>
          <p:cNvSpPr/>
          <p:nvPr/>
        </p:nvSpPr>
        <p:spPr>
          <a:xfrm>
            <a:off x="6362700" y="1957388"/>
            <a:ext cx="22479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Certified results or regulatory claims</a:t>
            </a:r>
            <a:endParaRPr lang="en-US" sz="677" dirty="0"/>
          </a:p>
        </p:txBody>
      </p:sp>
      <p:sp>
        <p:nvSpPr>
          <p:cNvPr id="67" name="Shape 62"/>
          <p:cNvSpPr/>
          <p:nvPr/>
        </p:nvSpPr>
        <p:spPr>
          <a:xfrm>
            <a:off x="6000750" y="2157413"/>
            <a:ext cx="261937" cy="123825"/>
          </a:xfrm>
          <a:prstGeom prst="roundRect">
            <a:avLst/>
          </a:prstGeom>
          <a:solidFill>
            <a:srgbClr val="F2DED8"/>
          </a:solidFill>
          <a:ln/>
        </p:spPr>
      </p:sp>
      <p:sp>
        <p:nvSpPr>
          <p:cNvPr id="68" name="Text 63"/>
          <p:cNvSpPr/>
          <p:nvPr/>
        </p:nvSpPr>
        <p:spPr>
          <a:xfrm>
            <a:off x="6067425" y="2183606"/>
            <a:ext cx="128588" cy="71438"/>
          </a:xfrm>
          <a:prstGeom prst="rect">
            <a:avLst/>
          </a:prstGeom>
          <a:noFill/>
          <a:ln/>
        </p:spPr>
        <p:txBody>
          <a:bodyPr wrap="square" lIns="0" tIns="0" rIns="0" bIns="0" rtlCol="0" anchor="t"/>
          <a:lstStyle/>
          <a:p>
            <a:pPr algn="l" indent="0" marL="0">
              <a:lnSpc>
                <a:spcPts val="517"/>
              </a:lnSpc>
              <a:buNone/>
            </a:pPr>
            <a:r>
              <a:rPr lang="en-US" sz="427" b="1" spc="17" kern="0" dirty="0">
                <a:solidFill>
                  <a:srgbClr val="9A3B2E">
                    <a:alpha val="99000"/>
                  </a:srgbClr>
                </a:solidFill>
                <a:latin typeface="Inter" pitchFamily="34" charset="0"/>
                <a:ea typeface="Inter" pitchFamily="34" charset="-122"/>
                <a:cs typeface="Inter" pitchFamily="34" charset="-120"/>
              </a:rPr>
              <a:t>OUT</a:t>
            </a:r>
            <a:endParaRPr lang="en-US" sz="427" dirty="0"/>
          </a:p>
        </p:txBody>
      </p:sp>
      <p:sp>
        <p:nvSpPr>
          <p:cNvPr id="69" name="Text 64"/>
          <p:cNvSpPr/>
          <p:nvPr/>
        </p:nvSpPr>
        <p:spPr>
          <a:xfrm>
            <a:off x="6362700" y="2162175"/>
            <a:ext cx="22479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New reference chemistry for other parameters</a:t>
            </a:r>
            <a:endParaRPr lang="en-US" sz="677" dirty="0"/>
          </a:p>
        </p:txBody>
      </p:sp>
      <p:sp>
        <p:nvSpPr>
          <p:cNvPr id="70" name="Shape 65"/>
          <p:cNvSpPr/>
          <p:nvPr/>
        </p:nvSpPr>
        <p:spPr>
          <a:xfrm>
            <a:off x="6000750" y="2362200"/>
            <a:ext cx="261937" cy="123825"/>
          </a:xfrm>
          <a:prstGeom prst="roundRect">
            <a:avLst/>
          </a:prstGeom>
          <a:solidFill>
            <a:srgbClr val="F2DED8"/>
          </a:solidFill>
          <a:ln/>
        </p:spPr>
      </p:sp>
      <p:sp>
        <p:nvSpPr>
          <p:cNvPr id="71" name="Text 66"/>
          <p:cNvSpPr/>
          <p:nvPr/>
        </p:nvSpPr>
        <p:spPr>
          <a:xfrm>
            <a:off x="6067425" y="2388394"/>
            <a:ext cx="128588" cy="71438"/>
          </a:xfrm>
          <a:prstGeom prst="rect">
            <a:avLst/>
          </a:prstGeom>
          <a:noFill/>
          <a:ln/>
        </p:spPr>
        <p:txBody>
          <a:bodyPr wrap="square" lIns="0" tIns="0" rIns="0" bIns="0" rtlCol="0" anchor="t"/>
          <a:lstStyle/>
          <a:p>
            <a:pPr algn="l" indent="0" marL="0">
              <a:lnSpc>
                <a:spcPts val="517"/>
              </a:lnSpc>
              <a:buNone/>
            </a:pPr>
            <a:r>
              <a:rPr lang="en-US" sz="427" b="1" spc="17" kern="0" dirty="0">
                <a:solidFill>
                  <a:srgbClr val="9A3B2E">
                    <a:alpha val="99000"/>
                  </a:srgbClr>
                </a:solidFill>
                <a:latin typeface="Inter" pitchFamily="34" charset="0"/>
                <a:ea typeface="Inter" pitchFamily="34" charset="-122"/>
                <a:cs typeface="Inter" pitchFamily="34" charset="-120"/>
              </a:rPr>
              <a:t>OUT</a:t>
            </a:r>
            <a:endParaRPr lang="en-US" sz="427" dirty="0"/>
          </a:p>
        </p:txBody>
      </p:sp>
      <p:sp>
        <p:nvSpPr>
          <p:cNvPr id="72" name="Text 67"/>
          <p:cNvSpPr/>
          <p:nvPr/>
        </p:nvSpPr>
        <p:spPr>
          <a:xfrm>
            <a:off x="6362700" y="2366963"/>
            <a:ext cx="22479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Glyphosate detection by NIR</a:t>
            </a:r>
            <a:endParaRPr lang="en-US" sz="677" dirty="0"/>
          </a:p>
        </p:txBody>
      </p:sp>
      <p:sp>
        <p:nvSpPr>
          <p:cNvPr id="73" name="Shape 68"/>
          <p:cNvSpPr/>
          <p:nvPr/>
        </p:nvSpPr>
        <p:spPr>
          <a:xfrm>
            <a:off x="6000750" y="2633663"/>
            <a:ext cx="2609850" cy="2033588"/>
          </a:xfrm>
          <a:prstGeom prst="roundRect">
            <a:avLst/>
          </a:prstGeom>
          <a:solidFill>
            <a:srgbClr val="0E2A26"/>
          </a:solidFill>
          <a:ln/>
        </p:spPr>
      </p:sp>
      <p:sp>
        <p:nvSpPr>
          <p:cNvPr id="74" name="Text 69"/>
          <p:cNvSpPr/>
          <p:nvPr/>
        </p:nvSpPr>
        <p:spPr>
          <a:xfrm>
            <a:off x="6162675" y="3150394"/>
            <a:ext cx="828675"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SUCCESS CRITERIA</a:t>
            </a:r>
            <a:endParaRPr lang="en-US" sz="499" dirty="0"/>
          </a:p>
        </p:txBody>
      </p:sp>
      <p:sp>
        <p:nvSpPr>
          <p:cNvPr id="75" name="Text 70"/>
          <p:cNvSpPr/>
          <p:nvPr/>
        </p:nvSpPr>
        <p:spPr>
          <a:xfrm>
            <a:off x="6162675" y="3312319"/>
            <a:ext cx="1143000"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D4AF63">
                    <a:alpha val="99000"/>
                  </a:srgbClr>
                </a:solidFill>
                <a:latin typeface="Inter" pitchFamily="34" charset="0"/>
                <a:ea typeface="Inter" pitchFamily="34" charset="-122"/>
                <a:cs typeface="Inter" pitchFamily="34" charset="-120"/>
              </a:rPr>
              <a:t>R2p ≥ 0.90</a:t>
            </a:r>
            <a:endParaRPr lang="en-US" sz="1069" dirty="0"/>
          </a:p>
        </p:txBody>
      </p:sp>
      <p:sp>
        <p:nvSpPr>
          <p:cNvPr id="76" name="Text 71"/>
          <p:cNvSpPr/>
          <p:nvPr/>
        </p:nvSpPr>
        <p:spPr>
          <a:xfrm>
            <a:off x="7353300" y="3312319"/>
            <a:ext cx="1143000"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D4AF63">
                    <a:alpha val="99000"/>
                  </a:srgbClr>
                </a:solidFill>
                <a:latin typeface="Inter" pitchFamily="34" charset="0"/>
                <a:ea typeface="Inter" pitchFamily="34" charset="-122"/>
                <a:cs typeface="Inter" pitchFamily="34" charset="-120"/>
              </a:rPr>
              <a:t>RPD ≥ 2.5</a:t>
            </a:r>
            <a:endParaRPr lang="en-US" sz="1069" dirty="0"/>
          </a:p>
        </p:txBody>
      </p:sp>
      <p:sp>
        <p:nvSpPr>
          <p:cNvPr id="77" name="Text 72"/>
          <p:cNvSpPr/>
          <p:nvPr/>
        </p:nvSpPr>
        <p:spPr>
          <a:xfrm>
            <a:off x="6162675" y="3588544"/>
            <a:ext cx="1143000"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D4AF63">
                    <a:alpha val="99000"/>
                  </a:srgbClr>
                </a:solidFill>
                <a:latin typeface="Inter" pitchFamily="34" charset="0"/>
                <a:ea typeface="Inter" pitchFamily="34" charset="-122"/>
                <a:cs typeface="Inter" pitchFamily="34" charset="-120"/>
              </a:rPr>
              <a:t>RMSEP ≤ 0.5%</a:t>
            </a:r>
            <a:endParaRPr lang="en-US" sz="1069" dirty="0"/>
          </a:p>
        </p:txBody>
      </p:sp>
      <p:sp>
        <p:nvSpPr>
          <p:cNvPr id="78" name="Text 73"/>
          <p:cNvSpPr/>
          <p:nvPr/>
        </p:nvSpPr>
        <p:spPr>
          <a:xfrm>
            <a:off x="7353300" y="3588544"/>
            <a:ext cx="1143000" cy="171450"/>
          </a:xfrm>
          <a:prstGeom prst="rect">
            <a:avLst/>
          </a:prstGeom>
          <a:noFill/>
          <a:ln/>
        </p:spPr>
        <p:txBody>
          <a:bodyPr wrap="square" lIns="0" tIns="0" rIns="0" bIns="0" rtlCol="0" anchor="t"/>
          <a:lstStyle/>
          <a:p>
            <a:pPr algn="l" indent="0" marL="0">
              <a:lnSpc>
                <a:spcPts val="1293"/>
              </a:lnSpc>
              <a:buNone/>
            </a:pPr>
            <a:r>
              <a:rPr lang="en-US" sz="1069" b="1" spc="-11" kern="0" dirty="0">
                <a:solidFill>
                  <a:srgbClr val="D4AF63">
                    <a:alpha val="99000"/>
                  </a:srgbClr>
                </a:solidFill>
                <a:latin typeface="Inter" pitchFamily="34" charset="0"/>
                <a:ea typeface="Inter" pitchFamily="34" charset="-122"/>
                <a:cs typeface="Inter" pitchFamily="34" charset="-120"/>
              </a:rPr>
              <a:t>&lt; 60 s / sample</a:t>
            </a:r>
            <a:endParaRPr lang="en-US" sz="1069" dirty="0"/>
          </a:p>
        </p:txBody>
      </p:sp>
      <p:sp>
        <p:nvSpPr>
          <p:cNvPr id="79" name="Text 74"/>
          <p:cNvSpPr/>
          <p:nvPr/>
        </p:nvSpPr>
        <p:spPr>
          <a:xfrm>
            <a:off x="6162675" y="3912394"/>
            <a:ext cx="2286000" cy="238125"/>
          </a:xfrm>
          <a:prstGeom prst="rect">
            <a:avLst/>
          </a:prstGeom>
          <a:noFill/>
          <a:ln/>
        </p:spPr>
        <p:txBody>
          <a:bodyPr wrap="square" lIns="0" tIns="0" rIns="0" bIns="0" rtlCol="0" anchor="t"/>
          <a:lstStyle/>
          <a:p>
            <a:pPr algn="l" indent="0" marL="0">
              <a:lnSpc>
                <a:spcPts val="878"/>
              </a:lnSpc>
              <a:buNone/>
            </a:pPr>
            <a:r>
              <a:rPr lang="en-US" sz="606" dirty="0">
                <a:solidFill>
                  <a:srgbClr val="DCE7E3">
                    <a:alpha val="99000"/>
                  </a:srgbClr>
                </a:solidFill>
                <a:latin typeface="Inter" pitchFamily="34" charset="0"/>
                <a:ea typeface="Inter" pitchFamily="34" charset="-122"/>
                <a:cs typeface="Inter" pitchFamily="34" charset="-120"/>
              </a:rPr>
              <a:t>On held-out samples, against about 6 h by oven; field error within 1.5 times lab error.</a:t>
            </a:r>
            <a:endParaRPr lang="en-US" sz="60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338263"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07   ·   LITERATURE REVIEW</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Background review</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615238" y="295275"/>
            <a:ext cx="995363" cy="161925"/>
          </a:xfrm>
          <a:prstGeom prst="roundRect">
            <a:avLst/>
          </a:prstGeom>
          <a:noFill/>
          <a:ln w="5429">
            <a:solidFill>
              <a:srgbClr val="B8893B"/>
            </a:solidFill>
            <a:prstDash val="solid"/>
          </a:ln>
        </p:spPr>
      </p:sp>
      <p:sp>
        <p:nvSpPr>
          <p:cNvPr id="7" name="Text 4"/>
          <p:cNvSpPr/>
          <p:nvPr/>
        </p:nvSpPr>
        <p:spPr>
          <a:xfrm>
            <a:off x="7700963" y="335756"/>
            <a:ext cx="8239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Background review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9527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07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2667000" cy="3629025"/>
          </a:xfrm>
          <a:prstGeom prst="roundRect">
            <a:avLst/>
          </a:prstGeom>
          <a:solidFill>
            <a:srgbClr val="0E2A26"/>
          </a:solidFill>
          <a:ln/>
        </p:spPr>
      </p:sp>
      <p:sp>
        <p:nvSpPr>
          <p:cNvPr id="15" name="Text 10"/>
          <p:cNvSpPr/>
          <p:nvPr/>
        </p:nvSpPr>
        <p:spPr>
          <a:xfrm>
            <a:off x="723900" y="1395413"/>
            <a:ext cx="723900" cy="571500"/>
          </a:xfrm>
          <a:prstGeom prst="rect">
            <a:avLst/>
          </a:prstGeom>
          <a:noFill/>
          <a:ln/>
        </p:spPr>
        <p:txBody>
          <a:bodyPr wrap="square" lIns="0" tIns="0" rIns="0" bIns="0" rtlCol="0" anchor="t"/>
          <a:lstStyle/>
          <a:p>
            <a:pPr algn="l" indent="0" marL="0">
              <a:lnSpc>
                <a:spcPts val="4275"/>
              </a:lnSpc>
              <a:buNone/>
            </a:pPr>
            <a:r>
              <a:rPr lang="en-US" sz="4275" b="1" spc="-43" kern="0" dirty="0">
                <a:solidFill>
                  <a:srgbClr val="D4AF63">
                    <a:alpha val="99000"/>
                  </a:srgbClr>
                </a:solidFill>
                <a:latin typeface="Inter" pitchFamily="34" charset="0"/>
                <a:ea typeface="Inter" pitchFamily="34" charset="-122"/>
                <a:cs typeface="Inter" pitchFamily="34" charset="-120"/>
              </a:rPr>
              <a:t>32</a:t>
            </a:r>
            <a:endParaRPr lang="en-US" sz="4275" dirty="0"/>
          </a:p>
        </p:txBody>
      </p:sp>
      <p:sp>
        <p:nvSpPr>
          <p:cNvPr id="16" name="Text 11"/>
          <p:cNvSpPr/>
          <p:nvPr/>
        </p:nvSpPr>
        <p:spPr>
          <a:xfrm>
            <a:off x="723900" y="2014538"/>
            <a:ext cx="2286000" cy="304800"/>
          </a:xfrm>
          <a:prstGeom prst="rect">
            <a:avLst/>
          </a:prstGeom>
          <a:noFill/>
          <a:ln/>
        </p:spPr>
        <p:txBody>
          <a:bodyPr wrap="square" lIns="0" tIns="0" rIns="0" bIns="0" rtlCol="0" anchor="t"/>
          <a:lstStyle/>
          <a:p>
            <a:pPr algn="l" indent="0" marL="0">
              <a:lnSpc>
                <a:spcPts val="1154"/>
              </a:lnSpc>
              <a:buNone/>
            </a:pPr>
            <a:r>
              <a:rPr lang="en-US" sz="855" spc="-4" kern="0" dirty="0">
                <a:solidFill>
                  <a:srgbClr val="FFFFFF">
                    <a:alpha val="99000"/>
                  </a:srgbClr>
                </a:solidFill>
                <a:latin typeface="Inter" pitchFamily="34" charset="0"/>
                <a:ea typeface="Inter" pitchFamily="34" charset="-122"/>
                <a:cs typeface="Inter" pitchFamily="34" charset="-120"/>
              </a:rPr>
              <a:t>journal articles kept, all in Q1 or Q2 journals (SCImago)</a:t>
            </a:r>
            <a:endParaRPr lang="en-US" sz="855" dirty="0"/>
          </a:p>
        </p:txBody>
      </p:sp>
      <p:sp>
        <p:nvSpPr>
          <p:cNvPr id="17" name="Text 12"/>
          <p:cNvSpPr/>
          <p:nvPr/>
        </p:nvSpPr>
        <p:spPr>
          <a:xfrm>
            <a:off x="723900" y="2500313"/>
            <a:ext cx="7239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REVIEW METHOD</a:t>
            </a:r>
            <a:endParaRPr lang="en-US" sz="499" dirty="0"/>
          </a:p>
        </p:txBody>
      </p:sp>
      <p:sp>
        <p:nvSpPr>
          <p:cNvPr id="18" name="Shape 13"/>
          <p:cNvSpPr/>
          <p:nvPr/>
        </p:nvSpPr>
        <p:spPr>
          <a:xfrm>
            <a:off x="723900" y="2643188"/>
            <a:ext cx="2286000" cy="4763"/>
          </a:xfrm>
          <a:prstGeom prst="rect">
            <a:avLst/>
          </a:prstGeom>
          <a:solidFill>
            <a:srgbClr val="FFFFFF">
              <a:alpha val="20000"/>
            </a:srgbClr>
          </a:solidFill>
          <a:ln/>
        </p:spPr>
      </p:sp>
      <p:sp>
        <p:nvSpPr>
          <p:cNvPr id="19" name="Text 14"/>
          <p:cNvSpPr/>
          <p:nvPr/>
        </p:nvSpPr>
        <p:spPr>
          <a:xfrm>
            <a:off x="723900" y="2747963"/>
            <a:ext cx="2286000" cy="276225"/>
          </a:xfrm>
          <a:prstGeom prst="rect">
            <a:avLst/>
          </a:prstGeom>
          <a:noFill/>
          <a:ln/>
        </p:spPr>
        <p:txBody>
          <a:bodyPr wrap="square" lIns="0" tIns="0" rIns="0" bIns="0" rtlCol="0" anchor="t"/>
          <a:lstStyle/>
          <a:p>
            <a:pPr algn="l" indent="0" marL="0">
              <a:lnSpc>
                <a:spcPts val="1033"/>
              </a:lnSpc>
              <a:buNone/>
            </a:pPr>
            <a:r>
              <a:rPr lang="en-US" sz="713" b="1" dirty="0">
                <a:solidFill>
                  <a:srgbClr val="D4AF63">
                    <a:alpha val="99000"/>
                  </a:srgbClr>
                </a:solidFill>
                <a:latin typeface="Inter" pitchFamily="34" charset="0"/>
                <a:ea typeface="Inter" pitchFamily="34" charset="-122"/>
                <a:cs typeface="Inter" pitchFamily="34" charset="-120"/>
              </a:rPr>
              <a:t>Sources</a:t>
            </a:r>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  Google Scholar, ScienceDirect, MDPI, SpringerLink, PMC, RSC, Crossref</a:t>
            </a:r>
            <a:endParaRPr lang="en-US" sz="713" dirty="0"/>
          </a:p>
        </p:txBody>
      </p:sp>
      <p:sp>
        <p:nvSpPr>
          <p:cNvPr id="20" name="Shape 15"/>
          <p:cNvSpPr/>
          <p:nvPr/>
        </p:nvSpPr>
        <p:spPr>
          <a:xfrm>
            <a:off x="723900" y="3100388"/>
            <a:ext cx="2286000" cy="4763"/>
          </a:xfrm>
          <a:prstGeom prst="rect">
            <a:avLst/>
          </a:prstGeom>
          <a:solidFill>
            <a:srgbClr val="FFFFFF">
              <a:alpha val="15000"/>
            </a:srgbClr>
          </a:solidFill>
          <a:ln/>
        </p:spPr>
      </p:sp>
      <p:sp>
        <p:nvSpPr>
          <p:cNvPr id="21" name="Text 16"/>
          <p:cNvSpPr/>
          <p:nvPr/>
        </p:nvSpPr>
        <p:spPr>
          <a:xfrm>
            <a:off x="723900" y="3176588"/>
            <a:ext cx="2286000" cy="276225"/>
          </a:xfrm>
          <a:prstGeom prst="rect">
            <a:avLst/>
          </a:prstGeom>
          <a:noFill/>
          <a:ln/>
        </p:spPr>
        <p:txBody>
          <a:bodyPr wrap="square" lIns="0" tIns="0" rIns="0" bIns="0" rtlCol="0" anchor="t"/>
          <a:lstStyle/>
          <a:p>
            <a:pPr algn="l" indent="0" marL="0">
              <a:lnSpc>
                <a:spcPts val="1033"/>
              </a:lnSpc>
              <a:buNone/>
            </a:pPr>
            <a:r>
              <a:rPr lang="en-US" sz="713" b="1" dirty="0">
                <a:solidFill>
                  <a:srgbClr val="D4AF63">
                    <a:alpha val="99000"/>
                  </a:srgbClr>
                </a:solidFill>
                <a:latin typeface="Inter" pitchFamily="34" charset="0"/>
                <a:ea typeface="Inter" pitchFamily="34" charset="-122"/>
                <a:cs typeface="Inter" pitchFamily="34" charset="-120"/>
              </a:rPr>
              <a:t>Search</a:t>
            </a:r>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  Tea AND parameter AND NIR AND modelling; 2016 to 2026 plus seminal methods</a:t>
            </a:r>
            <a:endParaRPr lang="en-US" sz="713" dirty="0"/>
          </a:p>
        </p:txBody>
      </p:sp>
      <p:sp>
        <p:nvSpPr>
          <p:cNvPr id="22" name="Shape 17"/>
          <p:cNvSpPr/>
          <p:nvPr/>
        </p:nvSpPr>
        <p:spPr>
          <a:xfrm>
            <a:off x="723900" y="3529013"/>
            <a:ext cx="2286000" cy="4763"/>
          </a:xfrm>
          <a:prstGeom prst="rect">
            <a:avLst/>
          </a:prstGeom>
          <a:solidFill>
            <a:srgbClr val="FFFFFF">
              <a:alpha val="15000"/>
            </a:srgbClr>
          </a:solidFill>
          <a:ln/>
        </p:spPr>
      </p:sp>
      <p:sp>
        <p:nvSpPr>
          <p:cNvPr id="23" name="Text 18"/>
          <p:cNvSpPr/>
          <p:nvPr/>
        </p:nvSpPr>
        <p:spPr>
          <a:xfrm>
            <a:off x="723900" y="3605213"/>
            <a:ext cx="2286000" cy="276225"/>
          </a:xfrm>
          <a:prstGeom prst="rect">
            <a:avLst/>
          </a:prstGeom>
          <a:noFill/>
          <a:ln/>
        </p:spPr>
        <p:txBody>
          <a:bodyPr wrap="square" lIns="0" tIns="0" rIns="0" bIns="0" rtlCol="0" anchor="t"/>
          <a:lstStyle/>
          <a:p>
            <a:pPr algn="l" indent="0" marL="0">
              <a:lnSpc>
                <a:spcPts val="1033"/>
              </a:lnSpc>
              <a:buNone/>
            </a:pPr>
            <a:r>
              <a:rPr lang="en-US" sz="713" b="1" dirty="0">
                <a:solidFill>
                  <a:srgbClr val="D4AF63">
                    <a:alpha val="99000"/>
                  </a:srgbClr>
                </a:solidFill>
                <a:latin typeface="Inter" pitchFamily="34" charset="0"/>
                <a:ea typeface="Inter" pitchFamily="34" charset="-122"/>
                <a:cs typeface="Inter" pitchFamily="34" charset="-120"/>
              </a:rPr>
              <a:t>Screening</a:t>
            </a:r>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  Title, abstract, full text; SCImago Q1 or Q2 only</a:t>
            </a:r>
            <a:endParaRPr lang="en-US" sz="713" dirty="0"/>
          </a:p>
        </p:txBody>
      </p:sp>
      <p:sp>
        <p:nvSpPr>
          <p:cNvPr id="24" name="Shape 19"/>
          <p:cNvSpPr/>
          <p:nvPr/>
        </p:nvSpPr>
        <p:spPr>
          <a:xfrm>
            <a:off x="723900" y="3957638"/>
            <a:ext cx="2286000" cy="4763"/>
          </a:xfrm>
          <a:prstGeom prst="rect">
            <a:avLst/>
          </a:prstGeom>
          <a:solidFill>
            <a:srgbClr val="FFFFFF">
              <a:alpha val="15000"/>
            </a:srgbClr>
          </a:solidFill>
          <a:ln/>
        </p:spPr>
      </p:sp>
      <p:sp>
        <p:nvSpPr>
          <p:cNvPr id="25" name="Text 20"/>
          <p:cNvSpPr/>
          <p:nvPr/>
        </p:nvSpPr>
        <p:spPr>
          <a:xfrm>
            <a:off x="723900" y="4033837"/>
            <a:ext cx="2286000" cy="276225"/>
          </a:xfrm>
          <a:prstGeom prst="rect">
            <a:avLst/>
          </a:prstGeom>
          <a:noFill/>
          <a:ln/>
        </p:spPr>
        <p:txBody>
          <a:bodyPr wrap="square" lIns="0" tIns="0" rIns="0" bIns="0" rtlCol="0" anchor="t"/>
          <a:lstStyle/>
          <a:p>
            <a:pPr algn="l" indent="0" marL="0">
              <a:lnSpc>
                <a:spcPts val="1033"/>
              </a:lnSpc>
              <a:buNone/>
            </a:pPr>
            <a:r>
              <a:rPr lang="en-US" sz="713" b="1" dirty="0">
                <a:solidFill>
                  <a:srgbClr val="D4AF63">
                    <a:alpha val="99000"/>
                  </a:srgbClr>
                </a:solidFill>
                <a:latin typeface="Inter" pitchFamily="34" charset="0"/>
                <a:ea typeface="Inter" pitchFamily="34" charset="-122"/>
                <a:cs typeface="Inter" pitchFamily="34" charset="-120"/>
              </a:rPr>
              <a:t>Flow</a:t>
            </a:r>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  45 records; 5 off-domain and 14 below Q2 removed; 7 Q1/Q2 added</a:t>
            </a:r>
            <a:endParaRPr lang="en-US" sz="713" dirty="0"/>
          </a:p>
        </p:txBody>
      </p:sp>
      <p:sp>
        <p:nvSpPr>
          <p:cNvPr id="26" name="Text 21"/>
          <p:cNvSpPr/>
          <p:nvPr/>
        </p:nvSpPr>
        <p:spPr>
          <a:xfrm>
            <a:off x="3505200" y="1038225"/>
            <a:ext cx="136683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THEMES FROM THE LITERATURE</a:t>
            </a:r>
            <a:endParaRPr lang="en-US" sz="499" dirty="0"/>
          </a:p>
        </p:txBody>
      </p:sp>
      <p:sp>
        <p:nvSpPr>
          <p:cNvPr id="27" name="Shape 22"/>
          <p:cNvSpPr/>
          <p:nvPr/>
        </p:nvSpPr>
        <p:spPr>
          <a:xfrm>
            <a:off x="3505200" y="1181100"/>
            <a:ext cx="5105400" cy="4763"/>
          </a:xfrm>
          <a:prstGeom prst="rect">
            <a:avLst/>
          </a:prstGeom>
          <a:solidFill>
            <a:srgbClr val="0E2A26">
              <a:alpha val="18000"/>
            </a:srgbClr>
          </a:solidFill>
          <a:ln/>
        </p:spPr>
      </p:sp>
      <p:sp>
        <p:nvSpPr>
          <p:cNvPr id="28" name="Text 23"/>
          <p:cNvSpPr/>
          <p:nvPr/>
        </p:nvSpPr>
        <p:spPr>
          <a:xfrm>
            <a:off x="3505200" y="1271588"/>
            <a:ext cx="14287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01</a:t>
            </a:r>
            <a:endParaRPr lang="en-US" sz="926" dirty="0"/>
          </a:p>
        </p:txBody>
      </p:sp>
      <p:sp>
        <p:nvSpPr>
          <p:cNvPr id="29" name="Text 24"/>
          <p:cNvSpPr/>
          <p:nvPr/>
        </p:nvSpPr>
        <p:spPr>
          <a:xfrm>
            <a:off x="3800475" y="1285875"/>
            <a:ext cx="48101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Moisture</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Strongest NIR target: Rp 0.971 (Bai et al., 2022); deep models on 17,856 line samples (Tao et al., 2026)</a:t>
            </a:r>
            <a:endParaRPr lang="en-US" sz="784" dirty="0"/>
          </a:p>
        </p:txBody>
      </p:sp>
      <p:sp>
        <p:nvSpPr>
          <p:cNvPr id="30" name="Shape 25"/>
          <p:cNvSpPr/>
          <p:nvPr/>
        </p:nvSpPr>
        <p:spPr>
          <a:xfrm>
            <a:off x="3505200" y="1685925"/>
            <a:ext cx="5105400" cy="4763"/>
          </a:xfrm>
          <a:prstGeom prst="rect">
            <a:avLst/>
          </a:prstGeom>
          <a:solidFill>
            <a:srgbClr val="E3DACA"/>
          </a:solidFill>
          <a:ln/>
        </p:spPr>
      </p:sp>
      <p:sp>
        <p:nvSpPr>
          <p:cNvPr id="31" name="Text 26"/>
          <p:cNvSpPr/>
          <p:nvPr/>
        </p:nvSpPr>
        <p:spPr>
          <a:xfrm>
            <a:off x="3505200" y="17668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02</a:t>
            </a:r>
            <a:endParaRPr lang="en-US" sz="926" dirty="0"/>
          </a:p>
        </p:txBody>
      </p:sp>
      <p:sp>
        <p:nvSpPr>
          <p:cNvPr id="32" name="Text 27"/>
          <p:cNvSpPr/>
          <p:nvPr/>
        </p:nvSpPr>
        <p:spPr>
          <a:xfrm>
            <a:off x="3800475" y="1781175"/>
            <a:ext cx="48101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Phenolics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Feasible but harder: TF:TR R2p 0.893, RPD above 3 (Dong et al., 2018); polyphenols only Rp 0.795 (Bai et al., 2022)</a:t>
            </a:r>
            <a:endParaRPr lang="en-US" sz="784" dirty="0"/>
          </a:p>
        </p:txBody>
      </p:sp>
      <p:sp>
        <p:nvSpPr>
          <p:cNvPr id="33" name="Shape 28"/>
          <p:cNvSpPr/>
          <p:nvPr/>
        </p:nvSpPr>
        <p:spPr>
          <a:xfrm>
            <a:off x="3505200" y="2181225"/>
            <a:ext cx="5105400" cy="4763"/>
          </a:xfrm>
          <a:prstGeom prst="rect">
            <a:avLst/>
          </a:prstGeom>
          <a:solidFill>
            <a:srgbClr val="E3DACA"/>
          </a:solidFill>
          <a:ln/>
        </p:spPr>
      </p:sp>
      <p:sp>
        <p:nvSpPr>
          <p:cNvPr id="34" name="Text 29"/>
          <p:cNvSpPr/>
          <p:nvPr/>
        </p:nvSpPr>
        <p:spPr>
          <a:xfrm>
            <a:off x="3505200" y="2262188"/>
            <a:ext cx="166688"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03</a:t>
            </a:r>
            <a:endParaRPr lang="en-US" sz="926" dirty="0"/>
          </a:p>
        </p:txBody>
      </p:sp>
      <p:sp>
        <p:nvSpPr>
          <p:cNvPr id="35" name="Text 30"/>
          <p:cNvSpPr/>
          <p:nvPr/>
        </p:nvSpPr>
        <p:spPr>
          <a:xfrm>
            <a:off x="3800475" y="2276475"/>
            <a:ext cx="4810125"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Caffeine</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Consistently strong: r2 0.97 against HPLC (Rehman et al., 2020)</a:t>
            </a:r>
            <a:endParaRPr lang="en-US" sz="784" dirty="0"/>
          </a:p>
        </p:txBody>
      </p:sp>
      <p:sp>
        <p:nvSpPr>
          <p:cNvPr id="36" name="Shape 31"/>
          <p:cNvSpPr/>
          <p:nvPr/>
        </p:nvSpPr>
        <p:spPr>
          <a:xfrm>
            <a:off x="3505200" y="2524125"/>
            <a:ext cx="5105400" cy="4763"/>
          </a:xfrm>
          <a:prstGeom prst="rect">
            <a:avLst/>
          </a:prstGeom>
          <a:solidFill>
            <a:srgbClr val="E3DACA"/>
          </a:solidFill>
          <a:ln/>
        </p:spPr>
      </p:sp>
      <p:sp>
        <p:nvSpPr>
          <p:cNvPr id="37" name="Text 32"/>
          <p:cNvSpPr/>
          <p:nvPr/>
        </p:nvSpPr>
        <p:spPr>
          <a:xfrm>
            <a:off x="3505200" y="2605088"/>
            <a:ext cx="166688"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04</a:t>
            </a:r>
            <a:endParaRPr lang="en-US" sz="926" dirty="0"/>
          </a:p>
        </p:txBody>
      </p:sp>
      <p:sp>
        <p:nvSpPr>
          <p:cNvPr id="38" name="Text 33"/>
          <p:cNvSpPr/>
          <p:nvPr/>
        </p:nvSpPr>
        <p:spPr>
          <a:xfrm>
            <a:off x="3800475" y="2619375"/>
            <a:ext cx="4810125"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Sugar and residues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No Q1/Q2 NIR study of added sugar in black tea; glyphosate needs LC-MS/MS (Wang et al., 2023)</a:t>
            </a:r>
            <a:endParaRPr lang="en-US" sz="784" dirty="0"/>
          </a:p>
        </p:txBody>
      </p:sp>
      <p:sp>
        <p:nvSpPr>
          <p:cNvPr id="39" name="Shape 34"/>
          <p:cNvSpPr/>
          <p:nvPr/>
        </p:nvSpPr>
        <p:spPr>
          <a:xfrm>
            <a:off x="3505200" y="3019425"/>
            <a:ext cx="5105400" cy="4763"/>
          </a:xfrm>
          <a:prstGeom prst="rect">
            <a:avLst/>
          </a:prstGeom>
          <a:solidFill>
            <a:srgbClr val="E3DACA"/>
          </a:solidFill>
          <a:ln/>
        </p:spPr>
      </p:sp>
      <p:sp>
        <p:nvSpPr>
          <p:cNvPr id="40" name="Text 35"/>
          <p:cNvSpPr/>
          <p:nvPr/>
        </p:nvSpPr>
        <p:spPr>
          <a:xfrm>
            <a:off x="3505200" y="31003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05</a:t>
            </a:r>
            <a:endParaRPr lang="en-US" sz="926" dirty="0"/>
          </a:p>
        </p:txBody>
      </p:sp>
      <p:sp>
        <p:nvSpPr>
          <p:cNvPr id="41" name="Text 36"/>
          <p:cNvSpPr/>
          <p:nvPr/>
        </p:nvSpPr>
        <p:spPr>
          <a:xfrm>
            <a:off x="3800475" y="3114675"/>
            <a:ext cx="4810125"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Preprocessing</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CARS kept 11 wavelengths for TF:TR (Dong et al., 2018)</a:t>
            </a:r>
            <a:endParaRPr lang="en-US" sz="784" dirty="0"/>
          </a:p>
        </p:txBody>
      </p:sp>
      <p:sp>
        <p:nvSpPr>
          <p:cNvPr id="42" name="Shape 37"/>
          <p:cNvSpPr/>
          <p:nvPr/>
        </p:nvSpPr>
        <p:spPr>
          <a:xfrm>
            <a:off x="3505200" y="3362325"/>
            <a:ext cx="5105400" cy="4763"/>
          </a:xfrm>
          <a:prstGeom prst="rect">
            <a:avLst/>
          </a:prstGeom>
          <a:solidFill>
            <a:srgbClr val="E3DACA"/>
          </a:solidFill>
          <a:ln/>
        </p:spPr>
      </p:sp>
      <p:sp>
        <p:nvSpPr>
          <p:cNvPr id="43" name="Text 38"/>
          <p:cNvSpPr/>
          <p:nvPr/>
        </p:nvSpPr>
        <p:spPr>
          <a:xfrm>
            <a:off x="3505200" y="3443288"/>
            <a:ext cx="161925" cy="147638"/>
          </a:xfrm>
          <a:prstGeom prst="rect">
            <a:avLst/>
          </a:prstGeom>
          <a:noFill/>
          <a:ln/>
        </p:spPr>
        <p:txBody>
          <a:bodyPr wrap="square" lIns="0" tIns="0" rIns="0" bIns="0" rtlCol="0" anchor="t"/>
          <a:lstStyle/>
          <a:p>
            <a:pPr algn="l" indent="0" marL="0">
              <a:lnSpc>
                <a:spcPts val="1121"/>
              </a:lnSpc>
              <a:buNone/>
            </a:pPr>
            <a:r>
              <a:rPr lang="en-US" sz="926" b="1" spc="-9" kern="0" dirty="0">
                <a:solidFill>
                  <a:srgbClr val="B8893B">
                    <a:alpha val="99000"/>
                  </a:srgbClr>
                </a:solidFill>
                <a:latin typeface="Inter" pitchFamily="34" charset="0"/>
                <a:ea typeface="Inter" pitchFamily="34" charset="-122"/>
                <a:cs typeface="Inter" pitchFamily="34" charset="-120"/>
              </a:rPr>
              <a:t>06</a:t>
            </a:r>
            <a:endParaRPr lang="en-US" sz="926" dirty="0"/>
          </a:p>
        </p:txBody>
      </p:sp>
      <p:sp>
        <p:nvSpPr>
          <p:cNvPr id="44" name="Text 39"/>
          <p:cNvSpPr/>
          <p:nvPr/>
        </p:nvSpPr>
        <p:spPr>
          <a:xfrm>
            <a:off x="3800475" y="3457575"/>
            <a:ext cx="4810125"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Closest work</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Grades black tea from NIR + vision, not parameter values (Liang et al., 2025)</a:t>
            </a:r>
            <a:endParaRPr lang="en-US" sz="784" dirty="0"/>
          </a:p>
        </p:txBody>
      </p:sp>
      <p:sp>
        <p:nvSpPr>
          <p:cNvPr id="45" name="Text 40"/>
          <p:cNvSpPr/>
          <p:nvPr/>
        </p:nvSpPr>
        <p:spPr>
          <a:xfrm>
            <a:off x="3638550" y="4343400"/>
            <a:ext cx="4972050" cy="323850"/>
          </a:xfrm>
          <a:prstGeom prst="rect">
            <a:avLst/>
          </a:prstGeom>
          <a:noFill/>
          <a:ln/>
        </p:spPr>
        <p:txBody>
          <a:bodyPr wrap="square" lIns="0" tIns="0" rIns="0" bIns="0" rtlCol="0" anchor="t"/>
          <a:lstStyle/>
          <a:p>
            <a:pPr algn="l" indent="0" marL="0">
              <a:lnSpc>
                <a:spcPts val="1229"/>
              </a:lnSpc>
              <a:buNone/>
            </a:pPr>
            <a:r>
              <a:rPr lang="en-US" sz="891" spc="-4" kern="0" dirty="0">
                <a:solidFill>
                  <a:srgbClr val="0E2A26">
                    <a:alpha val="99000"/>
                  </a:srgbClr>
                </a:solidFill>
                <a:latin typeface="Inter" pitchFamily="34" charset="0"/>
                <a:ea typeface="Inter" pitchFamily="34" charset="-122"/>
                <a:cs typeface="Inter" pitchFamily="34" charset="-120"/>
              </a:rPr>
              <a:t>Moisture is the right experimental core; caffeine and TF:TR are the strongest extensions; glyphosate needs a different technology.</a:t>
            </a:r>
            <a:endParaRPr lang="en-US" sz="891" dirty="0"/>
          </a:p>
        </p:txBody>
      </p:sp>
      <p:sp>
        <p:nvSpPr>
          <p:cNvPr id="46" name="Shape 41"/>
          <p:cNvSpPr/>
          <p:nvPr/>
        </p:nvSpPr>
        <p:spPr>
          <a:xfrm>
            <a:off x="3505200" y="4362450"/>
            <a:ext cx="19050" cy="295275"/>
          </a:xfrm>
          <a:prstGeom prst="rect">
            <a:avLst/>
          </a:prstGeom>
          <a:solidFill>
            <a:srgbClr val="B8893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557338"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08   ·   PARAMETER FEASIBILITY</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What NIR can and cannot measure</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615238" y="295275"/>
            <a:ext cx="995363" cy="161925"/>
          </a:xfrm>
          <a:prstGeom prst="roundRect">
            <a:avLst/>
          </a:prstGeom>
          <a:noFill/>
          <a:ln w="5429">
            <a:solidFill>
              <a:srgbClr val="B8893B"/>
            </a:solidFill>
            <a:prstDash val="solid"/>
          </a:ln>
        </p:spPr>
      </p:sp>
      <p:sp>
        <p:nvSpPr>
          <p:cNvPr id="7" name="Text 4"/>
          <p:cNvSpPr/>
          <p:nvPr/>
        </p:nvSpPr>
        <p:spPr>
          <a:xfrm>
            <a:off x="7700963" y="335756"/>
            <a:ext cx="8239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Background review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30003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08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8077200" cy="2543175"/>
          </a:xfrm>
          <a:prstGeom prst="roundRect">
            <a:avLst>
              <a:gd name="adj" fmla="val 5753"/>
            </a:avLst>
          </a:prstGeom>
          <a:solidFill>
            <a:srgbClr val="FFFFFF"/>
          </a:solidFill>
          <a:ln w="4524">
            <a:solidFill>
              <a:srgbClr val="E3DACA"/>
            </a:solidFill>
            <a:prstDash val="solid"/>
          </a:ln>
        </p:spPr>
      </p:sp>
      <p:sp>
        <p:nvSpPr>
          <p:cNvPr id="15" name="Shape 10"/>
          <p:cNvSpPr/>
          <p:nvPr/>
        </p:nvSpPr>
        <p:spPr>
          <a:xfrm>
            <a:off x="533400" y="1038225"/>
            <a:ext cx="8077200" cy="314325"/>
          </a:xfrm>
          <a:prstGeom prst="rect">
            <a:avLst/>
          </a:prstGeom>
          <a:solidFill>
            <a:srgbClr val="EDE6D6"/>
          </a:solidFill>
          <a:ln/>
        </p:spPr>
      </p:sp>
      <p:sp>
        <p:nvSpPr>
          <p:cNvPr id="16" name="Text 11"/>
          <p:cNvSpPr/>
          <p:nvPr/>
        </p:nvSpPr>
        <p:spPr>
          <a:xfrm>
            <a:off x="647700" y="1152525"/>
            <a:ext cx="129540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PARAMETER</a:t>
            </a:r>
            <a:endParaRPr lang="en-US" sz="463" dirty="0"/>
          </a:p>
        </p:txBody>
      </p:sp>
      <p:sp>
        <p:nvSpPr>
          <p:cNvPr id="17" name="Text 12"/>
          <p:cNvSpPr/>
          <p:nvPr/>
        </p:nvSpPr>
        <p:spPr>
          <a:xfrm>
            <a:off x="2076450" y="1152525"/>
            <a:ext cx="484822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EVIDENCE FROM Q1/Q2 JOURNALS</a:t>
            </a:r>
            <a:endParaRPr lang="en-US" sz="463" dirty="0"/>
          </a:p>
        </p:txBody>
      </p:sp>
      <p:sp>
        <p:nvSpPr>
          <p:cNvPr id="18" name="Text 13"/>
          <p:cNvSpPr/>
          <p:nvPr/>
        </p:nvSpPr>
        <p:spPr>
          <a:xfrm>
            <a:off x="7058025" y="1152525"/>
            <a:ext cx="153352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VERDICT</a:t>
            </a:r>
            <a:endParaRPr lang="en-US" sz="463" dirty="0"/>
          </a:p>
        </p:txBody>
      </p:sp>
      <p:sp>
        <p:nvSpPr>
          <p:cNvPr id="19" name="Shape 14"/>
          <p:cNvSpPr/>
          <p:nvPr/>
        </p:nvSpPr>
        <p:spPr>
          <a:xfrm>
            <a:off x="533400" y="1352550"/>
            <a:ext cx="8077200" cy="371475"/>
          </a:xfrm>
          <a:prstGeom prst="rect">
            <a:avLst/>
          </a:prstGeom>
          <a:solidFill>
            <a:srgbClr val="FBF9F4"/>
          </a:solidFill>
          <a:ln/>
        </p:spPr>
      </p:sp>
      <p:sp>
        <p:nvSpPr>
          <p:cNvPr id="20" name="Text 15"/>
          <p:cNvSpPr/>
          <p:nvPr/>
        </p:nvSpPr>
        <p:spPr>
          <a:xfrm>
            <a:off x="647700" y="1466850"/>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Moisture</a:t>
            </a:r>
            <a:endParaRPr lang="en-US" sz="748" dirty="0"/>
          </a:p>
        </p:txBody>
      </p:sp>
      <p:sp>
        <p:nvSpPr>
          <p:cNvPr id="21" name="Text 16"/>
          <p:cNvSpPr/>
          <p:nvPr/>
        </p:nvSpPr>
        <p:spPr>
          <a:xfrm>
            <a:off x="2076450" y="1466850"/>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Strong O-H water bands; Rp 0.971 (Bai et al., 2022); all processing stages (Zou et al., 2022)</a:t>
            </a:r>
            <a:endParaRPr lang="en-US" sz="748" dirty="0"/>
          </a:p>
        </p:txBody>
      </p:sp>
      <p:sp>
        <p:nvSpPr>
          <p:cNvPr id="22" name="Shape 17"/>
          <p:cNvSpPr/>
          <p:nvPr/>
        </p:nvSpPr>
        <p:spPr>
          <a:xfrm>
            <a:off x="533400" y="1352550"/>
            <a:ext cx="8077200" cy="4763"/>
          </a:xfrm>
          <a:prstGeom prst="rect">
            <a:avLst/>
          </a:prstGeom>
          <a:solidFill>
            <a:srgbClr val="E3DACA"/>
          </a:solidFill>
          <a:ln/>
        </p:spPr>
      </p:sp>
      <p:sp>
        <p:nvSpPr>
          <p:cNvPr id="23" name="Shape 18"/>
          <p:cNvSpPr/>
          <p:nvPr/>
        </p:nvSpPr>
        <p:spPr>
          <a:xfrm>
            <a:off x="7058025" y="1466850"/>
            <a:ext cx="957263" cy="142875"/>
          </a:xfrm>
          <a:prstGeom prst="roundRect">
            <a:avLst/>
          </a:prstGeom>
          <a:solidFill>
            <a:srgbClr val="DCE8E3"/>
          </a:solidFill>
          <a:ln/>
        </p:spPr>
      </p:sp>
      <p:sp>
        <p:nvSpPr>
          <p:cNvPr id="24" name="Text 19"/>
          <p:cNvSpPr/>
          <p:nvPr/>
        </p:nvSpPr>
        <p:spPr>
          <a:xfrm>
            <a:off x="7124700" y="1500188"/>
            <a:ext cx="82391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High  ·  experimental core</a:t>
            </a:r>
            <a:endParaRPr lang="en-US" sz="463" dirty="0"/>
          </a:p>
        </p:txBody>
      </p:sp>
      <p:sp>
        <p:nvSpPr>
          <p:cNvPr id="25" name="Shape 20"/>
          <p:cNvSpPr/>
          <p:nvPr/>
        </p:nvSpPr>
        <p:spPr>
          <a:xfrm>
            <a:off x="533400" y="1724025"/>
            <a:ext cx="8077200" cy="371475"/>
          </a:xfrm>
          <a:prstGeom prst="rect">
            <a:avLst/>
          </a:prstGeom>
          <a:solidFill>
            <a:srgbClr val="FFFFFF"/>
          </a:solidFill>
          <a:ln/>
        </p:spPr>
      </p:sp>
      <p:sp>
        <p:nvSpPr>
          <p:cNvPr id="26" name="Text 21"/>
          <p:cNvSpPr/>
          <p:nvPr/>
        </p:nvSpPr>
        <p:spPr>
          <a:xfrm>
            <a:off x="647700" y="1838325"/>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Caffeine</a:t>
            </a:r>
            <a:endParaRPr lang="en-US" sz="748" dirty="0"/>
          </a:p>
        </p:txBody>
      </p:sp>
      <p:sp>
        <p:nvSpPr>
          <p:cNvPr id="27" name="Text 22"/>
          <p:cNvSpPr/>
          <p:nvPr/>
        </p:nvSpPr>
        <p:spPr>
          <a:xfrm>
            <a:off x="2076450" y="1838325"/>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r2 0.97 against HPLC (Rehman et al., 2020); predicted in black tea (Zareef et al., 2018)</a:t>
            </a:r>
            <a:endParaRPr lang="en-US" sz="748" dirty="0"/>
          </a:p>
        </p:txBody>
      </p:sp>
      <p:sp>
        <p:nvSpPr>
          <p:cNvPr id="28" name="Shape 23"/>
          <p:cNvSpPr/>
          <p:nvPr/>
        </p:nvSpPr>
        <p:spPr>
          <a:xfrm>
            <a:off x="533400" y="1724025"/>
            <a:ext cx="8077200" cy="4763"/>
          </a:xfrm>
          <a:prstGeom prst="rect">
            <a:avLst/>
          </a:prstGeom>
          <a:solidFill>
            <a:srgbClr val="E3DACA"/>
          </a:solidFill>
          <a:ln/>
        </p:spPr>
      </p:sp>
      <p:sp>
        <p:nvSpPr>
          <p:cNvPr id="29" name="Shape 24"/>
          <p:cNvSpPr/>
          <p:nvPr/>
        </p:nvSpPr>
        <p:spPr>
          <a:xfrm>
            <a:off x="7058025" y="1838325"/>
            <a:ext cx="690563" cy="142875"/>
          </a:xfrm>
          <a:prstGeom prst="roundRect">
            <a:avLst/>
          </a:prstGeom>
          <a:solidFill>
            <a:srgbClr val="DCE8E3"/>
          </a:solidFill>
          <a:ln/>
        </p:spPr>
      </p:sp>
      <p:sp>
        <p:nvSpPr>
          <p:cNvPr id="30" name="Text 25"/>
          <p:cNvSpPr/>
          <p:nvPr/>
        </p:nvSpPr>
        <p:spPr>
          <a:xfrm>
            <a:off x="7124700" y="1871663"/>
            <a:ext cx="55721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High  ·  extension</a:t>
            </a:r>
            <a:endParaRPr lang="en-US" sz="463" dirty="0"/>
          </a:p>
        </p:txBody>
      </p:sp>
      <p:sp>
        <p:nvSpPr>
          <p:cNvPr id="31" name="Shape 26"/>
          <p:cNvSpPr/>
          <p:nvPr/>
        </p:nvSpPr>
        <p:spPr>
          <a:xfrm>
            <a:off x="533400" y="2095500"/>
            <a:ext cx="8077200" cy="371475"/>
          </a:xfrm>
          <a:prstGeom prst="rect">
            <a:avLst/>
          </a:prstGeom>
          <a:solidFill>
            <a:srgbClr val="FBF9F4"/>
          </a:solidFill>
          <a:ln/>
        </p:spPr>
      </p:sp>
      <p:sp>
        <p:nvSpPr>
          <p:cNvPr id="32" name="Text 27"/>
          <p:cNvSpPr/>
          <p:nvPr/>
        </p:nvSpPr>
        <p:spPr>
          <a:xfrm>
            <a:off x="647700" y="2209800"/>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TF:TR ratio</a:t>
            </a:r>
            <a:endParaRPr lang="en-US" sz="748" dirty="0"/>
          </a:p>
        </p:txBody>
      </p:sp>
      <p:sp>
        <p:nvSpPr>
          <p:cNvPr id="33" name="Text 28"/>
          <p:cNvSpPr/>
          <p:nvPr/>
        </p:nvSpPr>
        <p:spPr>
          <a:xfrm>
            <a:off x="2076450" y="2209800"/>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R2p 0.893, RPD above 3 from 11 CARS wavelengths (Dong et al., 2018)</a:t>
            </a:r>
            <a:endParaRPr lang="en-US" sz="748" dirty="0"/>
          </a:p>
        </p:txBody>
      </p:sp>
      <p:sp>
        <p:nvSpPr>
          <p:cNvPr id="34" name="Shape 29"/>
          <p:cNvSpPr/>
          <p:nvPr/>
        </p:nvSpPr>
        <p:spPr>
          <a:xfrm>
            <a:off x="533400" y="2095500"/>
            <a:ext cx="8077200" cy="4763"/>
          </a:xfrm>
          <a:prstGeom prst="rect">
            <a:avLst/>
          </a:prstGeom>
          <a:solidFill>
            <a:srgbClr val="E3DACA"/>
          </a:solidFill>
          <a:ln/>
        </p:spPr>
      </p:sp>
      <p:sp>
        <p:nvSpPr>
          <p:cNvPr id="35" name="Shape 30"/>
          <p:cNvSpPr/>
          <p:nvPr/>
        </p:nvSpPr>
        <p:spPr>
          <a:xfrm>
            <a:off x="7058025" y="2209800"/>
            <a:ext cx="942975" cy="142875"/>
          </a:xfrm>
          <a:prstGeom prst="roundRect">
            <a:avLst/>
          </a:prstGeom>
          <a:solidFill>
            <a:srgbClr val="DCE8E3"/>
          </a:solidFill>
          <a:ln/>
        </p:spPr>
      </p:sp>
      <p:sp>
        <p:nvSpPr>
          <p:cNvPr id="36" name="Text 31"/>
          <p:cNvSpPr/>
          <p:nvPr/>
        </p:nvSpPr>
        <p:spPr>
          <a:xfrm>
            <a:off x="7124700" y="2243138"/>
            <a:ext cx="8096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High  ·  priority extension</a:t>
            </a:r>
            <a:endParaRPr lang="en-US" sz="463" dirty="0"/>
          </a:p>
        </p:txBody>
      </p:sp>
      <p:sp>
        <p:nvSpPr>
          <p:cNvPr id="37" name="Shape 32"/>
          <p:cNvSpPr/>
          <p:nvPr/>
        </p:nvSpPr>
        <p:spPr>
          <a:xfrm>
            <a:off x="533400" y="2466975"/>
            <a:ext cx="8077200" cy="371475"/>
          </a:xfrm>
          <a:prstGeom prst="rect">
            <a:avLst/>
          </a:prstGeom>
          <a:solidFill>
            <a:srgbClr val="FFFFFF"/>
          </a:solidFill>
          <a:ln/>
        </p:spPr>
      </p:sp>
      <p:sp>
        <p:nvSpPr>
          <p:cNvPr id="38" name="Text 33"/>
          <p:cNvSpPr/>
          <p:nvPr/>
        </p:nvSpPr>
        <p:spPr>
          <a:xfrm>
            <a:off x="647700" y="2581275"/>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Polyphenols</a:t>
            </a:r>
            <a:endParaRPr lang="en-US" sz="748" dirty="0"/>
          </a:p>
        </p:txBody>
      </p:sp>
      <p:sp>
        <p:nvSpPr>
          <p:cNvPr id="39" name="Text 34"/>
          <p:cNvSpPr/>
          <p:nvPr/>
        </p:nvSpPr>
        <p:spPr>
          <a:xfrm>
            <a:off x="2076450" y="2581275"/>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Rp 0.795 from NIR alone (Bai et al., 2022); RPD 5.4 fused with vision (Wang et al., 2021)</a:t>
            </a:r>
            <a:endParaRPr lang="en-US" sz="748" dirty="0"/>
          </a:p>
        </p:txBody>
      </p:sp>
      <p:sp>
        <p:nvSpPr>
          <p:cNvPr id="40" name="Shape 35"/>
          <p:cNvSpPr/>
          <p:nvPr/>
        </p:nvSpPr>
        <p:spPr>
          <a:xfrm>
            <a:off x="533400" y="2466975"/>
            <a:ext cx="8077200" cy="4763"/>
          </a:xfrm>
          <a:prstGeom prst="rect">
            <a:avLst/>
          </a:prstGeom>
          <a:solidFill>
            <a:srgbClr val="E3DACA"/>
          </a:solidFill>
          <a:ln/>
        </p:spPr>
      </p:sp>
      <p:sp>
        <p:nvSpPr>
          <p:cNvPr id="41" name="Shape 36"/>
          <p:cNvSpPr/>
          <p:nvPr/>
        </p:nvSpPr>
        <p:spPr>
          <a:xfrm>
            <a:off x="7058025" y="2581275"/>
            <a:ext cx="633413" cy="142875"/>
          </a:xfrm>
          <a:prstGeom prst="roundRect">
            <a:avLst/>
          </a:prstGeom>
          <a:solidFill>
            <a:srgbClr val="E8EFD9"/>
          </a:solidFill>
          <a:ln/>
        </p:spPr>
      </p:sp>
      <p:sp>
        <p:nvSpPr>
          <p:cNvPr id="42" name="Text 37"/>
          <p:cNvSpPr/>
          <p:nvPr/>
        </p:nvSpPr>
        <p:spPr>
          <a:xfrm>
            <a:off x="7124700" y="2614613"/>
            <a:ext cx="50006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4E6B2A">
                    <a:alpha val="99000"/>
                  </a:srgbClr>
                </a:solidFill>
                <a:latin typeface="Inter" pitchFamily="34" charset="0"/>
                <a:ea typeface="Inter" pitchFamily="34" charset="-122"/>
                <a:cs typeface="Inter" pitchFamily="34" charset="-120"/>
              </a:rPr>
              <a:t>Medium to high</a:t>
            </a:r>
            <a:endParaRPr lang="en-US" sz="463" dirty="0"/>
          </a:p>
        </p:txBody>
      </p:sp>
      <p:sp>
        <p:nvSpPr>
          <p:cNvPr id="43" name="Shape 38"/>
          <p:cNvSpPr/>
          <p:nvPr/>
        </p:nvSpPr>
        <p:spPr>
          <a:xfrm>
            <a:off x="533400" y="2838450"/>
            <a:ext cx="8077200" cy="371475"/>
          </a:xfrm>
          <a:prstGeom prst="rect">
            <a:avLst/>
          </a:prstGeom>
          <a:solidFill>
            <a:srgbClr val="FBF9F4"/>
          </a:solidFill>
          <a:ln/>
        </p:spPr>
      </p:sp>
      <p:sp>
        <p:nvSpPr>
          <p:cNvPr id="44" name="Text 39"/>
          <p:cNvSpPr/>
          <p:nvPr/>
        </p:nvSpPr>
        <p:spPr>
          <a:xfrm>
            <a:off x="647700" y="2952750"/>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Added sugar</a:t>
            </a:r>
            <a:endParaRPr lang="en-US" sz="748" dirty="0"/>
          </a:p>
        </p:txBody>
      </p:sp>
      <p:sp>
        <p:nvSpPr>
          <p:cNvPr id="45" name="Text 40"/>
          <p:cNvSpPr/>
          <p:nvPr/>
        </p:nvSpPr>
        <p:spPr>
          <a:xfrm>
            <a:off x="2076450" y="2952750"/>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No Q1/Q2 NIR study in black tea; natural sugars vary (Piyasena et al., 2022)</a:t>
            </a:r>
            <a:endParaRPr lang="en-US" sz="748" dirty="0"/>
          </a:p>
        </p:txBody>
      </p:sp>
      <p:sp>
        <p:nvSpPr>
          <p:cNvPr id="46" name="Shape 41"/>
          <p:cNvSpPr/>
          <p:nvPr/>
        </p:nvSpPr>
        <p:spPr>
          <a:xfrm>
            <a:off x="533400" y="2838450"/>
            <a:ext cx="8077200" cy="4763"/>
          </a:xfrm>
          <a:prstGeom prst="rect">
            <a:avLst/>
          </a:prstGeom>
          <a:solidFill>
            <a:srgbClr val="E3DACA"/>
          </a:solidFill>
          <a:ln/>
        </p:spPr>
      </p:sp>
      <p:sp>
        <p:nvSpPr>
          <p:cNvPr id="47" name="Shape 42"/>
          <p:cNvSpPr/>
          <p:nvPr/>
        </p:nvSpPr>
        <p:spPr>
          <a:xfrm>
            <a:off x="7058025" y="2952750"/>
            <a:ext cx="1143000" cy="142875"/>
          </a:xfrm>
          <a:prstGeom prst="roundRect">
            <a:avLst/>
          </a:prstGeom>
          <a:solidFill>
            <a:srgbClr val="F6E7C8"/>
          </a:solidFill>
          <a:ln/>
        </p:spPr>
      </p:sp>
      <p:sp>
        <p:nvSpPr>
          <p:cNvPr id="48" name="Text 43"/>
          <p:cNvSpPr/>
          <p:nvPr/>
        </p:nvSpPr>
        <p:spPr>
          <a:xfrm>
            <a:off x="7124700" y="2986088"/>
            <a:ext cx="1009650"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Low to medium  ·  evidence gap</a:t>
            </a:r>
            <a:endParaRPr lang="en-US" sz="463" dirty="0"/>
          </a:p>
        </p:txBody>
      </p:sp>
      <p:sp>
        <p:nvSpPr>
          <p:cNvPr id="49" name="Shape 44"/>
          <p:cNvSpPr/>
          <p:nvPr/>
        </p:nvSpPr>
        <p:spPr>
          <a:xfrm>
            <a:off x="533400" y="3209925"/>
            <a:ext cx="8077200" cy="371475"/>
          </a:xfrm>
          <a:prstGeom prst="rect">
            <a:avLst/>
          </a:prstGeom>
          <a:solidFill>
            <a:srgbClr val="FFFFFF"/>
          </a:solidFill>
          <a:ln/>
        </p:spPr>
      </p:sp>
      <p:sp>
        <p:nvSpPr>
          <p:cNvPr id="50" name="Text 45"/>
          <p:cNvSpPr/>
          <p:nvPr/>
        </p:nvSpPr>
        <p:spPr>
          <a:xfrm>
            <a:off x="647700" y="3324225"/>
            <a:ext cx="129540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Glyphosate</a:t>
            </a:r>
            <a:endParaRPr lang="en-US" sz="748" dirty="0"/>
          </a:p>
        </p:txBody>
      </p:sp>
      <p:sp>
        <p:nvSpPr>
          <p:cNvPr id="51" name="Text 46"/>
          <p:cNvSpPr/>
          <p:nvPr/>
        </p:nvSpPr>
        <p:spPr>
          <a:xfrm>
            <a:off x="2076450" y="3324225"/>
            <a:ext cx="484822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Trace residue at mg/kg; LC-MS/MS after selective extraction (Wang et al., 2023)</a:t>
            </a:r>
            <a:endParaRPr lang="en-US" sz="748" dirty="0"/>
          </a:p>
        </p:txBody>
      </p:sp>
      <p:sp>
        <p:nvSpPr>
          <p:cNvPr id="52" name="Shape 47"/>
          <p:cNvSpPr/>
          <p:nvPr/>
        </p:nvSpPr>
        <p:spPr>
          <a:xfrm>
            <a:off x="533400" y="3209925"/>
            <a:ext cx="8077200" cy="4763"/>
          </a:xfrm>
          <a:prstGeom prst="rect">
            <a:avLst/>
          </a:prstGeom>
          <a:solidFill>
            <a:srgbClr val="E3DACA"/>
          </a:solidFill>
          <a:ln/>
        </p:spPr>
      </p:sp>
      <p:sp>
        <p:nvSpPr>
          <p:cNvPr id="53" name="Shape 48"/>
          <p:cNvSpPr/>
          <p:nvPr/>
        </p:nvSpPr>
        <p:spPr>
          <a:xfrm>
            <a:off x="7058025" y="3324225"/>
            <a:ext cx="747713" cy="142875"/>
          </a:xfrm>
          <a:prstGeom prst="roundRect">
            <a:avLst/>
          </a:prstGeom>
          <a:solidFill>
            <a:srgbClr val="F2DED8"/>
          </a:solidFill>
          <a:ln/>
        </p:spPr>
      </p:sp>
      <p:sp>
        <p:nvSpPr>
          <p:cNvPr id="54" name="Text 49"/>
          <p:cNvSpPr/>
          <p:nvPr/>
        </p:nvSpPr>
        <p:spPr>
          <a:xfrm>
            <a:off x="7124700" y="3357563"/>
            <a:ext cx="614363"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Not feasible by NIR</a:t>
            </a:r>
            <a:endParaRPr lang="en-US" sz="463" dirty="0"/>
          </a:p>
        </p:txBody>
      </p:sp>
      <p:sp>
        <p:nvSpPr>
          <p:cNvPr id="55" name="Shape 50"/>
          <p:cNvSpPr/>
          <p:nvPr/>
        </p:nvSpPr>
        <p:spPr>
          <a:xfrm>
            <a:off x="533400" y="3952875"/>
            <a:ext cx="8077200" cy="714375"/>
          </a:xfrm>
          <a:prstGeom prst="roundRect">
            <a:avLst/>
          </a:prstGeom>
          <a:solidFill>
            <a:srgbClr val="0E2A26"/>
          </a:solidFill>
          <a:ln/>
        </p:spPr>
      </p:sp>
      <p:sp>
        <p:nvSpPr>
          <p:cNvPr id="56" name="Shape 51"/>
          <p:cNvSpPr/>
          <p:nvPr/>
        </p:nvSpPr>
        <p:spPr>
          <a:xfrm>
            <a:off x="704850" y="4114800"/>
            <a:ext cx="152400" cy="14288"/>
          </a:xfrm>
          <a:prstGeom prst="rect">
            <a:avLst/>
          </a:prstGeom>
          <a:solidFill>
            <a:srgbClr val="D4AF63"/>
          </a:solidFill>
          <a:ln/>
        </p:spPr>
      </p:sp>
      <p:sp>
        <p:nvSpPr>
          <p:cNvPr id="57" name="Text 52"/>
          <p:cNvSpPr/>
          <p:nvPr/>
        </p:nvSpPr>
        <p:spPr>
          <a:xfrm>
            <a:off x="704850" y="4191000"/>
            <a:ext cx="5572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IMPLICATION</a:t>
            </a:r>
            <a:endParaRPr lang="en-US" sz="499" dirty="0"/>
          </a:p>
        </p:txBody>
      </p:sp>
      <p:sp>
        <p:nvSpPr>
          <p:cNvPr id="58" name="Text 53"/>
          <p:cNvSpPr/>
          <p:nvPr/>
        </p:nvSpPr>
        <p:spPr>
          <a:xfrm>
            <a:off x="704850" y="4343400"/>
            <a:ext cx="7715250" cy="142875"/>
          </a:xfrm>
          <a:prstGeom prst="rect">
            <a:avLst/>
          </a:prstGeom>
          <a:noFill/>
          <a:ln/>
        </p:spPr>
        <p:txBody>
          <a:bodyPr wrap="square" lIns="0" tIns="0" rIns="0" bIns="0" rtlCol="0" anchor="t"/>
          <a:lstStyle/>
          <a:p>
            <a:pPr algn="l" indent="0" marL="0">
              <a:lnSpc>
                <a:spcPts val="1085"/>
              </a:lnSpc>
              <a:buNone/>
            </a:pPr>
            <a:r>
              <a:rPr lang="en-US" sz="748" dirty="0">
                <a:solidFill>
                  <a:srgbClr val="E8EFEC">
                    <a:alpha val="99000"/>
                  </a:srgbClr>
                </a:solidFill>
                <a:latin typeface="Inter" pitchFamily="34" charset="0"/>
                <a:ea typeface="Inter" pitchFamily="34" charset="-122"/>
                <a:cs typeface="Inter" pitchFamily="34" charset="-120"/>
              </a:rPr>
              <a:t>One scan can feed several models, but each parameter needs its own reference data and validation. Tea Sense validates moisture first and maps the rest.</a:t>
            </a:r>
            <a:endParaRPr lang="en-US" sz="74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400175"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09   ·   EXISTING SOLUTIONS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Similar applications and existing solutions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615238" y="295275"/>
            <a:ext cx="995363" cy="161925"/>
          </a:xfrm>
          <a:prstGeom prst="roundRect">
            <a:avLst/>
          </a:prstGeom>
          <a:noFill/>
          <a:ln w="5429">
            <a:solidFill>
              <a:srgbClr val="B8893B"/>
            </a:solidFill>
            <a:prstDash val="solid"/>
          </a:ln>
        </p:spPr>
      </p:sp>
      <p:sp>
        <p:nvSpPr>
          <p:cNvPr id="7" name="Text 4"/>
          <p:cNvSpPr/>
          <p:nvPr/>
        </p:nvSpPr>
        <p:spPr>
          <a:xfrm>
            <a:off x="7700963" y="335756"/>
            <a:ext cx="8239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Background review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30003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09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5619750" cy="2576513"/>
          </a:xfrm>
          <a:prstGeom prst="roundRect">
            <a:avLst>
              <a:gd name="adj" fmla="val 5678"/>
            </a:avLst>
          </a:prstGeom>
          <a:solidFill>
            <a:srgbClr val="FFFFFF"/>
          </a:solidFill>
          <a:ln w="4524">
            <a:solidFill>
              <a:srgbClr val="E3DACA"/>
            </a:solidFill>
            <a:prstDash val="solid"/>
          </a:ln>
        </p:spPr>
      </p:sp>
      <p:sp>
        <p:nvSpPr>
          <p:cNvPr id="15" name="Shape 10"/>
          <p:cNvSpPr/>
          <p:nvPr/>
        </p:nvSpPr>
        <p:spPr>
          <a:xfrm>
            <a:off x="533400" y="1038225"/>
            <a:ext cx="5619750" cy="276225"/>
          </a:xfrm>
          <a:prstGeom prst="rect">
            <a:avLst/>
          </a:prstGeom>
          <a:solidFill>
            <a:srgbClr val="EDE6D6"/>
          </a:solidFill>
          <a:ln/>
        </p:spPr>
      </p:sp>
      <p:sp>
        <p:nvSpPr>
          <p:cNvPr id="16" name="Text 11"/>
          <p:cNvSpPr/>
          <p:nvPr/>
        </p:nvSpPr>
        <p:spPr>
          <a:xfrm>
            <a:off x="647700" y="1133475"/>
            <a:ext cx="129540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SOLUTION</a:t>
            </a:r>
            <a:endParaRPr lang="en-US" sz="463" dirty="0"/>
          </a:p>
        </p:txBody>
      </p:sp>
      <p:sp>
        <p:nvSpPr>
          <p:cNvPr id="17" name="Text 12"/>
          <p:cNvSpPr/>
          <p:nvPr/>
        </p:nvSpPr>
        <p:spPr>
          <a:xfrm>
            <a:off x="2076450" y="1133475"/>
            <a:ext cx="177165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STRENGTH</a:t>
            </a:r>
            <a:endParaRPr lang="en-US" sz="463" dirty="0"/>
          </a:p>
        </p:txBody>
      </p:sp>
      <p:sp>
        <p:nvSpPr>
          <p:cNvPr id="18" name="Text 13"/>
          <p:cNvSpPr/>
          <p:nvPr/>
        </p:nvSpPr>
        <p:spPr>
          <a:xfrm>
            <a:off x="3981450" y="1133475"/>
            <a:ext cx="215265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LIMITATION</a:t>
            </a:r>
            <a:endParaRPr lang="en-US" sz="463" dirty="0"/>
          </a:p>
        </p:txBody>
      </p:sp>
      <p:sp>
        <p:nvSpPr>
          <p:cNvPr id="19" name="Shape 14"/>
          <p:cNvSpPr/>
          <p:nvPr/>
        </p:nvSpPr>
        <p:spPr>
          <a:xfrm>
            <a:off x="533400" y="1314450"/>
            <a:ext cx="5619750" cy="447675"/>
          </a:xfrm>
          <a:prstGeom prst="rect">
            <a:avLst/>
          </a:prstGeom>
          <a:solidFill>
            <a:srgbClr val="FBF9F4"/>
          </a:solidFill>
          <a:ln/>
        </p:spPr>
      </p:sp>
      <p:sp>
        <p:nvSpPr>
          <p:cNvPr id="20" name="Text 15"/>
          <p:cNvSpPr/>
          <p:nvPr/>
        </p:nvSpPr>
        <p:spPr>
          <a:xfrm>
            <a:off x="647700" y="1409700"/>
            <a:ext cx="1295400" cy="257175"/>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Oven-drying and wet chemistry</a:t>
            </a:r>
            <a:endParaRPr lang="en-US" sz="713" dirty="0"/>
          </a:p>
        </p:txBody>
      </p:sp>
      <p:sp>
        <p:nvSpPr>
          <p:cNvPr id="21" name="Text 16"/>
          <p:cNvSpPr/>
          <p:nvPr/>
        </p:nvSpPr>
        <p:spPr>
          <a:xfrm>
            <a:off x="2076450" y="1409700"/>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Accurate reference</a:t>
            </a:r>
            <a:endParaRPr lang="en-US" sz="713" dirty="0"/>
          </a:p>
        </p:txBody>
      </p:sp>
      <p:sp>
        <p:nvSpPr>
          <p:cNvPr id="22" name="Text 17"/>
          <p:cNvSpPr/>
          <p:nvPr/>
        </p:nvSpPr>
        <p:spPr>
          <a:xfrm>
            <a:off x="3981450" y="1409700"/>
            <a:ext cx="2152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Hours per parameter; destructive</a:t>
            </a:r>
            <a:endParaRPr lang="en-US" sz="713" dirty="0"/>
          </a:p>
        </p:txBody>
      </p:sp>
      <p:sp>
        <p:nvSpPr>
          <p:cNvPr id="23" name="Shape 18"/>
          <p:cNvSpPr/>
          <p:nvPr/>
        </p:nvSpPr>
        <p:spPr>
          <a:xfrm>
            <a:off x="533400" y="1314450"/>
            <a:ext cx="5619750" cy="4763"/>
          </a:xfrm>
          <a:prstGeom prst="rect">
            <a:avLst/>
          </a:prstGeom>
          <a:solidFill>
            <a:srgbClr val="E3DACA"/>
          </a:solidFill>
          <a:ln/>
        </p:spPr>
      </p:sp>
      <p:sp>
        <p:nvSpPr>
          <p:cNvPr id="24" name="Shape 19"/>
          <p:cNvSpPr/>
          <p:nvPr/>
        </p:nvSpPr>
        <p:spPr>
          <a:xfrm>
            <a:off x="533400" y="1762125"/>
            <a:ext cx="5619750" cy="319088"/>
          </a:xfrm>
          <a:prstGeom prst="rect">
            <a:avLst/>
          </a:prstGeom>
          <a:solidFill>
            <a:srgbClr val="FFFFFF"/>
          </a:solidFill>
          <a:ln/>
        </p:spPr>
      </p:sp>
      <p:sp>
        <p:nvSpPr>
          <p:cNvPr id="25" name="Text 20"/>
          <p:cNvSpPr/>
          <p:nvPr/>
        </p:nvSpPr>
        <p:spPr>
          <a:xfrm>
            <a:off x="647700" y="1857375"/>
            <a:ext cx="1295400"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Halogen moisture analysers</a:t>
            </a:r>
            <a:endParaRPr lang="en-US" sz="713" dirty="0"/>
          </a:p>
        </p:txBody>
      </p:sp>
      <p:sp>
        <p:nvSpPr>
          <p:cNvPr id="26" name="Text 21"/>
          <p:cNvSpPr/>
          <p:nvPr/>
        </p:nvSpPr>
        <p:spPr>
          <a:xfrm>
            <a:off x="2076450" y="1857375"/>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Minutes</a:t>
            </a:r>
            <a:endParaRPr lang="en-US" sz="713" dirty="0"/>
          </a:p>
        </p:txBody>
      </p:sp>
      <p:sp>
        <p:nvSpPr>
          <p:cNvPr id="27" name="Text 22"/>
          <p:cNvSpPr/>
          <p:nvPr/>
        </p:nvSpPr>
        <p:spPr>
          <a:xfrm>
            <a:off x="3981450" y="1857375"/>
            <a:ext cx="2152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Destructive; moisture only</a:t>
            </a:r>
            <a:endParaRPr lang="en-US" sz="713" dirty="0"/>
          </a:p>
        </p:txBody>
      </p:sp>
      <p:sp>
        <p:nvSpPr>
          <p:cNvPr id="28" name="Shape 23"/>
          <p:cNvSpPr/>
          <p:nvPr/>
        </p:nvSpPr>
        <p:spPr>
          <a:xfrm>
            <a:off x="533400" y="1762125"/>
            <a:ext cx="5619750" cy="4763"/>
          </a:xfrm>
          <a:prstGeom prst="rect">
            <a:avLst/>
          </a:prstGeom>
          <a:solidFill>
            <a:srgbClr val="E3DACA"/>
          </a:solidFill>
          <a:ln/>
        </p:spPr>
      </p:sp>
      <p:sp>
        <p:nvSpPr>
          <p:cNvPr id="29" name="Shape 24"/>
          <p:cNvSpPr/>
          <p:nvPr/>
        </p:nvSpPr>
        <p:spPr>
          <a:xfrm>
            <a:off x="533400" y="2081212"/>
            <a:ext cx="5619750" cy="319088"/>
          </a:xfrm>
          <a:prstGeom prst="rect">
            <a:avLst/>
          </a:prstGeom>
          <a:solidFill>
            <a:srgbClr val="FBF9F4"/>
          </a:solidFill>
          <a:ln/>
        </p:spPr>
      </p:sp>
      <p:sp>
        <p:nvSpPr>
          <p:cNvPr id="30" name="Text 25"/>
          <p:cNvSpPr/>
          <p:nvPr/>
        </p:nvSpPr>
        <p:spPr>
          <a:xfrm>
            <a:off x="647700" y="2176463"/>
            <a:ext cx="1295400"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Capacitive moisture meters</a:t>
            </a:r>
            <a:endParaRPr lang="en-US" sz="713" dirty="0"/>
          </a:p>
        </p:txBody>
      </p:sp>
      <p:sp>
        <p:nvSpPr>
          <p:cNvPr id="31" name="Text 26"/>
          <p:cNvSpPr/>
          <p:nvPr/>
        </p:nvSpPr>
        <p:spPr>
          <a:xfrm>
            <a:off x="2076450" y="2176463"/>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Instant and cheap</a:t>
            </a:r>
            <a:endParaRPr lang="en-US" sz="713" dirty="0"/>
          </a:p>
        </p:txBody>
      </p:sp>
      <p:sp>
        <p:nvSpPr>
          <p:cNvPr id="32" name="Text 27"/>
          <p:cNvSpPr/>
          <p:nvPr/>
        </p:nvSpPr>
        <p:spPr>
          <a:xfrm>
            <a:off x="3981450" y="2176463"/>
            <a:ext cx="2152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Sensitive to packing; no other parameters</a:t>
            </a:r>
            <a:endParaRPr lang="en-US" sz="713" dirty="0"/>
          </a:p>
        </p:txBody>
      </p:sp>
      <p:sp>
        <p:nvSpPr>
          <p:cNvPr id="33" name="Shape 28"/>
          <p:cNvSpPr/>
          <p:nvPr/>
        </p:nvSpPr>
        <p:spPr>
          <a:xfrm>
            <a:off x="533400" y="2081212"/>
            <a:ext cx="5619750" cy="4763"/>
          </a:xfrm>
          <a:prstGeom prst="rect">
            <a:avLst/>
          </a:prstGeom>
          <a:solidFill>
            <a:srgbClr val="E3DACA"/>
          </a:solidFill>
          <a:ln/>
        </p:spPr>
      </p:sp>
      <p:sp>
        <p:nvSpPr>
          <p:cNvPr id="34" name="Shape 29"/>
          <p:cNvSpPr/>
          <p:nvPr/>
        </p:nvSpPr>
        <p:spPr>
          <a:xfrm>
            <a:off x="533400" y="2400300"/>
            <a:ext cx="5619750" cy="447675"/>
          </a:xfrm>
          <a:prstGeom prst="rect">
            <a:avLst/>
          </a:prstGeom>
          <a:solidFill>
            <a:srgbClr val="FFFFFF"/>
          </a:solidFill>
          <a:ln/>
        </p:spPr>
      </p:sp>
      <p:sp>
        <p:nvSpPr>
          <p:cNvPr id="35" name="Text 30"/>
          <p:cNvSpPr/>
          <p:nvPr/>
        </p:nvSpPr>
        <p:spPr>
          <a:xfrm>
            <a:off x="647700" y="2495550"/>
            <a:ext cx="1295400"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In-line NIR analysers</a:t>
            </a:r>
            <a:endParaRPr lang="en-US" sz="713" dirty="0"/>
          </a:p>
        </p:txBody>
      </p:sp>
      <p:sp>
        <p:nvSpPr>
          <p:cNvPr id="36" name="Text 31"/>
          <p:cNvSpPr/>
          <p:nvPr/>
        </p:nvSpPr>
        <p:spPr>
          <a:xfrm>
            <a:off x="2076450" y="2495550"/>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Continuous monitoring</a:t>
            </a:r>
            <a:endParaRPr lang="en-US" sz="713" dirty="0"/>
          </a:p>
        </p:txBody>
      </p:sp>
      <p:sp>
        <p:nvSpPr>
          <p:cNvPr id="37" name="Text 32"/>
          <p:cNvSpPr/>
          <p:nvPr/>
        </p:nvSpPr>
        <p:spPr>
          <a:xfrm>
            <a:off x="3981450" y="2495550"/>
            <a:ext cx="2152650" cy="257175"/>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Costly; proprietary calibrations (Tao et al., 2026)</a:t>
            </a:r>
            <a:endParaRPr lang="en-US" sz="713" dirty="0"/>
          </a:p>
        </p:txBody>
      </p:sp>
      <p:sp>
        <p:nvSpPr>
          <p:cNvPr id="38" name="Shape 33"/>
          <p:cNvSpPr/>
          <p:nvPr/>
        </p:nvSpPr>
        <p:spPr>
          <a:xfrm>
            <a:off x="533400" y="2400300"/>
            <a:ext cx="5619750" cy="4763"/>
          </a:xfrm>
          <a:prstGeom prst="rect">
            <a:avLst/>
          </a:prstGeom>
          <a:solidFill>
            <a:srgbClr val="E3DACA"/>
          </a:solidFill>
          <a:ln/>
        </p:spPr>
      </p:sp>
      <p:sp>
        <p:nvSpPr>
          <p:cNvPr id="39" name="Shape 34"/>
          <p:cNvSpPr/>
          <p:nvPr/>
        </p:nvSpPr>
        <p:spPr>
          <a:xfrm>
            <a:off x="533400" y="2847975"/>
            <a:ext cx="5619750" cy="447675"/>
          </a:xfrm>
          <a:prstGeom prst="rect">
            <a:avLst/>
          </a:prstGeom>
          <a:solidFill>
            <a:srgbClr val="FBF9F4"/>
          </a:solidFill>
          <a:ln/>
        </p:spPr>
      </p:sp>
      <p:sp>
        <p:nvSpPr>
          <p:cNvPr id="40" name="Text 35"/>
          <p:cNvSpPr/>
          <p:nvPr/>
        </p:nvSpPr>
        <p:spPr>
          <a:xfrm>
            <a:off x="647700" y="2943225"/>
            <a:ext cx="1295400" cy="257175"/>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Handheld NIR research tools</a:t>
            </a:r>
            <a:endParaRPr lang="en-US" sz="713" dirty="0"/>
          </a:p>
        </p:txBody>
      </p:sp>
      <p:sp>
        <p:nvSpPr>
          <p:cNvPr id="41" name="Text 36"/>
          <p:cNvSpPr/>
          <p:nvPr/>
        </p:nvSpPr>
        <p:spPr>
          <a:xfrm>
            <a:off x="2076450" y="2943225"/>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Portable</a:t>
            </a:r>
            <a:endParaRPr lang="en-US" sz="713" dirty="0"/>
          </a:p>
        </p:txBody>
      </p:sp>
      <p:sp>
        <p:nvSpPr>
          <p:cNvPr id="42" name="Text 37"/>
          <p:cNvSpPr/>
          <p:nvPr/>
        </p:nvSpPr>
        <p:spPr>
          <a:xfrm>
            <a:off x="3981450" y="2943225"/>
            <a:ext cx="2152650" cy="257175"/>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Tested on one tea and site (Li et al., 2023; Tang et al., 2025)</a:t>
            </a:r>
            <a:endParaRPr lang="en-US" sz="713" dirty="0"/>
          </a:p>
        </p:txBody>
      </p:sp>
      <p:sp>
        <p:nvSpPr>
          <p:cNvPr id="43" name="Shape 38"/>
          <p:cNvSpPr/>
          <p:nvPr/>
        </p:nvSpPr>
        <p:spPr>
          <a:xfrm>
            <a:off x="533400" y="2847975"/>
            <a:ext cx="5619750" cy="4763"/>
          </a:xfrm>
          <a:prstGeom prst="rect">
            <a:avLst/>
          </a:prstGeom>
          <a:solidFill>
            <a:srgbClr val="E3DACA"/>
          </a:solidFill>
          <a:ln/>
        </p:spPr>
      </p:sp>
      <p:sp>
        <p:nvSpPr>
          <p:cNvPr id="44" name="Shape 39"/>
          <p:cNvSpPr/>
          <p:nvPr/>
        </p:nvSpPr>
        <p:spPr>
          <a:xfrm>
            <a:off x="533400" y="3295650"/>
            <a:ext cx="5619750" cy="319088"/>
          </a:xfrm>
          <a:prstGeom prst="rect">
            <a:avLst/>
          </a:prstGeom>
          <a:solidFill>
            <a:srgbClr val="FFFFFF"/>
          </a:solidFill>
          <a:ln/>
        </p:spPr>
      </p:sp>
      <p:sp>
        <p:nvSpPr>
          <p:cNvPr id="45" name="Text 40"/>
          <p:cNvSpPr/>
          <p:nvPr/>
        </p:nvSpPr>
        <p:spPr>
          <a:xfrm>
            <a:off x="647700" y="3390900"/>
            <a:ext cx="1295400"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Research NIR models</a:t>
            </a:r>
            <a:endParaRPr lang="en-US" sz="713" dirty="0"/>
          </a:p>
        </p:txBody>
      </p:sp>
      <p:sp>
        <p:nvSpPr>
          <p:cNvPr id="46" name="Text 41"/>
          <p:cNvSpPr/>
          <p:nvPr/>
        </p:nvSpPr>
        <p:spPr>
          <a:xfrm>
            <a:off x="2076450" y="3390900"/>
            <a:ext cx="1771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Accurate per parameter</a:t>
            </a:r>
            <a:endParaRPr lang="en-US" sz="713" dirty="0"/>
          </a:p>
        </p:txBody>
      </p:sp>
      <p:sp>
        <p:nvSpPr>
          <p:cNvPr id="47" name="Text 42"/>
          <p:cNvSpPr/>
          <p:nvPr/>
        </p:nvSpPr>
        <p:spPr>
          <a:xfrm>
            <a:off x="3981450" y="3390900"/>
            <a:ext cx="215265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Not Sri Lankan; time saving unmeasured</a:t>
            </a:r>
            <a:endParaRPr lang="en-US" sz="713" dirty="0"/>
          </a:p>
        </p:txBody>
      </p:sp>
      <p:sp>
        <p:nvSpPr>
          <p:cNvPr id="48" name="Shape 43"/>
          <p:cNvSpPr/>
          <p:nvPr/>
        </p:nvSpPr>
        <p:spPr>
          <a:xfrm>
            <a:off x="533400" y="3295650"/>
            <a:ext cx="5619750" cy="4763"/>
          </a:xfrm>
          <a:prstGeom prst="rect">
            <a:avLst/>
          </a:prstGeom>
          <a:solidFill>
            <a:srgbClr val="E3DACA"/>
          </a:solidFill>
          <a:ln/>
        </p:spPr>
      </p:sp>
      <p:sp>
        <p:nvSpPr>
          <p:cNvPr id="49" name="Shape 44"/>
          <p:cNvSpPr/>
          <p:nvPr/>
        </p:nvSpPr>
        <p:spPr>
          <a:xfrm>
            <a:off x="6305550" y="1038225"/>
            <a:ext cx="2305050" cy="3629025"/>
          </a:xfrm>
          <a:prstGeom prst="roundRect">
            <a:avLst/>
          </a:prstGeom>
          <a:solidFill>
            <a:srgbClr val="0E2A26"/>
          </a:solidFill>
          <a:ln/>
        </p:spPr>
      </p:sp>
      <p:sp>
        <p:nvSpPr>
          <p:cNvPr id="50" name="Text 45"/>
          <p:cNvSpPr/>
          <p:nvPr/>
        </p:nvSpPr>
        <p:spPr>
          <a:xfrm>
            <a:off x="6467475" y="1628775"/>
            <a:ext cx="9144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WHAT THIS TELLS US</a:t>
            </a:r>
            <a:endParaRPr lang="en-US" sz="499" dirty="0"/>
          </a:p>
        </p:txBody>
      </p:sp>
      <p:sp>
        <p:nvSpPr>
          <p:cNvPr id="51" name="Text 46"/>
          <p:cNvSpPr/>
          <p:nvPr/>
        </p:nvSpPr>
        <p:spPr>
          <a:xfrm>
            <a:off x="6467475" y="1795463"/>
            <a:ext cx="109538" cy="114300"/>
          </a:xfrm>
          <a:prstGeom prst="rect">
            <a:avLst/>
          </a:prstGeom>
          <a:noFill/>
          <a:ln/>
        </p:spPr>
        <p:txBody>
          <a:bodyPr wrap="square" lIns="0" tIns="0" rIns="0" bIns="0" rtlCol="0" anchor="t"/>
          <a:lstStyle/>
          <a:p>
            <a:pPr algn="l" indent="0" marL="0">
              <a:lnSpc>
                <a:spcPts val="862"/>
              </a:lnSpc>
              <a:buNone/>
            </a:pPr>
            <a:r>
              <a:rPr lang="en-US" sz="713" b="1" spc="-7" kern="0" dirty="0">
                <a:solidFill>
                  <a:srgbClr val="D4AF63">
                    <a:alpha val="99000"/>
                  </a:srgbClr>
                </a:solidFill>
                <a:latin typeface="Inter" pitchFamily="34" charset="0"/>
                <a:ea typeface="Inter" pitchFamily="34" charset="-122"/>
                <a:cs typeface="Inter" pitchFamily="34" charset="-120"/>
              </a:rPr>
              <a:t>01</a:t>
            </a:r>
            <a:endParaRPr lang="en-US" sz="713" dirty="0"/>
          </a:p>
        </p:txBody>
      </p:sp>
      <p:sp>
        <p:nvSpPr>
          <p:cNvPr id="52" name="Text 47"/>
          <p:cNvSpPr/>
          <p:nvPr/>
        </p:nvSpPr>
        <p:spPr>
          <a:xfrm>
            <a:off x="6743700" y="1809750"/>
            <a:ext cx="1704975" cy="257175"/>
          </a:xfrm>
          <a:prstGeom prst="rect">
            <a:avLst/>
          </a:prstGeom>
          <a:noFill/>
          <a:ln/>
        </p:spPr>
        <p:txBody>
          <a:bodyPr wrap="square" lIns="0" tIns="0" rIns="0" bIns="0" rtlCol="0" anchor="t"/>
          <a:lstStyle/>
          <a:p>
            <a:pPr algn="l" indent="0" marL="0">
              <a:lnSpc>
                <a:spcPts val="961"/>
              </a:lnSpc>
              <a:buNone/>
            </a:pPr>
            <a:r>
              <a:rPr lang="en-US" sz="677" dirty="0">
                <a:solidFill>
                  <a:srgbClr val="E8EFEC">
                    <a:alpha val="99000"/>
                  </a:srgbClr>
                </a:solidFill>
                <a:latin typeface="Inter" pitchFamily="34" charset="0"/>
                <a:ea typeface="Inter" pitchFamily="34" charset="-122"/>
                <a:cs typeface="Inter" pitchFamily="34" charset="-120"/>
              </a:rPr>
              <a:t>Fast tools exist, but none combine speed, several parameters and low cost</a:t>
            </a:r>
            <a:endParaRPr lang="en-US" sz="677" dirty="0"/>
          </a:p>
        </p:txBody>
      </p:sp>
      <p:sp>
        <p:nvSpPr>
          <p:cNvPr id="53" name="Shape 48"/>
          <p:cNvSpPr/>
          <p:nvPr/>
        </p:nvSpPr>
        <p:spPr>
          <a:xfrm>
            <a:off x="6467475" y="2133600"/>
            <a:ext cx="1981200" cy="4763"/>
          </a:xfrm>
          <a:prstGeom prst="rect">
            <a:avLst/>
          </a:prstGeom>
          <a:solidFill>
            <a:srgbClr val="FFFFFF">
              <a:alpha val="15000"/>
            </a:srgbClr>
          </a:solidFill>
          <a:ln/>
        </p:spPr>
      </p:sp>
      <p:sp>
        <p:nvSpPr>
          <p:cNvPr id="54" name="Text 49"/>
          <p:cNvSpPr/>
          <p:nvPr/>
        </p:nvSpPr>
        <p:spPr>
          <a:xfrm>
            <a:off x="6467475" y="2185988"/>
            <a:ext cx="123825" cy="114300"/>
          </a:xfrm>
          <a:prstGeom prst="rect">
            <a:avLst/>
          </a:prstGeom>
          <a:noFill/>
          <a:ln/>
        </p:spPr>
        <p:txBody>
          <a:bodyPr wrap="square" lIns="0" tIns="0" rIns="0" bIns="0" rtlCol="0" anchor="t"/>
          <a:lstStyle/>
          <a:p>
            <a:pPr algn="l" indent="0" marL="0">
              <a:lnSpc>
                <a:spcPts val="862"/>
              </a:lnSpc>
              <a:buNone/>
            </a:pPr>
            <a:r>
              <a:rPr lang="en-US" sz="713" b="1" spc="-7" kern="0" dirty="0">
                <a:solidFill>
                  <a:srgbClr val="D4AF63">
                    <a:alpha val="99000"/>
                  </a:srgbClr>
                </a:solidFill>
                <a:latin typeface="Inter" pitchFamily="34" charset="0"/>
                <a:ea typeface="Inter" pitchFamily="34" charset="-122"/>
                <a:cs typeface="Inter" pitchFamily="34" charset="-120"/>
              </a:rPr>
              <a:t>02</a:t>
            </a:r>
            <a:endParaRPr lang="en-US" sz="713" dirty="0"/>
          </a:p>
        </p:txBody>
      </p:sp>
      <p:sp>
        <p:nvSpPr>
          <p:cNvPr id="55" name="Text 50"/>
          <p:cNvSpPr/>
          <p:nvPr/>
        </p:nvSpPr>
        <p:spPr>
          <a:xfrm>
            <a:off x="6743700" y="2200275"/>
            <a:ext cx="1704975" cy="257175"/>
          </a:xfrm>
          <a:prstGeom prst="rect">
            <a:avLst/>
          </a:prstGeom>
          <a:noFill/>
          <a:ln/>
        </p:spPr>
        <p:txBody>
          <a:bodyPr wrap="square" lIns="0" tIns="0" rIns="0" bIns="0" rtlCol="0" anchor="t"/>
          <a:lstStyle/>
          <a:p>
            <a:pPr algn="l" indent="0" marL="0">
              <a:lnSpc>
                <a:spcPts val="961"/>
              </a:lnSpc>
              <a:buNone/>
            </a:pPr>
            <a:r>
              <a:rPr lang="en-US" sz="677" dirty="0">
                <a:solidFill>
                  <a:srgbClr val="E8EFEC">
                    <a:alpha val="99000"/>
                  </a:srgbClr>
                </a:solidFill>
                <a:latin typeface="Inter" pitchFamily="34" charset="0"/>
                <a:ea typeface="Inter" pitchFamily="34" charset="-122"/>
                <a:cs typeface="Inter" pitchFamily="34" charset="-120"/>
              </a:rPr>
              <a:t>Research accuracy is high but rarely validated across sources</a:t>
            </a:r>
            <a:endParaRPr lang="en-US" sz="677" dirty="0"/>
          </a:p>
        </p:txBody>
      </p:sp>
      <p:sp>
        <p:nvSpPr>
          <p:cNvPr id="56" name="Shape 51"/>
          <p:cNvSpPr/>
          <p:nvPr/>
        </p:nvSpPr>
        <p:spPr>
          <a:xfrm>
            <a:off x="6467475" y="2524125"/>
            <a:ext cx="1981200" cy="4763"/>
          </a:xfrm>
          <a:prstGeom prst="rect">
            <a:avLst/>
          </a:prstGeom>
          <a:solidFill>
            <a:srgbClr val="FFFFFF">
              <a:alpha val="15000"/>
            </a:srgbClr>
          </a:solidFill>
          <a:ln/>
        </p:spPr>
      </p:sp>
      <p:sp>
        <p:nvSpPr>
          <p:cNvPr id="57" name="Text 52"/>
          <p:cNvSpPr/>
          <p:nvPr/>
        </p:nvSpPr>
        <p:spPr>
          <a:xfrm>
            <a:off x="6467475" y="2576513"/>
            <a:ext cx="128588" cy="114300"/>
          </a:xfrm>
          <a:prstGeom prst="rect">
            <a:avLst/>
          </a:prstGeom>
          <a:noFill/>
          <a:ln/>
        </p:spPr>
        <p:txBody>
          <a:bodyPr wrap="square" lIns="0" tIns="0" rIns="0" bIns="0" rtlCol="0" anchor="t"/>
          <a:lstStyle/>
          <a:p>
            <a:pPr algn="l" indent="0" marL="0">
              <a:lnSpc>
                <a:spcPts val="862"/>
              </a:lnSpc>
              <a:buNone/>
            </a:pPr>
            <a:r>
              <a:rPr lang="en-US" sz="713" b="1" spc="-7" kern="0" dirty="0">
                <a:solidFill>
                  <a:srgbClr val="D4AF63">
                    <a:alpha val="99000"/>
                  </a:srgbClr>
                </a:solidFill>
                <a:latin typeface="Inter" pitchFamily="34" charset="0"/>
                <a:ea typeface="Inter" pitchFamily="34" charset="-122"/>
                <a:cs typeface="Inter" pitchFamily="34" charset="-120"/>
              </a:rPr>
              <a:t>03</a:t>
            </a:r>
            <a:endParaRPr lang="en-US" sz="713" dirty="0"/>
          </a:p>
        </p:txBody>
      </p:sp>
      <p:sp>
        <p:nvSpPr>
          <p:cNvPr id="58" name="Text 53"/>
          <p:cNvSpPr/>
          <p:nvPr/>
        </p:nvSpPr>
        <p:spPr>
          <a:xfrm>
            <a:off x="6743700" y="2590800"/>
            <a:ext cx="1704975" cy="257175"/>
          </a:xfrm>
          <a:prstGeom prst="rect">
            <a:avLst/>
          </a:prstGeom>
          <a:noFill/>
          <a:ln/>
        </p:spPr>
        <p:txBody>
          <a:bodyPr wrap="square" lIns="0" tIns="0" rIns="0" bIns="0" rtlCol="0" anchor="t"/>
          <a:lstStyle/>
          <a:p>
            <a:pPr algn="l" indent="0" marL="0">
              <a:lnSpc>
                <a:spcPts val="961"/>
              </a:lnSpc>
              <a:buNone/>
            </a:pPr>
            <a:r>
              <a:rPr lang="en-US" sz="677" dirty="0">
                <a:solidFill>
                  <a:srgbClr val="E8EFEC">
                    <a:alpha val="99000"/>
                  </a:srgbClr>
                </a:solidFill>
                <a:latin typeface="Inter" pitchFamily="34" charset="0"/>
                <a:ea typeface="Inter" pitchFamily="34" charset="-122"/>
                <a:cs typeface="Inter" pitchFamily="34" charset="-120"/>
              </a:rPr>
              <a:t>No study reports time saved against oven-drying</a:t>
            </a:r>
            <a:endParaRPr lang="en-US" sz="677" dirty="0"/>
          </a:p>
        </p:txBody>
      </p:sp>
      <p:sp>
        <p:nvSpPr>
          <p:cNvPr id="59" name="Shape 54"/>
          <p:cNvSpPr/>
          <p:nvPr/>
        </p:nvSpPr>
        <p:spPr>
          <a:xfrm>
            <a:off x="6467475" y="2914650"/>
            <a:ext cx="1981200" cy="4763"/>
          </a:xfrm>
          <a:prstGeom prst="rect">
            <a:avLst/>
          </a:prstGeom>
          <a:solidFill>
            <a:srgbClr val="FFFFFF">
              <a:alpha val="15000"/>
            </a:srgbClr>
          </a:solidFill>
          <a:ln/>
        </p:spPr>
      </p:sp>
      <p:sp>
        <p:nvSpPr>
          <p:cNvPr id="60" name="Text 55"/>
          <p:cNvSpPr/>
          <p:nvPr/>
        </p:nvSpPr>
        <p:spPr>
          <a:xfrm>
            <a:off x="6467475" y="2967038"/>
            <a:ext cx="128588" cy="114300"/>
          </a:xfrm>
          <a:prstGeom prst="rect">
            <a:avLst/>
          </a:prstGeom>
          <a:noFill/>
          <a:ln/>
        </p:spPr>
        <p:txBody>
          <a:bodyPr wrap="square" lIns="0" tIns="0" rIns="0" bIns="0" rtlCol="0" anchor="t"/>
          <a:lstStyle/>
          <a:p>
            <a:pPr algn="l" indent="0" marL="0">
              <a:lnSpc>
                <a:spcPts val="862"/>
              </a:lnSpc>
              <a:buNone/>
            </a:pPr>
            <a:r>
              <a:rPr lang="en-US" sz="713" b="1" spc="-7" kern="0" dirty="0">
                <a:solidFill>
                  <a:srgbClr val="D4AF63">
                    <a:alpha val="99000"/>
                  </a:srgbClr>
                </a:solidFill>
                <a:latin typeface="Inter" pitchFamily="34" charset="0"/>
                <a:ea typeface="Inter" pitchFamily="34" charset="-122"/>
                <a:cs typeface="Inter" pitchFamily="34" charset="-120"/>
              </a:rPr>
              <a:t>04</a:t>
            </a:r>
            <a:endParaRPr lang="en-US" sz="713" dirty="0"/>
          </a:p>
        </p:txBody>
      </p:sp>
      <p:sp>
        <p:nvSpPr>
          <p:cNvPr id="61" name="Text 56"/>
          <p:cNvSpPr/>
          <p:nvPr/>
        </p:nvSpPr>
        <p:spPr>
          <a:xfrm>
            <a:off x="6743700" y="2981325"/>
            <a:ext cx="1704975" cy="385763"/>
          </a:xfrm>
          <a:prstGeom prst="rect">
            <a:avLst/>
          </a:prstGeom>
          <a:noFill/>
          <a:ln/>
        </p:spPr>
        <p:txBody>
          <a:bodyPr wrap="square" lIns="0" tIns="0" rIns="0" bIns="0" rtlCol="0" anchor="t"/>
          <a:lstStyle/>
          <a:p>
            <a:pPr algn="l" indent="0" marL="0">
              <a:lnSpc>
                <a:spcPts val="961"/>
              </a:lnSpc>
              <a:buNone/>
            </a:pPr>
            <a:r>
              <a:rPr lang="en-US" sz="677" dirty="0">
                <a:solidFill>
                  <a:srgbClr val="E8EFEC">
                    <a:alpha val="99000"/>
                  </a:srgbClr>
                </a:solidFill>
                <a:latin typeface="Inter" pitchFamily="34" charset="0"/>
                <a:ea typeface="Inter" pitchFamily="34" charset="-122"/>
                <a:cs typeface="Inter" pitchFamily="34" charset="-120"/>
              </a:rPr>
              <a:t>Tea Sense: low-cost portable NIR, cross-source validation, measured time, flagged uncertainty</a:t>
            </a:r>
            <a:endParaRPr lang="en-US" sz="677" dirty="0"/>
          </a:p>
        </p:txBody>
      </p:sp>
      <p:sp>
        <p:nvSpPr>
          <p:cNvPr id="62" name="Shape 57"/>
          <p:cNvSpPr/>
          <p:nvPr/>
        </p:nvSpPr>
        <p:spPr>
          <a:xfrm>
            <a:off x="6467475" y="3462338"/>
            <a:ext cx="1981200" cy="4763"/>
          </a:xfrm>
          <a:prstGeom prst="rect">
            <a:avLst/>
          </a:prstGeom>
          <a:solidFill>
            <a:srgbClr val="D4AF63">
              <a:alpha val="50000"/>
            </a:srgbClr>
          </a:solidFill>
          <a:ln/>
        </p:spPr>
      </p:sp>
      <p:sp>
        <p:nvSpPr>
          <p:cNvPr id="63" name="Text 58"/>
          <p:cNvSpPr/>
          <p:nvPr/>
        </p:nvSpPr>
        <p:spPr>
          <a:xfrm>
            <a:off x="6467475" y="3557588"/>
            <a:ext cx="652463"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D4AF63">
                    <a:alpha val="99000"/>
                  </a:srgbClr>
                </a:solidFill>
                <a:latin typeface="Inter" pitchFamily="34" charset="0"/>
                <a:ea typeface="Inter" pitchFamily="34" charset="-122"/>
                <a:cs typeface="Inter" pitchFamily="34" charset="-120"/>
              </a:rPr>
              <a:t>CLOSEST STUDY</a:t>
            </a:r>
            <a:endParaRPr lang="en-US" sz="463" dirty="0"/>
          </a:p>
        </p:txBody>
      </p:sp>
      <p:sp>
        <p:nvSpPr>
          <p:cNvPr id="64" name="Text 59"/>
          <p:cNvSpPr/>
          <p:nvPr/>
        </p:nvSpPr>
        <p:spPr>
          <a:xfrm>
            <a:off x="6467475" y="3690937"/>
            <a:ext cx="1981200" cy="385763"/>
          </a:xfrm>
          <a:prstGeom prst="rect">
            <a:avLst/>
          </a:prstGeom>
          <a:noFill/>
          <a:ln/>
        </p:spPr>
        <p:txBody>
          <a:bodyPr wrap="square" lIns="0" tIns="0" rIns="0" bIns="0" rtlCol="0" anchor="t"/>
          <a:lstStyle/>
          <a:p>
            <a:pPr algn="l" indent="0" marL="0">
              <a:lnSpc>
                <a:spcPts val="948"/>
              </a:lnSpc>
              <a:buNone/>
            </a:pPr>
            <a:r>
              <a:rPr lang="en-US" sz="677" spc="-3" kern="0" dirty="0">
                <a:solidFill>
                  <a:srgbClr val="FFFFFF">
                    <a:alpha val="99000"/>
                  </a:srgbClr>
                </a:solidFill>
                <a:latin typeface="Inter" pitchFamily="34" charset="0"/>
                <a:ea typeface="Inter" pitchFamily="34" charset="-122"/>
                <a:cs typeface="Inter" pitchFamily="34" charset="-120"/>
              </a:rPr>
              <a:t>Zou et al. (2022): black-tea moisture with a 77 g micro-NIR; SVR beat PLS. One cultivar; no time or field evaluation; not Sri Lankan tea.</a:t>
            </a:r>
            <a:endParaRPr lang="en-US" sz="677" dirty="0"/>
          </a:p>
        </p:txBody>
      </p:sp>
      <p:sp>
        <p:nvSpPr>
          <p:cNvPr id="65" name="Shape 60"/>
          <p:cNvSpPr/>
          <p:nvPr/>
        </p:nvSpPr>
        <p:spPr>
          <a:xfrm>
            <a:off x="533400" y="3748087"/>
            <a:ext cx="19050" cy="381000"/>
          </a:xfrm>
          <a:prstGeom prst="rect">
            <a:avLst/>
          </a:prstGeom>
          <a:solidFill>
            <a:srgbClr val="B8893B"/>
          </a:solidFill>
          <a:ln/>
        </p:spPr>
      </p:sp>
      <p:sp>
        <p:nvSpPr>
          <p:cNvPr id="66" name="Text 61"/>
          <p:cNvSpPr/>
          <p:nvPr/>
        </p:nvSpPr>
        <p:spPr>
          <a:xfrm>
            <a:off x="666750" y="3748087"/>
            <a:ext cx="5476875" cy="314325"/>
          </a:xfrm>
          <a:prstGeom prst="rect">
            <a:avLst/>
          </a:prstGeom>
          <a:noFill/>
          <a:ln/>
        </p:spPr>
        <p:txBody>
          <a:bodyPr wrap="square" lIns="0" tIns="0" rIns="0" bIns="0" rtlCol="0" anchor="t"/>
          <a:lstStyle/>
          <a:p>
            <a:pPr algn="l" indent="0" marL="0">
              <a:lnSpc>
                <a:spcPts val="1180"/>
              </a:lnSpc>
              <a:buNone/>
            </a:pPr>
            <a:r>
              <a:rPr lang="en-US" sz="855" spc="-4" kern="0" dirty="0">
                <a:solidFill>
                  <a:srgbClr val="0E2A26">
                    <a:alpha val="99000"/>
                  </a:srgbClr>
                </a:solidFill>
                <a:latin typeface="Inter" pitchFamily="34" charset="0"/>
                <a:ea typeface="Inter" pitchFamily="34" charset="-122"/>
                <a:cs typeface="Inter" pitchFamily="34" charset="-120"/>
              </a:rPr>
              <a:t>The gap is not speed alone: it is speed, several parameters, low cost and validation across sources together.</a:t>
            </a:r>
            <a:endParaRPr lang="en-US" sz="85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557338"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10   ·   GAP AND REQUIREMENTS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Research gap and solution requirements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00975" y="295275"/>
            <a:ext cx="809625" cy="161925"/>
          </a:xfrm>
          <a:prstGeom prst="roundRect">
            <a:avLst/>
          </a:prstGeom>
          <a:noFill/>
          <a:ln w="5429">
            <a:solidFill>
              <a:srgbClr val="B8893B"/>
            </a:solidFill>
            <a:prstDash val="solid"/>
          </a:ln>
        </p:spPr>
      </p:sp>
      <p:sp>
        <p:nvSpPr>
          <p:cNvPr id="7" name="Text 4"/>
          <p:cNvSpPr/>
          <p:nvPr/>
        </p:nvSpPr>
        <p:spPr>
          <a:xfrm>
            <a:off x="7886700" y="335756"/>
            <a:ext cx="638175"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Requirements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10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7096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RESEARCH GAPS</a:t>
            </a:r>
            <a:endParaRPr lang="en-US" sz="499" dirty="0"/>
          </a:p>
        </p:txBody>
      </p:sp>
      <p:sp>
        <p:nvSpPr>
          <p:cNvPr id="15" name="Shape 10"/>
          <p:cNvSpPr/>
          <p:nvPr/>
        </p:nvSpPr>
        <p:spPr>
          <a:xfrm>
            <a:off x="533400" y="1181100"/>
            <a:ext cx="3905250" cy="4763"/>
          </a:xfrm>
          <a:prstGeom prst="rect">
            <a:avLst/>
          </a:prstGeom>
          <a:solidFill>
            <a:srgbClr val="0E2A26">
              <a:alpha val="18000"/>
            </a:srgbClr>
          </a:solidFill>
          <a:ln/>
        </p:spPr>
      </p:sp>
      <p:sp>
        <p:nvSpPr>
          <p:cNvPr id="16" name="Text 11"/>
          <p:cNvSpPr/>
          <p:nvPr/>
        </p:nvSpPr>
        <p:spPr>
          <a:xfrm>
            <a:off x="533400" y="1266825"/>
            <a:ext cx="190500" cy="185738"/>
          </a:xfrm>
          <a:prstGeom prst="rect">
            <a:avLst/>
          </a:prstGeom>
          <a:noFill/>
          <a:ln/>
        </p:spPr>
        <p:txBody>
          <a:bodyPr wrap="square" lIns="0" tIns="0" rIns="0" bIns="0" rtlCol="0" anchor="t"/>
          <a:lstStyle/>
          <a:p>
            <a:pPr algn="l" indent="0" marL="0">
              <a:lnSpc>
                <a:spcPts val="1380"/>
              </a:lnSpc>
              <a:buNone/>
            </a:pPr>
            <a:r>
              <a:rPr lang="en-US" sz="1140" b="1" spc="-11" kern="0" dirty="0">
                <a:solidFill>
                  <a:srgbClr val="B8893B">
                    <a:alpha val="99000"/>
                  </a:srgbClr>
                </a:solidFill>
                <a:latin typeface="Inter" pitchFamily="34" charset="0"/>
                <a:ea typeface="Inter" pitchFamily="34" charset="-122"/>
                <a:cs typeface="Inter" pitchFamily="34" charset="-120"/>
              </a:rPr>
              <a:t>G1</a:t>
            </a:r>
            <a:endParaRPr lang="en-US" sz="1140" dirty="0"/>
          </a:p>
        </p:txBody>
      </p:sp>
      <p:sp>
        <p:nvSpPr>
          <p:cNvPr id="17" name="Text 12"/>
          <p:cNvSpPr/>
          <p:nvPr/>
        </p:nvSpPr>
        <p:spPr>
          <a:xfrm>
            <a:off x="876300" y="1285875"/>
            <a:ext cx="3562350" cy="142875"/>
          </a:xfrm>
          <a:prstGeom prst="rect">
            <a:avLst/>
          </a:prstGeom>
          <a:noFill/>
          <a:ln/>
        </p:spPr>
        <p:txBody>
          <a:bodyPr wrap="square" lIns="0" tIns="0" rIns="0" bIns="0" rtlCol="0" anchor="t"/>
          <a:lstStyle/>
          <a:p>
            <a:pPr algn="l" indent="0" marL="0">
              <a:lnSpc>
                <a:spcPts val="1082"/>
              </a:lnSpc>
              <a:buNone/>
            </a:pPr>
            <a:r>
              <a:rPr lang="en-US" sz="784" b="1" dirty="0">
                <a:solidFill>
                  <a:srgbClr val="0E2A26">
                    <a:alpha val="99000"/>
                  </a:srgbClr>
                </a:solidFill>
                <a:latin typeface="Inter" pitchFamily="34" charset="0"/>
                <a:ea typeface="Inter" pitchFamily="34" charset="-122"/>
                <a:cs typeface="Inter" pitchFamily="34" charset="-120"/>
              </a:rPr>
              <a:t>No validated NIR moisture model for Sri Lankan black tea</a:t>
            </a:r>
            <a:endParaRPr lang="en-US" sz="784" dirty="0"/>
          </a:p>
        </p:txBody>
      </p:sp>
      <p:sp>
        <p:nvSpPr>
          <p:cNvPr id="18" name="Shape 13"/>
          <p:cNvSpPr/>
          <p:nvPr/>
        </p:nvSpPr>
        <p:spPr>
          <a:xfrm>
            <a:off x="533400" y="1524000"/>
            <a:ext cx="3905250" cy="4763"/>
          </a:xfrm>
          <a:prstGeom prst="rect">
            <a:avLst/>
          </a:prstGeom>
          <a:solidFill>
            <a:srgbClr val="E3DACA"/>
          </a:solidFill>
          <a:ln/>
        </p:spPr>
      </p:sp>
      <p:sp>
        <p:nvSpPr>
          <p:cNvPr id="19" name="Text 14"/>
          <p:cNvSpPr/>
          <p:nvPr/>
        </p:nvSpPr>
        <p:spPr>
          <a:xfrm>
            <a:off x="533400" y="1600200"/>
            <a:ext cx="209550" cy="185738"/>
          </a:xfrm>
          <a:prstGeom prst="rect">
            <a:avLst/>
          </a:prstGeom>
          <a:noFill/>
          <a:ln/>
        </p:spPr>
        <p:txBody>
          <a:bodyPr wrap="square" lIns="0" tIns="0" rIns="0" bIns="0" rtlCol="0" anchor="t"/>
          <a:lstStyle/>
          <a:p>
            <a:pPr algn="l" indent="0" marL="0">
              <a:lnSpc>
                <a:spcPts val="1380"/>
              </a:lnSpc>
              <a:buNone/>
            </a:pPr>
            <a:r>
              <a:rPr lang="en-US" sz="1140" b="1" spc="-11" kern="0" dirty="0">
                <a:solidFill>
                  <a:srgbClr val="B8893B">
                    <a:alpha val="99000"/>
                  </a:srgbClr>
                </a:solidFill>
                <a:latin typeface="Inter" pitchFamily="34" charset="0"/>
                <a:ea typeface="Inter" pitchFamily="34" charset="-122"/>
                <a:cs typeface="Inter" pitchFamily="34" charset="-120"/>
              </a:rPr>
              <a:t>G2</a:t>
            </a:r>
            <a:endParaRPr lang="en-US" sz="1140" dirty="0"/>
          </a:p>
        </p:txBody>
      </p:sp>
      <p:sp>
        <p:nvSpPr>
          <p:cNvPr id="20" name="Text 15"/>
          <p:cNvSpPr/>
          <p:nvPr/>
        </p:nvSpPr>
        <p:spPr>
          <a:xfrm>
            <a:off x="876300" y="1619250"/>
            <a:ext cx="3562350" cy="142875"/>
          </a:xfrm>
          <a:prstGeom prst="rect">
            <a:avLst/>
          </a:prstGeom>
          <a:noFill/>
          <a:ln/>
        </p:spPr>
        <p:txBody>
          <a:bodyPr wrap="square" lIns="0" tIns="0" rIns="0" bIns="0" rtlCol="0" anchor="t"/>
          <a:lstStyle/>
          <a:p>
            <a:pPr algn="l" indent="0" marL="0">
              <a:lnSpc>
                <a:spcPts val="1082"/>
              </a:lnSpc>
              <a:buNone/>
            </a:pPr>
            <a:r>
              <a:rPr lang="en-US" sz="784" b="1" dirty="0">
                <a:solidFill>
                  <a:srgbClr val="0E2A26">
                    <a:alpha val="99000"/>
                  </a:srgbClr>
                </a:solidFill>
                <a:latin typeface="Inter" pitchFamily="34" charset="0"/>
                <a:ea typeface="Inter" pitchFamily="34" charset="-122"/>
                <a:cs typeface="Inter" pitchFamily="34" charset="-120"/>
              </a:rPr>
              <a:t>Best preprocessing and wavelength selection unknown for this task</a:t>
            </a:r>
            <a:endParaRPr lang="en-US" sz="784" dirty="0"/>
          </a:p>
        </p:txBody>
      </p:sp>
      <p:sp>
        <p:nvSpPr>
          <p:cNvPr id="21" name="Text 16"/>
          <p:cNvSpPr/>
          <p:nvPr/>
        </p:nvSpPr>
        <p:spPr>
          <a:xfrm>
            <a:off x="876300" y="1781175"/>
            <a:ext cx="3562350" cy="100013"/>
          </a:xfrm>
          <a:prstGeom prst="rect">
            <a:avLst/>
          </a:prstGeom>
          <a:noFill/>
          <a:ln/>
        </p:spPr>
        <p:txBody>
          <a:bodyPr wrap="square" lIns="0" tIns="0" rIns="0" bIns="0" rtlCol="0" anchor="t"/>
          <a:lstStyle/>
          <a:p>
            <a:pPr algn="l" indent="0" marL="0">
              <a:lnSpc>
                <a:spcPts val="733"/>
              </a:lnSpc>
              <a:buNone/>
            </a:pPr>
            <a:r>
              <a:rPr lang="en-US" sz="606" dirty="0">
                <a:solidFill>
                  <a:srgbClr val="6E7672">
                    <a:alpha val="99000"/>
                  </a:srgbClr>
                </a:solidFill>
                <a:latin typeface="Inter" pitchFamily="34" charset="0"/>
                <a:ea typeface="Inter" pitchFamily="34" charset="-122"/>
                <a:cs typeface="Inter" pitchFamily="34" charset="-120"/>
              </a:rPr>
              <a:t>Dong et al., 2018; Liu et al., 2025</a:t>
            </a:r>
            <a:endParaRPr lang="en-US" sz="606" dirty="0"/>
          </a:p>
        </p:txBody>
      </p:sp>
      <p:sp>
        <p:nvSpPr>
          <p:cNvPr id="22" name="Shape 17"/>
          <p:cNvSpPr/>
          <p:nvPr/>
        </p:nvSpPr>
        <p:spPr>
          <a:xfrm>
            <a:off x="533400" y="1976438"/>
            <a:ext cx="3905250" cy="4763"/>
          </a:xfrm>
          <a:prstGeom prst="rect">
            <a:avLst/>
          </a:prstGeom>
          <a:solidFill>
            <a:srgbClr val="E3DACA"/>
          </a:solidFill>
          <a:ln/>
        </p:spPr>
      </p:sp>
      <p:sp>
        <p:nvSpPr>
          <p:cNvPr id="23" name="Text 18"/>
          <p:cNvSpPr/>
          <p:nvPr/>
        </p:nvSpPr>
        <p:spPr>
          <a:xfrm>
            <a:off x="533400" y="2052637"/>
            <a:ext cx="214313" cy="185738"/>
          </a:xfrm>
          <a:prstGeom prst="rect">
            <a:avLst/>
          </a:prstGeom>
          <a:noFill/>
          <a:ln/>
        </p:spPr>
        <p:txBody>
          <a:bodyPr wrap="square" lIns="0" tIns="0" rIns="0" bIns="0" rtlCol="0" anchor="t"/>
          <a:lstStyle/>
          <a:p>
            <a:pPr algn="l" indent="0" marL="0">
              <a:lnSpc>
                <a:spcPts val="1380"/>
              </a:lnSpc>
              <a:buNone/>
            </a:pPr>
            <a:r>
              <a:rPr lang="en-US" sz="1140" b="1" spc="-11" kern="0" dirty="0">
                <a:solidFill>
                  <a:srgbClr val="B8893B">
                    <a:alpha val="99000"/>
                  </a:srgbClr>
                </a:solidFill>
                <a:latin typeface="Inter" pitchFamily="34" charset="0"/>
                <a:ea typeface="Inter" pitchFamily="34" charset="-122"/>
                <a:cs typeface="Inter" pitchFamily="34" charset="-120"/>
              </a:rPr>
              <a:t>G3</a:t>
            </a:r>
            <a:endParaRPr lang="en-US" sz="1140" dirty="0"/>
          </a:p>
        </p:txBody>
      </p:sp>
      <p:sp>
        <p:nvSpPr>
          <p:cNvPr id="24" name="Text 19"/>
          <p:cNvSpPr/>
          <p:nvPr/>
        </p:nvSpPr>
        <p:spPr>
          <a:xfrm>
            <a:off x="876300" y="2071688"/>
            <a:ext cx="3562350" cy="142875"/>
          </a:xfrm>
          <a:prstGeom prst="rect">
            <a:avLst/>
          </a:prstGeom>
          <a:noFill/>
          <a:ln/>
        </p:spPr>
        <p:txBody>
          <a:bodyPr wrap="square" lIns="0" tIns="0" rIns="0" bIns="0" rtlCol="0" anchor="t"/>
          <a:lstStyle/>
          <a:p>
            <a:pPr algn="l" indent="0" marL="0">
              <a:lnSpc>
                <a:spcPts val="1082"/>
              </a:lnSpc>
              <a:buNone/>
            </a:pPr>
            <a:r>
              <a:rPr lang="en-US" sz="784" b="1" dirty="0">
                <a:solidFill>
                  <a:srgbClr val="0E2A26">
                    <a:alpha val="99000"/>
                  </a:srgbClr>
                </a:solidFill>
                <a:latin typeface="Inter" pitchFamily="34" charset="0"/>
                <a:ea typeface="Inter" pitchFamily="34" charset="-122"/>
                <a:cs typeface="Inter" pitchFamily="34" charset="-120"/>
              </a:rPr>
              <a:t>Calibration does not guarantee generalisation</a:t>
            </a:r>
            <a:endParaRPr lang="en-US" sz="784" dirty="0"/>
          </a:p>
        </p:txBody>
      </p:sp>
      <p:sp>
        <p:nvSpPr>
          <p:cNvPr id="25" name="Text 20"/>
          <p:cNvSpPr/>
          <p:nvPr/>
        </p:nvSpPr>
        <p:spPr>
          <a:xfrm>
            <a:off x="876300" y="2233613"/>
            <a:ext cx="3562350" cy="100013"/>
          </a:xfrm>
          <a:prstGeom prst="rect">
            <a:avLst/>
          </a:prstGeom>
          <a:noFill/>
          <a:ln/>
        </p:spPr>
        <p:txBody>
          <a:bodyPr wrap="square" lIns="0" tIns="0" rIns="0" bIns="0" rtlCol="0" anchor="t"/>
          <a:lstStyle/>
          <a:p>
            <a:pPr algn="l" indent="0" marL="0">
              <a:lnSpc>
                <a:spcPts val="733"/>
              </a:lnSpc>
              <a:buNone/>
            </a:pPr>
            <a:r>
              <a:rPr lang="en-US" sz="606" dirty="0">
                <a:solidFill>
                  <a:srgbClr val="6E7672">
                    <a:alpha val="99000"/>
                  </a:srgbClr>
                </a:solidFill>
                <a:latin typeface="Inter" pitchFamily="34" charset="0"/>
                <a:ea typeface="Inter" pitchFamily="34" charset="-122"/>
                <a:cs typeface="Inter" pitchFamily="34" charset="-120"/>
              </a:rPr>
              <a:t>Revilla et al., 2024; Liu et al., 2025</a:t>
            </a:r>
            <a:endParaRPr lang="en-US" sz="606" dirty="0"/>
          </a:p>
        </p:txBody>
      </p:sp>
      <p:sp>
        <p:nvSpPr>
          <p:cNvPr id="26" name="Shape 21"/>
          <p:cNvSpPr/>
          <p:nvPr/>
        </p:nvSpPr>
        <p:spPr>
          <a:xfrm>
            <a:off x="533400" y="2428875"/>
            <a:ext cx="3905250" cy="4763"/>
          </a:xfrm>
          <a:prstGeom prst="rect">
            <a:avLst/>
          </a:prstGeom>
          <a:solidFill>
            <a:srgbClr val="E3DACA"/>
          </a:solidFill>
          <a:ln/>
        </p:spPr>
      </p:sp>
      <p:sp>
        <p:nvSpPr>
          <p:cNvPr id="27" name="Text 22"/>
          <p:cNvSpPr/>
          <p:nvPr/>
        </p:nvSpPr>
        <p:spPr>
          <a:xfrm>
            <a:off x="533400" y="2505075"/>
            <a:ext cx="219075" cy="185738"/>
          </a:xfrm>
          <a:prstGeom prst="rect">
            <a:avLst/>
          </a:prstGeom>
          <a:noFill/>
          <a:ln/>
        </p:spPr>
        <p:txBody>
          <a:bodyPr wrap="square" lIns="0" tIns="0" rIns="0" bIns="0" rtlCol="0" anchor="t"/>
          <a:lstStyle/>
          <a:p>
            <a:pPr algn="l" indent="0" marL="0">
              <a:lnSpc>
                <a:spcPts val="1380"/>
              </a:lnSpc>
              <a:buNone/>
            </a:pPr>
            <a:r>
              <a:rPr lang="en-US" sz="1140" b="1" spc="-11" kern="0" dirty="0">
                <a:solidFill>
                  <a:srgbClr val="B8893B">
                    <a:alpha val="99000"/>
                  </a:srgbClr>
                </a:solidFill>
                <a:latin typeface="Inter" pitchFamily="34" charset="0"/>
                <a:ea typeface="Inter" pitchFamily="34" charset="-122"/>
                <a:cs typeface="Inter" pitchFamily="34" charset="-120"/>
              </a:rPr>
              <a:t>G4</a:t>
            </a:r>
            <a:endParaRPr lang="en-US" sz="1140" dirty="0"/>
          </a:p>
        </p:txBody>
      </p:sp>
      <p:sp>
        <p:nvSpPr>
          <p:cNvPr id="28" name="Text 23"/>
          <p:cNvSpPr/>
          <p:nvPr/>
        </p:nvSpPr>
        <p:spPr>
          <a:xfrm>
            <a:off x="876300" y="2524125"/>
            <a:ext cx="3562350" cy="142875"/>
          </a:xfrm>
          <a:prstGeom prst="rect">
            <a:avLst/>
          </a:prstGeom>
          <a:noFill/>
          <a:ln/>
        </p:spPr>
        <p:txBody>
          <a:bodyPr wrap="square" lIns="0" tIns="0" rIns="0" bIns="0" rtlCol="0" anchor="t"/>
          <a:lstStyle/>
          <a:p>
            <a:pPr algn="l" indent="0" marL="0">
              <a:lnSpc>
                <a:spcPts val="1082"/>
              </a:lnSpc>
              <a:buNone/>
            </a:pPr>
            <a:r>
              <a:rPr lang="en-US" sz="784" b="1" dirty="0">
                <a:solidFill>
                  <a:srgbClr val="0E2A26">
                    <a:alpha val="99000"/>
                  </a:srgbClr>
                </a:solidFill>
                <a:latin typeface="Inter" pitchFamily="34" charset="0"/>
                <a:ea typeface="Inter" pitchFamily="34" charset="-122"/>
                <a:cs typeface="Inter" pitchFamily="34" charset="-120"/>
              </a:rPr>
              <a:t>Time saving and field robustness rarely measured</a:t>
            </a:r>
            <a:endParaRPr lang="en-US" sz="784" dirty="0"/>
          </a:p>
        </p:txBody>
      </p:sp>
      <p:sp>
        <p:nvSpPr>
          <p:cNvPr id="29" name="Shape 24"/>
          <p:cNvSpPr/>
          <p:nvPr/>
        </p:nvSpPr>
        <p:spPr>
          <a:xfrm>
            <a:off x="533400" y="2762250"/>
            <a:ext cx="3905250" cy="4763"/>
          </a:xfrm>
          <a:prstGeom prst="rect">
            <a:avLst/>
          </a:prstGeom>
          <a:solidFill>
            <a:srgbClr val="E3DACA"/>
          </a:solidFill>
          <a:ln/>
        </p:spPr>
      </p:sp>
      <p:sp>
        <p:nvSpPr>
          <p:cNvPr id="30" name="Text 25"/>
          <p:cNvSpPr/>
          <p:nvPr/>
        </p:nvSpPr>
        <p:spPr>
          <a:xfrm>
            <a:off x="533400" y="2838450"/>
            <a:ext cx="214313" cy="185738"/>
          </a:xfrm>
          <a:prstGeom prst="rect">
            <a:avLst/>
          </a:prstGeom>
          <a:noFill/>
          <a:ln/>
        </p:spPr>
        <p:txBody>
          <a:bodyPr wrap="square" lIns="0" tIns="0" rIns="0" bIns="0" rtlCol="0" anchor="t"/>
          <a:lstStyle/>
          <a:p>
            <a:pPr algn="l" indent="0" marL="0">
              <a:lnSpc>
                <a:spcPts val="1380"/>
              </a:lnSpc>
              <a:buNone/>
            </a:pPr>
            <a:r>
              <a:rPr lang="en-US" sz="1140" b="1" spc="-11" kern="0" dirty="0">
                <a:solidFill>
                  <a:srgbClr val="B8893B">
                    <a:alpha val="99000"/>
                  </a:srgbClr>
                </a:solidFill>
                <a:latin typeface="Inter" pitchFamily="34" charset="0"/>
                <a:ea typeface="Inter" pitchFamily="34" charset="-122"/>
                <a:cs typeface="Inter" pitchFamily="34" charset="-120"/>
              </a:rPr>
              <a:t>G5</a:t>
            </a:r>
            <a:endParaRPr lang="en-US" sz="1140" dirty="0"/>
          </a:p>
        </p:txBody>
      </p:sp>
      <p:sp>
        <p:nvSpPr>
          <p:cNvPr id="31" name="Text 26"/>
          <p:cNvSpPr/>
          <p:nvPr/>
        </p:nvSpPr>
        <p:spPr>
          <a:xfrm>
            <a:off x="876300" y="2857500"/>
            <a:ext cx="3562350" cy="285750"/>
          </a:xfrm>
          <a:prstGeom prst="rect">
            <a:avLst/>
          </a:prstGeom>
          <a:noFill/>
          <a:ln/>
        </p:spPr>
        <p:txBody>
          <a:bodyPr wrap="square" lIns="0" tIns="0" rIns="0" bIns="0" rtlCol="0" anchor="t"/>
          <a:lstStyle/>
          <a:p>
            <a:pPr algn="l" indent="0" marL="0">
              <a:lnSpc>
                <a:spcPts val="1082"/>
              </a:lnSpc>
              <a:buNone/>
            </a:pPr>
            <a:r>
              <a:rPr lang="en-US" sz="784" b="1" dirty="0">
                <a:solidFill>
                  <a:srgbClr val="0E2A26">
                    <a:alpha val="99000"/>
                  </a:srgbClr>
                </a:solidFill>
                <a:latin typeface="Inter" pitchFamily="34" charset="0"/>
                <a:ea typeface="Inter" pitchFamily="34" charset="-122"/>
                <a:cs typeface="Inter" pitchFamily="34" charset="-120"/>
              </a:rPr>
              <a:t>No consolidated view of which tea parameters one NIR framework can cover</a:t>
            </a:r>
            <a:endParaRPr lang="en-US" sz="784" dirty="0"/>
          </a:p>
        </p:txBody>
      </p:sp>
      <p:sp>
        <p:nvSpPr>
          <p:cNvPr id="32" name="Text 27"/>
          <p:cNvSpPr/>
          <p:nvPr/>
        </p:nvSpPr>
        <p:spPr>
          <a:xfrm>
            <a:off x="666750" y="4324350"/>
            <a:ext cx="3771900" cy="342900"/>
          </a:xfrm>
          <a:prstGeom prst="rect">
            <a:avLst/>
          </a:prstGeom>
          <a:noFill/>
          <a:ln/>
        </p:spPr>
        <p:txBody>
          <a:bodyPr wrap="square" lIns="0" tIns="0" rIns="0" bIns="0" rtlCol="0" anchor="t"/>
          <a:lstStyle/>
          <a:p>
            <a:pPr algn="l" indent="0" marL="0">
              <a:lnSpc>
                <a:spcPts val="1278"/>
              </a:lnSpc>
              <a:buNone/>
            </a:pPr>
            <a:r>
              <a:rPr lang="en-US" sz="926" spc="-5" kern="0" dirty="0">
                <a:solidFill>
                  <a:srgbClr val="0E2A26">
                    <a:alpha val="99000"/>
                  </a:srgbClr>
                </a:solidFill>
                <a:latin typeface="Inter" pitchFamily="34" charset="0"/>
                <a:ea typeface="Inter" pitchFamily="34" charset="-122"/>
                <a:cs typeface="Inter" pitchFamily="34" charset="-120"/>
              </a:rPr>
              <a:t>The gap is not that NIR has never been used on tea; it is missing local, validated, time-measured evidence.</a:t>
            </a:r>
            <a:endParaRPr lang="en-US" sz="926" dirty="0"/>
          </a:p>
        </p:txBody>
      </p:sp>
      <p:sp>
        <p:nvSpPr>
          <p:cNvPr id="33" name="Shape 28"/>
          <p:cNvSpPr/>
          <p:nvPr/>
        </p:nvSpPr>
        <p:spPr>
          <a:xfrm>
            <a:off x="533400" y="4343400"/>
            <a:ext cx="19050" cy="314325"/>
          </a:xfrm>
          <a:prstGeom prst="rect">
            <a:avLst/>
          </a:prstGeom>
          <a:solidFill>
            <a:srgbClr val="B8893B"/>
          </a:solidFill>
          <a:ln/>
        </p:spPr>
      </p:sp>
      <p:sp>
        <p:nvSpPr>
          <p:cNvPr id="34" name="Text 29"/>
          <p:cNvSpPr/>
          <p:nvPr/>
        </p:nvSpPr>
        <p:spPr>
          <a:xfrm>
            <a:off x="4743450" y="1038225"/>
            <a:ext cx="11668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REQUIREMENTS (MOSCOW)</a:t>
            </a:r>
            <a:endParaRPr lang="en-US" sz="499" dirty="0"/>
          </a:p>
        </p:txBody>
      </p:sp>
      <p:sp>
        <p:nvSpPr>
          <p:cNvPr id="35" name="Shape 30"/>
          <p:cNvSpPr/>
          <p:nvPr/>
        </p:nvSpPr>
        <p:spPr>
          <a:xfrm>
            <a:off x="4743450" y="1181100"/>
            <a:ext cx="3867150" cy="4763"/>
          </a:xfrm>
          <a:prstGeom prst="rect">
            <a:avLst/>
          </a:prstGeom>
          <a:solidFill>
            <a:srgbClr val="0E2A26">
              <a:alpha val="18000"/>
            </a:srgbClr>
          </a:solidFill>
          <a:ln/>
        </p:spPr>
      </p:sp>
      <p:sp>
        <p:nvSpPr>
          <p:cNvPr id="36" name="Shape 31"/>
          <p:cNvSpPr/>
          <p:nvPr/>
        </p:nvSpPr>
        <p:spPr>
          <a:xfrm>
            <a:off x="4743450" y="1285875"/>
            <a:ext cx="3867150" cy="2133600"/>
          </a:xfrm>
          <a:prstGeom prst="roundRect">
            <a:avLst>
              <a:gd name="adj" fmla="val 6857"/>
            </a:avLst>
          </a:prstGeom>
          <a:solidFill>
            <a:srgbClr val="FFFFFF"/>
          </a:solidFill>
          <a:ln w="4524">
            <a:solidFill>
              <a:srgbClr val="E3DACA"/>
            </a:solidFill>
            <a:prstDash val="solid"/>
          </a:ln>
        </p:spPr>
      </p:sp>
      <p:sp>
        <p:nvSpPr>
          <p:cNvPr id="37" name="Shape 32"/>
          <p:cNvSpPr/>
          <p:nvPr/>
        </p:nvSpPr>
        <p:spPr>
          <a:xfrm>
            <a:off x="4743450" y="1285875"/>
            <a:ext cx="3867150" cy="304800"/>
          </a:xfrm>
          <a:prstGeom prst="rect">
            <a:avLst/>
          </a:prstGeom>
          <a:solidFill>
            <a:srgbClr val="FFFFFF"/>
          </a:solidFill>
          <a:ln/>
        </p:spPr>
      </p:sp>
      <p:sp>
        <p:nvSpPr>
          <p:cNvPr id="38" name="Text 33"/>
          <p:cNvSpPr/>
          <p:nvPr/>
        </p:nvSpPr>
        <p:spPr>
          <a:xfrm>
            <a:off x="4857750" y="13668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R1</a:t>
            </a:r>
            <a:endParaRPr lang="en-US" sz="713" dirty="0"/>
          </a:p>
        </p:txBody>
      </p:sp>
      <p:sp>
        <p:nvSpPr>
          <p:cNvPr id="39" name="Text 34"/>
          <p:cNvSpPr/>
          <p:nvPr/>
        </p:nvSpPr>
        <p:spPr>
          <a:xfrm>
            <a:off x="5848350" y="13668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Three referenced NIR scans and triplicate oven moisture</a:t>
            </a:r>
            <a:endParaRPr lang="en-US" sz="713" dirty="0"/>
          </a:p>
        </p:txBody>
      </p:sp>
      <p:sp>
        <p:nvSpPr>
          <p:cNvPr id="40" name="Shape 35"/>
          <p:cNvSpPr/>
          <p:nvPr/>
        </p:nvSpPr>
        <p:spPr>
          <a:xfrm>
            <a:off x="5229225" y="1366838"/>
            <a:ext cx="295275" cy="142875"/>
          </a:xfrm>
          <a:prstGeom prst="roundRect">
            <a:avLst/>
          </a:prstGeom>
          <a:solidFill>
            <a:srgbClr val="DCE8E3"/>
          </a:solidFill>
          <a:ln/>
        </p:spPr>
      </p:sp>
      <p:sp>
        <p:nvSpPr>
          <p:cNvPr id="41" name="Text 36"/>
          <p:cNvSpPr/>
          <p:nvPr/>
        </p:nvSpPr>
        <p:spPr>
          <a:xfrm>
            <a:off x="5295900" y="14001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42" name="Shape 37"/>
          <p:cNvSpPr/>
          <p:nvPr/>
        </p:nvSpPr>
        <p:spPr>
          <a:xfrm>
            <a:off x="4743450" y="1590675"/>
            <a:ext cx="3867150" cy="304800"/>
          </a:xfrm>
          <a:prstGeom prst="rect">
            <a:avLst/>
          </a:prstGeom>
          <a:solidFill>
            <a:srgbClr val="FBF9F4"/>
          </a:solidFill>
          <a:ln/>
        </p:spPr>
      </p:sp>
      <p:sp>
        <p:nvSpPr>
          <p:cNvPr id="43" name="Text 38"/>
          <p:cNvSpPr/>
          <p:nvPr/>
        </p:nvSpPr>
        <p:spPr>
          <a:xfrm>
            <a:off x="4857750" y="16716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R2</a:t>
            </a:r>
            <a:endParaRPr lang="en-US" sz="713" dirty="0"/>
          </a:p>
        </p:txBody>
      </p:sp>
      <p:sp>
        <p:nvSpPr>
          <p:cNvPr id="44" name="Text 39"/>
          <p:cNvSpPr/>
          <p:nvPr/>
        </p:nvSpPr>
        <p:spPr>
          <a:xfrm>
            <a:off x="5848350" y="16716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Test set locked before modelling; same splits for all models</a:t>
            </a:r>
            <a:endParaRPr lang="en-US" sz="713" dirty="0"/>
          </a:p>
        </p:txBody>
      </p:sp>
      <p:sp>
        <p:nvSpPr>
          <p:cNvPr id="45" name="Shape 40"/>
          <p:cNvSpPr/>
          <p:nvPr/>
        </p:nvSpPr>
        <p:spPr>
          <a:xfrm>
            <a:off x="4743450" y="1590675"/>
            <a:ext cx="3867150" cy="4763"/>
          </a:xfrm>
          <a:prstGeom prst="rect">
            <a:avLst/>
          </a:prstGeom>
          <a:solidFill>
            <a:srgbClr val="E3DACA"/>
          </a:solidFill>
          <a:ln/>
        </p:spPr>
      </p:sp>
      <p:sp>
        <p:nvSpPr>
          <p:cNvPr id="46" name="Shape 41"/>
          <p:cNvSpPr/>
          <p:nvPr/>
        </p:nvSpPr>
        <p:spPr>
          <a:xfrm>
            <a:off x="5229225" y="1671638"/>
            <a:ext cx="295275" cy="142875"/>
          </a:xfrm>
          <a:prstGeom prst="roundRect">
            <a:avLst/>
          </a:prstGeom>
          <a:solidFill>
            <a:srgbClr val="DCE8E3"/>
          </a:solidFill>
          <a:ln/>
        </p:spPr>
      </p:sp>
      <p:sp>
        <p:nvSpPr>
          <p:cNvPr id="47" name="Text 42"/>
          <p:cNvSpPr/>
          <p:nvPr/>
        </p:nvSpPr>
        <p:spPr>
          <a:xfrm>
            <a:off x="5295900" y="17049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48" name="Shape 43"/>
          <p:cNvSpPr/>
          <p:nvPr/>
        </p:nvSpPr>
        <p:spPr>
          <a:xfrm>
            <a:off x="4743450" y="1895475"/>
            <a:ext cx="3867150" cy="304800"/>
          </a:xfrm>
          <a:prstGeom prst="rect">
            <a:avLst/>
          </a:prstGeom>
          <a:solidFill>
            <a:srgbClr val="FFFFFF"/>
          </a:solidFill>
          <a:ln/>
        </p:spPr>
      </p:sp>
      <p:sp>
        <p:nvSpPr>
          <p:cNvPr id="49" name="Text 44"/>
          <p:cNvSpPr/>
          <p:nvPr/>
        </p:nvSpPr>
        <p:spPr>
          <a:xfrm>
            <a:off x="4857750" y="19764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R3</a:t>
            </a:r>
            <a:endParaRPr lang="en-US" sz="713" dirty="0"/>
          </a:p>
        </p:txBody>
      </p:sp>
      <p:sp>
        <p:nvSpPr>
          <p:cNvPr id="50" name="Text 45"/>
          <p:cNvSpPr/>
          <p:nvPr/>
        </p:nvSpPr>
        <p:spPr>
          <a:xfrm>
            <a:off x="5848350" y="19764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R2p ≥ 0.90 and RPD ≥ 2.5 on held-out samples</a:t>
            </a:r>
            <a:endParaRPr lang="en-US" sz="713" dirty="0"/>
          </a:p>
        </p:txBody>
      </p:sp>
      <p:sp>
        <p:nvSpPr>
          <p:cNvPr id="51" name="Shape 46"/>
          <p:cNvSpPr/>
          <p:nvPr/>
        </p:nvSpPr>
        <p:spPr>
          <a:xfrm>
            <a:off x="4743450" y="1895475"/>
            <a:ext cx="3867150" cy="4763"/>
          </a:xfrm>
          <a:prstGeom prst="rect">
            <a:avLst/>
          </a:prstGeom>
          <a:solidFill>
            <a:srgbClr val="E3DACA"/>
          </a:solidFill>
          <a:ln/>
        </p:spPr>
      </p:sp>
      <p:sp>
        <p:nvSpPr>
          <p:cNvPr id="52" name="Shape 47"/>
          <p:cNvSpPr/>
          <p:nvPr/>
        </p:nvSpPr>
        <p:spPr>
          <a:xfrm>
            <a:off x="5229225" y="1976438"/>
            <a:ext cx="295275" cy="142875"/>
          </a:xfrm>
          <a:prstGeom prst="roundRect">
            <a:avLst/>
          </a:prstGeom>
          <a:solidFill>
            <a:srgbClr val="DCE8E3"/>
          </a:solidFill>
          <a:ln/>
        </p:spPr>
      </p:sp>
      <p:sp>
        <p:nvSpPr>
          <p:cNvPr id="53" name="Text 48"/>
          <p:cNvSpPr/>
          <p:nvPr/>
        </p:nvSpPr>
        <p:spPr>
          <a:xfrm>
            <a:off x="5295900" y="20097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54" name="Shape 49"/>
          <p:cNvSpPr/>
          <p:nvPr/>
        </p:nvSpPr>
        <p:spPr>
          <a:xfrm>
            <a:off x="4743450" y="2200275"/>
            <a:ext cx="3867150" cy="304800"/>
          </a:xfrm>
          <a:prstGeom prst="rect">
            <a:avLst/>
          </a:prstGeom>
          <a:solidFill>
            <a:srgbClr val="FBF9F4"/>
          </a:solidFill>
          <a:ln/>
        </p:spPr>
      </p:sp>
      <p:sp>
        <p:nvSpPr>
          <p:cNvPr id="55" name="Text 50"/>
          <p:cNvSpPr/>
          <p:nvPr/>
        </p:nvSpPr>
        <p:spPr>
          <a:xfrm>
            <a:off x="4857750" y="22812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R4</a:t>
            </a:r>
            <a:endParaRPr lang="en-US" sz="713" dirty="0"/>
          </a:p>
        </p:txBody>
      </p:sp>
      <p:sp>
        <p:nvSpPr>
          <p:cNvPr id="56" name="Text 51"/>
          <p:cNvSpPr/>
          <p:nvPr/>
        </p:nvSpPr>
        <p:spPr>
          <a:xfrm>
            <a:off x="5848350" y="22812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Under 60 s from scan to result</a:t>
            </a:r>
            <a:endParaRPr lang="en-US" sz="713" dirty="0"/>
          </a:p>
        </p:txBody>
      </p:sp>
      <p:sp>
        <p:nvSpPr>
          <p:cNvPr id="57" name="Shape 52"/>
          <p:cNvSpPr/>
          <p:nvPr/>
        </p:nvSpPr>
        <p:spPr>
          <a:xfrm>
            <a:off x="4743450" y="2200275"/>
            <a:ext cx="3867150" cy="4763"/>
          </a:xfrm>
          <a:prstGeom prst="rect">
            <a:avLst/>
          </a:prstGeom>
          <a:solidFill>
            <a:srgbClr val="E3DACA"/>
          </a:solidFill>
          <a:ln/>
        </p:spPr>
      </p:sp>
      <p:sp>
        <p:nvSpPr>
          <p:cNvPr id="58" name="Shape 53"/>
          <p:cNvSpPr/>
          <p:nvPr/>
        </p:nvSpPr>
        <p:spPr>
          <a:xfrm>
            <a:off x="5229225" y="2281238"/>
            <a:ext cx="295275" cy="142875"/>
          </a:xfrm>
          <a:prstGeom prst="roundRect">
            <a:avLst/>
          </a:prstGeom>
          <a:solidFill>
            <a:srgbClr val="DCE8E3"/>
          </a:solidFill>
          <a:ln/>
        </p:spPr>
      </p:sp>
      <p:sp>
        <p:nvSpPr>
          <p:cNvPr id="59" name="Text 54"/>
          <p:cNvSpPr/>
          <p:nvPr/>
        </p:nvSpPr>
        <p:spPr>
          <a:xfrm>
            <a:off x="5295900" y="23145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60" name="Shape 55"/>
          <p:cNvSpPr/>
          <p:nvPr/>
        </p:nvSpPr>
        <p:spPr>
          <a:xfrm>
            <a:off x="4743450" y="2505075"/>
            <a:ext cx="3867150" cy="304800"/>
          </a:xfrm>
          <a:prstGeom prst="rect">
            <a:avLst/>
          </a:prstGeom>
          <a:solidFill>
            <a:srgbClr val="FFFFFF"/>
          </a:solidFill>
          <a:ln/>
        </p:spPr>
      </p:sp>
      <p:sp>
        <p:nvSpPr>
          <p:cNvPr id="61" name="Text 56"/>
          <p:cNvSpPr/>
          <p:nvPr/>
        </p:nvSpPr>
        <p:spPr>
          <a:xfrm>
            <a:off x="4857750" y="25860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R5</a:t>
            </a:r>
            <a:endParaRPr lang="en-US" sz="713" dirty="0"/>
          </a:p>
        </p:txBody>
      </p:sp>
      <p:sp>
        <p:nvSpPr>
          <p:cNvPr id="62" name="Text 57"/>
          <p:cNvSpPr/>
          <p:nvPr/>
        </p:nvSpPr>
        <p:spPr>
          <a:xfrm>
            <a:off x="5848350" y="25860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Out-of-range flag and "screening estimate" label</a:t>
            </a:r>
            <a:endParaRPr lang="en-US" sz="713" dirty="0"/>
          </a:p>
        </p:txBody>
      </p:sp>
      <p:sp>
        <p:nvSpPr>
          <p:cNvPr id="63" name="Shape 58"/>
          <p:cNvSpPr/>
          <p:nvPr/>
        </p:nvSpPr>
        <p:spPr>
          <a:xfrm>
            <a:off x="4743450" y="2505075"/>
            <a:ext cx="3867150" cy="4763"/>
          </a:xfrm>
          <a:prstGeom prst="rect">
            <a:avLst/>
          </a:prstGeom>
          <a:solidFill>
            <a:srgbClr val="E3DACA"/>
          </a:solidFill>
          <a:ln/>
        </p:spPr>
      </p:sp>
      <p:sp>
        <p:nvSpPr>
          <p:cNvPr id="64" name="Shape 59"/>
          <p:cNvSpPr/>
          <p:nvPr/>
        </p:nvSpPr>
        <p:spPr>
          <a:xfrm>
            <a:off x="5229225" y="2586038"/>
            <a:ext cx="295275" cy="142875"/>
          </a:xfrm>
          <a:prstGeom prst="roundRect">
            <a:avLst/>
          </a:prstGeom>
          <a:solidFill>
            <a:srgbClr val="DCE8E3"/>
          </a:solidFill>
          <a:ln/>
        </p:spPr>
      </p:sp>
      <p:sp>
        <p:nvSpPr>
          <p:cNvPr id="65" name="Text 60"/>
          <p:cNvSpPr/>
          <p:nvPr/>
        </p:nvSpPr>
        <p:spPr>
          <a:xfrm>
            <a:off x="5295900" y="26193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66" name="Shape 61"/>
          <p:cNvSpPr/>
          <p:nvPr/>
        </p:nvSpPr>
        <p:spPr>
          <a:xfrm>
            <a:off x="4743450" y="2809875"/>
            <a:ext cx="3867150" cy="304800"/>
          </a:xfrm>
          <a:prstGeom prst="rect">
            <a:avLst/>
          </a:prstGeom>
          <a:solidFill>
            <a:srgbClr val="FBF9F4"/>
          </a:solidFill>
          <a:ln/>
        </p:spPr>
      </p:sp>
      <p:sp>
        <p:nvSpPr>
          <p:cNvPr id="67" name="Text 62"/>
          <p:cNvSpPr/>
          <p:nvPr/>
        </p:nvSpPr>
        <p:spPr>
          <a:xfrm>
            <a:off x="4857750" y="28908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R6</a:t>
            </a:r>
            <a:endParaRPr lang="en-US" sz="713" dirty="0"/>
          </a:p>
        </p:txBody>
      </p:sp>
      <p:sp>
        <p:nvSpPr>
          <p:cNvPr id="68" name="Text 63"/>
          <p:cNvSpPr/>
          <p:nvPr/>
        </p:nvSpPr>
        <p:spPr>
          <a:xfrm>
            <a:off x="5848350" y="28908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One model per parameter in a shared registry</a:t>
            </a:r>
            <a:endParaRPr lang="en-US" sz="713" dirty="0"/>
          </a:p>
        </p:txBody>
      </p:sp>
      <p:sp>
        <p:nvSpPr>
          <p:cNvPr id="69" name="Shape 64"/>
          <p:cNvSpPr/>
          <p:nvPr/>
        </p:nvSpPr>
        <p:spPr>
          <a:xfrm>
            <a:off x="4743450" y="2809875"/>
            <a:ext cx="3867150" cy="4763"/>
          </a:xfrm>
          <a:prstGeom prst="rect">
            <a:avLst/>
          </a:prstGeom>
          <a:solidFill>
            <a:srgbClr val="E3DACA"/>
          </a:solidFill>
          <a:ln/>
        </p:spPr>
      </p:sp>
      <p:sp>
        <p:nvSpPr>
          <p:cNvPr id="70" name="Shape 65"/>
          <p:cNvSpPr/>
          <p:nvPr/>
        </p:nvSpPr>
        <p:spPr>
          <a:xfrm>
            <a:off x="5229225" y="2890838"/>
            <a:ext cx="295275" cy="142875"/>
          </a:xfrm>
          <a:prstGeom prst="roundRect">
            <a:avLst/>
          </a:prstGeom>
          <a:solidFill>
            <a:srgbClr val="DCE8E3"/>
          </a:solidFill>
          <a:ln/>
        </p:spPr>
      </p:sp>
      <p:sp>
        <p:nvSpPr>
          <p:cNvPr id="71" name="Text 66"/>
          <p:cNvSpPr/>
          <p:nvPr/>
        </p:nvSpPr>
        <p:spPr>
          <a:xfrm>
            <a:off x="5295900" y="2924175"/>
            <a:ext cx="16192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1F5C4F">
                    <a:alpha val="99000"/>
                  </a:srgbClr>
                </a:solidFill>
                <a:latin typeface="Inter" pitchFamily="34" charset="0"/>
                <a:ea typeface="Inter" pitchFamily="34" charset="-122"/>
                <a:cs typeface="Inter" pitchFamily="34" charset="-120"/>
              </a:rPr>
              <a:t>Must</a:t>
            </a:r>
            <a:endParaRPr lang="en-US" sz="463" dirty="0"/>
          </a:p>
        </p:txBody>
      </p:sp>
      <p:sp>
        <p:nvSpPr>
          <p:cNvPr id="72" name="Shape 67"/>
          <p:cNvSpPr/>
          <p:nvPr/>
        </p:nvSpPr>
        <p:spPr>
          <a:xfrm>
            <a:off x="4743450" y="3114675"/>
            <a:ext cx="3867150" cy="304800"/>
          </a:xfrm>
          <a:prstGeom prst="rect">
            <a:avLst/>
          </a:prstGeom>
          <a:solidFill>
            <a:srgbClr val="FFFFFF"/>
          </a:solidFill>
          <a:ln/>
        </p:spPr>
      </p:sp>
      <p:sp>
        <p:nvSpPr>
          <p:cNvPr id="73" name="Text 68"/>
          <p:cNvSpPr/>
          <p:nvPr/>
        </p:nvSpPr>
        <p:spPr>
          <a:xfrm>
            <a:off x="4857750" y="3195638"/>
            <a:ext cx="238125" cy="128588"/>
          </a:xfrm>
          <a:prstGeom prst="rect">
            <a:avLst/>
          </a:prstGeom>
          <a:noFill/>
          <a:ln/>
        </p:spPr>
        <p:txBody>
          <a:bodyPr wrap="square" lIns="0" tIns="0" rIns="0" bIns="0" rtlCol="0" anchor="t"/>
          <a:lstStyle/>
          <a:p>
            <a:pPr algn="l" indent="0" marL="0">
              <a:lnSpc>
                <a:spcPts val="962"/>
              </a:lnSpc>
              <a:buNone/>
            </a:pPr>
            <a:r>
              <a:rPr lang="en-US" sz="713" b="1" dirty="0">
                <a:solidFill>
                  <a:srgbClr val="0E2A26">
                    <a:alpha val="99000"/>
                  </a:srgbClr>
                </a:solidFill>
                <a:latin typeface="Inter" pitchFamily="34" charset="0"/>
                <a:ea typeface="Inter" pitchFamily="34" charset="-122"/>
                <a:cs typeface="Inter" pitchFamily="34" charset="-120"/>
              </a:rPr>
              <a:t>R7</a:t>
            </a:r>
            <a:endParaRPr lang="en-US" sz="713" dirty="0"/>
          </a:p>
        </p:txBody>
      </p:sp>
      <p:sp>
        <p:nvSpPr>
          <p:cNvPr id="74" name="Text 69"/>
          <p:cNvSpPr/>
          <p:nvPr/>
        </p:nvSpPr>
        <p:spPr>
          <a:xfrm>
            <a:off x="5848350" y="3195638"/>
            <a:ext cx="2743200" cy="128588"/>
          </a:xfrm>
          <a:prstGeom prst="rect">
            <a:avLst/>
          </a:prstGeom>
          <a:noFill/>
          <a:ln/>
        </p:spPr>
        <p:txBody>
          <a:bodyPr wrap="square" lIns="0" tIns="0" rIns="0" bIns="0" rtlCol="0" anchor="t"/>
          <a:lstStyle/>
          <a:p>
            <a:pPr algn="l" indent="0" marL="0">
              <a:lnSpc>
                <a:spcPts val="962"/>
              </a:lnSpc>
              <a:buNone/>
            </a:pPr>
            <a:r>
              <a:rPr lang="en-US" sz="713" dirty="0">
                <a:solidFill>
                  <a:srgbClr val="23302D">
                    <a:alpha val="99000"/>
                  </a:srgbClr>
                </a:solidFill>
                <a:latin typeface="Inter" pitchFamily="34" charset="0"/>
                <a:ea typeface="Inter" pitchFamily="34" charset="-122"/>
                <a:cs typeface="Inter" pitchFamily="34" charset="-120"/>
              </a:rPr>
              <a:t>SUS ≥ 68 in field use</a:t>
            </a:r>
            <a:endParaRPr lang="en-US" sz="713" dirty="0"/>
          </a:p>
        </p:txBody>
      </p:sp>
      <p:sp>
        <p:nvSpPr>
          <p:cNvPr id="75" name="Shape 70"/>
          <p:cNvSpPr/>
          <p:nvPr/>
        </p:nvSpPr>
        <p:spPr>
          <a:xfrm>
            <a:off x="4743450" y="3114675"/>
            <a:ext cx="3867150" cy="4763"/>
          </a:xfrm>
          <a:prstGeom prst="rect">
            <a:avLst/>
          </a:prstGeom>
          <a:solidFill>
            <a:srgbClr val="E3DACA"/>
          </a:solidFill>
          <a:ln/>
        </p:spPr>
      </p:sp>
      <p:sp>
        <p:nvSpPr>
          <p:cNvPr id="76" name="Shape 71"/>
          <p:cNvSpPr/>
          <p:nvPr/>
        </p:nvSpPr>
        <p:spPr>
          <a:xfrm>
            <a:off x="5229225" y="3195638"/>
            <a:ext cx="357188" cy="142875"/>
          </a:xfrm>
          <a:prstGeom prst="roundRect">
            <a:avLst/>
          </a:prstGeom>
          <a:solidFill>
            <a:srgbClr val="F6E7C8"/>
          </a:solidFill>
          <a:ln/>
        </p:spPr>
      </p:sp>
      <p:sp>
        <p:nvSpPr>
          <p:cNvPr id="77" name="Text 72"/>
          <p:cNvSpPr/>
          <p:nvPr/>
        </p:nvSpPr>
        <p:spPr>
          <a:xfrm>
            <a:off x="5295900" y="3228975"/>
            <a:ext cx="2238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Should</a:t>
            </a:r>
            <a:endParaRPr lang="en-US" sz="463" dirty="0"/>
          </a:p>
        </p:txBody>
      </p:sp>
      <p:sp>
        <p:nvSpPr>
          <p:cNvPr id="78" name="Shape 73"/>
          <p:cNvSpPr/>
          <p:nvPr/>
        </p:nvSpPr>
        <p:spPr>
          <a:xfrm>
            <a:off x="4743450" y="3829050"/>
            <a:ext cx="3867150" cy="838200"/>
          </a:xfrm>
          <a:prstGeom prst="roundRect">
            <a:avLst/>
          </a:prstGeom>
          <a:solidFill>
            <a:srgbClr val="0E2A26"/>
          </a:solidFill>
          <a:ln/>
        </p:spPr>
      </p:sp>
      <p:sp>
        <p:nvSpPr>
          <p:cNvPr id="79" name="Shape 74"/>
          <p:cNvSpPr/>
          <p:nvPr/>
        </p:nvSpPr>
        <p:spPr>
          <a:xfrm>
            <a:off x="4914900" y="3990975"/>
            <a:ext cx="152400" cy="14288"/>
          </a:xfrm>
          <a:prstGeom prst="rect">
            <a:avLst/>
          </a:prstGeom>
          <a:solidFill>
            <a:srgbClr val="D4AF63"/>
          </a:solidFill>
          <a:ln/>
        </p:spPr>
      </p:sp>
      <p:sp>
        <p:nvSpPr>
          <p:cNvPr id="80" name="Text 75"/>
          <p:cNvSpPr/>
          <p:nvPr/>
        </p:nvSpPr>
        <p:spPr>
          <a:xfrm>
            <a:off x="4914900" y="4067175"/>
            <a:ext cx="62388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TRACEABILITY</a:t>
            </a:r>
            <a:endParaRPr lang="en-US" sz="499" dirty="0"/>
          </a:p>
        </p:txBody>
      </p:sp>
      <p:sp>
        <p:nvSpPr>
          <p:cNvPr id="81" name="Text 76"/>
          <p:cNvSpPr/>
          <p:nvPr/>
        </p:nvSpPr>
        <p:spPr>
          <a:xfrm>
            <a:off x="4914900" y="4229100"/>
            <a:ext cx="3524250" cy="266700"/>
          </a:xfrm>
          <a:prstGeom prst="rect">
            <a:avLst/>
          </a:prstGeom>
          <a:noFill/>
          <a:ln/>
        </p:spPr>
        <p:txBody>
          <a:bodyPr wrap="square" lIns="0" tIns="0" rIns="0" bIns="0" rtlCol="0" anchor="t"/>
          <a:lstStyle/>
          <a:p>
            <a:pPr algn="l" indent="0" marL="0">
              <a:lnSpc>
                <a:spcPts val="981"/>
              </a:lnSpc>
              <a:buNone/>
            </a:pPr>
            <a:r>
              <a:rPr lang="en-US" sz="677" dirty="0">
                <a:solidFill>
                  <a:srgbClr val="E8EFEC">
                    <a:alpha val="99000"/>
                  </a:srgbClr>
                </a:solidFill>
                <a:latin typeface="Inter" pitchFamily="34" charset="0"/>
                <a:ea typeface="Inter" pitchFamily="34" charset="-122"/>
                <a:cs typeface="Inter" pitchFamily="34" charset="-120"/>
              </a:rPr>
              <a:t>R2 answers G3, R4 answers G4 and R6 answers G5. The full list with verification methods is in the proposal (Appendix G).</a:t>
            </a:r>
            <a:endParaRPr lang="en-US" sz="67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366838"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11   ·   PROPOSED SOLUTION</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Proposed solution overview</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258050" y="295275"/>
            <a:ext cx="1352550" cy="161925"/>
          </a:xfrm>
          <a:prstGeom prst="roundRect">
            <a:avLst/>
          </a:prstGeom>
          <a:noFill/>
          <a:ln w="5429">
            <a:solidFill>
              <a:srgbClr val="B8893B"/>
            </a:solidFill>
            <a:prstDash val="solid"/>
          </a:ln>
        </p:spPr>
      </p:sp>
      <p:sp>
        <p:nvSpPr>
          <p:cNvPr id="7" name="Text 4"/>
          <p:cNvSpPr/>
          <p:nvPr/>
        </p:nvSpPr>
        <p:spPr>
          <a:xfrm>
            <a:off x="7343775" y="335756"/>
            <a:ext cx="1181100"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Proposal logic  ·  Supports criteria</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7622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11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09650"/>
            <a:ext cx="7429500" cy="390525"/>
          </a:xfrm>
          <a:prstGeom prst="rect">
            <a:avLst/>
          </a:prstGeom>
          <a:noFill/>
          <a:ln/>
        </p:spPr>
        <p:txBody>
          <a:bodyPr wrap="square" lIns="0" tIns="0" rIns="0" bIns="0" rtlCol="0" anchor="t"/>
          <a:lstStyle/>
          <a:p>
            <a:pPr algn="l" indent="0" marL="0">
              <a:lnSpc>
                <a:spcPts val="1443"/>
              </a:lnSpc>
              <a:buNone/>
            </a:pPr>
            <a:r>
              <a:rPr lang="en-US" sz="1069" spc="-5" kern="0" dirty="0">
                <a:solidFill>
                  <a:srgbClr val="0E2A26">
                    <a:alpha val="99000"/>
                  </a:srgbClr>
                </a:solidFill>
                <a:latin typeface="Inter" pitchFamily="34" charset="0"/>
                <a:ea typeface="Inter" pitchFamily="34" charset="-122"/>
                <a:cs typeface="Inter" pitchFamily="34" charset="-120"/>
              </a:rPr>
              <a:t>One scan, one model per parameter: a shared-spectrum NIR and AI framework that returns a screening estimate in seconds.</a:t>
            </a:r>
            <a:endParaRPr lang="en-US" sz="1069" dirty="0"/>
          </a:p>
        </p:txBody>
      </p:sp>
      <p:sp>
        <p:nvSpPr>
          <p:cNvPr id="15" name="Shape 10"/>
          <p:cNvSpPr/>
          <p:nvPr/>
        </p:nvSpPr>
        <p:spPr>
          <a:xfrm>
            <a:off x="1038225" y="1800225"/>
            <a:ext cx="7067550" cy="9525"/>
          </a:xfrm>
          <a:prstGeom prst="rect">
            <a:avLst/>
          </a:prstGeom>
          <a:solidFill>
            <a:srgbClr val="B8893B">
              <a:alpha val="60000"/>
            </a:srgbClr>
          </a:solidFill>
          <a:ln/>
        </p:spPr>
      </p:sp>
      <p:sp>
        <p:nvSpPr>
          <p:cNvPr id="16" name="Shape 11"/>
          <p:cNvSpPr/>
          <p:nvPr/>
        </p:nvSpPr>
        <p:spPr>
          <a:xfrm>
            <a:off x="885825" y="1647825"/>
            <a:ext cx="304800" cy="304800"/>
          </a:xfrm>
          <a:prstGeom prst="ellipse">
            <a:avLst/>
          </a:prstGeom>
          <a:solidFill>
            <a:srgbClr val="0E2A26"/>
          </a:solidFill>
          <a:ln/>
        </p:spPr>
      </p:sp>
      <p:sp>
        <p:nvSpPr>
          <p:cNvPr id="17" name="Text 12"/>
          <p:cNvSpPr/>
          <p:nvPr/>
        </p:nvSpPr>
        <p:spPr>
          <a:xfrm>
            <a:off x="1004887" y="1719263"/>
            <a:ext cx="66675"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1</a:t>
            </a:r>
            <a:endParaRPr lang="en-US" sz="998" dirty="0"/>
          </a:p>
        </p:txBody>
      </p:sp>
      <p:sp>
        <p:nvSpPr>
          <p:cNvPr id="18" name="Text 13"/>
          <p:cNvSpPr/>
          <p:nvPr/>
        </p:nvSpPr>
        <p:spPr>
          <a:xfrm>
            <a:off x="58102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Log and seal the sample</a:t>
            </a:r>
            <a:endParaRPr lang="en-US" sz="677" dirty="0"/>
          </a:p>
        </p:txBody>
      </p:sp>
      <p:sp>
        <p:nvSpPr>
          <p:cNvPr id="19" name="Shape 14"/>
          <p:cNvSpPr/>
          <p:nvPr/>
        </p:nvSpPr>
        <p:spPr>
          <a:xfrm>
            <a:off x="1895475" y="1647825"/>
            <a:ext cx="304800" cy="304800"/>
          </a:xfrm>
          <a:prstGeom prst="ellipse">
            <a:avLst/>
          </a:prstGeom>
          <a:solidFill>
            <a:srgbClr val="0E2A26"/>
          </a:solidFill>
          <a:ln/>
        </p:spPr>
      </p:sp>
      <p:sp>
        <p:nvSpPr>
          <p:cNvPr id="20" name="Text 15"/>
          <p:cNvSpPr/>
          <p:nvPr/>
        </p:nvSpPr>
        <p:spPr>
          <a:xfrm>
            <a:off x="2005013" y="1719263"/>
            <a:ext cx="85725"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2</a:t>
            </a:r>
            <a:endParaRPr lang="en-US" sz="998" dirty="0"/>
          </a:p>
        </p:txBody>
      </p:sp>
      <p:sp>
        <p:nvSpPr>
          <p:cNvPr id="21" name="Text 16"/>
          <p:cNvSpPr/>
          <p:nvPr/>
        </p:nvSpPr>
        <p:spPr>
          <a:xfrm>
            <a:off x="159067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Three referenced NIR scans, averaged</a:t>
            </a:r>
            <a:endParaRPr lang="en-US" sz="677" dirty="0"/>
          </a:p>
        </p:txBody>
      </p:sp>
      <p:sp>
        <p:nvSpPr>
          <p:cNvPr id="22" name="Shape 17"/>
          <p:cNvSpPr/>
          <p:nvPr/>
        </p:nvSpPr>
        <p:spPr>
          <a:xfrm>
            <a:off x="2905125" y="1647825"/>
            <a:ext cx="304800" cy="304800"/>
          </a:xfrm>
          <a:prstGeom prst="ellipse">
            <a:avLst/>
          </a:prstGeom>
          <a:solidFill>
            <a:srgbClr val="0E2A26"/>
          </a:solidFill>
          <a:ln/>
        </p:spPr>
      </p:sp>
      <p:sp>
        <p:nvSpPr>
          <p:cNvPr id="23" name="Text 18"/>
          <p:cNvSpPr/>
          <p:nvPr/>
        </p:nvSpPr>
        <p:spPr>
          <a:xfrm>
            <a:off x="3012281" y="171926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3</a:t>
            </a:r>
            <a:endParaRPr lang="en-US" sz="998" dirty="0"/>
          </a:p>
        </p:txBody>
      </p:sp>
      <p:sp>
        <p:nvSpPr>
          <p:cNvPr id="24" name="Text 19"/>
          <p:cNvSpPr/>
          <p:nvPr/>
        </p:nvSpPr>
        <p:spPr>
          <a:xfrm>
            <a:off x="260032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Oven-dry in triplicate (reference)</a:t>
            </a:r>
            <a:endParaRPr lang="en-US" sz="677" dirty="0"/>
          </a:p>
        </p:txBody>
      </p:sp>
      <p:sp>
        <p:nvSpPr>
          <p:cNvPr id="25" name="Shape 20"/>
          <p:cNvSpPr/>
          <p:nvPr/>
        </p:nvSpPr>
        <p:spPr>
          <a:xfrm>
            <a:off x="3914775" y="1647825"/>
            <a:ext cx="304800" cy="304800"/>
          </a:xfrm>
          <a:prstGeom prst="ellipse">
            <a:avLst/>
          </a:prstGeom>
          <a:solidFill>
            <a:srgbClr val="0E2A26"/>
          </a:solidFill>
          <a:ln/>
        </p:spPr>
      </p:sp>
      <p:sp>
        <p:nvSpPr>
          <p:cNvPr id="26" name="Text 21"/>
          <p:cNvSpPr/>
          <p:nvPr/>
        </p:nvSpPr>
        <p:spPr>
          <a:xfrm>
            <a:off x="4021931" y="171926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4</a:t>
            </a:r>
            <a:endParaRPr lang="en-US" sz="998" dirty="0"/>
          </a:p>
        </p:txBody>
      </p:sp>
      <p:sp>
        <p:nvSpPr>
          <p:cNvPr id="27" name="Text 22"/>
          <p:cNvSpPr/>
          <p:nvPr/>
        </p:nvSpPr>
        <p:spPr>
          <a:xfrm>
            <a:off x="360997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Preprocess: SNV, MSC, Savitzky-Golay</a:t>
            </a:r>
            <a:endParaRPr lang="en-US" sz="677" dirty="0"/>
          </a:p>
        </p:txBody>
      </p:sp>
      <p:sp>
        <p:nvSpPr>
          <p:cNvPr id="28" name="Shape 23"/>
          <p:cNvSpPr/>
          <p:nvPr/>
        </p:nvSpPr>
        <p:spPr>
          <a:xfrm>
            <a:off x="4924425" y="1647825"/>
            <a:ext cx="304800" cy="304800"/>
          </a:xfrm>
          <a:prstGeom prst="ellipse">
            <a:avLst/>
          </a:prstGeom>
          <a:solidFill>
            <a:srgbClr val="0E2A26"/>
          </a:solidFill>
          <a:ln/>
        </p:spPr>
      </p:sp>
      <p:sp>
        <p:nvSpPr>
          <p:cNvPr id="29" name="Text 24"/>
          <p:cNvSpPr/>
          <p:nvPr/>
        </p:nvSpPr>
        <p:spPr>
          <a:xfrm>
            <a:off x="5033963" y="1719263"/>
            <a:ext cx="85725"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5</a:t>
            </a:r>
            <a:endParaRPr lang="en-US" sz="998" dirty="0"/>
          </a:p>
        </p:txBody>
      </p:sp>
      <p:sp>
        <p:nvSpPr>
          <p:cNvPr id="30" name="Text 25"/>
          <p:cNvSpPr/>
          <p:nvPr/>
        </p:nvSpPr>
        <p:spPr>
          <a:xfrm>
            <a:off x="461962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Select wavelengths: CARS vs SPA / iPLS</a:t>
            </a:r>
            <a:endParaRPr lang="en-US" sz="677" dirty="0"/>
          </a:p>
        </p:txBody>
      </p:sp>
      <p:sp>
        <p:nvSpPr>
          <p:cNvPr id="31" name="Shape 26"/>
          <p:cNvSpPr/>
          <p:nvPr/>
        </p:nvSpPr>
        <p:spPr>
          <a:xfrm>
            <a:off x="5934075" y="1647825"/>
            <a:ext cx="304800" cy="304800"/>
          </a:xfrm>
          <a:prstGeom prst="ellipse">
            <a:avLst/>
          </a:prstGeom>
          <a:solidFill>
            <a:srgbClr val="0E2A26"/>
          </a:solidFill>
          <a:ln/>
        </p:spPr>
      </p:sp>
      <p:sp>
        <p:nvSpPr>
          <p:cNvPr id="32" name="Text 27"/>
          <p:cNvSpPr/>
          <p:nvPr/>
        </p:nvSpPr>
        <p:spPr>
          <a:xfrm>
            <a:off x="6041231" y="171926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6</a:t>
            </a:r>
            <a:endParaRPr lang="en-US" sz="998" dirty="0"/>
          </a:p>
        </p:txBody>
      </p:sp>
      <p:sp>
        <p:nvSpPr>
          <p:cNvPr id="33" name="Text 28"/>
          <p:cNvSpPr/>
          <p:nvPr/>
        </p:nvSpPr>
        <p:spPr>
          <a:xfrm>
            <a:off x="562927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Model registry: PLSR, SVR, RF</a:t>
            </a:r>
            <a:endParaRPr lang="en-US" sz="677" dirty="0"/>
          </a:p>
        </p:txBody>
      </p:sp>
      <p:sp>
        <p:nvSpPr>
          <p:cNvPr id="34" name="Shape 29"/>
          <p:cNvSpPr/>
          <p:nvPr/>
        </p:nvSpPr>
        <p:spPr>
          <a:xfrm>
            <a:off x="6943725" y="1647825"/>
            <a:ext cx="304800" cy="304800"/>
          </a:xfrm>
          <a:prstGeom prst="ellipse">
            <a:avLst/>
          </a:prstGeom>
          <a:solidFill>
            <a:srgbClr val="0E2A26"/>
          </a:solidFill>
          <a:ln/>
        </p:spPr>
      </p:sp>
      <p:sp>
        <p:nvSpPr>
          <p:cNvPr id="35" name="Text 30"/>
          <p:cNvSpPr/>
          <p:nvPr/>
        </p:nvSpPr>
        <p:spPr>
          <a:xfrm>
            <a:off x="7055644" y="1719263"/>
            <a:ext cx="80963"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7</a:t>
            </a:r>
            <a:endParaRPr lang="en-US" sz="998" dirty="0"/>
          </a:p>
        </p:txBody>
      </p:sp>
      <p:sp>
        <p:nvSpPr>
          <p:cNvPr id="36" name="Text 31"/>
          <p:cNvSpPr/>
          <p:nvPr/>
        </p:nvSpPr>
        <p:spPr>
          <a:xfrm>
            <a:off x="6638925" y="2047875"/>
            <a:ext cx="914400" cy="371475"/>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Locked, unseen-source and field tests</a:t>
            </a:r>
            <a:endParaRPr lang="en-US" sz="677" dirty="0"/>
          </a:p>
        </p:txBody>
      </p:sp>
      <p:sp>
        <p:nvSpPr>
          <p:cNvPr id="37" name="Shape 32"/>
          <p:cNvSpPr/>
          <p:nvPr/>
        </p:nvSpPr>
        <p:spPr>
          <a:xfrm>
            <a:off x="7953375" y="1647825"/>
            <a:ext cx="304800" cy="304800"/>
          </a:xfrm>
          <a:prstGeom prst="ellipse">
            <a:avLst/>
          </a:prstGeom>
          <a:solidFill>
            <a:srgbClr val="B8893B"/>
          </a:solidFill>
          <a:ln/>
        </p:spPr>
      </p:sp>
      <p:sp>
        <p:nvSpPr>
          <p:cNvPr id="38" name="Text 33"/>
          <p:cNvSpPr/>
          <p:nvPr/>
        </p:nvSpPr>
        <p:spPr>
          <a:xfrm>
            <a:off x="8060531" y="171926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0E2A26">
                    <a:alpha val="99000"/>
                  </a:srgbClr>
                </a:solidFill>
                <a:latin typeface="Inter" pitchFamily="34" charset="0"/>
                <a:ea typeface="Inter" pitchFamily="34" charset="-122"/>
                <a:cs typeface="Inter" pitchFamily="34" charset="-120"/>
              </a:rPr>
              <a:t>8</a:t>
            </a:r>
            <a:endParaRPr lang="en-US" sz="998" dirty="0"/>
          </a:p>
        </p:txBody>
      </p:sp>
      <p:sp>
        <p:nvSpPr>
          <p:cNvPr id="39" name="Text 34"/>
          <p:cNvSpPr/>
          <p:nvPr/>
        </p:nvSpPr>
        <p:spPr>
          <a:xfrm>
            <a:off x="7648575" y="2047875"/>
            <a:ext cx="914400" cy="247650"/>
          </a:xfrm>
          <a:prstGeom prst="rect">
            <a:avLst/>
          </a:prstGeom>
          <a:noFill/>
          <a:ln/>
        </p:spPr>
        <p:txBody>
          <a:bodyPr wrap="square" lIns="0" tIns="0" rIns="0" bIns="0" rtlCol="0" anchor="t"/>
          <a:lstStyle/>
          <a:p>
            <a:pPr algn="ctr" indent="0" marL="0">
              <a:lnSpc>
                <a:spcPts val="934"/>
              </a:lnSpc>
              <a:buNone/>
            </a:pPr>
            <a:r>
              <a:rPr lang="en-US" sz="677" dirty="0">
                <a:solidFill>
                  <a:srgbClr val="23302D">
                    <a:alpha val="99000"/>
                  </a:srgbClr>
                </a:solidFill>
                <a:latin typeface="Inter" pitchFamily="34" charset="0"/>
                <a:ea typeface="Inter" pitchFamily="34" charset="-122"/>
                <a:cs typeface="Inter" pitchFamily="34" charset="-120"/>
              </a:rPr>
              <a:t>Prototype: value, interval, flag</a:t>
            </a:r>
            <a:endParaRPr lang="en-US" sz="677" dirty="0"/>
          </a:p>
        </p:txBody>
      </p:sp>
      <p:sp>
        <p:nvSpPr>
          <p:cNvPr id="40" name="Shape 35"/>
          <p:cNvSpPr/>
          <p:nvPr/>
        </p:nvSpPr>
        <p:spPr>
          <a:xfrm>
            <a:off x="533400" y="2647950"/>
            <a:ext cx="1933575" cy="1190625"/>
          </a:xfrm>
          <a:prstGeom prst="roundRect">
            <a:avLst/>
          </a:prstGeom>
          <a:solidFill>
            <a:srgbClr val="FFFFFF"/>
          </a:solidFill>
          <a:ln w="4524">
            <a:solidFill>
              <a:srgbClr val="E3DACA"/>
            </a:solidFill>
            <a:prstDash val="solid"/>
          </a:ln>
        </p:spPr>
      </p:sp>
      <p:sp>
        <p:nvSpPr>
          <p:cNvPr id="41" name="Shape 36"/>
          <p:cNvSpPr/>
          <p:nvPr/>
        </p:nvSpPr>
        <p:spPr>
          <a:xfrm>
            <a:off x="666750" y="2790825"/>
            <a:ext cx="133350" cy="14288"/>
          </a:xfrm>
          <a:prstGeom prst="rect">
            <a:avLst/>
          </a:prstGeom>
          <a:solidFill>
            <a:srgbClr val="B8893B"/>
          </a:solidFill>
          <a:ln/>
        </p:spPr>
      </p:sp>
      <p:sp>
        <p:nvSpPr>
          <p:cNvPr id="42" name="Text 37"/>
          <p:cNvSpPr/>
          <p:nvPr/>
        </p:nvSpPr>
        <p:spPr>
          <a:xfrm>
            <a:off x="666750" y="2857500"/>
            <a:ext cx="2524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INPUT</a:t>
            </a:r>
            <a:endParaRPr lang="en-US" sz="499" dirty="0"/>
          </a:p>
        </p:txBody>
      </p:sp>
      <p:sp>
        <p:nvSpPr>
          <p:cNvPr id="43" name="Text 38"/>
          <p:cNvSpPr/>
          <p:nvPr/>
        </p:nvSpPr>
        <p:spPr>
          <a:xfrm>
            <a:off x="666750" y="3019425"/>
            <a:ext cx="1666875" cy="276225"/>
          </a:xfrm>
          <a:prstGeom prst="rect">
            <a:avLst/>
          </a:prstGeom>
          <a:noFill/>
          <a:ln/>
        </p:spPr>
        <p:txBody>
          <a:bodyPr wrap="square" lIns="0" tIns="0" rIns="0" bIns="0" rtlCol="0" anchor="t"/>
          <a:lstStyle/>
          <a:p>
            <a:pPr algn="l" indent="0" marL="0">
              <a:lnSpc>
                <a:spcPts val="1033"/>
              </a:lnSpc>
              <a:buNone/>
            </a:pPr>
            <a:r>
              <a:rPr lang="en-US" sz="713" dirty="0">
                <a:solidFill>
                  <a:srgbClr val="23302D">
                    <a:alpha val="99000"/>
                  </a:srgbClr>
                </a:solidFill>
                <a:latin typeface="Inter" pitchFamily="34" charset="0"/>
                <a:ea typeface="Inter" pitchFamily="34" charset="-122"/>
                <a:cs typeface="Inter" pitchFamily="34" charset="-120"/>
              </a:rPr>
              <a:t>Portable NIR spectrum (900 to 1700 nm) plus sample metadata</a:t>
            </a:r>
            <a:endParaRPr lang="en-US" sz="713" dirty="0"/>
          </a:p>
        </p:txBody>
      </p:sp>
      <p:sp>
        <p:nvSpPr>
          <p:cNvPr id="44" name="Shape 39"/>
          <p:cNvSpPr/>
          <p:nvPr/>
        </p:nvSpPr>
        <p:spPr>
          <a:xfrm>
            <a:off x="2581275" y="2647950"/>
            <a:ext cx="1933575" cy="1190625"/>
          </a:xfrm>
          <a:prstGeom prst="roundRect">
            <a:avLst/>
          </a:prstGeom>
          <a:solidFill>
            <a:srgbClr val="FFFFFF"/>
          </a:solidFill>
          <a:ln w="4524">
            <a:solidFill>
              <a:srgbClr val="E3DACA"/>
            </a:solidFill>
            <a:prstDash val="solid"/>
          </a:ln>
        </p:spPr>
      </p:sp>
      <p:sp>
        <p:nvSpPr>
          <p:cNvPr id="45" name="Shape 40"/>
          <p:cNvSpPr/>
          <p:nvPr/>
        </p:nvSpPr>
        <p:spPr>
          <a:xfrm>
            <a:off x="2714625" y="2790825"/>
            <a:ext cx="133350" cy="14288"/>
          </a:xfrm>
          <a:prstGeom prst="rect">
            <a:avLst/>
          </a:prstGeom>
          <a:solidFill>
            <a:srgbClr val="B8893B"/>
          </a:solidFill>
          <a:ln/>
        </p:spPr>
      </p:sp>
      <p:sp>
        <p:nvSpPr>
          <p:cNvPr id="46" name="Text 41"/>
          <p:cNvSpPr/>
          <p:nvPr/>
        </p:nvSpPr>
        <p:spPr>
          <a:xfrm>
            <a:off x="2714625" y="2857500"/>
            <a:ext cx="3429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OUTPUT</a:t>
            </a:r>
            <a:endParaRPr lang="en-US" sz="499" dirty="0"/>
          </a:p>
        </p:txBody>
      </p:sp>
      <p:sp>
        <p:nvSpPr>
          <p:cNvPr id="47" name="Text 42"/>
          <p:cNvSpPr/>
          <p:nvPr/>
        </p:nvSpPr>
        <p:spPr>
          <a:xfrm>
            <a:off x="2714625" y="3019425"/>
            <a:ext cx="1666875" cy="414338"/>
          </a:xfrm>
          <a:prstGeom prst="rect">
            <a:avLst/>
          </a:prstGeom>
          <a:noFill/>
          <a:ln/>
        </p:spPr>
        <p:txBody>
          <a:bodyPr wrap="square" lIns="0" tIns="0" rIns="0" bIns="0" rtlCol="0" anchor="t"/>
          <a:lstStyle/>
          <a:p>
            <a:pPr algn="l" indent="0" marL="0">
              <a:lnSpc>
                <a:spcPts val="1033"/>
              </a:lnSpc>
              <a:buNone/>
            </a:pPr>
            <a:r>
              <a:rPr lang="en-US" sz="713" dirty="0">
                <a:solidFill>
                  <a:srgbClr val="23302D">
                    <a:alpha val="99000"/>
                  </a:srgbClr>
                </a:solidFill>
                <a:latin typeface="Inter" pitchFamily="34" charset="0"/>
                <a:ea typeface="Inter" pitchFamily="34" charset="-122"/>
                <a:cs typeface="Inter" pitchFamily="34" charset="-120"/>
              </a:rPr>
              <a:t>Value, uncertainty interval, out-of-range flag and a "screening estimate" label</a:t>
            </a:r>
            <a:endParaRPr lang="en-US" sz="713" dirty="0"/>
          </a:p>
        </p:txBody>
      </p:sp>
      <p:sp>
        <p:nvSpPr>
          <p:cNvPr id="48" name="Shape 43"/>
          <p:cNvSpPr/>
          <p:nvPr/>
        </p:nvSpPr>
        <p:spPr>
          <a:xfrm>
            <a:off x="4629150" y="2647950"/>
            <a:ext cx="1933575" cy="1190625"/>
          </a:xfrm>
          <a:prstGeom prst="roundRect">
            <a:avLst/>
          </a:prstGeom>
          <a:solidFill>
            <a:srgbClr val="FFFFFF"/>
          </a:solidFill>
          <a:ln w="4524">
            <a:solidFill>
              <a:srgbClr val="E3DACA"/>
            </a:solidFill>
            <a:prstDash val="solid"/>
          </a:ln>
        </p:spPr>
      </p:sp>
      <p:sp>
        <p:nvSpPr>
          <p:cNvPr id="49" name="Shape 44"/>
          <p:cNvSpPr/>
          <p:nvPr/>
        </p:nvSpPr>
        <p:spPr>
          <a:xfrm>
            <a:off x="4762500" y="2790825"/>
            <a:ext cx="133350" cy="14288"/>
          </a:xfrm>
          <a:prstGeom prst="rect">
            <a:avLst/>
          </a:prstGeom>
          <a:solidFill>
            <a:srgbClr val="B8893B"/>
          </a:solidFill>
          <a:ln/>
        </p:spPr>
      </p:sp>
      <p:sp>
        <p:nvSpPr>
          <p:cNvPr id="50" name="Text 45"/>
          <p:cNvSpPr/>
          <p:nvPr/>
        </p:nvSpPr>
        <p:spPr>
          <a:xfrm>
            <a:off x="4762500" y="2857500"/>
            <a:ext cx="5381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EXTENSIONS</a:t>
            </a:r>
            <a:endParaRPr lang="en-US" sz="499" dirty="0"/>
          </a:p>
        </p:txBody>
      </p:sp>
      <p:sp>
        <p:nvSpPr>
          <p:cNvPr id="51" name="Text 46"/>
          <p:cNvSpPr/>
          <p:nvPr/>
        </p:nvSpPr>
        <p:spPr>
          <a:xfrm>
            <a:off x="4762500" y="3019425"/>
            <a:ext cx="1666875" cy="552450"/>
          </a:xfrm>
          <a:prstGeom prst="rect">
            <a:avLst/>
          </a:prstGeom>
          <a:noFill/>
          <a:ln/>
        </p:spPr>
        <p:txBody>
          <a:bodyPr wrap="square" lIns="0" tIns="0" rIns="0" bIns="0" rtlCol="0" anchor="t"/>
          <a:lstStyle/>
          <a:p>
            <a:pPr algn="l" indent="0" marL="0">
              <a:lnSpc>
                <a:spcPts val="1033"/>
              </a:lnSpc>
              <a:buNone/>
            </a:pPr>
            <a:r>
              <a:rPr lang="en-US" sz="713" dirty="0">
                <a:solidFill>
                  <a:srgbClr val="23302D">
                    <a:alpha val="99000"/>
                  </a:srgbClr>
                </a:solidFill>
                <a:latin typeface="Inter" pitchFamily="34" charset="0"/>
                <a:ea typeface="Inter" pitchFamily="34" charset="-122"/>
                <a:cs typeface="Inter" pitchFamily="34" charset="-120"/>
              </a:rPr>
              <a:t>Polyphenols, TF:TR, caffeine and sugar models added when partner-lab data exist; glyphosate routed to a separate residue test</a:t>
            </a:r>
            <a:endParaRPr lang="en-US" sz="713" dirty="0"/>
          </a:p>
        </p:txBody>
      </p:sp>
      <p:sp>
        <p:nvSpPr>
          <p:cNvPr id="52" name="Shape 47"/>
          <p:cNvSpPr/>
          <p:nvPr/>
        </p:nvSpPr>
        <p:spPr>
          <a:xfrm>
            <a:off x="6677025" y="2647950"/>
            <a:ext cx="1933575" cy="1190625"/>
          </a:xfrm>
          <a:prstGeom prst="roundRect">
            <a:avLst/>
          </a:prstGeom>
          <a:solidFill>
            <a:srgbClr val="0E2A26"/>
          </a:solidFill>
          <a:ln/>
        </p:spPr>
      </p:sp>
      <p:sp>
        <p:nvSpPr>
          <p:cNvPr id="53" name="Text 48"/>
          <p:cNvSpPr/>
          <p:nvPr/>
        </p:nvSpPr>
        <p:spPr>
          <a:xfrm>
            <a:off x="6838950" y="2905125"/>
            <a:ext cx="112395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ALREADY DEMONSTRATED</a:t>
            </a:r>
            <a:endParaRPr lang="en-US" sz="499" dirty="0"/>
          </a:p>
        </p:txBody>
      </p:sp>
      <p:sp>
        <p:nvSpPr>
          <p:cNvPr id="54" name="Text 49"/>
          <p:cNvSpPr/>
          <p:nvPr/>
        </p:nvSpPr>
        <p:spPr>
          <a:xfrm>
            <a:off x="6838950" y="3048000"/>
            <a:ext cx="1609725" cy="533400"/>
          </a:xfrm>
          <a:prstGeom prst="rect">
            <a:avLst/>
          </a:prstGeom>
          <a:noFill/>
          <a:ln/>
        </p:spPr>
        <p:txBody>
          <a:bodyPr wrap="square" lIns="0" tIns="0" rIns="0" bIns="0" rtlCol="0" anchor="t"/>
          <a:lstStyle/>
          <a:p>
            <a:pPr algn="l" indent="0" marL="0">
              <a:lnSpc>
                <a:spcPts val="981"/>
              </a:lnSpc>
              <a:buNone/>
            </a:pPr>
            <a:r>
              <a:rPr lang="en-US" sz="677" dirty="0">
                <a:solidFill>
                  <a:srgbClr val="E8EFEC">
                    <a:alpha val="99000"/>
                  </a:srgbClr>
                </a:solidFill>
                <a:latin typeface="Inter" pitchFamily="34" charset="0"/>
                <a:ea typeface="Inter" pitchFamily="34" charset="-122"/>
                <a:cs typeface="Inter" pitchFamily="34" charset="-120"/>
              </a:rPr>
              <a:t>Runs end to end on public NIR moisture data: SVR RMSEP 1.04%, R2p 0.989 (surrogate data, not tea; slide 15).</a:t>
            </a:r>
            <a:endParaRPr lang="en-US" sz="677" dirty="0"/>
          </a:p>
        </p:txBody>
      </p:sp>
      <p:sp>
        <p:nvSpPr>
          <p:cNvPr id="55" name="Text 50"/>
          <p:cNvSpPr/>
          <p:nvPr/>
        </p:nvSpPr>
        <p:spPr>
          <a:xfrm>
            <a:off x="666750" y="4000500"/>
            <a:ext cx="7943850" cy="157163"/>
          </a:xfrm>
          <a:prstGeom prst="rect">
            <a:avLst/>
          </a:prstGeom>
          <a:noFill/>
          <a:ln/>
        </p:spPr>
        <p:txBody>
          <a:bodyPr wrap="square" lIns="0" tIns="0" rIns="0" bIns="0" rtlCol="0" anchor="t"/>
          <a:lstStyle/>
          <a:p>
            <a:pPr algn="l" indent="0" marL="0">
              <a:lnSpc>
                <a:spcPts val="1180"/>
              </a:lnSpc>
              <a:buNone/>
            </a:pPr>
            <a:r>
              <a:rPr lang="en-US" sz="855" spc="-4" kern="0" dirty="0">
                <a:solidFill>
                  <a:srgbClr val="0E2A26">
                    <a:alpha val="99000"/>
                  </a:srgbClr>
                </a:solidFill>
                <a:latin typeface="Inter" pitchFamily="34" charset="0"/>
                <a:ea typeface="Inter" pitchFamily="34" charset="-122"/>
                <a:cs typeface="Inter" pitchFamily="34" charset="-120"/>
              </a:rPr>
              <a:t>Hardest part: generalising across sources with only 80 to 120 samples.</a:t>
            </a:r>
            <a:endParaRPr lang="en-US" sz="855" dirty="0"/>
          </a:p>
        </p:txBody>
      </p:sp>
      <p:sp>
        <p:nvSpPr>
          <p:cNvPr id="56" name="Shape 51"/>
          <p:cNvSpPr/>
          <p:nvPr/>
        </p:nvSpPr>
        <p:spPr>
          <a:xfrm>
            <a:off x="533400" y="4019550"/>
            <a:ext cx="19050" cy="128588"/>
          </a:xfrm>
          <a:prstGeom prst="rect">
            <a:avLst/>
          </a:prstGeom>
          <a:solidFill>
            <a:srgbClr val="B8893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67640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12   ·   TOOLS AND TECHNOLOGIES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Tools, technologies and alternatives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615238" y="295275"/>
            <a:ext cx="995363" cy="161925"/>
          </a:xfrm>
          <a:prstGeom prst="roundRect">
            <a:avLst/>
          </a:prstGeom>
          <a:noFill/>
          <a:ln w="5429">
            <a:solidFill>
              <a:srgbClr val="B8893B"/>
            </a:solidFill>
            <a:prstDash val="solid"/>
          </a:ln>
        </p:spPr>
      </p:sp>
      <p:sp>
        <p:nvSpPr>
          <p:cNvPr id="7" name="Text 4"/>
          <p:cNvSpPr/>
          <p:nvPr/>
        </p:nvSpPr>
        <p:spPr>
          <a:xfrm>
            <a:off x="7700963" y="335756"/>
            <a:ext cx="8239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Tools/technologies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12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5619750" cy="3086100"/>
          </a:xfrm>
          <a:prstGeom prst="roundRect">
            <a:avLst>
              <a:gd name="adj" fmla="val 4741"/>
            </a:avLst>
          </a:prstGeom>
          <a:solidFill>
            <a:srgbClr val="FFFFFF"/>
          </a:solidFill>
          <a:ln w="4524">
            <a:solidFill>
              <a:srgbClr val="E3DACA"/>
            </a:solidFill>
            <a:prstDash val="solid"/>
          </a:ln>
        </p:spPr>
      </p:sp>
      <p:sp>
        <p:nvSpPr>
          <p:cNvPr id="15" name="Shape 10"/>
          <p:cNvSpPr/>
          <p:nvPr/>
        </p:nvSpPr>
        <p:spPr>
          <a:xfrm>
            <a:off x="533400" y="1038225"/>
            <a:ext cx="5619750" cy="219075"/>
          </a:xfrm>
          <a:prstGeom prst="rect">
            <a:avLst/>
          </a:prstGeom>
          <a:solidFill>
            <a:srgbClr val="EDE6D6"/>
          </a:solidFill>
          <a:ln/>
        </p:spPr>
      </p:sp>
      <p:sp>
        <p:nvSpPr>
          <p:cNvPr id="16" name="Text 11"/>
          <p:cNvSpPr/>
          <p:nvPr/>
        </p:nvSpPr>
        <p:spPr>
          <a:xfrm>
            <a:off x="647700" y="1104900"/>
            <a:ext cx="105727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DECISION</a:t>
            </a:r>
            <a:endParaRPr lang="en-US" sz="463" dirty="0"/>
          </a:p>
        </p:txBody>
      </p:sp>
      <p:sp>
        <p:nvSpPr>
          <p:cNvPr id="17" name="Text 12"/>
          <p:cNvSpPr/>
          <p:nvPr/>
        </p:nvSpPr>
        <p:spPr>
          <a:xfrm>
            <a:off x="1838325" y="1104900"/>
            <a:ext cx="429577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CHOICE, OVER ALTERNATIVES</a:t>
            </a:r>
            <a:endParaRPr lang="en-US" sz="463" dirty="0"/>
          </a:p>
        </p:txBody>
      </p:sp>
      <p:sp>
        <p:nvSpPr>
          <p:cNvPr id="18" name="Shape 13"/>
          <p:cNvSpPr/>
          <p:nvPr/>
        </p:nvSpPr>
        <p:spPr>
          <a:xfrm>
            <a:off x="533400" y="1257300"/>
            <a:ext cx="5619750" cy="523875"/>
          </a:xfrm>
          <a:prstGeom prst="rect">
            <a:avLst/>
          </a:prstGeom>
          <a:solidFill>
            <a:srgbClr val="FBF9F4"/>
          </a:solidFill>
          <a:ln/>
        </p:spPr>
      </p:sp>
      <p:sp>
        <p:nvSpPr>
          <p:cNvPr id="19" name="Text 14"/>
          <p:cNvSpPr/>
          <p:nvPr/>
        </p:nvSpPr>
        <p:spPr>
          <a:xfrm>
            <a:off x="647700" y="1385888"/>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Sensor</a:t>
            </a:r>
            <a:endParaRPr lang="en-US" sz="748" dirty="0"/>
          </a:p>
        </p:txBody>
      </p:sp>
      <p:sp>
        <p:nvSpPr>
          <p:cNvPr id="20" name="Text 15"/>
          <p:cNvSpPr/>
          <p:nvPr/>
        </p:nvSpPr>
        <p:spPr>
          <a:xfrm>
            <a:off x="1838325" y="1385888"/>
            <a:ext cx="4295775" cy="26670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NIR, over UV-Vis, FTIR, THz (blocked by water), LIBS (destructive) and SERS (trace residues only)</a:t>
            </a:r>
            <a:endParaRPr lang="en-US" sz="748" dirty="0"/>
          </a:p>
        </p:txBody>
      </p:sp>
      <p:sp>
        <p:nvSpPr>
          <p:cNvPr id="21" name="Shape 16"/>
          <p:cNvSpPr/>
          <p:nvPr/>
        </p:nvSpPr>
        <p:spPr>
          <a:xfrm>
            <a:off x="533400" y="1257300"/>
            <a:ext cx="5619750" cy="4763"/>
          </a:xfrm>
          <a:prstGeom prst="rect">
            <a:avLst/>
          </a:prstGeom>
          <a:solidFill>
            <a:srgbClr val="E3DACA"/>
          </a:solidFill>
          <a:ln/>
        </p:spPr>
      </p:sp>
      <p:sp>
        <p:nvSpPr>
          <p:cNvPr id="22" name="Shape 17"/>
          <p:cNvSpPr/>
          <p:nvPr/>
        </p:nvSpPr>
        <p:spPr>
          <a:xfrm>
            <a:off x="533400" y="1781175"/>
            <a:ext cx="5619750" cy="390525"/>
          </a:xfrm>
          <a:prstGeom prst="rect">
            <a:avLst/>
          </a:prstGeom>
          <a:solidFill>
            <a:srgbClr val="FFFFFF"/>
          </a:solidFill>
          <a:ln/>
        </p:spPr>
      </p:sp>
      <p:sp>
        <p:nvSpPr>
          <p:cNvPr id="23" name="Text 18"/>
          <p:cNvSpPr/>
          <p:nvPr/>
        </p:nvSpPr>
        <p:spPr>
          <a:xfrm>
            <a:off x="647700" y="1909762"/>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Spectrometer</a:t>
            </a:r>
            <a:endParaRPr lang="en-US" sz="748" dirty="0"/>
          </a:p>
        </p:txBody>
      </p:sp>
      <p:sp>
        <p:nvSpPr>
          <p:cNvPr id="24" name="Text 19"/>
          <p:cNvSpPr/>
          <p:nvPr/>
        </p:nvSpPr>
        <p:spPr>
          <a:xfrm>
            <a:off x="1838325" y="1909762"/>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Portable 900 to 1700 nm InGaAs, over benchtop FT-NIR (cost, field use)</a:t>
            </a:r>
            <a:endParaRPr lang="en-US" sz="748" dirty="0"/>
          </a:p>
        </p:txBody>
      </p:sp>
      <p:sp>
        <p:nvSpPr>
          <p:cNvPr id="25" name="Shape 20"/>
          <p:cNvSpPr/>
          <p:nvPr/>
        </p:nvSpPr>
        <p:spPr>
          <a:xfrm>
            <a:off x="533400" y="1781175"/>
            <a:ext cx="5619750" cy="4763"/>
          </a:xfrm>
          <a:prstGeom prst="rect">
            <a:avLst/>
          </a:prstGeom>
          <a:solidFill>
            <a:srgbClr val="E3DACA"/>
          </a:solidFill>
          <a:ln/>
        </p:spPr>
      </p:sp>
      <p:sp>
        <p:nvSpPr>
          <p:cNvPr id="26" name="Shape 21"/>
          <p:cNvSpPr/>
          <p:nvPr/>
        </p:nvSpPr>
        <p:spPr>
          <a:xfrm>
            <a:off x="533400" y="2171700"/>
            <a:ext cx="5619750" cy="390525"/>
          </a:xfrm>
          <a:prstGeom prst="rect">
            <a:avLst/>
          </a:prstGeom>
          <a:solidFill>
            <a:srgbClr val="FBF9F4"/>
          </a:solidFill>
          <a:ln/>
        </p:spPr>
      </p:sp>
      <p:sp>
        <p:nvSpPr>
          <p:cNvPr id="27" name="Text 22"/>
          <p:cNvSpPr/>
          <p:nvPr/>
        </p:nvSpPr>
        <p:spPr>
          <a:xfrm>
            <a:off x="647700" y="2300288"/>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Reference</a:t>
            </a:r>
            <a:endParaRPr lang="en-US" sz="748" dirty="0"/>
          </a:p>
        </p:txBody>
      </p:sp>
      <p:sp>
        <p:nvSpPr>
          <p:cNvPr id="28" name="Text 23"/>
          <p:cNvSpPr/>
          <p:nvPr/>
        </p:nvSpPr>
        <p:spPr>
          <a:xfrm>
            <a:off x="1838325" y="2300288"/>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Oven-drying, over Karl Fischer (reagents) and halogen analysers</a:t>
            </a:r>
            <a:endParaRPr lang="en-US" sz="748" dirty="0"/>
          </a:p>
        </p:txBody>
      </p:sp>
      <p:sp>
        <p:nvSpPr>
          <p:cNvPr id="29" name="Shape 24"/>
          <p:cNvSpPr/>
          <p:nvPr/>
        </p:nvSpPr>
        <p:spPr>
          <a:xfrm>
            <a:off x="533400" y="2171700"/>
            <a:ext cx="5619750" cy="4763"/>
          </a:xfrm>
          <a:prstGeom prst="rect">
            <a:avLst/>
          </a:prstGeom>
          <a:solidFill>
            <a:srgbClr val="E3DACA"/>
          </a:solidFill>
          <a:ln/>
        </p:spPr>
      </p:sp>
      <p:sp>
        <p:nvSpPr>
          <p:cNvPr id="30" name="Shape 25"/>
          <p:cNvSpPr/>
          <p:nvPr/>
        </p:nvSpPr>
        <p:spPr>
          <a:xfrm>
            <a:off x="533400" y="2562225"/>
            <a:ext cx="5619750" cy="390525"/>
          </a:xfrm>
          <a:prstGeom prst="rect">
            <a:avLst/>
          </a:prstGeom>
          <a:solidFill>
            <a:srgbClr val="FFFFFF"/>
          </a:solidFill>
          <a:ln/>
        </p:spPr>
      </p:sp>
      <p:sp>
        <p:nvSpPr>
          <p:cNvPr id="31" name="Text 26"/>
          <p:cNvSpPr/>
          <p:nvPr/>
        </p:nvSpPr>
        <p:spPr>
          <a:xfrm>
            <a:off x="647700" y="2690813"/>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Preprocessing</a:t>
            </a:r>
            <a:endParaRPr lang="en-US" sz="748" dirty="0"/>
          </a:p>
        </p:txBody>
      </p:sp>
      <p:sp>
        <p:nvSpPr>
          <p:cNvPr id="32" name="Text 27"/>
          <p:cNvSpPr/>
          <p:nvPr/>
        </p:nvSpPr>
        <p:spPr>
          <a:xfrm>
            <a:off x="1838325" y="2690813"/>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SNV, MSC and Savitzky-Golay compared (Wang et al., 2025)</a:t>
            </a:r>
            <a:endParaRPr lang="en-US" sz="748" dirty="0"/>
          </a:p>
        </p:txBody>
      </p:sp>
      <p:sp>
        <p:nvSpPr>
          <p:cNvPr id="33" name="Shape 28"/>
          <p:cNvSpPr/>
          <p:nvPr/>
        </p:nvSpPr>
        <p:spPr>
          <a:xfrm>
            <a:off x="533400" y="2562225"/>
            <a:ext cx="5619750" cy="4763"/>
          </a:xfrm>
          <a:prstGeom prst="rect">
            <a:avLst/>
          </a:prstGeom>
          <a:solidFill>
            <a:srgbClr val="E3DACA"/>
          </a:solidFill>
          <a:ln/>
        </p:spPr>
      </p:sp>
      <p:sp>
        <p:nvSpPr>
          <p:cNvPr id="34" name="Shape 29"/>
          <p:cNvSpPr/>
          <p:nvPr/>
        </p:nvSpPr>
        <p:spPr>
          <a:xfrm>
            <a:off x="533400" y="2952750"/>
            <a:ext cx="5619750" cy="390525"/>
          </a:xfrm>
          <a:prstGeom prst="rect">
            <a:avLst/>
          </a:prstGeom>
          <a:solidFill>
            <a:srgbClr val="FBF9F4"/>
          </a:solidFill>
          <a:ln/>
        </p:spPr>
      </p:sp>
      <p:sp>
        <p:nvSpPr>
          <p:cNvPr id="35" name="Text 30"/>
          <p:cNvSpPr/>
          <p:nvPr/>
        </p:nvSpPr>
        <p:spPr>
          <a:xfrm>
            <a:off x="647700" y="3081338"/>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Wavelengths</a:t>
            </a:r>
            <a:endParaRPr lang="en-US" sz="748" dirty="0"/>
          </a:p>
        </p:txBody>
      </p:sp>
      <p:sp>
        <p:nvSpPr>
          <p:cNvPr id="36" name="Text 31"/>
          <p:cNvSpPr/>
          <p:nvPr/>
        </p:nvSpPr>
        <p:spPr>
          <a:xfrm>
            <a:off x="1838325" y="3081338"/>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CARS, with SPA / iPLS as comparators (Dong et al., 2018)</a:t>
            </a:r>
            <a:endParaRPr lang="en-US" sz="748" dirty="0"/>
          </a:p>
        </p:txBody>
      </p:sp>
      <p:sp>
        <p:nvSpPr>
          <p:cNvPr id="37" name="Shape 32"/>
          <p:cNvSpPr/>
          <p:nvPr/>
        </p:nvSpPr>
        <p:spPr>
          <a:xfrm>
            <a:off x="533400" y="2952750"/>
            <a:ext cx="5619750" cy="4763"/>
          </a:xfrm>
          <a:prstGeom prst="rect">
            <a:avLst/>
          </a:prstGeom>
          <a:solidFill>
            <a:srgbClr val="E3DACA"/>
          </a:solidFill>
          <a:ln/>
        </p:spPr>
      </p:sp>
      <p:sp>
        <p:nvSpPr>
          <p:cNvPr id="38" name="Shape 33"/>
          <p:cNvSpPr/>
          <p:nvPr/>
        </p:nvSpPr>
        <p:spPr>
          <a:xfrm>
            <a:off x="533400" y="3343275"/>
            <a:ext cx="5619750" cy="390525"/>
          </a:xfrm>
          <a:prstGeom prst="rect">
            <a:avLst/>
          </a:prstGeom>
          <a:solidFill>
            <a:srgbClr val="FFFFFF"/>
          </a:solidFill>
          <a:ln/>
        </p:spPr>
      </p:sp>
      <p:sp>
        <p:nvSpPr>
          <p:cNvPr id="39" name="Text 34"/>
          <p:cNvSpPr/>
          <p:nvPr/>
        </p:nvSpPr>
        <p:spPr>
          <a:xfrm>
            <a:off x="647700" y="3471863"/>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Models</a:t>
            </a:r>
            <a:endParaRPr lang="en-US" sz="748" dirty="0"/>
          </a:p>
        </p:txBody>
      </p:sp>
      <p:sp>
        <p:nvSpPr>
          <p:cNvPr id="40" name="Text 35"/>
          <p:cNvSpPr/>
          <p:nvPr/>
        </p:nvSpPr>
        <p:spPr>
          <a:xfrm>
            <a:off x="1838325" y="3471863"/>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PLSR baseline; SVR and RF; neural network only above about 150 samples</a:t>
            </a:r>
            <a:endParaRPr lang="en-US" sz="748" dirty="0"/>
          </a:p>
        </p:txBody>
      </p:sp>
      <p:sp>
        <p:nvSpPr>
          <p:cNvPr id="41" name="Shape 36"/>
          <p:cNvSpPr/>
          <p:nvPr/>
        </p:nvSpPr>
        <p:spPr>
          <a:xfrm>
            <a:off x="533400" y="3343275"/>
            <a:ext cx="5619750" cy="4763"/>
          </a:xfrm>
          <a:prstGeom prst="rect">
            <a:avLst/>
          </a:prstGeom>
          <a:solidFill>
            <a:srgbClr val="E3DACA"/>
          </a:solidFill>
          <a:ln/>
        </p:spPr>
      </p:sp>
      <p:sp>
        <p:nvSpPr>
          <p:cNvPr id="42" name="Shape 37"/>
          <p:cNvSpPr/>
          <p:nvPr/>
        </p:nvSpPr>
        <p:spPr>
          <a:xfrm>
            <a:off x="533400" y="3733800"/>
            <a:ext cx="5619750" cy="390525"/>
          </a:xfrm>
          <a:prstGeom prst="rect">
            <a:avLst/>
          </a:prstGeom>
          <a:solidFill>
            <a:srgbClr val="FBF9F4"/>
          </a:solidFill>
          <a:ln/>
        </p:spPr>
      </p:sp>
      <p:sp>
        <p:nvSpPr>
          <p:cNvPr id="43" name="Text 38"/>
          <p:cNvSpPr/>
          <p:nvPr/>
        </p:nvSpPr>
        <p:spPr>
          <a:xfrm>
            <a:off x="647700" y="3862387"/>
            <a:ext cx="1057275"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Software</a:t>
            </a:r>
            <a:endParaRPr lang="en-US" sz="748" dirty="0"/>
          </a:p>
        </p:txBody>
      </p:sp>
      <p:sp>
        <p:nvSpPr>
          <p:cNvPr id="44" name="Text 39"/>
          <p:cNvSpPr/>
          <p:nvPr/>
        </p:nvSpPr>
        <p:spPr>
          <a:xfrm>
            <a:off x="1838325" y="3862387"/>
            <a:ext cx="4295775"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Python and scikit-learn over MATLAB (licence); Git, MLflow, Streamlit</a:t>
            </a:r>
            <a:endParaRPr lang="en-US" sz="748" dirty="0"/>
          </a:p>
        </p:txBody>
      </p:sp>
      <p:sp>
        <p:nvSpPr>
          <p:cNvPr id="45" name="Shape 40"/>
          <p:cNvSpPr/>
          <p:nvPr/>
        </p:nvSpPr>
        <p:spPr>
          <a:xfrm>
            <a:off x="533400" y="3733800"/>
            <a:ext cx="5619750" cy="4763"/>
          </a:xfrm>
          <a:prstGeom prst="rect">
            <a:avLst/>
          </a:prstGeom>
          <a:solidFill>
            <a:srgbClr val="E3DACA"/>
          </a:solidFill>
          <a:ln/>
        </p:spPr>
      </p:sp>
      <p:sp>
        <p:nvSpPr>
          <p:cNvPr id="46" name="Text 41"/>
          <p:cNvSpPr/>
          <p:nvPr/>
        </p:nvSpPr>
        <p:spPr>
          <a:xfrm>
            <a:off x="6305550" y="1038225"/>
            <a:ext cx="90963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SELECTION CRITERIA</a:t>
            </a:r>
            <a:endParaRPr lang="en-US" sz="499" dirty="0"/>
          </a:p>
        </p:txBody>
      </p:sp>
      <p:sp>
        <p:nvSpPr>
          <p:cNvPr id="47" name="Shape 42"/>
          <p:cNvSpPr/>
          <p:nvPr/>
        </p:nvSpPr>
        <p:spPr>
          <a:xfrm>
            <a:off x="6305550" y="1181100"/>
            <a:ext cx="2305050" cy="4763"/>
          </a:xfrm>
          <a:prstGeom prst="rect">
            <a:avLst/>
          </a:prstGeom>
          <a:solidFill>
            <a:srgbClr val="0E2A26">
              <a:alpha val="18000"/>
            </a:srgbClr>
          </a:solidFill>
          <a:ln/>
        </p:spPr>
      </p:sp>
      <p:sp>
        <p:nvSpPr>
          <p:cNvPr id="48" name="Shape 43"/>
          <p:cNvSpPr/>
          <p:nvPr/>
        </p:nvSpPr>
        <p:spPr>
          <a:xfrm>
            <a:off x="6305550" y="1304925"/>
            <a:ext cx="114300" cy="114300"/>
          </a:xfrm>
          <a:prstGeom prst="ellipse">
            <a:avLst/>
          </a:prstGeom>
          <a:solidFill>
            <a:srgbClr val="DCE8E3"/>
          </a:solidFill>
          <a:ln/>
        </p:spPr>
      </p:sp>
      <p:sp>
        <p:nvSpPr>
          <p:cNvPr id="49" name="Text 44"/>
          <p:cNvSpPr/>
          <p:nvPr/>
        </p:nvSpPr>
        <p:spPr>
          <a:xfrm>
            <a:off x="6331744" y="1321594"/>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50" name="Text 45"/>
          <p:cNvSpPr/>
          <p:nvPr/>
        </p:nvSpPr>
        <p:spPr>
          <a:xfrm>
            <a:off x="6496050" y="1285875"/>
            <a:ext cx="2114550" cy="276225"/>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Sensitivity to water and major tea components</a:t>
            </a:r>
            <a:endParaRPr lang="en-US" sz="748" dirty="0"/>
          </a:p>
        </p:txBody>
      </p:sp>
      <p:sp>
        <p:nvSpPr>
          <p:cNvPr id="51" name="Shape 46"/>
          <p:cNvSpPr/>
          <p:nvPr/>
        </p:nvSpPr>
        <p:spPr>
          <a:xfrm>
            <a:off x="6305550" y="1676400"/>
            <a:ext cx="114300" cy="114300"/>
          </a:xfrm>
          <a:prstGeom prst="ellipse">
            <a:avLst/>
          </a:prstGeom>
          <a:solidFill>
            <a:srgbClr val="DCE8E3"/>
          </a:solidFill>
          <a:ln/>
        </p:spPr>
      </p:sp>
      <p:sp>
        <p:nvSpPr>
          <p:cNvPr id="52" name="Text 47"/>
          <p:cNvSpPr/>
          <p:nvPr/>
        </p:nvSpPr>
        <p:spPr>
          <a:xfrm>
            <a:off x="6331744" y="1693069"/>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53" name="Text 48"/>
          <p:cNvSpPr/>
          <p:nvPr/>
        </p:nvSpPr>
        <p:spPr>
          <a:xfrm>
            <a:off x="6496050" y="1657350"/>
            <a:ext cx="2114550" cy="138113"/>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Portability and low cost for factories</a:t>
            </a:r>
            <a:endParaRPr lang="en-US" sz="748" dirty="0"/>
          </a:p>
        </p:txBody>
      </p:sp>
      <p:sp>
        <p:nvSpPr>
          <p:cNvPr id="54" name="Shape 49"/>
          <p:cNvSpPr/>
          <p:nvPr/>
        </p:nvSpPr>
        <p:spPr>
          <a:xfrm>
            <a:off x="6305550" y="1909762"/>
            <a:ext cx="114300" cy="114300"/>
          </a:xfrm>
          <a:prstGeom prst="ellipse">
            <a:avLst/>
          </a:prstGeom>
          <a:solidFill>
            <a:srgbClr val="DCE8E3"/>
          </a:solidFill>
          <a:ln/>
        </p:spPr>
      </p:sp>
      <p:sp>
        <p:nvSpPr>
          <p:cNvPr id="55" name="Text 50"/>
          <p:cNvSpPr/>
          <p:nvPr/>
        </p:nvSpPr>
        <p:spPr>
          <a:xfrm>
            <a:off x="6331744" y="1926431"/>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56" name="Text 51"/>
          <p:cNvSpPr/>
          <p:nvPr/>
        </p:nvSpPr>
        <p:spPr>
          <a:xfrm>
            <a:off x="6496050" y="1890713"/>
            <a:ext cx="2114550" cy="138113"/>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Evidence of use on tea</a:t>
            </a:r>
            <a:endParaRPr lang="en-US" sz="748" dirty="0"/>
          </a:p>
        </p:txBody>
      </p:sp>
      <p:sp>
        <p:nvSpPr>
          <p:cNvPr id="57" name="Shape 52"/>
          <p:cNvSpPr/>
          <p:nvPr/>
        </p:nvSpPr>
        <p:spPr>
          <a:xfrm>
            <a:off x="6305550" y="2143125"/>
            <a:ext cx="114300" cy="114300"/>
          </a:xfrm>
          <a:prstGeom prst="ellipse">
            <a:avLst/>
          </a:prstGeom>
          <a:solidFill>
            <a:srgbClr val="DCE8E3"/>
          </a:solidFill>
          <a:ln/>
        </p:spPr>
      </p:sp>
      <p:sp>
        <p:nvSpPr>
          <p:cNvPr id="58" name="Text 53"/>
          <p:cNvSpPr/>
          <p:nvPr/>
        </p:nvSpPr>
        <p:spPr>
          <a:xfrm>
            <a:off x="6331744" y="2159794"/>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59" name="Text 54"/>
          <p:cNvSpPr/>
          <p:nvPr/>
        </p:nvSpPr>
        <p:spPr>
          <a:xfrm>
            <a:off x="6496050" y="2124075"/>
            <a:ext cx="2114550" cy="138113"/>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Accuracy with small datasets</a:t>
            </a:r>
            <a:endParaRPr lang="en-US" sz="748" dirty="0"/>
          </a:p>
        </p:txBody>
      </p:sp>
      <p:sp>
        <p:nvSpPr>
          <p:cNvPr id="60" name="Shape 55"/>
          <p:cNvSpPr/>
          <p:nvPr/>
        </p:nvSpPr>
        <p:spPr>
          <a:xfrm>
            <a:off x="6305550" y="2376488"/>
            <a:ext cx="114300" cy="114300"/>
          </a:xfrm>
          <a:prstGeom prst="ellipse">
            <a:avLst/>
          </a:prstGeom>
          <a:solidFill>
            <a:srgbClr val="DCE8E3"/>
          </a:solidFill>
          <a:ln/>
        </p:spPr>
      </p:sp>
      <p:sp>
        <p:nvSpPr>
          <p:cNvPr id="61" name="Text 56"/>
          <p:cNvSpPr/>
          <p:nvPr/>
        </p:nvSpPr>
        <p:spPr>
          <a:xfrm>
            <a:off x="6331744" y="2393156"/>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62" name="Text 57"/>
          <p:cNvSpPr/>
          <p:nvPr/>
        </p:nvSpPr>
        <p:spPr>
          <a:xfrm>
            <a:off x="6496050" y="2357438"/>
            <a:ext cx="2114550" cy="138113"/>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Reproducibility and open licences</a:t>
            </a:r>
            <a:endParaRPr lang="en-US" sz="748" dirty="0"/>
          </a:p>
        </p:txBody>
      </p:sp>
      <p:sp>
        <p:nvSpPr>
          <p:cNvPr id="63" name="Shape 58"/>
          <p:cNvSpPr/>
          <p:nvPr/>
        </p:nvSpPr>
        <p:spPr>
          <a:xfrm>
            <a:off x="6305550" y="2609850"/>
            <a:ext cx="114300" cy="114300"/>
          </a:xfrm>
          <a:prstGeom prst="ellipse">
            <a:avLst/>
          </a:prstGeom>
          <a:solidFill>
            <a:srgbClr val="DCE8E3"/>
          </a:solidFill>
          <a:ln/>
        </p:spPr>
      </p:sp>
      <p:sp>
        <p:nvSpPr>
          <p:cNvPr id="64" name="Text 59"/>
          <p:cNvSpPr/>
          <p:nvPr/>
        </p:nvSpPr>
        <p:spPr>
          <a:xfrm>
            <a:off x="6331744" y="2626519"/>
            <a:ext cx="61912" cy="80963"/>
          </a:xfrm>
          <a:prstGeom prst="rect">
            <a:avLst/>
          </a:prstGeom>
          <a:noFill/>
          <a:ln/>
        </p:spPr>
        <p:txBody>
          <a:bodyPr wrap="square" lIns="0" tIns="0" rIns="0" bIns="0" rtlCol="0" anchor="t"/>
          <a:lstStyle/>
          <a:p>
            <a:pPr algn="l" indent="0" marL="0">
              <a:lnSpc>
                <a:spcPts val="604"/>
              </a:lnSpc>
              <a:buNone/>
            </a:pPr>
            <a:r>
              <a:rPr lang="en-US" sz="499" b="1" dirty="0">
                <a:solidFill>
                  <a:srgbClr val="1F5C4F">
                    <a:alpha val="99000"/>
                  </a:srgbClr>
                </a:solidFill>
                <a:latin typeface="Inter" pitchFamily="34" charset="0"/>
                <a:ea typeface="Inter" pitchFamily="34" charset="-122"/>
                <a:cs typeface="Inter" pitchFamily="34" charset="-120"/>
              </a:rPr>
              <a:t>✓</a:t>
            </a:r>
            <a:endParaRPr lang="en-US" sz="499" dirty="0"/>
          </a:p>
        </p:txBody>
      </p:sp>
      <p:sp>
        <p:nvSpPr>
          <p:cNvPr id="65" name="Text 60"/>
          <p:cNvSpPr/>
          <p:nvPr/>
        </p:nvSpPr>
        <p:spPr>
          <a:xfrm>
            <a:off x="6496050" y="2590800"/>
            <a:ext cx="2114550" cy="138113"/>
          </a:xfrm>
          <a:prstGeom prst="rect">
            <a:avLst/>
          </a:prstGeom>
          <a:noFill/>
          <a:ln/>
        </p:spPr>
        <p:txBody>
          <a:bodyPr wrap="square" lIns="0" tIns="0" rIns="0" bIns="0" rtlCol="0" anchor="t"/>
          <a:lstStyle/>
          <a:p>
            <a:pPr algn="l" indent="0" marL="0">
              <a:lnSpc>
                <a:spcPts val="1047"/>
              </a:lnSpc>
              <a:buNone/>
            </a:pPr>
            <a:r>
              <a:rPr lang="en-US" sz="748" dirty="0">
                <a:solidFill>
                  <a:srgbClr val="23302D">
                    <a:alpha val="99000"/>
                  </a:srgbClr>
                </a:solidFill>
                <a:latin typeface="Inter" pitchFamily="34" charset="0"/>
                <a:ea typeface="Inter" pitchFamily="34" charset="-122"/>
                <a:cs typeface="Inter" pitchFamily="34" charset="-120"/>
              </a:rPr>
              <a:t>Fit with the evaluation design</a:t>
            </a:r>
            <a:endParaRPr lang="en-US" sz="748" dirty="0"/>
          </a:p>
        </p:txBody>
      </p:sp>
      <p:sp>
        <p:nvSpPr>
          <p:cNvPr id="66" name="Shape 61"/>
          <p:cNvSpPr/>
          <p:nvPr/>
        </p:nvSpPr>
        <p:spPr>
          <a:xfrm>
            <a:off x="6305550" y="3543300"/>
            <a:ext cx="2305050" cy="1123950"/>
          </a:xfrm>
          <a:prstGeom prst="roundRect">
            <a:avLst/>
          </a:prstGeom>
          <a:solidFill>
            <a:srgbClr val="0E2A26"/>
          </a:solidFill>
          <a:ln/>
        </p:spPr>
      </p:sp>
      <p:sp>
        <p:nvSpPr>
          <p:cNvPr id="67" name="Shape 62"/>
          <p:cNvSpPr/>
          <p:nvPr/>
        </p:nvSpPr>
        <p:spPr>
          <a:xfrm>
            <a:off x="6477000" y="3705225"/>
            <a:ext cx="152400" cy="14288"/>
          </a:xfrm>
          <a:prstGeom prst="rect">
            <a:avLst/>
          </a:prstGeom>
          <a:solidFill>
            <a:srgbClr val="D4AF63"/>
          </a:solidFill>
          <a:ln/>
        </p:spPr>
      </p:sp>
      <p:sp>
        <p:nvSpPr>
          <p:cNvPr id="68" name="Text 63"/>
          <p:cNvSpPr/>
          <p:nvPr/>
        </p:nvSpPr>
        <p:spPr>
          <a:xfrm>
            <a:off x="6477000" y="3781425"/>
            <a:ext cx="1438275"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WHY NOT DEEP LEARNING FIRST?</a:t>
            </a:r>
            <a:endParaRPr lang="en-US" sz="499" dirty="0"/>
          </a:p>
        </p:txBody>
      </p:sp>
      <p:sp>
        <p:nvSpPr>
          <p:cNvPr id="69" name="Text 64"/>
          <p:cNvSpPr/>
          <p:nvPr/>
        </p:nvSpPr>
        <p:spPr>
          <a:xfrm>
            <a:off x="6477000" y="3943350"/>
            <a:ext cx="1962150" cy="552450"/>
          </a:xfrm>
          <a:prstGeom prst="rect">
            <a:avLst/>
          </a:prstGeom>
          <a:noFill/>
          <a:ln/>
        </p:spPr>
        <p:txBody>
          <a:bodyPr wrap="square" lIns="0" tIns="0" rIns="0" bIns="0" rtlCol="0" anchor="t"/>
          <a:lstStyle/>
          <a:p>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Deep models won with 1,505 to 17,856 spectra (Kang et al., 2026; Tao et al., 2026). With 80 to 120 samples, PLSR, SVR and RF are the fair choices.</a:t>
            </a:r>
            <a:endParaRPr lang="en-US" sz="71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076325"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13   ·   METHODOLOGY</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Methodology and methods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20025" y="295275"/>
            <a:ext cx="790575" cy="161925"/>
          </a:xfrm>
          <a:prstGeom prst="roundRect">
            <a:avLst/>
          </a:prstGeom>
          <a:noFill/>
          <a:ln w="5429">
            <a:solidFill>
              <a:srgbClr val="B8893B"/>
            </a:solidFill>
            <a:prstDash val="solid"/>
          </a:ln>
        </p:spPr>
      </p:sp>
      <p:sp>
        <p:nvSpPr>
          <p:cNvPr id="7" name="Text 4"/>
          <p:cNvSpPr/>
          <p:nvPr/>
        </p:nvSpPr>
        <p:spPr>
          <a:xfrm>
            <a:off x="7905750" y="335756"/>
            <a:ext cx="619125"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Methodology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13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19175"/>
            <a:ext cx="790575" cy="200025"/>
          </a:xfrm>
          <a:prstGeom prst="roundRect">
            <a:avLst/>
          </a:prstGeom>
          <a:solidFill>
            <a:srgbClr val="FFFFFF"/>
          </a:solidFill>
          <a:ln w="4524">
            <a:solidFill>
              <a:srgbClr val="E3DACA"/>
            </a:solidFill>
            <a:prstDash val="solid"/>
          </a:ln>
        </p:spPr>
      </p:sp>
      <p:sp>
        <p:nvSpPr>
          <p:cNvPr id="15" name="Text 10"/>
          <p:cNvSpPr/>
          <p:nvPr/>
        </p:nvSpPr>
        <p:spPr>
          <a:xfrm>
            <a:off x="600075" y="1076325"/>
            <a:ext cx="657225"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Protocol and pilot</a:t>
            </a:r>
            <a:endParaRPr lang="en-US" sz="534" dirty="0"/>
          </a:p>
        </p:txBody>
      </p:sp>
      <p:sp>
        <p:nvSpPr>
          <p:cNvPr id="16" name="Text 11"/>
          <p:cNvSpPr/>
          <p:nvPr/>
        </p:nvSpPr>
        <p:spPr>
          <a:xfrm>
            <a:off x="1362075"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17" name="Shape 12"/>
          <p:cNvSpPr/>
          <p:nvPr/>
        </p:nvSpPr>
        <p:spPr>
          <a:xfrm>
            <a:off x="1485900" y="1019175"/>
            <a:ext cx="395288" cy="200025"/>
          </a:xfrm>
          <a:prstGeom prst="roundRect">
            <a:avLst/>
          </a:prstGeom>
          <a:solidFill>
            <a:srgbClr val="FFFFFF"/>
          </a:solidFill>
          <a:ln w="4524">
            <a:solidFill>
              <a:srgbClr val="E3DACA"/>
            </a:solidFill>
            <a:prstDash val="solid"/>
          </a:ln>
        </p:spPr>
      </p:sp>
      <p:sp>
        <p:nvSpPr>
          <p:cNvPr id="18" name="Text 13"/>
          <p:cNvSpPr/>
          <p:nvPr/>
        </p:nvSpPr>
        <p:spPr>
          <a:xfrm>
            <a:off x="1552575" y="1076325"/>
            <a:ext cx="261937"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Collect</a:t>
            </a:r>
            <a:endParaRPr lang="en-US" sz="534" dirty="0"/>
          </a:p>
        </p:txBody>
      </p:sp>
      <p:sp>
        <p:nvSpPr>
          <p:cNvPr id="19" name="Text 14"/>
          <p:cNvSpPr/>
          <p:nvPr/>
        </p:nvSpPr>
        <p:spPr>
          <a:xfrm>
            <a:off x="1919288"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20" name="Shape 15"/>
          <p:cNvSpPr/>
          <p:nvPr/>
        </p:nvSpPr>
        <p:spPr>
          <a:xfrm>
            <a:off x="2043113" y="1019175"/>
            <a:ext cx="247650" cy="200025"/>
          </a:xfrm>
          <a:prstGeom prst="roundRect">
            <a:avLst/>
          </a:prstGeom>
          <a:solidFill>
            <a:srgbClr val="FFFFFF"/>
          </a:solidFill>
          <a:ln w="4524">
            <a:solidFill>
              <a:srgbClr val="E3DACA"/>
            </a:solidFill>
            <a:prstDash val="solid"/>
          </a:ln>
        </p:spPr>
      </p:sp>
      <p:sp>
        <p:nvSpPr>
          <p:cNvPr id="21" name="Text 16"/>
          <p:cNvSpPr/>
          <p:nvPr/>
        </p:nvSpPr>
        <p:spPr>
          <a:xfrm>
            <a:off x="2109788" y="1076325"/>
            <a:ext cx="114300"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QC</a:t>
            </a:r>
            <a:endParaRPr lang="en-US" sz="534" dirty="0"/>
          </a:p>
        </p:txBody>
      </p:sp>
      <p:sp>
        <p:nvSpPr>
          <p:cNvPr id="22" name="Text 17"/>
          <p:cNvSpPr/>
          <p:nvPr/>
        </p:nvSpPr>
        <p:spPr>
          <a:xfrm>
            <a:off x="2328863"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23" name="Shape 18"/>
          <p:cNvSpPr/>
          <p:nvPr/>
        </p:nvSpPr>
        <p:spPr>
          <a:xfrm>
            <a:off x="2452688" y="1019175"/>
            <a:ext cx="614363" cy="200025"/>
          </a:xfrm>
          <a:prstGeom prst="roundRect">
            <a:avLst/>
          </a:prstGeom>
          <a:solidFill>
            <a:srgbClr val="0E2A26"/>
          </a:solidFill>
          <a:ln/>
        </p:spPr>
      </p:sp>
      <p:sp>
        <p:nvSpPr>
          <p:cNvPr id="24" name="Text 19"/>
          <p:cNvSpPr/>
          <p:nvPr/>
        </p:nvSpPr>
        <p:spPr>
          <a:xfrm>
            <a:off x="2519363" y="1076325"/>
            <a:ext cx="481012"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D4AF63">
                    <a:alpha val="99000"/>
                  </a:srgbClr>
                </a:solidFill>
                <a:latin typeface="Inter" pitchFamily="34" charset="0"/>
                <a:ea typeface="Inter" pitchFamily="34" charset="-122"/>
                <a:cs typeface="Inter" pitchFamily="34" charset="-120"/>
              </a:rPr>
              <a:t>Lock test set</a:t>
            </a:r>
            <a:endParaRPr lang="en-US" sz="534" dirty="0"/>
          </a:p>
        </p:txBody>
      </p:sp>
      <p:sp>
        <p:nvSpPr>
          <p:cNvPr id="25" name="Text 20"/>
          <p:cNvSpPr/>
          <p:nvPr/>
        </p:nvSpPr>
        <p:spPr>
          <a:xfrm>
            <a:off x="3105150"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26" name="Shape 21"/>
          <p:cNvSpPr/>
          <p:nvPr/>
        </p:nvSpPr>
        <p:spPr>
          <a:xfrm>
            <a:off x="3228975" y="1019175"/>
            <a:ext cx="447675" cy="200025"/>
          </a:xfrm>
          <a:prstGeom prst="roundRect">
            <a:avLst/>
          </a:prstGeom>
          <a:solidFill>
            <a:srgbClr val="FFFFFF"/>
          </a:solidFill>
          <a:ln w="4524">
            <a:solidFill>
              <a:srgbClr val="E3DACA"/>
            </a:solidFill>
            <a:prstDash val="solid"/>
          </a:ln>
        </p:spPr>
      </p:sp>
      <p:sp>
        <p:nvSpPr>
          <p:cNvPr id="27" name="Text 22"/>
          <p:cNvSpPr/>
          <p:nvPr/>
        </p:nvSpPr>
        <p:spPr>
          <a:xfrm>
            <a:off x="3295650" y="1076325"/>
            <a:ext cx="314325"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Baseline</a:t>
            </a:r>
            <a:endParaRPr lang="en-US" sz="534" dirty="0"/>
          </a:p>
        </p:txBody>
      </p:sp>
      <p:sp>
        <p:nvSpPr>
          <p:cNvPr id="28" name="Text 23"/>
          <p:cNvSpPr/>
          <p:nvPr/>
        </p:nvSpPr>
        <p:spPr>
          <a:xfrm>
            <a:off x="3714750"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29" name="Shape 24"/>
          <p:cNvSpPr/>
          <p:nvPr/>
        </p:nvSpPr>
        <p:spPr>
          <a:xfrm>
            <a:off x="3838575" y="1019175"/>
            <a:ext cx="552450" cy="200025"/>
          </a:xfrm>
          <a:prstGeom prst="roundRect">
            <a:avLst/>
          </a:prstGeom>
          <a:solidFill>
            <a:srgbClr val="FFFFFF"/>
          </a:solidFill>
          <a:ln w="4524">
            <a:solidFill>
              <a:srgbClr val="E3DACA"/>
            </a:solidFill>
            <a:prstDash val="solid"/>
          </a:ln>
        </p:spPr>
      </p:sp>
      <p:sp>
        <p:nvSpPr>
          <p:cNvPr id="30" name="Text 25"/>
          <p:cNvSpPr/>
          <p:nvPr/>
        </p:nvSpPr>
        <p:spPr>
          <a:xfrm>
            <a:off x="3905250" y="1076325"/>
            <a:ext cx="419100"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Preprocess</a:t>
            </a:r>
            <a:endParaRPr lang="en-US" sz="534" dirty="0"/>
          </a:p>
        </p:txBody>
      </p:sp>
      <p:sp>
        <p:nvSpPr>
          <p:cNvPr id="31" name="Text 26"/>
          <p:cNvSpPr/>
          <p:nvPr/>
        </p:nvSpPr>
        <p:spPr>
          <a:xfrm>
            <a:off x="4429125"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32" name="Shape 27"/>
          <p:cNvSpPr/>
          <p:nvPr/>
        </p:nvSpPr>
        <p:spPr>
          <a:xfrm>
            <a:off x="4552950" y="1019175"/>
            <a:ext cx="366713" cy="200025"/>
          </a:xfrm>
          <a:prstGeom prst="roundRect">
            <a:avLst/>
          </a:prstGeom>
          <a:solidFill>
            <a:srgbClr val="FFFFFF"/>
          </a:solidFill>
          <a:ln w="4524">
            <a:solidFill>
              <a:srgbClr val="E3DACA"/>
            </a:solidFill>
            <a:prstDash val="solid"/>
          </a:ln>
        </p:spPr>
      </p:sp>
      <p:sp>
        <p:nvSpPr>
          <p:cNvPr id="33" name="Text 28"/>
          <p:cNvSpPr/>
          <p:nvPr/>
        </p:nvSpPr>
        <p:spPr>
          <a:xfrm>
            <a:off x="4619625" y="1076325"/>
            <a:ext cx="233362"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Select</a:t>
            </a:r>
            <a:endParaRPr lang="en-US" sz="534" dirty="0"/>
          </a:p>
        </p:txBody>
      </p:sp>
      <p:sp>
        <p:nvSpPr>
          <p:cNvPr id="34" name="Text 29"/>
          <p:cNvSpPr/>
          <p:nvPr/>
        </p:nvSpPr>
        <p:spPr>
          <a:xfrm>
            <a:off x="4957763"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35" name="Shape 30"/>
          <p:cNvSpPr/>
          <p:nvPr/>
        </p:nvSpPr>
        <p:spPr>
          <a:xfrm>
            <a:off x="5081588" y="1019175"/>
            <a:ext cx="361950" cy="200025"/>
          </a:xfrm>
          <a:prstGeom prst="roundRect">
            <a:avLst/>
          </a:prstGeom>
          <a:solidFill>
            <a:srgbClr val="FFFFFF"/>
          </a:solidFill>
          <a:ln w="4524">
            <a:solidFill>
              <a:srgbClr val="E3DACA"/>
            </a:solidFill>
            <a:prstDash val="solid"/>
          </a:ln>
        </p:spPr>
      </p:sp>
      <p:sp>
        <p:nvSpPr>
          <p:cNvPr id="36" name="Text 31"/>
          <p:cNvSpPr/>
          <p:nvPr/>
        </p:nvSpPr>
        <p:spPr>
          <a:xfrm>
            <a:off x="5148263" y="1076325"/>
            <a:ext cx="228600"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Model</a:t>
            </a:r>
            <a:endParaRPr lang="en-US" sz="534" dirty="0"/>
          </a:p>
        </p:txBody>
      </p:sp>
      <p:sp>
        <p:nvSpPr>
          <p:cNvPr id="37" name="Text 32"/>
          <p:cNvSpPr/>
          <p:nvPr/>
        </p:nvSpPr>
        <p:spPr>
          <a:xfrm>
            <a:off x="5481638"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38" name="Shape 33"/>
          <p:cNvSpPr/>
          <p:nvPr/>
        </p:nvSpPr>
        <p:spPr>
          <a:xfrm>
            <a:off x="5605463" y="1019175"/>
            <a:ext cx="452438" cy="200025"/>
          </a:xfrm>
          <a:prstGeom prst="roundRect">
            <a:avLst/>
          </a:prstGeom>
          <a:solidFill>
            <a:srgbClr val="FFFFFF"/>
          </a:solidFill>
          <a:ln w="4524">
            <a:solidFill>
              <a:srgbClr val="E3DACA"/>
            </a:solidFill>
            <a:prstDash val="solid"/>
          </a:ln>
        </p:spPr>
      </p:sp>
      <p:sp>
        <p:nvSpPr>
          <p:cNvPr id="39" name="Text 34"/>
          <p:cNvSpPr/>
          <p:nvPr/>
        </p:nvSpPr>
        <p:spPr>
          <a:xfrm>
            <a:off x="5672138" y="1076325"/>
            <a:ext cx="319088"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Evaluate</a:t>
            </a:r>
            <a:endParaRPr lang="en-US" sz="534" dirty="0"/>
          </a:p>
        </p:txBody>
      </p:sp>
      <p:sp>
        <p:nvSpPr>
          <p:cNvPr id="40" name="Text 35"/>
          <p:cNvSpPr/>
          <p:nvPr/>
        </p:nvSpPr>
        <p:spPr>
          <a:xfrm>
            <a:off x="6096000" y="1062038"/>
            <a:ext cx="85725" cy="104775"/>
          </a:xfrm>
          <a:prstGeom prst="rect">
            <a:avLst/>
          </a:prstGeom>
          <a:noFill/>
          <a:ln/>
        </p:spPr>
        <p:txBody>
          <a:bodyPr wrap="square" lIns="0" tIns="0" rIns="0" bIns="0" rtlCol="0" anchor="t"/>
          <a:lstStyle/>
          <a:p>
            <a:pPr algn="l" indent="0" marL="0">
              <a:lnSpc>
                <a:spcPts val="776"/>
              </a:lnSpc>
              <a:buNone/>
            </a:pPr>
            <a:r>
              <a:rPr lang="en-US" sz="641" dirty="0">
                <a:solidFill>
                  <a:srgbClr val="B8893B">
                    <a:alpha val="99000"/>
                  </a:srgbClr>
                </a:solidFill>
                <a:latin typeface="Inter" pitchFamily="34" charset="0"/>
                <a:ea typeface="Inter" pitchFamily="34" charset="-122"/>
                <a:cs typeface="Inter" pitchFamily="34" charset="-120"/>
              </a:rPr>
              <a:t>→</a:t>
            </a:r>
            <a:endParaRPr lang="en-US" sz="641" dirty="0"/>
          </a:p>
        </p:txBody>
      </p:sp>
      <p:sp>
        <p:nvSpPr>
          <p:cNvPr id="41" name="Shape 36"/>
          <p:cNvSpPr/>
          <p:nvPr/>
        </p:nvSpPr>
        <p:spPr>
          <a:xfrm>
            <a:off x="6219825" y="1019175"/>
            <a:ext cx="481012" cy="200025"/>
          </a:xfrm>
          <a:prstGeom prst="roundRect">
            <a:avLst/>
          </a:prstGeom>
          <a:solidFill>
            <a:srgbClr val="FFFFFF"/>
          </a:solidFill>
          <a:ln w="4524">
            <a:solidFill>
              <a:srgbClr val="E3DACA"/>
            </a:solidFill>
            <a:prstDash val="solid"/>
          </a:ln>
        </p:spPr>
      </p:sp>
      <p:sp>
        <p:nvSpPr>
          <p:cNvPr id="42" name="Text 37"/>
          <p:cNvSpPr/>
          <p:nvPr/>
        </p:nvSpPr>
        <p:spPr>
          <a:xfrm>
            <a:off x="6286500" y="1076325"/>
            <a:ext cx="347663" cy="85725"/>
          </a:xfrm>
          <a:prstGeom prst="rect">
            <a:avLst/>
          </a:prstGeom>
          <a:noFill/>
          <a:ln/>
        </p:spPr>
        <p:txBody>
          <a:bodyPr wrap="square" lIns="0" tIns="0" rIns="0" bIns="0" rtlCol="0" anchor="t"/>
          <a:lstStyle/>
          <a:p>
            <a:pPr algn="l" indent="0" marL="0">
              <a:lnSpc>
                <a:spcPts val="647"/>
              </a:lnSpc>
              <a:buNone/>
            </a:pPr>
            <a:r>
              <a:rPr lang="en-US" sz="534" b="1" spc="21" kern="0" dirty="0">
                <a:solidFill>
                  <a:srgbClr val="0E2A26">
                    <a:alpha val="99000"/>
                  </a:srgbClr>
                </a:solidFill>
                <a:latin typeface="Inter" pitchFamily="34" charset="0"/>
                <a:ea typeface="Inter" pitchFamily="34" charset="-122"/>
                <a:cs typeface="Inter" pitchFamily="34" charset="-120"/>
              </a:rPr>
              <a:t>Field test</a:t>
            </a:r>
            <a:endParaRPr lang="en-US" sz="534" dirty="0"/>
          </a:p>
        </p:txBody>
      </p:sp>
      <p:sp>
        <p:nvSpPr>
          <p:cNvPr id="43" name="Text 38"/>
          <p:cNvSpPr/>
          <p:nvPr/>
        </p:nvSpPr>
        <p:spPr>
          <a:xfrm>
            <a:off x="533400" y="1447800"/>
            <a:ext cx="657225"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METHODOLOGY</a:t>
            </a:r>
            <a:endParaRPr lang="en-US" sz="499" dirty="0"/>
          </a:p>
        </p:txBody>
      </p:sp>
      <p:sp>
        <p:nvSpPr>
          <p:cNvPr id="44" name="Shape 39"/>
          <p:cNvSpPr/>
          <p:nvPr/>
        </p:nvSpPr>
        <p:spPr>
          <a:xfrm>
            <a:off x="533400" y="1590675"/>
            <a:ext cx="3905250" cy="4763"/>
          </a:xfrm>
          <a:prstGeom prst="rect">
            <a:avLst/>
          </a:prstGeom>
          <a:solidFill>
            <a:srgbClr val="0E2A26">
              <a:alpha val="18000"/>
            </a:srgbClr>
          </a:solidFill>
          <a:ln/>
        </p:spPr>
      </p:sp>
      <p:sp>
        <p:nvSpPr>
          <p:cNvPr id="45" name="Text 40"/>
          <p:cNvSpPr/>
          <p:nvPr/>
        </p:nvSpPr>
        <p:spPr>
          <a:xfrm>
            <a:off x="533400" y="1695450"/>
            <a:ext cx="3905250" cy="157163"/>
          </a:xfrm>
          <a:prstGeom prst="rect">
            <a:avLst/>
          </a:prstGeom>
          <a:noFill/>
          <a:ln/>
        </p:spPr>
        <p:txBody>
          <a:bodyPr wrap="square" lIns="0" tIns="0" rIns="0" bIns="0" rtlCol="0" anchor="t"/>
          <a:lstStyle/>
          <a:p>
            <a:pPr algn="l" indent="0" marL="0">
              <a:lnSpc>
                <a:spcPts val="1188"/>
              </a:lnSpc>
              <a:buNone/>
            </a:pPr>
            <a:r>
              <a:rPr lang="en-US" sz="819" b="1" dirty="0">
                <a:solidFill>
                  <a:srgbClr val="1F5C4F">
                    <a:alpha val="99000"/>
                  </a:srgbClr>
                </a:solidFill>
                <a:latin typeface="Inter" pitchFamily="34" charset="0"/>
                <a:ea typeface="Inter" pitchFamily="34" charset="-122"/>
                <a:cs typeface="Inter" pitchFamily="34" charset="-120"/>
              </a:rPr>
              <a:t>Philosophy</a:t>
            </a:r>
            <a:pPr algn="l" indent="0" marL="0">
              <a:lnSpc>
                <a:spcPts val="1188"/>
              </a:lnSpc>
              <a:buNone/>
            </a:pPr>
            <a:r>
              <a:rPr lang="en-US" sz="819" dirty="0">
                <a:solidFill>
                  <a:srgbClr val="23302D">
                    <a:alpha val="99000"/>
                  </a:srgbClr>
                </a:solidFill>
                <a:latin typeface="Inter" pitchFamily="34" charset="0"/>
                <a:ea typeface="Inter" pitchFamily="34" charset="-122"/>
                <a:cs typeface="Inter" pitchFamily="34" charset="-120"/>
              </a:rPr>
              <a:t>  Positivism; deductive approach</a:t>
            </a:r>
            <a:endParaRPr lang="en-US" sz="819" dirty="0"/>
          </a:p>
        </p:txBody>
      </p:sp>
      <p:sp>
        <p:nvSpPr>
          <p:cNvPr id="46" name="Shape 41"/>
          <p:cNvSpPr/>
          <p:nvPr/>
        </p:nvSpPr>
        <p:spPr>
          <a:xfrm>
            <a:off x="533400" y="1976438"/>
            <a:ext cx="3905250" cy="4763"/>
          </a:xfrm>
          <a:prstGeom prst="rect">
            <a:avLst/>
          </a:prstGeom>
          <a:solidFill>
            <a:srgbClr val="E3DACA"/>
          </a:solidFill>
          <a:ln/>
        </p:spPr>
      </p:sp>
      <p:sp>
        <p:nvSpPr>
          <p:cNvPr id="47" name="Text 42"/>
          <p:cNvSpPr/>
          <p:nvPr/>
        </p:nvSpPr>
        <p:spPr>
          <a:xfrm>
            <a:off x="533400" y="2100263"/>
            <a:ext cx="3905250" cy="314325"/>
          </a:xfrm>
          <a:prstGeom prst="rect">
            <a:avLst/>
          </a:prstGeom>
          <a:noFill/>
          <a:ln/>
        </p:spPr>
        <p:txBody>
          <a:bodyPr wrap="square" lIns="0" tIns="0" rIns="0" bIns="0" rtlCol="0" anchor="t"/>
          <a:lstStyle/>
          <a:p>
            <a:pPr algn="l" indent="0" marL="0">
              <a:lnSpc>
                <a:spcPts val="1188"/>
              </a:lnSpc>
              <a:buNone/>
            </a:pPr>
            <a:r>
              <a:rPr lang="en-US" sz="819" b="1" dirty="0">
                <a:solidFill>
                  <a:srgbClr val="1F5C4F">
                    <a:alpha val="99000"/>
                  </a:srgbClr>
                </a:solidFill>
                <a:latin typeface="Inter" pitchFamily="34" charset="0"/>
                <a:ea typeface="Inter" pitchFamily="34" charset="-122"/>
                <a:cs typeface="Inter" pitchFamily="34" charset="-120"/>
              </a:rPr>
              <a:t>Strategy</a:t>
            </a:r>
            <a:pPr algn="l" indent="0" marL="0">
              <a:lnSpc>
                <a:spcPts val="1188"/>
              </a:lnSpc>
              <a:buNone/>
            </a:pPr>
            <a:r>
              <a:rPr lang="en-US" sz="819" dirty="0">
                <a:solidFill>
                  <a:srgbClr val="23302D">
                    <a:alpha val="99000"/>
                  </a:srgbClr>
                </a:solidFill>
                <a:latin typeface="Inter" pitchFamily="34" charset="0"/>
                <a:ea typeface="Inter" pitchFamily="34" charset="-122"/>
                <a:cs typeface="Inter" pitchFamily="34" charset="-120"/>
              </a:rPr>
              <a:t>  Quantitative experiment on moisture plus structured evidence synthesis for other parameters</a:t>
            </a:r>
            <a:endParaRPr lang="en-US" sz="819" dirty="0"/>
          </a:p>
        </p:txBody>
      </p:sp>
      <p:sp>
        <p:nvSpPr>
          <p:cNvPr id="48" name="Shape 43"/>
          <p:cNvSpPr/>
          <p:nvPr/>
        </p:nvSpPr>
        <p:spPr>
          <a:xfrm>
            <a:off x="533400" y="2538413"/>
            <a:ext cx="3905250" cy="4763"/>
          </a:xfrm>
          <a:prstGeom prst="rect">
            <a:avLst/>
          </a:prstGeom>
          <a:solidFill>
            <a:srgbClr val="E3DACA"/>
          </a:solidFill>
          <a:ln/>
        </p:spPr>
      </p:sp>
      <p:sp>
        <p:nvSpPr>
          <p:cNvPr id="49" name="Text 44"/>
          <p:cNvSpPr/>
          <p:nvPr/>
        </p:nvSpPr>
        <p:spPr>
          <a:xfrm>
            <a:off x="533400" y="2662238"/>
            <a:ext cx="3905250" cy="157163"/>
          </a:xfrm>
          <a:prstGeom prst="rect">
            <a:avLst/>
          </a:prstGeom>
          <a:noFill/>
          <a:ln/>
        </p:spPr>
        <p:txBody>
          <a:bodyPr wrap="square" lIns="0" tIns="0" rIns="0" bIns="0" rtlCol="0" anchor="t"/>
          <a:lstStyle/>
          <a:p>
            <a:pPr algn="l" indent="0" marL="0">
              <a:lnSpc>
                <a:spcPts val="1188"/>
              </a:lnSpc>
              <a:buNone/>
            </a:pPr>
            <a:r>
              <a:rPr lang="en-US" sz="819" b="1" dirty="0">
                <a:solidFill>
                  <a:srgbClr val="1F5C4F">
                    <a:alpha val="99000"/>
                  </a:srgbClr>
                </a:solidFill>
                <a:latin typeface="Inter" pitchFamily="34" charset="0"/>
                <a:ea typeface="Inter" pitchFamily="34" charset="-122"/>
                <a:cs typeface="Inter" pitchFamily="34" charset="-120"/>
              </a:rPr>
              <a:t>Development</a:t>
            </a:r>
            <a:pPr algn="l" indent="0" marL="0">
              <a:lnSpc>
                <a:spcPts val="1188"/>
              </a:lnSpc>
              <a:buNone/>
            </a:pPr>
            <a:r>
              <a:rPr lang="en-US" sz="819" dirty="0">
                <a:solidFill>
                  <a:srgbClr val="23302D">
                    <a:alpha val="99000"/>
                  </a:srgbClr>
                </a:solidFill>
                <a:latin typeface="Inter" pitchFamily="34" charset="0"/>
                <a:ea typeface="Inter" pitchFamily="34" charset="-122"/>
                <a:cs typeface="Inter" pitchFamily="34" charset="-120"/>
              </a:rPr>
              <a:t>  Iterative CRISP-DM cycle in two-week iterations</a:t>
            </a:r>
            <a:endParaRPr lang="en-US" sz="819" dirty="0"/>
          </a:p>
        </p:txBody>
      </p:sp>
      <p:sp>
        <p:nvSpPr>
          <p:cNvPr id="50" name="Shape 45"/>
          <p:cNvSpPr/>
          <p:nvPr/>
        </p:nvSpPr>
        <p:spPr>
          <a:xfrm>
            <a:off x="533400" y="2943225"/>
            <a:ext cx="3905250" cy="4763"/>
          </a:xfrm>
          <a:prstGeom prst="rect">
            <a:avLst/>
          </a:prstGeom>
          <a:solidFill>
            <a:srgbClr val="E3DACA"/>
          </a:solidFill>
          <a:ln/>
        </p:spPr>
      </p:sp>
      <p:sp>
        <p:nvSpPr>
          <p:cNvPr id="51" name="Text 46"/>
          <p:cNvSpPr/>
          <p:nvPr/>
        </p:nvSpPr>
        <p:spPr>
          <a:xfrm>
            <a:off x="533400" y="3067050"/>
            <a:ext cx="3905250" cy="157163"/>
          </a:xfrm>
          <a:prstGeom prst="rect">
            <a:avLst/>
          </a:prstGeom>
          <a:noFill/>
          <a:ln/>
        </p:spPr>
        <p:txBody>
          <a:bodyPr wrap="square" lIns="0" tIns="0" rIns="0" bIns="0" rtlCol="0" anchor="t"/>
          <a:lstStyle/>
          <a:p>
            <a:pPr algn="l" indent="0" marL="0">
              <a:lnSpc>
                <a:spcPts val="1188"/>
              </a:lnSpc>
              <a:buNone/>
            </a:pPr>
            <a:r>
              <a:rPr lang="en-US" sz="819" b="1" dirty="0">
                <a:solidFill>
                  <a:srgbClr val="1F5C4F">
                    <a:alpha val="99000"/>
                  </a:srgbClr>
                </a:solidFill>
                <a:latin typeface="Inter" pitchFamily="34" charset="0"/>
                <a:ea typeface="Inter" pitchFamily="34" charset="-122"/>
                <a:cs typeface="Inter" pitchFamily="34" charset="-120"/>
              </a:rPr>
              <a:t>Hypotheses</a:t>
            </a:r>
            <a:pPr algn="l" indent="0" marL="0">
              <a:lnSpc>
                <a:spcPts val="1188"/>
              </a:lnSpc>
              <a:buNone/>
            </a:pPr>
            <a:r>
              <a:rPr lang="en-US" sz="819" dirty="0">
                <a:solidFill>
                  <a:srgbClr val="23302D">
                    <a:alpha val="99000"/>
                  </a:srgbClr>
                </a:solidFill>
                <a:latin typeface="Inter" pitchFamily="34" charset="0"/>
                <a:ea typeface="Inter" pitchFamily="34" charset="-122"/>
                <a:cs typeface="Inter" pitchFamily="34" charset="-120"/>
              </a:rPr>
              <a:t>  H1 to H5, tested against criteria fixed in advance</a:t>
            </a:r>
            <a:endParaRPr lang="en-US" sz="819" dirty="0"/>
          </a:p>
        </p:txBody>
      </p:sp>
      <p:sp>
        <p:nvSpPr>
          <p:cNvPr id="52" name="Text 47"/>
          <p:cNvSpPr/>
          <p:nvPr/>
        </p:nvSpPr>
        <p:spPr>
          <a:xfrm>
            <a:off x="4705350" y="1447800"/>
            <a:ext cx="41433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METHODS</a:t>
            </a:r>
            <a:endParaRPr lang="en-US" sz="499" dirty="0"/>
          </a:p>
        </p:txBody>
      </p:sp>
      <p:sp>
        <p:nvSpPr>
          <p:cNvPr id="53" name="Shape 48"/>
          <p:cNvSpPr/>
          <p:nvPr/>
        </p:nvSpPr>
        <p:spPr>
          <a:xfrm>
            <a:off x="4705350" y="1590675"/>
            <a:ext cx="3905250" cy="4763"/>
          </a:xfrm>
          <a:prstGeom prst="rect">
            <a:avLst/>
          </a:prstGeom>
          <a:solidFill>
            <a:srgbClr val="0E2A26">
              <a:alpha val="18000"/>
            </a:srgbClr>
          </a:solidFill>
          <a:ln/>
        </p:spPr>
      </p:sp>
      <p:sp>
        <p:nvSpPr>
          <p:cNvPr id="54" name="Text 49"/>
          <p:cNvSpPr/>
          <p:nvPr/>
        </p:nvSpPr>
        <p:spPr>
          <a:xfrm>
            <a:off x="4705350" y="1695450"/>
            <a:ext cx="3905250" cy="3048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Samples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80 to 120 Sri Lankan black teas from several sources; drying-stage and conditioned samples widen the range</a:t>
            </a:r>
            <a:endParaRPr lang="en-US" sz="784" dirty="0"/>
          </a:p>
        </p:txBody>
      </p:sp>
      <p:sp>
        <p:nvSpPr>
          <p:cNvPr id="55" name="Shape 50"/>
          <p:cNvSpPr/>
          <p:nvPr/>
        </p:nvSpPr>
        <p:spPr>
          <a:xfrm>
            <a:off x="4705350" y="2095500"/>
            <a:ext cx="3905250" cy="4763"/>
          </a:xfrm>
          <a:prstGeom prst="rect">
            <a:avLst/>
          </a:prstGeom>
          <a:solidFill>
            <a:srgbClr val="E3DACA"/>
          </a:solidFill>
          <a:ln/>
        </p:spPr>
      </p:sp>
      <p:sp>
        <p:nvSpPr>
          <p:cNvPr id="56" name="Text 51"/>
          <p:cNvSpPr/>
          <p:nvPr/>
        </p:nvSpPr>
        <p:spPr>
          <a:xfrm>
            <a:off x="4705350" y="2190750"/>
            <a:ext cx="3905250"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Reference</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Oven-drying at 103 C to constant mass, in triplicate (SD ≤ 0.2%)</a:t>
            </a:r>
            <a:endParaRPr lang="en-US" sz="784" dirty="0"/>
          </a:p>
        </p:txBody>
      </p:sp>
      <p:sp>
        <p:nvSpPr>
          <p:cNvPr id="57" name="Shape 52"/>
          <p:cNvSpPr/>
          <p:nvPr/>
        </p:nvSpPr>
        <p:spPr>
          <a:xfrm>
            <a:off x="4705350" y="2438400"/>
            <a:ext cx="3905250" cy="4763"/>
          </a:xfrm>
          <a:prstGeom prst="rect">
            <a:avLst/>
          </a:prstGeom>
          <a:solidFill>
            <a:srgbClr val="E3DACA"/>
          </a:solidFill>
          <a:ln/>
        </p:spPr>
      </p:sp>
      <p:sp>
        <p:nvSpPr>
          <p:cNvPr id="58" name="Text 53"/>
          <p:cNvSpPr/>
          <p:nvPr/>
        </p:nvSpPr>
        <p:spPr>
          <a:xfrm>
            <a:off x="4705350" y="2533650"/>
            <a:ext cx="3905250"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Scans</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White and dark references; three repacked scans</a:t>
            </a:r>
            <a:endParaRPr lang="en-US" sz="784" dirty="0"/>
          </a:p>
        </p:txBody>
      </p:sp>
      <p:sp>
        <p:nvSpPr>
          <p:cNvPr id="59" name="Shape 54"/>
          <p:cNvSpPr/>
          <p:nvPr/>
        </p:nvSpPr>
        <p:spPr>
          <a:xfrm>
            <a:off x="4705350" y="2781300"/>
            <a:ext cx="3905250" cy="4763"/>
          </a:xfrm>
          <a:prstGeom prst="rect">
            <a:avLst/>
          </a:prstGeom>
          <a:solidFill>
            <a:srgbClr val="E3DACA"/>
          </a:solidFill>
          <a:ln/>
        </p:spPr>
      </p:sp>
      <p:sp>
        <p:nvSpPr>
          <p:cNvPr id="60" name="Text 55"/>
          <p:cNvSpPr/>
          <p:nvPr/>
        </p:nvSpPr>
        <p:spPr>
          <a:xfrm>
            <a:off x="4705350" y="2876550"/>
            <a:ext cx="3905250"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Split</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Kennard-Stone 70:30 locked test; leave-one-source-out</a:t>
            </a:r>
            <a:endParaRPr lang="en-US" sz="784" dirty="0"/>
          </a:p>
        </p:txBody>
      </p:sp>
      <p:sp>
        <p:nvSpPr>
          <p:cNvPr id="61" name="Shape 56"/>
          <p:cNvSpPr/>
          <p:nvPr/>
        </p:nvSpPr>
        <p:spPr>
          <a:xfrm>
            <a:off x="4705350" y="3124200"/>
            <a:ext cx="3905250" cy="4763"/>
          </a:xfrm>
          <a:prstGeom prst="rect">
            <a:avLst/>
          </a:prstGeom>
          <a:solidFill>
            <a:srgbClr val="E3DACA"/>
          </a:solidFill>
          <a:ln/>
        </p:spPr>
      </p:sp>
      <p:sp>
        <p:nvSpPr>
          <p:cNvPr id="62" name="Text 57"/>
          <p:cNvSpPr/>
          <p:nvPr/>
        </p:nvSpPr>
        <p:spPr>
          <a:xfrm>
            <a:off x="4705350" y="3219450"/>
            <a:ext cx="3905250" cy="152400"/>
          </a:xfrm>
          <a:prstGeom prst="rect">
            <a:avLst/>
          </a:prstGeom>
          <a:noFill/>
          <a:ln/>
        </p:spPr>
        <p:txBody>
          <a:bodyPr wrap="square" lIns="0" tIns="0" rIns="0" bIns="0" rtlCol="0" anchor="t"/>
          <a:lstStyle/>
          <a:p>
            <a:pPr algn="l" indent="0" marL="0">
              <a:lnSpc>
                <a:spcPts val="1136"/>
              </a:lnSpc>
              <a:buNone/>
            </a:pPr>
            <a:r>
              <a:rPr lang="en-US" sz="784" b="1" dirty="0">
                <a:solidFill>
                  <a:srgbClr val="1F5C4F">
                    <a:alpha val="99000"/>
                  </a:srgbClr>
                </a:solidFill>
                <a:latin typeface="Inter" pitchFamily="34" charset="0"/>
                <a:ea typeface="Inter" pitchFamily="34" charset="-122"/>
                <a:cs typeface="Inter" pitchFamily="34" charset="-120"/>
              </a:rPr>
              <a:t>Tuning</a:t>
            </a:r>
            <a:pPr algn="l" indent="0" marL="0">
              <a:lnSpc>
                <a:spcPts val="1136"/>
              </a:lnSpc>
              <a:buNone/>
            </a:pPr>
            <a:r>
              <a:rPr lang="en-US" sz="784" dirty="0">
                <a:solidFill>
                  <a:srgbClr val="23302D">
                    <a:alpha val="99000"/>
                  </a:srgbClr>
                </a:solidFill>
                <a:latin typeface="Inter" pitchFamily="34" charset="0"/>
                <a:ea typeface="Inter" pitchFamily="34" charset="-122"/>
                <a:cs typeface="Inter" pitchFamily="34" charset="-120"/>
              </a:rPr>
              <a:t>  Nested 10-fold cross-validation on calibration data only</a:t>
            </a:r>
            <a:endParaRPr lang="en-US" sz="784" dirty="0"/>
          </a:p>
        </p:txBody>
      </p:sp>
      <p:sp>
        <p:nvSpPr>
          <p:cNvPr id="63" name="Shape 58"/>
          <p:cNvSpPr/>
          <p:nvPr/>
        </p:nvSpPr>
        <p:spPr>
          <a:xfrm>
            <a:off x="533400" y="3952875"/>
            <a:ext cx="8077200" cy="714375"/>
          </a:xfrm>
          <a:prstGeom prst="roundRect">
            <a:avLst/>
          </a:prstGeom>
          <a:solidFill>
            <a:srgbClr val="0E2A26"/>
          </a:solidFill>
          <a:ln/>
        </p:spPr>
      </p:sp>
      <p:sp>
        <p:nvSpPr>
          <p:cNvPr id="64" name="Shape 59"/>
          <p:cNvSpPr/>
          <p:nvPr/>
        </p:nvSpPr>
        <p:spPr>
          <a:xfrm>
            <a:off x="704850" y="4114800"/>
            <a:ext cx="152400" cy="14288"/>
          </a:xfrm>
          <a:prstGeom prst="rect">
            <a:avLst/>
          </a:prstGeom>
          <a:solidFill>
            <a:srgbClr val="D4AF63"/>
          </a:solidFill>
          <a:ln/>
        </p:spPr>
      </p:sp>
      <p:sp>
        <p:nvSpPr>
          <p:cNvPr id="65" name="Text 60"/>
          <p:cNvSpPr/>
          <p:nvPr/>
        </p:nvSpPr>
        <p:spPr>
          <a:xfrm>
            <a:off x="704850" y="4191000"/>
            <a:ext cx="828675"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LEAKAGE CONTROL</a:t>
            </a:r>
            <a:endParaRPr lang="en-US" sz="499" dirty="0"/>
          </a:p>
        </p:txBody>
      </p:sp>
      <p:sp>
        <p:nvSpPr>
          <p:cNvPr id="66" name="Text 61"/>
          <p:cNvSpPr/>
          <p:nvPr/>
        </p:nvSpPr>
        <p:spPr>
          <a:xfrm>
            <a:off x="704850" y="4352925"/>
            <a:ext cx="7734300" cy="142875"/>
          </a:xfrm>
          <a:prstGeom prst="rect">
            <a:avLst/>
          </a:prstGeom>
          <a:noFill/>
          <a:ln/>
        </p:spPr>
        <p:txBody>
          <a:bodyPr wrap="square" lIns="0" tIns="0" rIns="0" bIns="0" rtlCol="0" anchor="t"/>
          <a:lstStyle/>
          <a:p>
            <a:pPr algn="l" indent="0" marL="0">
              <a:lnSpc>
                <a:spcPts val="1085"/>
              </a:lnSpc>
              <a:buNone/>
            </a:pPr>
            <a:r>
              <a:rPr lang="en-US" sz="748" dirty="0">
                <a:solidFill>
                  <a:srgbClr val="E8EFEC">
                    <a:alpha val="99000"/>
                  </a:srgbClr>
                </a:solidFill>
                <a:latin typeface="Inter" pitchFamily="34" charset="0"/>
                <a:ea typeface="Inter" pitchFamily="34" charset="-122"/>
                <a:cs typeface="Inter" pitchFamily="34" charset="-120"/>
              </a:rPr>
              <a:t>Preprocessing, CARS and tuning are fitted inside cross-validation; repeat scans of a sample never cross sets; the test set is hashed and used once.</a:t>
            </a:r>
            <a:endParaRPr lang="en-US" sz="74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947737"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14   ·   EVALUATION</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Evaluation approach</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20025" y="295275"/>
            <a:ext cx="790575" cy="161925"/>
          </a:xfrm>
          <a:prstGeom prst="roundRect">
            <a:avLst/>
          </a:prstGeom>
          <a:noFill/>
          <a:ln w="5429">
            <a:solidFill>
              <a:srgbClr val="B8893B"/>
            </a:solidFill>
            <a:prstDash val="solid"/>
          </a:ln>
        </p:spPr>
      </p:sp>
      <p:sp>
        <p:nvSpPr>
          <p:cNvPr id="7" name="Text 4"/>
          <p:cNvSpPr/>
          <p:nvPr/>
        </p:nvSpPr>
        <p:spPr>
          <a:xfrm>
            <a:off x="7905750" y="335756"/>
            <a:ext cx="619125"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Methodology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14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5619750" cy="2790825"/>
          </a:xfrm>
          <a:prstGeom prst="roundRect">
            <a:avLst>
              <a:gd name="adj" fmla="val 5242"/>
            </a:avLst>
          </a:prstGeom>
          <a:solidFill>
            <a:srgbClr val="FFFFFF"/>
          </a:solidFill>
          <a:ln w="4524">
            <a:solidFill>
              <a:srgbClr val="E3DACA"/>
            </a:solidFill>
            <a:prstDash val="solid"/>
          </a:ln>
        </p:spPr>
      </p:sp>
      <p:sp>
        <p:nvSpPr>
          <p:cNvPr id="15" name="Shape 10"/>
          <p:cNvSpPr/>
          <p:nvPr/>
        </p:nvSpPr>
        <p:spPr>
          <a:xfrm>
            <a:off x="533400" y="1038225"/>
            <a:ext cx="5619750" cy="219075"/>
          </a:xfrm>
          <a:prstGeom prst="rect">
            <a:avLst/>
          </a:prstGeom>
          <a:solidFill>
            <a:srgbClr val="EDE6D6"/>
          </a:solidFill>
          <a:ln/>
        </p:spPr>
      </p:sp>
      <p:sp>
        <p:nvSpPr>
          <p:cNvPr id="16" name="Text 11"/>
          <p:cNvSpPr/>
          <p:nvPr/>
        </p:nvSpPr>
        <p:spPr>
          <a:xfrm>
            <a:off x="647700" y="1104900"/>
            <a:ext cx="96202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QUESTION</a:t>
            </a:r>
            <a:endParaRPr lang="en-US" sz="463" dirty="0"/>
          </a:p>
        </p:txBody>
      </p:sp>
      <p:sp>
        <p:nvSpPr>
          <p:cNvPr id="17" name="Text 12"/>
          <p:cNvSpPr/>
          <p:nvPr/>
        </p:nvSpPr>
        <p:spPr>
          <a:xfrm>
            <a:off x="1743075" y="1104900"/>
            <a:ext cx="439102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WHAT IS MEASURED</a:t>
            </a:r>
            <a:endParaRPr lang="en-US" sz="463" dirty="0"/>
          </a:p>
        </p:txBody>
      </p:sp>
      <p:sp>
        <p:nvSpPr>
          <p:cNvPr id="18" name="Shape 13"/>
          <p:cNvSpPr/>
          <p:nvPr/>
        </p:nvSpPr>
        <p:spPr>
          <a:xfrm>
            <a:off x="533400" y="1257300"/>
            <a:ext cx="5619750" cy="428625"/>
          </a:xfrm>
          <a:prstGeom prst="rect">
            <a:avLst/>
          </a:prstGeom>
          <a:solidFill>
            <a:srgbClr val="FBF9F4"/>
          </a:solidFill>
          <a:ln/>
        </p:spPr>
      </p:sp>
      <p:sp>
        <p:nvSpPr>
          <p:cNvPr id="19" name="Text 14"/>
          <p:cNvSpPr/>
          <p:nvPr/>
        </p:nvSpPr>
        <p:spPr>
          <a:xfrm>
            <a:off x="647700" y="1400175"/>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RQ1  Accuracy</a:t>
            </a:r>
            <a:endParaRPr lang="en-US" sz="784" dirty="0"/>
          </a:p>
        </p:txBody>
      </p:sp>
      <p:sp>
        <p:nvSpPr>
          <p:cNvPr id="20" name="Text 15"/>
          <p:cNvSpPr/>
          <p:nvPr/>
        </p:nvSpPr>
        <p:spPr>
          <a:xfrm>
            <a:off x="1743075" y="1400175"/>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RMSEP, R2p, RPD and bias on the locked test set</a:t>
            </a:r>
            <a:endParaRPr lang="en-US" sz="784" dirty="0"/>
          </a:p>
        </p:txBody>
      </p:sp>
      <p:sp>
        <p:nvSpPr>
          <p:cNvPr id="21" name="Shape 16"/>
          <p:cNvSpPr/>
          <p:nvPr/>
        </p:nvSpPr>
        <p:spPr>
          <a:xfrm>
            <a:off x="533400" y="1257300"/>
            <a:ext cx="5619750" cy="4763"/>
          </a:xfrm>
          <a:prstGeom prst="rect">
            <a:avLst/>
          </a:prstGeom>
          <a:solidFill>
            <a:srgbClr val="E3DACA"/>
          </a:solidFill>
          <a:ln/>
        </p:spPr>
      </p:sp>
      <p:sp>
        <p:nvSpPr>
          <p:cNvPr id="22" name="Shape 17"/>
          <p:cNvSpPr/>
          <p:nvPr/>
        </p:nvSpPr>
        <p:spPr>
          <a:xfrm>
            <a:off x="533400" y="1685925"/>
            <a:ext cx="5619750" cy="428625"/>
          </a:xfrm>
          <a:prstGeom prst="rect">
            <a:avLst/>
          </a:prstGeom>
          <a:solidFill>
            <a:srgbClr val="FFFFFF"/>
          </a:solidFill>
          <a:ln/>
        </p:spPr>
      </p:sp>
      <p:sp>
        <p:nvSpPr>
          <p:cNvPr id="23" name="Text 18"/>
          <p:cNvSpPr/>
          <p:nvPr/>
        </p:nvSpPr>
        <p:spPr>
          <a:xfrm>
            <a:off x="647700" y="1828800"/>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RQ2  Pipeline</a:t>
            </a:r>
            <a:endParaRPr lang="en-US" sz="784" dirty="0"/>
          </a:p>
        </p:txBody>
      </p:sp>
      <p:sp>
        <p:nvSpPr>
          <p:cNvPr id="24" name="Text 19"/>
          <p:cNvSpPr/>
          <p:nvPr/>
        </p:nvSpPr>
        <p:spPr>
          <a:xfrm>
            <a:off x="1743075" y="1828800"/>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RMSECV per preprocessing and selection option; band stability</a:t>
            </a:r>
            <a:endParaRPr lang="en-US" sz="784" dirty="0"/>
          </a:p>
        </p:txBody>
      </p:sp>
      <p:sp>
        <p:nvSpPr>
          <p:cNvPr id="25" name="Shape 20"/>
          <p:cNvSpPr/>
          <p:nvPr/>
        </p:nvSpPr>
        <p:spPr>
          <a:xfrm>
            <a:off x="533400" y="1685925"/>
            <a:ext cx="5619750" cy="4763"/>
          </a:xfrm>
          <a:prstGeom prst="rect">
            <a:avLst/>
          </a:prstGeom>
          <a:solidFill>
            <a:srgbClr val="E3DACA"/>
          </a:solidFill>
          <a:ln/>
        </p:spPr>
      </p:sp>
      <p:sp>
        <p:nvSpPr>
          <p:cNvPr id="26" name="Shape 21"/>
          <p:cNvSpPr/>
          <p:nvPr/>
        </p:nvSpPr>
        <p:spPr>
          <a:xfrm>
            <a:off x="533400" y="2114550"/>
            <a:ext cx="5619750" cy="428625"/>
          </a:xfrm>
          <a:prstGeom prst="rect">
            <a:avLst/>
          </a:prstGeom>
          <a:solidFill>
            <a:srgbClr val="FBF9F4"/>
          </a:solidFill>
          <a:ln/>
        </p:spPr>
      </p:sp>
      <p:sp>
        <p:nvSpPr>
          <p:cNvPr id="27" name="Text 22"/>
          <p:cNvSpPr/>
          <p:nvPr/>
        </p:nvSpPr>
        <p:spPr>
          <a:xfrm>
            <a:off x="647700" y="2257425"/>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RQ3  Models</a:t>
            </a:r>
            <a:endParaRPr lang="en-US" sz="784" dirty="0"/>
          </a:p>
        </p:txBody>
      </p:sp>
      <p:sp>
        <p:nvSpPr>
          <p:cNvPr id="28" name="Text 23"/>
          <p:cNvSpPr/>
          <p:nvPr/>
        </p:nvSpPr>
        <p:spPr>
          <a:xfrm>
            <a:off x="1743075" y="2257425"/>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SVR and RF vs PLSR (paired Wilcoxon); unseen-source error</a:t>
            </a:r>
            <a:endParaRPr lang="en-US" sz="784" dirty="0"/>
          </a:p>
        </p:txBody>
      </p:sp>
      <p:sp>
        <p:nvSpPr>
          <p:cNvPr id="29" name="Shape 24"/>
          <p:cNvSpPr/>
          <p:nvPr/>
        </p:nvSpPr>
        <p:spPr>
          <a:xfrm>
            <a:off x="533400" y="2114550"/>
            <a:ext cx="5619750" cy="4763"/>
          </a:xfrm>
          <a:prstGeom prst="rect">
            <a:avLst/>
          </a:prstGeom>
          <a:solidFill>
            <a:srgbClr val="E3DACA"/>
          </a:solidFill>
          <a:ln/>
        </p:spPr>
      </p:sp>
      <p:sp>
        <p:nvSpPr>
          <p:cNvPr id="30" name="Shape 25"/>
          <p:cNvSpPr/>
          <p:nvPr/>
        </p:nvSpPr>
        <p:spPr>
          <a:xfrm>
            <a:off x="533400" y="2543175"/>
            <a:ext cx="5619750" cy="428625"/>
          </a:xfrm>
          <a:prstGeom prst="rect">
            <a:avLst/>
          </a:prstGeom>
          <a:solidFill>
            <a:srgbClr val="FFFFFF"/>
          </a:solidFill>
          <a:ln/>
        </p:spPr>
      </p:sp>
      <p:sp>
        <p:nvSpPr>
          <p:cNvPr id="31" name="Text 26"/>
          <p:cNvSpPr/>
          <p:nvPr/>
        </p:nvSpPr>
        <p:spPr>
          <a:xfrm>
            <a:off x="647700" y="2686050"/>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RQ4  Speed</a:t>
            </a:r>
            <a:endParaRPr lang="en-US" sz="784" dirty="0"/>
          </a:p>
        </p:txBody>
      </p:sp>
      <p:sp>
        <p:nvSpPr>
          <p:cNvPr id="32" name="Text 27"/>
          <p:cNvSpPr/>
          <p:nvPr/>
        </p:nvSpPr>
        <p:spPr>
          <a:xfrm>
            <a:off x="1743075" y="2686050"/>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Seconds per sample vs oven time; field RMSEP; SUS</a:t>
            </a:r>
            <a:endParaRPr lang="en-US" sz="784" dirty="0"/>
          </a:p>
        </p:txBody>
      </p:sp>
      <p:sp>
        <p:nvSpPr>
          <p:cNvPr id="33" name="Shape 28"/>
          <p:cNvSpPr/>
          <p:nvPr/>
        </p:nvSpPr>
        <p:spPr>
          <a:xfrm>
            <a:off x="533400" y="2543175"/>
            <a:ext cx="5619750" cy="4763"/>
          </a:xfrm>
          <a:prstGeom prst="rect">
            <a:avLst/>
          </a:prstGeom>
          <a:solidFill>
            <a:srgbClr val="E3DACA"/>
          </a:solidFill>
          <a:ln/>
        </p:spPr>
      </p:sp>
      <p:sp>
        <p:nvSpPr>
          <p:cNvPr id="34" name="Shape 29"/>
          <p:cNvSpPr/>
          <p:nvPr/>
        </p:nvSpPr>
        <p:spPr>
          <a:xfrm>
            <a:off x="533400" y="2971800"/>
            <a:ext cx="5619750" cy="428625"/>
          </a:xfrm>
          <a:prstGeom prst="rect">
            <a:avLst/>
          </a:prstGeom>
          <a:solidFill>
            <a:srgbClr val="FBF9F4"/>
          </a:solidFill>
          <a:ln/>
        </p:spPr>
      </p:sp>
      <p:sp>
        <p:nvSpPr>
          <p:cNvPr id="35" name="Text 30"/>
          <p:cNvSpPr/>
          <p:nvPr/>
        </p:nvSpPr>
        <p:spPr>
          <a:xfrm>
            <a:off x="647700" y="3114675"/>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RQ5  Scope</a:t>
            </a:r>
            <a:endParaRPr lang="en-US" sz="784" dirty="0"/>
          </a:p>
        </p:txBody>
      </p:sp>
      <p:sp>
        <p:nvSpPr>
          <p:cNvPr id="36" name="Text 31"/>
          <p:cNvSpPr/>
          <p:nvPr/>
        </p:nvSpPr>
        <p:spPr>
          <a:xfrm>
            <a:off x="1743075" y="3114675"/>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Evidence-graded feasibility matrix</a:t>
            </a:r>
            <a:endParaRPr lang="en-US" sz="784" dirty="0"/>
          </a:p>
        </p:txBody>
      </p:sp>
      <p:sp>
        <p:nvSpPr>
          <p:cNvPr id="37" name="Shape 32"/>
          <p:cNvSpPr/>
          <p:nvPr/>
        </p:nvSpPr>
        <p:spPr>
          <a:xfrm>
            <a:off x="533400" y="2971800"/>
            <a:ext cx="5619750" cy="4763"/>
          </a:xfrm>
          <a:prstGeom prst="rect">
            <a:avLst/>
          </a:prstGeom>
          <a:solidFill>
            <a:srgbClr val="E3DACA"/>
          </a:solidFill>
          <a:ln/>
        </p:spPr>
      </p:sp>
      <p:sp>
        <p:nvSpPr>
          <p:cNvPr id="38" name="Shape 33"/>
          <p:cNvSpPr/>
          <p:nvPr/>
        </p:nvSpPr>
        <p:spPr>
          <a:xfrm>
            <a:off x="533400" y="3400425"/>
            <a:ext cx="5619750" cy="428625"/>
          </a:xfrm>
          <a:prstGeom prst="rect">
            <a:avLst/>
          </a:prstGeom>
          <a:solidFill>
            <a:srgbClr val="FFFFFF"/>
          </a:solidFill>
          <a:ln/>
        </p:spPr>
      </p:sp>
      <p:sp>
        <p:nvSpPr>
          <p:cNvPr id="39" name="Text 34"/>
          <p:cNvSpPr/>
          <p:nvPr/>
        </p:nvSpPr>
        <p:spPr>
          <a:xfrm>
            <a:off x="647700" y="3543300"/>
            <a:ext cx="962025" cy="142875"/>
          </a:xfrm>
          <a:prstGeom prst="rect">
            <a:avLst/>
          </a:prstGeom>
          <a:noFill/>
          <a:ln/>
        </p:spPr>
        <p:txBody>
          <a:bodyPr wrap="square" lIns="0" tIns="0" rIns="0" bIns="0" rtlCol="0" anchor="t"/>
          <a:lstStyle/>
          <a:p>
            <a:pPr algn="l" indent="0" marL="0">
              <a:lnSpc>
                <a:spcPts val="1058"/>
              </a:lnSpc>
              <a:buNone/>
            </a:pPr>
            <a:r>
              <a:rPr lang="en-US" sz="784" b="1" dirty="0">
                <a:solidFill>
                  <a:srgbClr val="0E2A26">
                    <a:alpha val="99000"/>
                  </a:srgbClr>
                </a:solidFill>
                <a:latin typeface="Inter" pitchFamily="34" charset="0"/>
                <a:ea typeface="Inter" pitchFamily="34" charset="-122"/>
                <a:cs typeface="Inter" pitchFamily="34" charset="-120"/>
              </a:rPr>
              <a:t>Baselines</a:t>
            </a:r>
            <a:endParaRPr lang="en-US" sz="784" dirty="0"/>
          </a:p>
        </p:txBody>
      </p:sp>
      <p:sp>
        <p:nvSpPr>
          <p:cNvPr id="40" name="Text 35"/>
          <p:cNvSpPr/>
          <p:nvPr/>
        </p:nvSpPr>
        <p:spPr>
          <a:xfrm>
            <a:off x="1743075" y="3543300"/>
            <a:ext cx="4391025" cy="142875"/>
          </a:xfrm>
          <a:prstGeom prst="rect">
            <a:avLst/>
          </a:prstGeom>
          <a:noFill/>
          <a:ln/>
        </p:spPr>
        <p:txBody>
          <a:bodyPr wrap="square" lIns="0" tIns="0" rIns="0" bIns="0" rtlCol="0" anchor="t"/>
          <a:lstStyle/>
          <a:p>
            <a:pPr algn="l" indent="0" marL="0">
              <a:lnSpc>
                <a:spcPts val="1058"/>
              </a:lnSpc>
              <a:buNone/>
            </a:pPr>
            <a:r>
              <a:rPr lang="en-US" sz="784" dirty="0">
                <a:solidFill>
                  <a:srgbClr val="23302D">
                    <a:alpha val="99000"/>
                  </a:srgbClr>
                </a:solidFill>
                <a:latin typeface="Inter" pitchFamily="34" charset="0"/>
                <a:ea typeface="Inter" pitchFamily="34" charset="-122"/>
                <a:cs typeface="Inter" pitchFamily="34" charset="-120"/>
              </a:rPr>
              <a:t>Mean-only and PLSR on raw spectra; ablations remove each component</a:t>
            </a:r>
            <a:endParaRPr lang="en-US" sz="784" dirty="0"/>
          </a:p>
        </p:txBody>
      </p:sp>
      <p:sp>
        <p:nvSpPr>
          <p:cNvPr id="41" name="Shape 36"/>
          <p:cNvSpPr/>
          <p:nvPr/>
        </p:nvSpPr>
        <p:spPr>
          <a:xfrm>
            <a:off x="533400" y="3400425"/>
            <a:ext cx="5619750" cy="4763"/>
          </a:xfrm>
          <a:prstGeom prst="rect">
            <a:avLst/>
          </a:prstGeom>
          <a:solidFill>
            <a:srgbClr val="E3DACA"/>
          </a:solidFill>
          <a:ln/>
        </p:spPr>
      </p:sp>
      <p:sp>
        <p:nvSpPr>
          <p:cNvPr id="42" name="Text 37"/>
          <p:cNvSpPr/>
          <p:nvPr/>
        </p:nvSpPr>
        <p:spPr>
          <a:xfrm>
            <a:off x="666750" y="4505325"/>
            <a:ext cx="5486400" cy="161925"/>
          </a:xfrm>
          <a:prstGeom prst="rect">
            <a:avLst/>
          </a:prstGeom>
          <a:noFill/>
          <a:ln/>
        </p:spPr>
        <p:txBody>
          <a:bodyPr wrap="square" lIns="0" tIns="0" rIns="0" bIns="0" rtlCol="0" anchor="t"/>
          <a:lstStyle/>
          <a:p>
            <a:pPr algn="l" indent="0" marL="0">
              <a:lnSpc>
                <a:spcPts val="1229"/>
              </a:lnSpc>
              <a:buNone/>
            </a:pPr>
            <a:r>
              <a:rPr lang="en-US" sz="891" spc="-4" kern="0" dirty="0">
                <a:solidFill>
                  <a:srgbClr val="0E2A26">
                    <a:alpha val="99000"/>
                  </a:srgbClr>
                </a:solidFill>
                <a:latin typeface="Inter" pitchFamily="34" charset="0"/>
                <a:ea typeface="Inter" pitchFamily="34" charset="-122"/>
                <a:cs typeface="Inter" pitchFamily="34" charset="-120"/>
              </a:rPr>
              <a:t>If AI does not beat PLSR, that is a valid finding and will be reported.</a:t>
            </a:r>
            <a:endParaRPr lang="en-US" sz="891" dirty="0"/>
          </a:p>
        </p:txBody>
      </p:sp>
      <p:sp>
        <p:nvSpPr>
          <p:cNvPr id="43" name="Shape 38"/>
          <p:cNvSpPr/>
          <p:nvPr/>
        </p:nvSpPr>
        <p:spPr>
          <a:xfrm>
            <a:off x="533400" y="4524375"/>
            <a:ext cx="19050" cy="133350"/>
          </a:xfrm>
          <a:prstGeom prst="rect">
            <a:avLst/>
          </a:prstGeom>
          <a:solidFill>
            <a:srgbClr val="B8893B"/>
          </a:solidFill>
          <a:ln/>
        </p:spPr>
      </p:sp>
      <p:sp>
        <p:nvSpPr>
          <p:cNvPr id="44" name="Shape 39"/>
          <p:cNvSpPr/>
          <p:nvPr/>
        </p:nvSpPr>
        <p:spPr>
          <a:xfrm>
            <a:off x="6305550" y="1038225"/>
            <a:ext cx="2305050" cy="3629025"/>
          </a:xfrm>
          <a:prstGeom prst="roundRect">
            <a:avLst/>
          </a:prstGeom>
          <a:solidFill>
            <a:srgbClr val="0E2A26"/>
          </a:solidFill>
          <a:ln/>
        </p:spPr>
      </p:sp>
      <p:sp>
        <p:nvSpPr>
          <p:cNvPr id="45" name="Text 40"/>
          <p:cNvSpPr/>
          <p:nvPr/>
        </p:nvSpPr>
        <p:spPr>
          <a:xfrm>
            <a:off x="6477000" y="1438275"/>
            <a:ext cx="74771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SUCCESS LEVELS</a:t>
            </a:r>
            <a:endParaRPr lang="en-US" sz="499" dirty="0"/>
          </a:p>
        </p:txBody>
      </p:sp>
      <p:sp>
        <p:nvSpPr>
          <p:cNvPr id="46" name="Shape 41"/>
          <p:cNvSpPr/>
          <p:nvPr/>
        </p:nvSpPr>
        <p:spPr>
          <a:xfrm>
            <a:off x="6477000" y="1676400"/>
            <a:ext cx="1962150" cy="4763"/>
          </a:xfrm>
          <a:prstGeom prst="rect">
            <a:avLst/>
          </a:prstGeom>
          <a:solidFill>
            <a:srgbClr val="FFFFFF">
              <a:alpha val="15000"/>
            </a:srgbClr>
          </a:solidFill>
          <a:ln/>
        </p:spPr>
      </p:sp>
      <p:sp>
        <p:nvSpPr>
          <p:cNvPr id="47" name="Text 42"/>
          <p:cNvSpPr/>
          <p:nvPr/>
        </p:nvSpPr>
        <p:spPr>
          <a:xfrm>
            <a:off x="6477000" y="1771650"/>
            <a:ext cx="357188"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9DB7AF">
                    <a:alpha val="99000"/>
                  </a:srgbClr>
                </a:solidFill>
                <a:latin typeface="Inter" pitchFamily="34" charset="0"/>
                <a:ea typeface="Inter" pitchFamily="34" charset="-122"/>
                <a:cs typeface="Inter" pitchFamily="34" charset="-120"/>
              </a:rPr>
              <a:t>MINIMUM</a:t>
            </a:r>
            <a:endParaRPr lang="en-US" sz="463" dirty="0"/>
          </a:p>
        </p:txBody>
      </p:sp>
      <p:sp>
        <p:nvSpPr>
          <p:cNvPr id="48" name="Text 43"/>
          <p:cNvSpPr/>
          <p:nvPr/>
        </p:nvSpPr>
        <p:spPr>
          <a:xfrm>
            <a:off x="6477000" y="1981200"/>
            <a:ext cx="185738" cy="119063"/>
          </a:xfrm>
          <a:prstGeom prst="rect">
            <a:avLst/>
          </a:prstGeom>
          <a:noFill/>
          <a:ln/>
        </p:spPr>
        <p:txBody>
          <a:bodyPr wrap="square" lIns="0" tIns="0" rIns="0" bIns="0" rtlCol="0" anchor="t"/>
          <a:lstStyle/>
          <a:p>
            <a:pPr algn="l" indent="0" marL="0">
              <a:lnSpc>
                <a:spcPts val="905"/>
              </a:lnSpc>
              <a:buNone/>
            </a:pPr>
            <a:r>
              <a:rPr lang="en-US" sz="748" dirty="0">
                <a:solidFill>
                  <a:srgbClr val="DCE7E3">
                    <a:alpha val="99000"/>
                  </a:srgbClr>
                </a:solidFill>
                <a:latin typeface="Inter" pitchFamily="34" charset="0"/>
                <a:ea typeface="Inter" pitchFamily="34" charset="-122"/>
                <a:cs typeface="Inter" pitchFamily="34" charset="-120"/>
              </a:rPr>
              <a:t>R2p</a:t>
            </a:r>
            <a:endParaRPr lang="en-US" sz="748" dirty="0"/>
          </a:p>
        </p:txBody>
      </p:sp>
      <p:sp>
        <p:nvSpPr>
          <p:cNvPr id="49" name="Text 44"/>
          <p:cNvSpPr/>
          <p:nvPr/>
        </p:nvSpPr>
        <p:spPr>
          <a:xfrm>
            <a:off x="7305675" y="1914525"/>
            <a:ext cx="590550"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D4AF63">
                    <a:alpha val="99000"/>
                  </a:srgbClr>
                </a:solidFill>
                <a:latin typeface="Inter" pitchFamily="34" charset="0"/>
                <a:ea typeface="Inter" pitchFamily="34" charset="-122"/>
                <a:cs typeface="Inter" pitchFamily="34" charset="-120"/>
              </a:rPr>
              <a:t>≥ 0.80</a:t>
            </a:r>
            <a:endParaRPr lang="en-US" sz="1425" dirty="0"/>
          </a:p>
        </p:txBody>
      </p:sp>
      <p:sp>
        <p:nvSpPr>
          <p:cNvPr id="50" name="Text 45"/>
          <p:cNvSpPr/>
          <p:nvPr/>
        </p:nvSpPr>
        <p:spPr>
          <a:xfrm>
            <a:off x="6477000" y="2295525"/>
            <a:ext cx="200025" cy="119063"/>
          </a:xfrm>
          <a:prstGeom prst="rect">
            <a:avLst/>
          </a:prstGeom>
          <a:noFill/>
          <a:ln/>
        </p:spPr>
        <p:txBody>
          <a:bodyPr wrap="square" lIns="0" tIns="0" rIns="0" bIns="0" rtlCol="0" anchor="t"/>
          <a:lstStyle/>
          <a:p>
            <a:pPr algn="l" indent="0" marL="0">
              <a:lnSpc>
                <a:spcPts val="905"/>
              </a:lnSpc>
              <a:buNone/>
            </a:pPr>
            <a:r>
              <a:rPr lang="en-US" sz="748" dirty="0">
                <a:solidFill>
                  <a:srgbClr val="DCE7E3">
                    <a:alpha val="99000"/>
                  </a:srgbClr>
                </a:solidFill>
                <a:latin typeface="Inter" pitchFamily="34" charset="0"/>
                <a:ea typeface="Inter" pitchFamily="34" charset="-122"/>
                <a:cs typeface="Inter" pitchFamily="34" charset="-120"/>
              </a:rPr>
              <a:t>RPD</a:t>
            </a:r>
            <a:endParaRPr lang="en-US" sz="748" dirty="0"/>
          </a:p>
        </p:txBody>
      </p:sp>
      <p:sp>
        <p:nvSpPr>
          <p:cNvPr id="51" name="Text 46"/>
          <p:cNvSpPr/>
          <p:nvPr/>
        </p:nvSpPr>
        <p:spPr>
          <a:xfrm>
            <a:off x="7305675" y="2228850"/>
            <a:ext cx="466725"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D4AF63">
                    <a:alpha val="99000"/>
                  </a:srgbClr>
                </a:solidFill>
                <a:latin typeface="Inter" pitchFamily="34" charset="0"/>
                <a:ea typeface="Inter" pitchFamily="34" charset="-122"/>
                <a:cs typeface="Inter" pitchFamily="34" charset="-120"/>
              </a:rPr>
              <a:t>≥ 2.0</a:t>
            </a:r>
            <a:endParaRPr lang="en-US" sz="1425" dirty="0"/>
          </a:p>
        </p:txBody>
      </p:sp>
      <p:sp>
        <p:nvSpPr>
          <p:cNvPr id="52" name="Shape 47"/>
          <p:cNvSpPr/>
          <p:nvPr/>
        </p:nvSpPr>
        <p:spPr>
          <a:xfrm>
            <a:off x="6477000" y="2628900"/>
            <a:ext cx="1962150" cy="4763"/>
          </a:xfrm>
          <a:prstGeom prst="rect">
            <a:avLst/>
          </a:prstGeom>
          <a:solidFill>
            <a:srgbClr val="FFFFFF">
              <a:alpha val="15000"/>
            </a:srgbClr>
          </a:solidFill>
          <a:ln/>
        </p:spPr>
      </p:sp>
      <p:sp>
        <p:nvSpPr>
          <p:cNvPr id="53" name="Text 48"/>
          <p:cNvSpPr/>
          <p:nvPr/>
        </p:nvSpPr>
        <p:spPr>
          <a:xfrm>
            <a:off x="6477000" y="2724150"/>
            <a:ext cx="295275"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9DB7AF">
                    <a:alpha val="99000"/>
                  </a:srgbClr>
                </a:solidFill>
                <a:latin typeface="Inter" pitchFamily="34" charset="0"/>
                <a:ea typeface="Inter" pitchFamily="34" charset="-122"/>
                <a:cs typeface="Inter" pitchFamily="34" charset="-120"/>
              </a:rPr>
              <a:t>TARGET</a:t>
            </a:r>
            <a:endParaRPr lang="en-US" sz="463" dirty="0"/>
          </a:p>
        </p:txBody>
      </p:sp>
      <p:sp>
        <p:nvSpPr>
          <p:cNvPr id="54" name="Text 49"/>
          <p:cNvSpPr/>
          <p:nvPr/>
        </p:nvSpPr>
        <p:spPr>
          <a:xfrm>
            <a:off x="6477000" y="2933700"/>
            <a:ext cx="185738" cy="119063"/>
          </a:xfrm>
          <a:prstGeom prst="rect">
            <a:avLst/>
          </a:prstGeom>
          <a:noFill/>
          <a:ln/>
        </p:spPr>
        <p:txBody>
          <a:bodyPr wrap="square" lIns="0" tIns="0" rIns="0" bIns="0" rtlCol="0" anchor="t"/>
          <a:lstStyle/>
          <a:p>
            <a:pPr algn="l" indent="0" marL="0">
              <a:lnSpc>
                <a:spcPts val="905"/>
              </a:lnSpc>
              <a:buNone/>
            </a:pPr>
            <a:r>
              <a:rPr lang="en-US" sz="748" dirty="0">
                <a:solidFill>
                  <a:srgbClr val="DCE7E3">
                    <a:alpha val="99000"/>
                  </a:srgbClr>
                </a:solidFill>
                <a:latin typeface="Inter" pitchFamily="34" charset="0"/>
                <a:ea typeface="Inter" pitchFamily="34" charset="-122"/>
                <a:cs typeface="Inter" pitchFamily="34" charset="-120"/>
              </a:rPr>
              <a:t>R2p</a:t>
            </a:r>
            <a:endParaRPr lang="en-US" sz="748" dirty="0"/>
          </a:p>
        </p:txBody>
      </p:sp>
      <p:sp>
        <p:nvSpPr>
          <p:cNvPr id="55" name="Text 50"/>
          <p:cNvSpPr/>
          <p:nvPr/>
        </p:nvSpPr>
        <p:spPr>
          <a:xfrm>
            <a:off x="7305675" y="2867025"/>
            <a:ext cx="595313"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D4AF63">
                    <a:alpha val="99000"/>
                  </a:srgbClr>
                </a:solidFill>
                <a:latin typeface="Inter" pitchFamily="34" charset="0"/>
                <a:ea typeface="Inter" pitchFamily="34" charset="-122"/>
                <a:cs typeface="Inter" pitchFamily="34" charset="-120"/>
              </a:rPr>
              <a:t>≥ 0.90</a:t>
            </a:r>
            <a:endParaRPr lang="en-US" sz="1425" dirty="0"/>
          </a:p>
        </p:txBody>
      </p:sp>
      <p:sp>
        <p:nvSpPr>
          <p:cNvPr id="56" name="Text 51"/>
          <p:cNvSpPr/>
          <p:nvPr/>
        </p:nvSpPr>
        <p:spPr>
          <a:xfrm>
            <a:off x="6477000" y="3248025"/>
            <a:ext cx="200025" cy="119063"/>
          </a:xfrm>
          <a:prstGeom prst="rect">
            <a:avLst/>
          </a:prstGeom>
          <a:noFill/>
          <a:ln/>
        </p:spPr>
        <p:txBody>
          <a:bodyPr wrap="square" lIns="0" tIns="0" rIns="0" bIns="0" rtlCol="0" anchor="t"/>
          <a:lstStyle/>
          <a:p>
            <a:pPr algn="l" indent="0" marL="0">
              <a:lnSpc>
                <a:spcPts val="905"/>
              </a:lnSpc>
              <a:buNone/>
            </a:pPr>
            <a:r>
              <a:rPr lang="en-US" sz="748" dirty="0">
                <a:solidFill>
                  <a:srgbClr val="DCE7E3">
                    <a:alpha val="99000"/>
                  </a:srgbClr>
                </a:solidFill>
                <a:latin typeface="Inter" pitchFamily="34" charset="0"/>
                <a:ea typeface="Inter" pitchFamily="34" charset="-122"/>
                <a:cs typeface="Inter" pitchFamily="34" charset="-120"/>
              </a:rPr>
              <a:t>RPD</a:t>
            </a:r>
            <a:endParaRPr lang="en-US" sz="748" dirty="0"/>
          </a:p>
        </p:txBody>
      </p:sp>
      <p:sp>
        <p:nvSpPr>
          <p:cNvPr id="57" name="Text 52"/>
          <p:cNvSpPr/>
          <p:nvPr/>
        </p:nvSpPr>
        <p:spPr>
          <a:xfrm>
            <a:off x="7305675" y="3181350"/>
            <a:ext cx="461963"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D4AF63">
                    <a:alpha val="99000"/>
                  </a:srgbClr>
                </a:solidFill>
                <a:latin typeface="Inter" pitchFamily="34" charset="0"/>
                <a:ea typeface="Inter" pitchFamily="34" charset="-122"/>
                <a:cs typeface="Inter" pitchFamily="34" charset="-120"/>
              </a:rPr>
              <a:t>≥ 2.5</a:t>
            </a:r>
            <a:endParaRPr lang="en-US" sz="1425" dirty="0"/>
          </a:p>
        </p:txBody>
      </p:sp>
      <p:sp>
        <p:nvSpPr>
          <p:cNvPr id="58" name="Text 53"/>
          <p:cNvSpPr/>
          <p:nvPr/>
        </p:nvSpPr>
        <p:spPr>
          <a:xfrm>
            <a:off x="6477000" y="3562350"/>
            <a:ext cx="342900" cy="119063"/>
          </a:xfrm>
          <a:prstGeom prst="rect">
            <a:avLst/>
          </a:prstGeom>
          <a:noFill/>
          <a:ln/>
        </p:spPr>
        <p:txBody>
          <a:bodyPr wrap="square" lIns="0" tIns="0" rIns="0" bIns="0" rtlCol="0" anchor="t"/>
          <a:lstStyle/>
          <a:p>
            <a:pPr algn="l" indent="0" marL="0">
              <a:lnSpc>
                <a:spcPts val="905"/>
              </a:lnSpc>
              <a:buNone/>
            </a:pPr>
            <a:r>
              <a:rPr lang="en-US" sz="748" dirty="0">
                <a:solidFill>
                  <a:srgbClr val="DCE7E3">
                    <a:alpha val="99000"/>
                  </a:srgbClr>
                </a:solidFill>
                <a:latin typeface="Inter" pitchFamily="34" charset="0"/>
                <a:ea typeface="Inter" pitchFamily="34" charset="-122"/>
                <a:cs typeface="Inter" pitchFamily="34" charset="-120"/>
              </a:rPr>
              <a:t>RMSEP</a:t>
            </a:r>
            <a:endParaRPr lang="en-US" sz="748" dirty="0"/>
          </a:p>
        </p:txBody>
      </p:sp>
      <p:sp>
        <p:nvSpPr>
          <p:cNvPr id="59" name="Text 54"/>
          <p:cNvSpPr/>
          <p:nvPr/>
        </p:nvSpPr>
        <p:spPr>
          <a:xfrm>
            <a:off x="7305675" y="3495675"/>
            <a:ext cx="623888" cy="228600"/>
          </a:xfrm>
          <a:prstGeom prst="rect">
            <a:avLst/>
          </a:prstGeom>
          <a:noFill/>
          <a:ln/>
        </p:spPr>
        <p:txBody>
          <a:bodyPr wrap="square" lIns="0" tIns="0" rIns="0" bIns="0" rtlCol="0" anchor="t"/>
          <a:lstStyle/>
          <a:p>
            <a:pPr algn="l" indent="0" marL="0">
              <a:lnSpc>
                <a:spcPts val="1725"/>
              </a:lnSpc>
              <a:buNone/>
            </a:pPr>
            <a:r>
              <a:rPr lang="en-US" sz="1425" b="1" spc="-14" kern="0" dirty="0">
                <a:solidFill>
                  <a:srgbClr val="D4AF63">
                    <a:alpha val="99000"/>
                  </a:srgbClr>
                </a:solidFill>
                <a:latin typeface="Inter" pitchFamily="34" charset="0"/>
                <a:ea typeface="Inter" pitchFamily="34" charset="-122"/>
                <a:cs typeface="Inter" pitchFamily="34" charset="-120"/>
              </a:rPr>
              <a:t>≤ 0.5%</a:t>
            </a:r>
            <a:endParaRPr lang="en-US" sz="1425" dirty="0"/>
          </a:p>
        </p:txBody>
      </p:sp>
      <p:sp>
        <p:nvSpPr>
          <p:cNvPr id="60" name="Shape 55"/>
          <p:cNvSpPr/>
          <p:nvPr/>
        </p:nvSpPr>
        <p:spPr>
          <a:xfrm>
            <a:off x="6477000" y="3895725"/>
            <a:ext cx="1962150" cy="4763"/>
          </a:xfrm>
          <a:prstGeom prst="rect">
            <a:avLst/>
          </a:prstGeom>
          <a:solidFill>
            <a:srgbClr val="FFFFFF">
              <a:alpha val="15000"/>
            </a:srgbClr>
          </a:solidFill>
          <a:ln/>
        </p:spPr>
      </p:sp>
      <p:sp>
        <p:nvSpPr>
          <p:cNvPr id="61" name="Text 56"/>
          <p:cNvSpPr/>
          <p:nvPr/>
        </p:nvSpPr>
        <p:spPr>
          <a:xfrm>
            <a:off x="6477000" y="4000500"/>
            <a:ext cx="1962150" cy="266700"/>
          </a:xfrm>
          <a:prstGeom prst="rect">
            <a:avLst/>
          </a:prstGeom>
          <a:noFill/>
          <a:ln/>
        </p:spPr>
        <p:txBody>
          <a:bodyPr wrap="square" lIns="0" tIns="0" rIns="0" bIns="0" rtlCol="0" anchor="t"/>
          <a:lstStyle/>
          <a:p>
            <a:pPr algn="l" indent="0" marL="0">
              <a:lnSpc>
                <a:spcPts val="981"/>
              </a:lnSpc>
              <a:buNone/>
            </a:pPr>
            <a:r>
              <a:rPr lang="en-US" sz="677" dirty="0">
                <a:solidFill>
                  <a:srgbClr val="DCE7E3">
                    <a:alpha val="99000"/>
                  </a:srgbClr>
                </a:solidFill>
                <a:latin typeface="Inter" pitchFamily="34" charset="0"/>
                <a:ea typeface="Inter" pitchFamily="34" charset="-122"/>
                <a:cs typeface="Inter" pitchFamily="34" charset="-120"/>
              </a:rPr>
              <a:t>Speed target: under 60 s per sample, against about 6 h by oven.</a:t>
            </a:r>
            <a:endParaRPr lang="en-US" sz="67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31445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15   ·   PROOF OF CONCEPT</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Preliminary proof of concept</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20025" y="295275"/>
            <a:ext cx="790575" cy="161925"/>
          </a:xfrm>
          <a:prstGeom prst="roundRect">
            <a:avLst/>
          </a:prstGeom>
          <a:noFill/>
          <a:ln w="5429">
            <a:solidFill>
              <a:srgbClr val="B8893B"/>
            </a:solidFill>
            <a:prstDash val="solid"/>
          </a:ln>
        </p:spPr>
      </p:sp>
      <p:sp>
        <p:nvSpPr>
          <p:cNvPr id="7" name="Text 4"/>
          <p:cNvSpPr/>
          <p:nvPr/>
        </p:nvSpPr>
        <p:spPr>
          <a:xfrm>
            <a:off x="7905750" y="335756"/>
            <a:ext cx="619125"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Methodology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15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1190625"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SET-UP (SURROGATE DATA)</a:t>
            </a:r>
            <a:endParaRPr lang="en-US" sz="499" dirty="0"/>
          </a:p>
        </p:txBody>
      </p:sp>
      <p:sp>
        <p:nvSpPr>
          <p:cNvPr id="15" name="Shape 10"/>
          <p:cNvSpPr/>
          <p:nvPr/>
        </p:nvSpPr>
        <p:spPr>
          <a:xfrm>
            <a:off x="533400" y="1181100"/>
            <a:ext cx="2667000" cy="4763"/>
          </a:xfrm>
          <a:prstGeom prst="rect">
            <a:avLst/>
          </a:prstGeom>
          <a:solidFill>
            <a:srgbClr val="0E2A26">
              <a:alpha val="18000"/>
            </a:srgbClr>
          </a:solidFill>
          <a:ln/>
        </p:spPr>
      </p:sp>
      <p:sp>
        <p:nvSpPr>
          <p:cNvPr id="16" name="Text 11"/>
          <p:cNvSpPr/>
          <p:nvPr/>
        </p:nvSpPr>
        <p:spPr>
          <a:xfrm>
            <a:off x="533400" y="1285875"/>
            <a:ext cx="2667000" cy="285750"/>
          </a:xfrm>
          <a:prstGeom prst="rect">
            <a:avLst/>
          </a:prstGeom>
          <a:noFill/>
          <a:ln/>
        </p:spPr>
        <p:txBody>
          <a:bodyPr wrap="square" lIns="0" tIns="0" rIns="0" bIns="0" rtlCol="0" anchor="t"/>
          <a:lstStyle/>
          <a:p>
            <a:pPr algn="l" indent="0" marL="0">
              <a:lnSpc>
                <a:spcPts val="1062"/>
              </a:lnSpc>
              <a:buNone/>
            </a:pPr>
            <a:r>
              <a:rPr lang="en-US" sz="748" b="1" dirty="0">
                <a:solidFill>
                  <a:srgbClr val="1F5C4F">
                    <a:alpha val="99000"/>
                  </a:srgbClr>
                </a:solidFill>
                <a:latin typeface="Inter" pitchFamily="34" charset="0"/>
                <a:ea typeface="Inter" pitchFamily="34" charset="-122"/>
                <a:cs typeface="Inter" pitchFamily="34" charset="-120"/>
              </a:rPr>
              <a:t>Data</a:t>
            </a:r>
            <a:pPr algn="l" indent="0" marL="0">
              <a:lnSpc>
                <a:spcPts val="1062"/>
              </a:lnSpc>
              <a:buNone/>
            </a:pPr>
            <a:r>
              <a:rPr lang="en-US" sz="748" dirty="0">
                <a:solidFill>
                  <a:srgbClr val="23302D">
                    <a:alpha val="99000"/>
                  </a:srgbClr>
                </a:solidFill>
                <a:latin typeface="Inter" pitchFamily="34" charset="0"/>
                <a:ea typeface="Inter" pitchFamily="34" charset="-122"/>
                <a:cs typeface="Inter" pitchFamily="34" charset="-120"/>
              </a:rPr>
              <a:t>  Public Tecator NIR moisture data: 240 samples, 850 to 1050 nm (Borggaard and Thodberg, 1992)</a:t>
            </a:r>
            <a:endParaRPr lang="en-US" sz="748" dirty="0"/>
          </a:p>
        </p:txBody>
      </p:sp>
      <p:sp>
        <p:nvSpPr>
          <p:cNvPr id="17" name="Shape 12"/>
          <p:cNvSpPr/>
          <p:nvPr/>
        </p:nvSpPr>
        <p:spPr>
          <a:xfrm>
            <a:off x="533400" y="1676400"/>
            <a:ext cx="2667000" cy="4763"/>
          </a:xfrm>
          <a:prstGeom prst="rect">
            <a:avLst/>
          </a:prstGeom>
          <a:solidFill>
            <a:srgbClr val="E3DACA"/>
          </a:solidFill>
          <a:ln/>
        </p:spPr>
      </p:sp>
      <p:sp>
        <p:nvSpPr>
          <p:cNvPr id="18" name="Text 13"/>
          <p:cNvSpPr/>
          <p:nvPr/>
        </p:nvSpPr>
        <p:spPr>
          <a:xfrm>
            <a:off x="533400" y="1781175"/>
            <a:ext cx="2667000" cy="142875"/>
          </a:xfrm>
          <a:prstGeom prst="rect">
            <a:avLst/>
          </a:prstGeom>
          <a:noFill/>
          <a:ln/>
        </p:spPr>
        <p:txBody>
          <a:bodyPr wrap="square" lIns="0" tIns="0" rIns="0" bIns="0" rtlCol="0" anchor="t"/>
          <a:lstStyle/>
          <a:p>
            <a:pPr algn="l" indent="0" marL="0">
              <a:lnSpc>
                <a:spcPts val="1062"/>
              </a:lnSpc>
              <a:buNone/>
            </a:pPr>
            <a:r>
              <a:rPr lang="en-US" sz="748" b="1" dirty="0">
                <a:solidFill>
                  <a:srgbClr val="1F5C4F">
                    <a:alpha val="99000"/>
                  </a:srgbClr>
                </a:solidFill>
                <a:latin typeface="Inter" pitchFamily="34" charset="0"/>
                <a:ea typeface="Inter" pitchFamily="34" charset="-122"/>
                <a:cs typeface="Inter" pitchFamily="34" charset="-120"/>
              </a:rPr>
              <a:t>Split</a:t>
            </a:r>
            <a:pPr algn="l" indent="0" marL="0">
              <a:lnSpc>
                <a:spcPts val="1062"/>
              </a:lnSpc>
              <a:buNone/>
            </a:pPr>
            <a:r>
              <a:rPr lang="en-US" sz="748" dirty="0">
                <a:solidFill>
                  <a:srgbClr val="23302D">
                    <a:alpha val="99000"/>
                  </a:srgbClr>
                </a:solidFill>
                <a:latin typeface="Inter" pitchFamily="34" charset="0"/>
                <a:ea typeface="Inter" pitchFamily="34" charset="-122"/>
                <a:cs typeface="Inter" pitchFamily="34" charset="-120"/>
              </a:rPr>
              <a:t>  Kennard-Stone: 168 calibration, 72 locked test</a:t>
            </a:r>
            <a:endParaRPr lang="en-US" sz="748" dirty="0"/>
          </a:p>
        </p:txBody>
      </p:sp>
      <p:sp>
        <p:nvSpPr>
          <p:cNvPr id="19" name="Shape 14"/>
          <p:cNvSpPr/>
          <p:nvPr/>
        </p:nvSpPr>
        <p:spPr>
          <a:xfrm>
            <a:off x="533400" y="2028825"/>
            <a:ext cx="2667000" cy="4763"/>
          </a:xfrm>
          <a:prstGeom prst="rect">
            <a:avLst/>
          </a:prstGeom>
          <a:solidFill>
            <a:srgbClr val="E3DACA"/>
          </a:solidFill>
          <a:ln/>
        </p:spPr>
      </p:sp>
      <p:sp>
        <p:nvSpPr>
          <p:cNvPr id="20" name="Text 15"/>
          <p:cNvSpPr/>
          <p:nvPr/>
        </p:nvSpPr>
        <p:spPr>
          <a:xfrm>
            <a:off x="533400" y="2133600"/>
            <a:ext cx="2667000" cy="285750"/>
          </a:xfrm>
          <a:prstGeom prst="rect">
            <a:avLst/>
          </a:prstGeom>
          <a:noFill/>
          <a:ln/>
        </p:spPr>
        <p:txBody>
          <a:bodyPr wrap="square" lIns="0" tIns="0" rIns="0" bIns="0" rtlCol="0" anchor="t"/>
          <a:lstStyle/>
          <a:p>
            <a:pPr algn="l" indent="0" marL="0">
              <a:lnSpc>
                <a:spcPts val="1062"/>
              </a:lnSpc>
              <a:buNone/>
            </a:pPr>
            <a:r>
              <a:rPr lang="en-US" sz="748" b="1" dirty="0">
                <a:solidFill>
                  <a:srgbClr val="1F5C4F">
                    <a:alpha val="99000"/>
                  </a:srgbClr>
                </a:solidFill>
                <a:latin typeface="Inter" pitchFamily="34" charset="0"/>
                <a:ea typeface="Inter" pitchFamily="34" charset="-122"/>
                <a:cs typeface="Inter" pitchFamily="34" charset="-120"/>
              </a:rPr>
              <a:t>Pipeline</a:t>
            </a:r>
            <a:pPr algn="l" indent="0" marL="0">
              <a:lnSpc>
                <a:spcPts val="1062"/>
              </a:lnSpc>
              <a:buNone/>
            </a:pPr>
            <a:r>
              <a:rPr lang="en-US" sz="748" dirty="0">
                <a:solidFill>
                  <a:srgbClr val="23302D">
                    <a:alpha val="99000"/>
                  </a:srgbClr>
                </a:solidFill>
                <a:latin typeface="Inter" pitchFamily="34" charset="0"/>
                <a:ea typeface="Inter" pitchFamily="34" charset="-122"/>
                <a:cs typeface="Inter" pitchFamily="34" charset="-120"/>
              </a:rPr>
              <a:t>  SNV and Savitzky-Golay; CARS; PLSR, SVR, RF; 10-fold CV</a:t>
            </a:r>
            <a:endParaRPr lang="en-US" sz="748" dirty="0"/>
          </a:p>
        </p:txBody>
      </p:sp>
      <p:sp>
        <p:nvSpPr>
          <p:cNvPr id="21" name="Shape 16"/>
          <p:cNvSpPr/>
          <p:nvPr/>
        </p:nvSpPr>
        <p:spPr>
          <a:xfrm>
            <a:off x="533400" y="2524125"/>
            <a:ext cx="2667000" cy="4763"/>
          </a:xfrm>
          <a:prstGeom prst="rect">
            <a:avLst/>
          </a:prstGeom>
          <a:solidFill>
            <a:srgbClr val="E3DACA"/>
          </a:solidFill>
          <a:ln/>
        </p:spPr>
      </p:sp>
      <p:sp>
        <p:nvSpPr>
          <p:cNvPr id="22" name="Text 17"/>
          <p:cNvSpPr/>
          <p:nvPr/>
        </p:nvSpPr>
        <p:spPr>
          <a:xfrm>
            <a:off x="533400" y="2628900"/>
            <a:ext cx="2667000" cy="285750"/>
          </a:xfrm>
          <a:prstGeom prst="rect">
            <a:avLst/>
          </a:prstGeom>
          <a:noFill/>
          <a:ln/>
        </p:spPr>
        <p:txBody>
          <a:bodyPr wrap="square" lIns="0" tIns="0" rIns="0" bIns="0" rtlCol="0" anchor="t"/>
          <a:lstStyle/>
          <a:p>
            <a:pPr algn="l" indent="0" marL="0">
              <a:lnSpc>
                <a:spcPts val="1062"/>
              </a:lnSpc>
              <a:buNone/>
            </a:pPr>
            <a:r>
              <a:rPr lang="en-US" sz="748" b="1" dirty="0">
                <a:solidFill>
                  <a:srgbClr val="1F5C4F">
                    <a:alpha val="99000"/>
                  </a:srgbClr>
                </a:solidFill>
                <a:latin typeface="Inter" pitchFamily="34" charset="0"/>
                <a:ea typeface="Inter" pitchFamily="34" charset="-122"/>
                <a:cs typeface="Inter" pitchFamily="34" charset="-120"/>
              </a:rPr>
              <a:t>Caveat</a:t>
            </a:r>
            <a:pPr algn="l" indent="0" marL="0">
              <a:lnSpc>
                <a:spcPts val="1062"/>
              </a:lnSpc>
              <a:buNone/>
            </a:pPr>
            <a:r>
              <a:rPr lang="en-US" sz="748" dirty="0">
                <a:solidFill>
                  <a:srgbClr val="23302D">
                    <a:alpha val="99000"/>
                  </a:srgbClr>
                </a:solidFill>
                <a:latin typeface="Inter" pitchFamily="34" charset="0"/>
                <a:ea typeface="Inter" pitchFamily="34" charset="-122"/>
                <a:cs typeface="Inter" pitchFamily="34" charset="-120"/>
              </a:rPr>
              <a:t>  Meat, not tea: this proves the pipeline, not tea performance</a:t>
            </a:r>
            <a:endParaRPr lang="en-US" sz="748" dirty="0"/>
          </a:p>
        </p:txBody>
      </p:sp>
      <p:sp>
        <p:nvSpPr>
          <p:cNvPr id="23" name="Shape 18"/>
          <p:cNvSpPr/>
          <p:nvPr/>
        </p:nvSpPr>
        <p:spPr>
          <a:xfrm>
            <a:off x="533400" y="3557588"/>
            <a:ext cx="2667000" cy="938213"/>
          </a:xfrm>
          <a:prstGeom prst="roundRect">
            <a:avLst/>
          </a:prstGeom>
          <a:solidFill>
            <a:srgbClr val="0E2A26"/>
          </a:solidFill>
          <a:ln/>
        </p:spPr>
      </p:sp>
      <p:sp>
        <p:nvSpPr>
          <p:cNvPr id="24" name="Text 19"/>
          <p:cNvSpPr/>
          <p:nvPr/>
        </p:nvSpPr>
        <p:spPr>
          <a:xfrm>
            <a:off x="695325" y="3748087"/>
            <a:ext cx="74295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WHY IT MATTERS</a:t>
            </a:r>
            <a:endParaRPr lang="en-US" sz="499" dirty="0"/>
          </a:p>
        </p:txBody>
      </p:sp>
      <p:sp>
        <p:nvSpPr>
          <p:cNvPr id="25" name="Text 20"/>
          <p:cNvSpPr/>
          <p:nvPr/>
        </p:nvSpPr>
        <p:spPr>
          <a:xfrm>
            <a:off x="695325" y="3890962"/>
            <a:ext cx="2343150" cy="414338"/>
          </a:xfrm>
          <a:prstGeom prst="rect">
            <a:avLst/>
          </a:prstGeom>
          <a:noFill/>
          <a:ln/>
        </p:spPr>
        <p:txBody>
          <a:bodyPr wrap="square" lIns="0" tIns="0" rIns="0" bIns="0" rtlCol="0" anchor="t"/>
          <a:lstStyle/>
          <a:p>
            <a:pPr algn="l" indent="0" marL="0">
              <a:lnSpc>
                <a:spcPts val="1033"/>
              </a:lnSpc>
              <a:buNone/>
            </a:pPr>
            <a:r>
              <a:rPr lang="en-US" sz="713" dirty="0">
                <a:solidFill>
                  <a:srgbClr val="E8EFEC">
                    <a:alpha val="99000"/>
                  </a:srgbClr>
                </a:solidFill>
                <a:latin typeface="Inter" pitchFamily="34" charset="0"/>
                <a:ea typeface="Inter" pitchFamily="34" charset="-122"/>
                <a:cs typeface="Inter" pitchFamily="34" charset="-120"/>
              </a:rPr>
              <a:t>The full pipeline, from preprocessing to locked-test evaluation, already runs, so tea data can be modelled as soon as it is collected.</a:t>
            </a:r>
            <a:endParaRPr lang="en-US" sz="713" dirty="0"/>
          </a:p>
        </p:txBody>
      </p:sp>
      <p:sp>
        <p:nvSpPr>
          <p:cNvPr id="26" name="Shape 21"/>
          <p:cNvSpPr/>
          <p:nvPr/>
        </p:nvSpPr>
        <p:spPr>
          <a:xfrm>
            <a:off x="3505200" y="1038225"/>
            <a:ext cx="1204913" cy="762000"/>
          </a:xfrm>
          <a:prstGeom prst="roundRect">
            <a:avLst/>
          </a:prstGeom>
          <a:solidFill>
            <a:srgbClr val="0E2A26"/>
          </a:solidFill>
          <a:ln/>
        </p:spPr>
      </p:sp>
      <p:sp>
        <p:nvSpPr>
          <p:cNvPr id="27" name="Text 22"/>
          <p:cNvSpPr/>
          <p:nvPr/>
        </p:nvSpPr>
        <p:spPr>
          <a:xfrm>
            <a:off x="3619500" y="1162050"/>
            <a:ext cx="976312" cy="266700"/>
          </a:xfrm>
          <a:prstGeom prst="rect">
            <a:avLst/>
          </a:prstGeom>
          <a:noFill/>
          <a:ln/>
        </p:spPr>
        <p:txBody>
          <a:bodyPr wrap="square" lIns="0" tIns="0" rIns="0" bIns="0" rtlCol="0" anchor="t"/>
          <a:lstStyle/>
          <a:p>
            <a:pPr algn="l" indent="0" marL="0">
              <a:lnSpc>
                <a:spcPts val="1983"/>
              </a:lnSpc>
              <a:buNone/>
            </a:pPr>
            <a:r>
              <a:rPr lang="en-US" sz="1639" b="1" spc="-16" kern="0" dirty="0">
                <a:solidFill>
                  <a:srgbClr val="D4AF63">
                    <a:alpha val="99000"/>
                  </a:srgbClr>
                </a:solidFill>
                <a:latin typeface="Inter" pitchFamily="34" charset="0"/>
                <a:ea typeface="Inter" pitchFamily="34" charset="-122"/>
                <a:cs typeface="Inter" pitchFamily="34" charset="-120"/>
              </a:rPr>
              <a:t>1.04%</a:t>
            </a:r>
            <a:endParaRPr lang="en-US" sz="1639" dirty="0"/>
          </a:p>
        </p:txBody>
      </p:sp>
      <p:sp>
        <p:nvSpPr>
          <p:cNvPr id="28" name="Text 23"/>
          <p:cNvSpPr/>
          <p:nvPr/>
        </p:nvSpPr>
        <p:spPr>
          <a:xfrm>
            <a:off x="3619500" y="1524000"/>
            <a:ext cx="976312" cy="109538"/>
          </a:xfrm>
          <a:prstGeom prst="rect">
            <a:avLst/>
          </a:prstGeom>
          <a:noFill/>
          <a:ln/>
        </p:spPr>
        <p:txBody>
          <a:bodyPr wrap="square" lIns="0" tIns="0" rIns="0" bIns="0" rtlCol="0" anchor="t"/>
          <a:lstStyle/>
          <a:p>
            <a:pPr algn="l" indent="0" marL="0">
              <a:lnSpc>
                <a:spcPts val="818"/>
              </a:lnSpc>
              <a:buNone/>
            </a:pPr>
            <a:r>
              <a:rPr lang="en-US" sz="606" dirty="0">
                <a:solidFill>
                  <a:srgbClr val="DCE7E3">
                    <a:alpha val="99000"/>
                  </a:srgbClr>
                </a:solidFill>
                <a:latin typeface="Inter" pitchFamily="34" charset="0"/>
                <a:ea typeface="Inter" pitchFamily="34" charset="-122"/>
                <a:cs typeface="Inter" pitchFamily="34" charset="-120"/>
              </a:rPr>
              <a:t>SVR RMSEP</a:t>
            </a:r>
            <a:endParaRPr lang="en-US" sz="606" dirty="0"/>
          </a:p>
        </p:txBody>
      </p:sp>
      <p:sp>
        <p:nvSpPr>
          <p:cNvPr id="29" name="Shape 24"/>
          <p:cNvSpPr/>
          <p:nvPr/>
        </p:nvSpPr>
        <p:spPr>
          <a:xfrm>
            <a:off x="4805363" y="1038225"/>
            <a:ext cx="1204913" cy="762000"/>
          </a:xfrm>
          <a:prstGeom prst="roundRect">
            <a:avLst/>
          </a:prstGeom>
          <a:solidFill>
            <a:srgbClr val="FFFFFF"/>
          </a:solidFill>
          <a:ln w="4524">
            <a:solidFill>
              <a:srgbClr val="E3DACA"/>
            </a:solidFill>
            <a:prstDash val="solid"/>
          </a:ln>
        </p:spPr>
      </p:sp>
      <p:sp>
        <p:nvSpPr>
          <p:cNvPr id="30" name="Text 25"/>
          <p:cNvSpPr/>
          <p:nvPr/>
        </p:nvSpPr>
        <p:spPr>
          <a:xfrm>
            <a:off x="4919663" y="1162050"/>
            <a:ext cx="976312" cy="266700"/>
          </a:xfrm>
          <a:prstGeom prst="rect">
            <a:avLst/>
          </a:prstGeom>
          <a:noFill/>
          <a:ln/>
        </p:spPr>
        <p:txBody>
          <a:bodyPr wrap="square" lIns="0" tIns="0" rIns="0" bIns="0" rtlCol="0" anchor="t"/>
          <a:lstStyle/>
          <a:p>
            <a:pPr algn="l" indent="0" marL="0">
              <a:lnSpc>
                <a:spcPts val="1983"/>
              </a:lnSpc>
              <a:buNone/>
            </a:pPr>
            <a:r>
              <a:rPr lang="en-US" sz="1639" b="1" spc="-16" kern="0" dirty="0">
                <a:solidFill>
                  <a:srgbClr val="0E2A26">
                    <a:alpha val="99000"/>
                  </a:srgbClr>
                </a:solidFill>
                <a:latin typeface="Inter" pitchFamily="34" charset="0"/>
                <a:ea typeface="Inter" pitchFamily="34" charset="-122"/>
                <a:cs typeface="Inter" pitchFamily="34" charset="-120"/>
              </a:rPr>
              <a:t>0.989</a:t>
            </a:r>
            <a:endParaRPr lang="en-US" sz="1639" dirty="0"/>
          </a:p>
        </p:txBody>
      </p:sp>
      <p:sp>
        <p:nvSpPr>
          <p:cNvPr id="31" name="Text 26"/>
          <p:cNvSpPr/>
          <p:nvPr/>
        </p:nvSpPr>
        <p:spPr>
          <a:xfrm>
            <a:off x="4919663" y="1524000"/>
            <a:ext cx="976312" cy="109538"/>
          </a:xfrm>
          <a:prstGeom prst="rect">
            <a:avLst/>
          </a:prstGeom>
          <a:noFill/>
          <a:ln/>
        </p:spPr>
        <p:txBody>
          <a:bodyPr wrap="square" lIns="0" tIns="0" rIns="0" bIns="0" rtlCol="0" anchor="t"/>
          <a:lstStyle/>
          <a:p>
            <a:pPr algn="l" indent="0" marL="0">
              <a:lnSpc>
                <a:spcPts val="818"/>
              </a:lnSpc>
              <a:buNone/>
            </a:pPr>
            <a:r>
              <a:rPr lang="en-US" sz="606" dirty="0">
                <a:solidFill>
                  <a:srgbClr val="6E7672">
                    <a:alpha val="99000"/>
                  </a:srgbClr>
                </a:solidFill>
                <a:latin typeface="Inter" pitchFamily="34" charset="0"/>
                <a:ea typeface="Inter" pitchFamily="34" charset="-122"/>
                <a:cs typeface="Inter" pitchFamily="34" charset="-120"/>
              </a:rPr>
              <a:t>SVR R2p</a:t>
            </a:r>
            <a:endParaRPr lang="en-US" sz="606" dirty="0"/>
          </a:p>
        </p:txBody>
      </p:sp>
      <p:sp>
        <p:nvSpPr>
          <p:cNvPr id="32" name="Shape 27"/>
          <p:cNvSpPr/>
          <p:nvPr/>
        </p:nvSpPr>
        <p:spPr>
          <a:xfrm>
            <a:off x="6105525" y="1038225"/>
            <a:ext cx="1204913" cy="762000"/>
          </a:xfrm>
          <a:prstGeom prst="roundRect">
            <a:avLst/>
          </a:prstGeom>
          <a:solidFill>
            <a:srgbClr val="FFFFFF"/>
          </a:solidFill>
          <a:ln w="4524">
            <a:solidFill>
              <a:srgbClr val="E3DACA"/>
            </a:solidFill>
            <a:prstDash val="solid"/>
          </a:ln>
        </p:spPr>
      </p:sp>
      <p:sp>
        <p:nvSpPr>
          <p:cNvPr id="33" name="Text 28"/>
          <p:cNvSpPr/>
          <p:nvPr/>
        </p:nvSpPr>
        <p:spPr>
          <a:xfrm>
            <a:off x="6219825" y="1162050"/>
            <a:ext cx="976312" cy="266700"/>
          </a:xfrm>
          <a:prstGeom prst="rect">
            <a:avLst/>
          </a:prstGeom>
          <a:noFill/>
          <a:ln/>
        </p:spPr>
        <p:txBody>
          <a:bodyPr wrap="square" lIns="0" tIns="0" rIns="0" bIns="0" rtlCol="0" anchor="t"/>
          <a:lstStyle/>
          <a:p>
            <a:pPr algn="l" indent="0" marL="0">
              <a:lnSpc>
                <a:spcPts val="1983"/>
              </a:lnSpc>
              <a:buNone/>
            </a:pPr>
            <a:r>
              <a:rPr lang="en-US" sz="1639" b="1" spc="-16" kern="0" dirty="0">
                <a:solidFill>
                  <a:srgbClr val="0E2A26">
                    <a:alpha val="99000"/>
                  </a:srgbClr>
                </a:solidFill>
                <a:latin typeface="Inter" pitchFamily="34" charset="0"/>
                <a:ea typeface="Inter" pitchFamily="34" charset="-122"/>
                <a:cs typeface="Inter" pitchFamily="34" charset="-120"/>
              </a:rPr>
              <a:t>9.6</a:t>
            </a:r>
            <a:endParaRPr lang="en-US" sz="1639" dirty="0"/>
          </a:p>
        </p:txBody>
      </p:sp>
      <p:sp>
        <p:nvSpPr>
          <p:cNvPr id="34" name="Text 29"/>
          <p:cNvSpPr/>
          <p:nvPr/>
        </p:nvSpPr>
        <p:spPr>
          <a:xfrm>
            <a:off x="6219825" y="1524000"/>
            <a:ext cx="976312" cy="109538"/>
          </a:xfrm>
          <a:prstGeom prst="rect">
            <a:avLst/>
          </a:prstGeom>
          <a:noFill/>
          <a:ln/>
        </p:spPr>
        <p:txBody>
          <a:bodyPr wrap="square" lIns="0" tIns="0" rIns="0" bIns="0" rtlCol="0" anchor="t"/>
          <a:lstStyle/>
          <a:p>
            <a:pPr algn="l" indent="0" marL="0">
              <a:lnSpc>
                <a:spcPts val="818"/>
              </a:lnSpc>
              <a:buNone/>
            </a:pPr>
            <a:r>
              <a:rPr lang="en-US" sz="606" dirty="0">
                <a:solidFill>
                  <a:srgbClr val="6E7672">
                    <a:alpha val="99000"/>
                  </a:srgbClr>
                </a:solidFill>
                <a:latin typeface="Inter" pitchFamily="34" charset="0"/>
                <a:ea typeface="Inter" pitchFamily="34" charset="-122"/>
                <a:cs typeface="Inter" pitchFamily="34" charset="-120"/>
              </a:rPr>
              <a:t>RPD</a:t>
            </a:r>
            <a:endParaRPr lang="en-US" sz="606" dirty="0"/>
          </a:p>
        </p:txBody>
      </p:sp>
      <p:sp>
        <p:nvSpPr>
          <p:cNvPr id="35" name="Shape 30"/>
          <p:cNvSpPr/>
          <p:nvPr/>
        </p:nvSpPr>
        <p:spPr>
          <a:xfrm>
            <a:off x="7405688" y="1038225"/>
            <a:ext cx="1204913" cy="762000"/>
          </a:xfrm>
          <a:prstGeom prst="roundRect">
            <a:avLst/>
          </a:prstGeom>
          <a:solidFill>
            <a:srgbClr val="FFFFFF"/>
          </a:solidFill>
          <a:ln w="4524">
            <a:solidFill>
              <a:srgbClr val="E3DACA"/>
            </a:solidFill>
            <a:prstDash val="solid"/>
          </a:ln>
        </p:spPr>
      </p:sp>
      <p:sp>
        <p:nvSpPr>
          <p:cNvPr id="36" name="Text 31"/>
          <p:cNvSpPr/>
          <p:nvPr/>
        </p:nvSpPr>
        <p:spPr>
          <a:xfrm>
            <a:off x="7519988" y="1162050"/>
            <a:ext cx="976312" cy="266700"/>
          </a:xfrm>
          <a:prstGeom prst="rect">
            <a:avLst/>
          </a:prstGeom>
          <a:noFill/>
          <a:ln/>
        </p:spPr>
        <p:txBody>
          <a:bodyPr wrap="square" lIns="0" tIns="0" rIns="0" bIns="0" rtlCol="0" anchor="t"/>
          <a:lstStyle/>
          <a:p>
            <a:pPr algn="l" indent="0" marL="0">
              <a:lnSpc>
                <a:spcPts val="1983"/>
              </a:lnSpc>
              <a:buNone/>
            </a:pPr>
            <a:r>
              <a:rPr lang="en-US" sz="1639" b="1" spc="-16" kern="0" dirty="0">
                <a:solidFill>
                  <a:srgbClr val="0E2A26">
                    <a:alpha val="99000"/>
                  </a:srgbClr>
                </a:solidFill>
                <a:latin typeface="Inter" pitchFamily="34" charset="0"/>
                <a:ea typeface="Inter" pitchFamily="34" charset="-122"/>
                <a:cs typeface="Inter" pitchFamily="34" charset="-120"/>
              </a:rPr>
              <a:t>11 / 100</a:t>
            </a:r>
            <a:endParaRPr lang="en-US" sz="1639" dirty="0"/>
          </a:p>
        </p:txBody>
      </p:sp>
      <p:sp>
        <p:nvSpPr>
          <p:cNvPr id="37" name="Text 32"/>
          <p:cNvSpPr/>
          <p:nvPr/>
        </p:nvSpPr>
        <p:spPr>
          <a:xfrm>
            <a:off x="7519988" y="1524000"/>
            <a:ext cx="976312" cy="219075"/>
          </a:xfrm>
          <a:prstGeom prst="rect">
            <a:avLst/>
          </a:prstGeom>
          <a:noFill/>
          <a:ln/>
        </p:spPr>
        <p:txBody>
          <a:bodyPr wrap="square" lIns="0" tIns="0" rIns="0" bIns="0" rtlCol="0" anchor="t"/>
          <a:lstStyle/>
          <a:p>
            <a:pPr algn="l" indent="0" marL="0">
              <a:lnSpc>
                <a:spcPts val="818"/>
              </a:lnSpc>
              <a:buNone/>
            </a:pPr>
            <a:r>
              <a:rPr lang="en-US" sz="606" dirty="0">
                <a:solidFill>
                  <a:srgbClr val="6E7672">
                    <a:alpha val="99000"/>
                  </a:srgbClr>
                </a:solidFill>
                <a:latin typeface="Inter" pitchFamily="34" charset="0"/>
                <a:ea typeface="Inter" pitchFamily="34" charset="-122"/>
                <a:cs typeface="Inter" pitchFamily="34" charset="-120"/>
              </a:rPr>
              <a:t>wavelengths kept by CARS</a:t>
            </a:r>
            <a:endParaRPr lang="en-US" sz="606" dirty="0"/>
          </a:p>
        </p:txBody>
      </p:sp>
      <p:sp>
        <p:nvSpPr>
          <p:cNvPr id="38" name="Text 33"/>
          <p:cNvSpPr/>
          <p:nvPr/>
        </p:nvSpPr>
        <p:spPr>
          <a:xfrm>
            <a:off x="3505200" y="1990725"/>
            <a:ext cx="29337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RMSEP ON THE LOCKED TEST SET (% MOISTURE; LOWER IS BETTER)</a:t>
            </a:r>
            <a:endParaRPr lang="en-US" sz="499" dirty="0"/>
          </a:p>
        </p:txBody>
      </p:sp>
      <p:sp>
        <p:nvSpPr>
          <p:cNvPr id="39" name="Shape 34"/>
          <p:cNvSpPr/>
          <p:nvPr/>
        </p:nvSpPr>
        <p:spPr>
          <a:xfrm>
            <a:off x="3505200" y="2133600"/>
            <a:ext cx="5105400" cy="4763"/>
          </a:xfrm>
          <a:prstGeom prst="rect">
            <a:avLst/>
          </a:prstGeom>
          <a:solidFill>
            <a:srgbClr val="0E2A26">
              <a:alpha val="18000"/>
            </a:srgbClr>
          </a:solidFill>
          <a:ln/>
        </p:spPr>
      </p:sp>
      <p:sp>
        <p:nvSpPr>
          <p:cNvPr id="40" name="Text 35"/>
          <p:cNvSpPr/>
          <p:nvPr/>
        </p:nvSpPr>
        <p:spPr>
          <a:xfrm>
            <a:off x="3505200" y="2376488"/>
            <a:ext cx="1190625" cy="109538"/>
          </a:xfrm>
          <a:prstGeom prst="rect">
            <a:avLst/>
          </a:prstGeom>
          <a:noFill/>
          <a:ln/>
        </p:spPr>
        <p:txBody>
          <a:bodyPr wrap="square" lIns="0" tIns="0" rIns="0" bIns="0" rtlCol="0" anchor="t"/>
          <a:lstStyle/>
          <a:p>
            <a:pPr algn="l" indent="0" marL="0">
              <a:lnSpc>
                <a:spcPts val="819"/>
              </a:lnSpc>
              <a:buNone/>
            </a:pPr>
            <a:r>
              <a:rPr lang="en-US" sz="677" dirty="0">
                <a:solidFill>
                  <a:srgbClr val="0E2A26">
                    <a:alpha val="99000"/>
                  </a:srgbClr>
                </a:solidFill>
                <a:latin typeface="Inter" pitchFamily="34" charset="0"/>
                <a:ea typeface="Inter" pitchFamily="34" charset="-122"/>
                <a:cs typeface="Inter" pitchFamily="34" charset="-120"/>
              </a:rPr>
              <a:t>Mean-only baseline</a:t>
            </a:r>
            <a:endParaRPr lang="en-US" sz="677" dirty="0"/>
          </a:p>
        </p:txBody>
      </p:sp>
      <p:sp>
        <p:nvSpPr>
          <p:cNvPr id="41" name="Shape 36"/>
          <p:cNvSpPr/>
          <p:nvPr/>
        </p:nvSpPr>
        <p:spPr>
          <a:xfrm>
            <a:off x="4743450" y="2333625"/>
            <a:ext cx="3343275" cy="200025"/>
          </a:xfrm>
          <a:prstGeom prst="roundRect">
            <a:avLst/>
          </a:prstGeom>
          <a:solidFill>
            <a:srgbClr val="CFC6B4"/>
          </a:solidFill>
          <a:ln/>
        </p:spPr>
      </p:sp>
      <p:sp>
        <p:nvSpPr>
          <p:cNvPr id="42" name="Text 37"/>
          <p:cNvSpPr/>
          <p:nvPr/>
        </p:nvSpPr>
        <p:spPr>
          <a:xfrm>
            <a:off x="8143875" y="2376488"/>
            <a:ext cx="323850" cy="109538"/>
          </a:xfrm>
          <a:prstGeom prst="rect">
            <a:avLst/>
          </a:prstGeom>
          <a:noFill/>
          <a:ln/>
        </p:spPr>
        <p:txBody>
          <a:bodyPr wrap="square" lIns="0" tIns="0" rIns="0" bIns="0" rtlCol="0" anchor="t"/>
          <a:lstStyle/>
          <a:p>
            <a:pPr algn="l" indent="0" marL="0">
              <a:lnSpc>
                <a:spcPts val="819"/>
              </a:lnSpc>
              <a:buNone/>
            </a:pPr>
            <a:r>
              <a:rPr lang="en-US" sz="677" b="1" dirty="0">
                <a:solidFill>
                  <a:srgbClr val="0E2A26">
                    <a:alpha val="99000"/>
                  </a:srgbClr>
                </a:solidFill>
                <a:latin typeface="Inter" pitchFamily="34" charset="0"/>
                <a:ea typeface="Inter" pitchFamily="34" charset="-122"/>
                <a:cs typeface="Inter" pitchFamily="34" charset="-120"/>
              </a:rPr>
              <a:t>10.36%</a:t>
            </a:r>
            <a:endParaRPr lang="en-US" sz="677" dirty="0"/>
          </a:p>
        </p:txBody>
      </p:sp>
      <p:sp>
        <p:nvSpPr>
          <p:cNvPr id="43" name="Text 38"/>
          <p:cNvSpPr/>
          <p:nvPr/>
        </p:nvSpPr>
        <p:spPr>
          <a:xfrm>
            <a:off x="3505200" y="2738438"/>
            <a:ext cx="1190625" cy="109538"/>
          </a:xfrm>
          <a:prstGeom prst="rect">
            <a:avLst/>
          </a:prstGeom>
          <a:noFill/>
          <a:ln/>
        </p:spPr>
        <p:txBody>
          <a:bodyPr wrap="square" lIns="0" tIns="0" rIns="0" bIns="0" rtlCol="0" anchor="t"/>
          <a:lstStyle/>
          <a:p>
            <a:pPr algn="l" indent="0" marL="0">
              <a:lnSpc>
                <a:spcPts val="819"/>
              </a:lnSpc>
              <a:buNone/>
            </a:pPr>
            <a:r>
              <a:rPr lang="en-US" sz="677" dirty="0">
                <a:solidFill>
                  <a:srgbClr val="0E2A26">
                    <a:alpha val="99000"/>
                  </a:srgbClr>
                </a:solidFill>
                <a:latin typeface="Inter" pitchFamily="34" charset="0"/>
                <a:ea typeface="Inter" pitchFamily="34" charset="-122"/>
                <a:cs typeface="Inter" pitchFamily="34" charset="-120"/>
              </a:rPr>
              <a:t>PLSR</a:t>
            </a:r>
            <a:endParaRPr lang="en-US" sz="677" dirty="0"/>
          </a:p>
        </p:txBody>
      </p:sp>
      <p:sp>
        <p:nvSpPr>
          <p:cNvPr id="44" name="Shape 39"/>
          <p:cNvSpPr/>
          <p:nvPr/>
        </p:nvSpPr>
        <p:spPr>
          <a:xfrm>
            <a:off x="4743450" y="2695575"/>
            <a:ext cx="619687" cy="200025"/>
          </a:xfrm>
          <a:prstGeom prst="roundRect">
            <a:avLst/>
          </a:prstGeom>
          <a:solidFill>
            <a:srgbClr val="1F5C4F"/>
          </a:solidFill>
          <a:ln/>
        </p:spPr>
      </p:sp>
      <p:sp>
        <p:nvSpPr>
          <p:cNvPr id="45" name="Text 40"/>
          <p:cNvSpPr/>
          <p:nvPr/>
        </p:nvSpPr>
        <p:spPr>
          <a:xfrm>
            <a:off x="5420288" y="2738438"/>
            <a:ext cx="257175" cy="109538"/>
          </a:xfrm>
          <a:prstGeom prst="rect">
            <a:avLst/>
          </a:prstGeom>
          <a:noFill/>
          <a:ln/>
        </p:spPr>
        <p:txBody>
          <a:bodyPr wrap="square" lIns="0" tIns="0" rIns="0" bIns="0" rtlCol="0" anchor="t"/>
          <a:lstStyle/>
          <a:p>
            <a:pPr algn="l" indent="0" marL="0">
              <a:lnSpc>
                <a:spcPts val="819"/>
              </a:lnSpc>
              <a:buNone/>
            </a:pPr>
            <a:r>
              <a:rPr lang="en-US" sz="677" b="1" dirty="0">
                <a:solidFill>
                  <a:srgbClr val="0E2A26">
                    <a:alpha val="99000"/>
                  </a:srgbClr>
                </a:solidFill>
                <a:latin typeface="Inter" pitchFamily="34" charset="0"/>
                <a:ea typeface="Inter" pitchFamily="34" charset="-122"/>
                <a:cs typeface="Inter" pitchFamily="34" charset="-120"/>
              </a:rPr>
              <a:t>1.92%</a:t>
            </a:r>
            <a:endParaRPr lang="en-US" sz="677" dirty="0"/>
          </a:p>
        </p:txBody>
      </p:sp>
      <p:sp>
        <p:nvSpPr>
          <p:cNvPr id="46" name="Text 41"/>
          <p:cNvSpPr/>
          <p:nvPr/>
        </p:nvSpPr>
        <p:spPr>
          <a:xfrm>
            <a:off x="3505200" y="3100388"/>
            <a:ext cx="1190625" cy="109538"/>
          </a:xfrm>
          <a:prstGeom prst="rect">
            <a:avLst/>
          </a:prstGeom>
          <a:noFill/>
          <a:ln/>
        </p:spPr>
        <p:txBody>
          <a:bodyPr wrap="square" lIns="0" tIns="0" rIns="0" bIns="0" rtlCol="0" anchor="t"/>
          <a:lstStyle/>
          <a:p>
            <a:pPr algn="l" indent="0" marL="0">
              <a:lnSpc>
                <a:spcPts val="819"/>
              </a:lnSpc>
              <a:buNone/>
            </a:pPr>
            <a:r>
              <a:rPr lang="en-US" sz="677" dirty="0">
                <a:solidFill>
                  <a:srgbClr val="0E2A26">
                    <a:alpha val="99000"/>
                  </a:srgbClr>
                </a:solidFill>
                <a:latin typeface="Inter" pitchFamily="34" charset="0"/>
                <a:ea typeface="Inter" pitchFamily="34" charset="-122"/>
                <a:cs typeface="Inter" pitchFamily="34" charset="-120"/>
              </a:rPr>
              <a:t>CARS-PLSR (11 bands)</a:t>
            </a:r>
            <a:endParaRPr lang="en-US" sz="677" dirty="0"/>
          </a:p>
        </p:txBody>
      </p:sp>
      <p:sp>
        <p:nvSpPr>
          <p:cNvPr id="47" name="Shape 42"/>
          <p:cNvSpPr/>
          <p:nvPr/>
        </p:nvSpPr>
        <p:spPr>
          <a:xfrm>
            <a:off x="4743450" y="3057525"/>
            <a:ext cx="631945" cy="200025"/>
          </a:xfrm>
          <a:prstGeom prst="roundRect">
            <a:avLst/>
          </a:prstGeom>
          <a:solidFill>
            <a:srgbClr val="1F5C4F"/>
          </a:solidFill>
          <a:ln/>
        </p:spPr>
      </p:sp>
      <p:sp>
        <p:nvSpPr>
          <p:cNvPr id="48" name="Text 43"/>
          <p:cNvSpPr/>
          <p:nvPr/>
        </p:nvSpPr>
        <p:spPr>
          <a:xfrm>
            <a:off x="5432543" y="3100388"/>
            <a:ext cx="261937" cy="109538"/>
          </a:xfrm>
          <a:prstGeom prst="rect">
            <a:avLst/>
          </a:prstGeom>
          <a:noFill/>
          <a:ln/>
        </p:spPr>
        <p:txBody>
          <a:bodyPr wrap="square" lIns="0" tIns="0" rIns="0" bIns="0" rtlCol="0" anchor="t"/>
          <a:lstStyle/>
          <a:p>
            <a:pPr algn="l" indent="0" marL="0">
              <a:lnSpc>
                <a:spcPts val="819"/>
              </a:lnSpc>
              <a:buNone/>
            </a:pPr>
            <a:r>
              <a:rPr lang="en-US" sz="677" b="1" dirty="0">
                <a:solidFill>
                  <a:srgbClr val="0E2A26">
                    <a:alpha val="99000"/>
                  </a:srgbClr>
                </a:solidFill>
                <a:latin typeface="Inter" pitchFamily="34" charset="0"/>
                <a:ea typeface="Inter" pitchFamily="34" charset="-122"/>
                <a:cs typeface="Inter" pitchFamily="34" charset="-120"/>
              </a:rPr>
              <a:t>1.96%</a:t>
            </a:r>
            <a:endParaRPr lang="en-US" sz="677" dirty="0"/>
          </a:p>
        </p:txBody>
      </p:sp>
      <p:sp>
        <p:nvSpPr>
          <p:cNvPr id="49" name="Text 44"/>
          <p:cNvSpPr/>
          <p:nvPr/>
        </p:nvSpPr>
        <p:spPr>
          <a:xfrm>
            <a:off x="3505200" y="3462338"/>
            <a:ext cx="1190625" cy="109538"/>
          </a:xfrm>
          <a:prstGeom prst="rect">
            <a:avLst/>
          </a:prstGeom>
          <a:noFill/>
          <a:ln/>
        </p:spPr>
        <p:txBody>
          <a:bodyPr wrap="square" lIns="0" tIns="0" rIns="0" bIns="0" rtlCol="0" anchor="t"/>
          <a:lstStyle/>
          <a:p>
            <a:pPr algn="l" indent="0" marL="0">
              <a:lnSpc>
                <a:spcPts val="819"/>
              </a:lnSpc>
              <a:buNone/>
            </a:pPr>
            <a:r>
              <a:rPr lang="en-US" sz="677" dirty="0">
                <a:solidFill>
                  <a:srgbClr val="0E2A26">
                    <a:alpha val="99000"/>
                  </a:srgbClr>
                </a:solidFill>
                <a:latin typeface="Inter" pitchFamily="34" charset="0"/>
                <a:ea typeface="Inter" pitchFamily="34" charset="-122"/>
                <a:cs typeface="Inter" pitchFamily="34" charset="-120"/>
              </a:rPr>
              <a:t>Random Forest</a:t>
            </a:r>
            <a:endParaRPr lang="en-US" sz="677" dirty="0"/>
          </a:p>
        </p:txBody>
      </p:sp>
      <p:sp>
        <p:nvSpPr>
          <p:cNvPr id="50" name="Shape 45"/>
          <p:cNvSpPr/>
          <p:nvPr/>
        </p:nvSpPr>
        <p:spPr>
          <a:xfrm>
            <a:off x="4743450" y="3419475"/>
            <a:ext cx="418716" cy="200025"/>
          </a:xfrm>
          <a:prstGeom prst="roundRect">
            <a:avLst/>
          </a:prstGeom>
          <a:solidFill>
            <a:srgbClr val="1F5C4F"/>
          </a:solidFill>
          <a:ln/>
        </p:spPr>
      </p:sp>
      <p:sp>
        <p:nvSpPr>
          <p:cNvPr id="51" name="Text 46"/>
          <p:cNvSpPr/>
          <p:nvPr/>
        </p:nvSpPr>
        <p:spPr>
          <a:xfrm>
            <a:off x="5219314" y="3462338"/>
            <a:ext cx="261937" cy="109538"/>
          </a:xfrm>
          <a:prstGeom prst="rect">
            <a:avLst/>
          </a:prstGeom>
          <a:noFill/>
          <a:ln/>
        </p:spPr>
        <p:txBody>
          <a:bodyPr wrap="square" lIns="0" tIns="0" rIns="0" bIns="0" rtlCol="0" anchor="t"/>
          <a:lstStyle/>
          <a:p>
            <a:pPr algn="l" indent="0" marL="0">
              <a:lnSpc>
                <a:spcPts val="819"/>
              </a:lnSpc>
              <a:buNone/>
            </a:pPr>
            <a:r>
              <a:rPr lang="en-US" sz="677" b="1" dirty="0">
                <a:solidFill>
                  <a:srgbClr val="0E2A26">
                    <a:alpha val="99000"/>
                  </a:srgbClr>
                </a:solidFill>
                <a:latin typeface="Inter" pitchFamily="34" charset="0"/>
                <a:ea typeface="Inter" pitchFamily="34" charset="-122"/>
                <a:cs typeface="Inter" pitchFamily="34" charset="-120"/>
              </a:rPr>
              <a:t>1.30%</a:t>
            </a:r>
            <a:endParaRPr lang="en-US" sz="677" dirty="0"/>
          </a:p>
        </p:txBody>
      </p:sp>
      <p:sp>
        <p:nvSpPr>
          <p:cNvPr id="52" name="Text 47"/>
          <p:cNvSpPr/>
          <p:nvPr/>
        </p:nvSpPr>
        <p:spPr>
          <a:xfrm>
            <a:off x="3505200" y="3824288"/>
            <a:ext cx="1190625" cy="109538"/>
          </a:xfrm>
          <a:prstGeom prst="rect">
            <a:avLst/>
          </a:prstGeom>
          <a:noFill/>
          <a:ln/>
        </p:spPr>
        <p:txBody>
          <a:bodyPr wrap="square" lIns="0" tIns="0" rIns="0" bIns="0" rtlCol="0" anchor="t"/>
          <a:lstStyle/>
          <a:p>
            <a:pPr algn="l" indent="0" marL="0">
              <a:lnSpc>
                <a:spcPts val="819"/>
              </a:lnSpc>
              <a:buNone/>
            </a:pPr>
            <a:r>
              <a:rPr lang="en-US" sz="677" b="1" dirty="0">
                <a:solidFill>
                  <a:srgbClr val="0E2A26">
                    <a:alpha val="99000"/>
                  </a:srgbClr>
                </a:solidFill>
                <a:latin typeface="Inter" pitchFamily="34" charset="0"/>
                <a:ea typeface="Inter" pitchFamily="34" charset="-122"/>
                <a:cs typeface="Inter" pitchFamily="34" charset="-120"/>
              </a:rPr>
              <a:t>SVR</a:t>
            </a:r>
            <a:endParaRPr lang="en-US" sz="677" dirty="0"/>
          </a:p>
        </p:txBody>
      </p:sp>
      <p:sp>
        <p:nvSpPr>
          <p:cNvPr id="53" name="Shape 48"/>
          <p:cNvSpPr/>
          <p:nvPr/>
        </p:nvSpPr>
        <p:spPr>
          <a:xfrm>
            <a:off x="4743450" y="3781425"/>
            <a:ext cx="336779" cy="200025"/>
          </a:xfrm>
          <a:prstGeom prst="roundRect">
            <a:avLst/>
          </a:prstGeom>
          <a:solidFill>
            <a:srgbClr val="B8893B"/>
          </a:solidFill>
          <a:ln/>
        </p:spPr>
      </p:sp>
      <p:sp>
        <p:nvSpPr>
          <p:cNvPr id="54" name="Text 49"/>
          <p:cNvSpPr/>
          <p:nvPr/>
        </p:nvSpPr>
        <p:spPr>
          <a:xfrm>
            <a:off x="5137379" y="3824288"/>
            <a:ext cx="261937" cy="109538"/>
          </a:xfrm>
          <a:prstGeom prst="rect">
            <a:avLst/>
          </a:prstGeom>
          <a:noFill/>
          <a:ln/>
        </p:spPr>
        <p:txBody>
          <a:bodyPr wrap="square" lIns="0" tIns="0" rIns="0" bIns="0" rtlCol="0" anchor="t"/>
          <a:lstStyle/>
          <a:p>
            <a:pPr algn="l" indent="0" marL="0">
              <a:lnSpc>
                <a:spcPts val="819"/>
              </a:lnSpc>
              <a:buNone/>
            </a:pPr>
            <a:r>
              <a:rPr lang="en-US" sz="677" b="1" dirty="0">
                <a:solidFill>
                  <a:srgbClr val="B8893B">
                    <a:alpha val="99000"/>
                  </a:srgbClr>
                </a:solidFill>
                <a:latin typeface="Inter" pitchFamily="34" charset="0"/>
                <a:ea typeface="Inter" pitchFamily="34" charset="-122"/>
                <a:cs typeface="Inter" pitchFamily="34" charset="-120"/>
              </a:rPr>
              <a:t>1.04%</a:t>
            </a:r>
            <a:endParaRPr lang="en-US" sz="677" dirty="0"/>
          </a:p>
        </p:txBody>
      </p:sp>
      <p:sp>
        <p:nvSpPr>
          <p:cNvPr id="55" name="Text 50"/>
          <p:cNvSpPr/>
          <p:nvPr/>
        </p:nvSpPr>
        <p:spPr>
          <a:xfrm>
            <a:off x="3638550" y="4210050"/>
            <a:ext cx="4972050" cy="285750"/>
          </a:xfrm>
          <a:prstGeom prst="rect">
            <a:avLst/>
          </a:prstGeom>
          <a:noFill/>
          <a:ln/>
        </p:spPr>
        <p:txBody>
          <a:bodyPr wrap="square" lIns="0" tIns="0" rIns="0" bIns="0" rtlCol="0" anchor="t"/>
          <a:lstStyle/>
          <a:p>
            <a:pPr algn="l" indent="0" marL="0">
              <a:lnSpc>
                <a:spcPts val="1082"/>
              </a:lnSpc>
              <a:buNone/>
            </a:pPr>
            <a:r>
              <a:rPr lang="en-US" sz="784" spc="-4" kern="0" dirty="0">
                <a:solidFill>
                  <a:srgbClr val="0E2A26">
                    <a:alpha val="99000"/>
                  </a:srgbClr>
                </a:solidFill>
                <a:latin typeface="Inter" pitchFamily="34" charset="0"/>
                <a:ea typeface="Inter" pitchFamily="34" charset="-122"/>
                <a:cs typeface="Inter" pitchFamily="34" charset="-120"/>
              </a:rPr>
              <a:t>SVR beat PLSR (paired Wilcoxon p &lt; 0.001) at 1.46 ms per prediction, against about 6 h for oven-drying.</a:t>
            </a:r>
            <a:endParaRPr lang="en-US" sz="784" dirty="0"/>
          </a:p>
        </p:txBody>
      </p:sp>
      <p:sp>
        <p:nvSpPr>
          <p:cNvPr id="56" name="Shape 51"/>
          <p:cNvSpPr/>
          <p:nvPr/>
        </p:nvSpPr>
        <p:spPr>
          <a:xfrm>
            <a:off x="3505200" y="4229100"/>
            <a:ext cx="19050" cy="114300"/>
          </a:xfrm>
          <a:prstGeom prst="rect">
            <a:avLst/>
          </a:prstGeom>
          <a:solidFill>
            <a:srgbClr val="B8893B"/>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177165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16   ·   ETHICS AND SUSTAINABILITY</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Ethics, legal, social and sustainability</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796212" y="295275"/>
            <a:ext cx="814388" cy="161925"/>
          </a:xfrm>
          <a:prstGeom prst="roundRect">
            <a:avLst/>
          </a:prstGeom>
          <a:noFill/>
          <a:ln w="5429">
            <a:solidFill>
              <a:srgbClr val="B8893B"/>
            </a:solidFill>
            <a:prstDash val="solid"/>
          </a:ln>
        </p:spPr>
      </p:sp>
      <p:sp>
        <p:nvSpPr>
          <p:cNvPr id="7" name="Text 4"/>
          <p:cNvSpPr/>
          <p:nvPr/>
        </p:nvSpPr>
        <p:spPr>
          <a:xfrm>
            <a:off x="7881937" y="335756"/>
            <a:ext cx="6429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Ethics/impact 10%</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16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1038225"/>
            <a:ext cx="2262188"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B8893B">
                    <a:alpha val="99000"/>
                  </a:srgbClr>
                </a:solidFill>
                <a:latin typeface="Inter" pitchFamily="34" charset="0"/>
                <a:ea typeface="Inter" pitchFamily="34" charset="-122"/>
                <a:cs typeface="Inter" pitchFamily="34" charset="-120"/>
              </a:rPr>
              <a:t>ISSUES AND SAFEGUARDS (BCS CODE OF CONDUCT)</a:t>
            </a:r>
            <a:endParaRPr lang="en-US" sz="499" dirty="0"/>
          </a:p>
        </p:txBody>
      </p:sp>
      <p:sp>
        <p:nvSpPr>
          <p:cNvPr id="15" name="Shape 10"/>
          <p:cNvSpPr/>
          <p:nvPr/>
        </p:nvSpPr>
        <p:spPr>
          <a:xfrm>
            <a:off x="533400" y="1181100"/>
            <a:ext cx="5619750" cy="4763"/>
          </a:xfrm>
          <a:prstGeom prst="rect">
            <a:avLst/>
          </a:prstGeom>
          <a:solidFill>
            <a:srgbClr val="0E2A26">
              <a:alpha val="18000"/>
            </a:srgbClr>
          </a:solidFill>
          <a:ln/>
        </p:spPr>
      </p:sp>
      <p:sp>
        <p:nvSpPr>
          <p:cNvPr id="16" name="Shape 11"/>
          <p:cNvSpPr/>
          <p:nvPr/>
        </p:nvSpPr>
        <p:spPr>
          <a:xfrm>
            <a:off x="533400" y="1285875"/>
            <a:ext cx="1809750" cy="1643063"/>
          </a:xfrm>
          <a:prstGeom prst="roundRect">
            <a:avLst/>
          </a:prstGeom>
          <a:solidFill>
            <a:srgbClr val="FFFFFF"/>
          </a:solidFill>
          <a:ln w="4524">
            <a:solidFill>
              <a:srgbClr val="E3DACA"/>
            </a:solidFill>
            <a:prstDash val="solid"/>
          </a:ln>
        </p:spPr>
      </p:sp>
      <p:sp>
        <p:nvSpPr>
          <p:cNvPr id="17" name="Shape 12"/>
          <p:cNvSpPr/>
          <p:nvPr/>
        </p:nvSpPr>
        <p:spPr>
          <a:xfrm>
            <a:off x="657225" y="1409700"/>
            <a:ext cx="133350" cy="14288"/>
          </a:xfrm>
          <a:prstGeom prst="rect">
            <a:avLst/>
          </a:prstGeom>
          <a:solidFill>
            <a:srgbClr val="B8893B"/>
          </a:solidFill>
          <a:ln/>
        </p:spPr>
      </p:sp>
      <p:sp>
        <p:nvSpPr>
          <p:cNvPr id="18" name="Text 13"/>
          <p:cNvSpPr/>
          <p:nvPr/>
        </p:nvSpPr>
        <p:spPr>
          <a:xfrm>
            <a:off x="657225" y="1476375"/>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Public interest</a:t>
            </a:r>
            <a:endParaRPr lang="en-US" sz="962" dirty="0"/>
          </a:p>
        </p:txBody>
      </p:sp>
      <p:sp>
        <p:nvSpPr>
          <p:cNvPr id="19" name="Text 14"/>
          <p:cNvSpPr/>
          <p:nvPr/>
        </p:nvSpPr>
        <p:spPr>
          <a:xfrm>
            <a:off x="657225" y="1724025"/>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20" name="Text 15"/>
          <p:cNvSpPr/>
          <p:nvPr/>
        </p:nvSpPr>
        <p:spPr>
          <a:xfrm>
            <a:off x="657225" y="1828800"/>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A screening estimate could release mouldy tea</a:t>
            </a:r>
            <a:endParaRPr lang="en-US" sz="677" dirty="0"/>
          </a:p>
        </p:txBody>
      </p:sp>
      <p:sp>
        <p:nvSpPr>
          <p:cNvPr id="21" name="Text 16"/>
          <p:cNvSpPr/>
          <p:nvPr/>
        </p:nvSpPr>
        <p:spPr>
          <a:xfrm>
            <a:off x="657225" y="2171700"/>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22" name="Text 17"/>
          <p:cNvSpPr/>
          <p:nvPr/>
        </p:nvSpPr>
        <p:spPr>
          <a:xfrm>
            <a:off x="657225" y="2276475"/>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Value, interval and out-of-range flag; laboratory confirmation</a:t>
            </a:r>
            <a:endParaRPr lang="en-US" sz="677" dirty="0"/>
          </a:p>
        </p:txBody>
      </p:sp>
      <p:sp>
        <p:nvSpPr>
          <p:cNvPr id="23" name="Shape 18"/>
          <p:cNvSpPr/>
          <p:nvPr/>
        </p:nvSpPr>
        <p:spPr>
          <a:xfrm>
            <a:off x="2438400" y="1285875"/>
            <a:ext cx="1809750" cy="1643063"/>
          </a:xfrm>
          <a:prstGeom prst="roundRect">
            <a:avLst/>
          </a:prstGeom>
          <a:solidFill>
            <a:srgbClr val="FFFFFF"/>
          </a:solidFill>
          <a:ln w="4524">
            <a:solidFill>
              <a:srgbClr val="E3DACA"/>
            </a:solidFill>
            <a:prstDash val="solid"/>
          </a:ln>
        </p:spPr>
      </p:sp>
      <p:sp>
        <p:nvSpPr>
          <p:cNvPr id="24" name="Shape 19"/>
          <p:cNvSpPr/>
          <p:nvPr/>
        </p:nvSpPr>
        <p:spPr>
          <a:xfrm>
            <a:off x="2562225" y="1409700"/>
            <a:ext cx="133350" cy="14288"/>
          </a:xfrm>
          <a:prstGeom prst="rect">
            <a:avLst/>
          </a:prstGeom>
          <a:solidFill>
            <a:srgbClr val="B8893B"/>
          </a:solidFill>
          <a:ln/>
        </p:spPr>
      </p:sp>
      <p:sp>
        <p:nvSpPr>
          <p:cNvPr id="25" name="Text 20"/>
          <p:cNvSpPr/>
          <p:nvPr/>
        </p:nvSpPr>
        <p:spPr>
          <a:xfrm>
            <a:off x="2562225" y="1476375"/>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Integrity</a:t>
            </a:r>
            <a:endParaRPr lang="en-US" sz="962" dirty="0"/>
          </a:p>
        </p:txBody>
      </p:sp>
      <p:sp>
        <p:nvSpPr>
          <p:cNvPr id="26" name="Text 21"/>
          <p:cNvSpPr/>
          <p:nvPr/>
        </p:nvSpPr>
        <p:spPr>
          <a:xfrm>
            <a:off x="2562225" y="1724025"/>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27" name="Text 22"/>
          <p:cNvSpPr/>
          <p:nvPr/>
        </p:nvSpPr>
        <p:spPr>
          <a:xfrm>
            <a:off x="2562225" y="1828800"/>
            <a:ext cx="15621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Overclaiming results</a:t>
            </a:r>
            <a:endParaRPr lang="en-US" sz="677" dirty="0"/>
          </a:p>
        </p:txBody>
      </p:sp>
      <p:sp>
        <p:nvSpPr>
          <p:cNvPr id="28" name="Text 23"/>
          <p:cNvSpPr/>
          <p:nvPr/>
        </p:nvSpPr>
        <p:spPr>
          <a:xfrm>
            <a:off x="2562225" y="2043113"/>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29" name="Text 24"/>
          <p:cNvSpPr/>
          <p:nvPr/>
        </p:nvSpPr>
        <p:spPr>
          <a:xfrm>
            <a:off x="2562225" y="2147888"/>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Locked test set; negative results reported; no glyphosate claims</a:t>
            </a:r>
            <a:endParaRPr lang="en-US" sz="677" dirty="0"/>
          </a:p>
        </p:txBody>
      </p:sp>
      <p:sp>
        <p:nvSpPr>
          <p:cNvPr id="30" name="Shape 25"/>
          <p:cNvSpPr/>
          <p:nvPr/>
        </p:nvSpPr>
        <p:spPr>
          <a:xfrm>
            <a:off x="4343400" y="1285875"/>
            <a:ext cx="1809750" cy="1643063"/>
          </a:xfrm>
          <a:prstGeom prst="roundRect">
            <a:avLst/>
          </a:prstGeom>
          <a:solidFill>
            <a:srgbClr val="FFFFFF"/>
          </a:solidFill>
          <a:ln w="4524">
            <a:solidFill>
              <a:srgbClr val="E3DACA"/>
            </a:solidFill>
            <a:prstDash val="solid"/>
          </a:ln>
        </p:spPr>
      </p:sp>
      <p:sp>
        <p:nvSpPr>
          <p:cNvPr id="31" name="Shape 26"/>
          <p:cNvSpPr/>
          <p:nvPr/>
        </p:nvSpPr>
        <p:spPr>
          <a:xfrm>
            <a:off x="4467225" y="1409700"/>
            <a:ext cx="133350" cy="14288"/>
          </a:xfrm>
          <a:prstGeom prst="rect">
            <a:avLst/>
          </a:prstGeom>
          <a:solidFill>
            <a:srgbClr val="B8893B"/>
          </a:solidFill>
          <a:ln/>
        </p:spPr>
      </p:sp>
      <p:sp>
        <p:nvSpPr>
          <p:cNvPr id="32" name="Text 27"/>
          <p:cNvSpPr/>
          <p:nvPr/>
        </p:nvSpPr>
        <p:spPr>
          <a:xfrm>
            <a:off x="4467225" y="1476375"/>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Duty to authority</a:t>
            </a:r>
            <a:endParaRPr lang="en-US" sz="962" dirty="0"/>
          </a:p>
        </p:txBody>
      </p:sp>
      <p:sp>
        <p:nvSpPr>
          <p:cNvPr id="33" name="Text 28"/>
          <p:cNvSpPr/>
          <p:nvPr/>
        </p:nvSpPr>
        <p:spPr>
          <a:xfrm>
            <a:off x="4467225" y="1724025"/>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34" name="Text 29"/>
          <p:cNvSpPr/>
          <p:nvPr/>
        </p:nvSpPr>
        <p:spPr>
          <a:xfrm>
            <a:off x="4467225" y="1828800"/>
            <a:ext cx="15621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Supplier confidentiality</a:t>
            </a:r>
            <a:endParaRPr lang="en-US" sz="677" dirty="0"/>
          </a:p>
        </p:txBody>
      </p:sp>
      <p:sp>
        <p:nvSpPr>
          <p:cNvPr id="35" name="Text 30"/>
          <p:cNvSpPr/>
          <p:nvPr/>
        </p:nvSpPr>
        <p:spPr>
          <a:xfrm>
            <a:off x="4467225" y="2043113"/>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36" name="Text 31"/>
          <p:cNvSpPr/>
          <p:nvPr/>
        </p:nvSpPr>
        <p:spPr>
          <a:xfrm>
            <a:off x="4467225" y="2147888"/>
            <a:ext cx="1562100" cy="128588"/>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Coded sources; written consent</a:t>
            </a:r>
            <a:endParaRPr lang="en-US" sz="677" dirty="0"/>
          </a:p>
        </p:txBody>
      </p:sp>
      <p:sp>
        <p:nvSpPr>
          <p:cNvPr id="37" name="Shape 32"/>
          <p:cNvSpPr/>
          <p:nvPr/>
        </p:nvSpPr>
        <p:spPr>
          <a:xfrm>
            <a:off x="533400" y="3024188"/>
            <a:ext cx="1809750" cy="1643063"/>
          </a:xfrm>
          <a:prstGeom prst="roundRect">
            <a:avLst/>
          </a:prstGeom>
          <a:solidFill>
            <a:srgbClr val="FFFFFF"/>
          </a:solidFill>
          <a:ln w="4524">
            <a:solidFill>
              <a:srgbClr val="E3DACA"/>
            </a:solidFill>
            <a:prstDash val="solid"/>
          </a:ln>
        </p:spPr>
      </p:sp>
      <p:sp>
        <p:nvSpPr>
          <p:cNvPr id="38" name="Shape 33"/>
          <p:cNvSpPr/>
          <p:nvPr/>
        </p:nvSpPr>
        <p:spPr>
          <a:xfrm>
            <a:off x="657225" y="3148013"/>
            <a:ext cx="133350" cy="14288"/>
          </a:xfrm>
          <a:prstGeom prst="rect">
            <a:avLst/>
          </a:prstGeom>
          <a:solidFill>
            <a:srgbClr val="B8893B"/>
          </a:solidFill>
          <a:ln/>
        </p:spPr>
      </p:sp>
      <p:sp>
        <p:nvSpPr>
          <p:cNvPr id="39" name="Text 34"/>
          <p:cNvSpPr/>
          <p:nvPr/>
        </p:nvSpPr>
        <p:spPr>
          <a:xfrm>
            <a:off x="657225" y="3214688"/>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Legal</a:t>
            </a:r>
            <a:endParaRPr lang="en-US" sz="962" dirty="0"/>
          </a:p>
        </p:txBody>
      </p:sp>
      <p:sp>
        <p:nvSpPr>
          <p:cNvPr id="40" name="Text 35"/>
          <p:cNvSpPr/>
          <p:nvPr/>
        </p:nvSpPr>
        <p:spPr>
          <a:xfrm>
            <a:off x="657225" y="3462338"/>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41" name="Text 36"/>
          <p:cNvSpPr/>
          <p:nvPr/>
        </p:nvSpPr>
        <p:spPr>
          <a:xfrm>
            <a:off x="657225" y="3567113"/>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Sri Lanka PDPA No. 9 of 2022; open-source licences</a:t>
            </a:r>
            <a:endParaRPr lang="en-US" sz="677" dirty="0"/>
          </a:p>
        </p:txBody>
      </p:sp>
      <p:sp>
        <p:nvSpPr>
          <p:cNvPr id="42" name="Text 37"/>
          <p:cNvSpPr/>
          <p:nvPr/>
        </p:nvSpPr>
        <p:spPr>
          <a:xfrm>
            <a:off x="657225" y="3910013"/>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43" name="Text 38"/>
          <p:cNvSpPr/>
          <p:nvPr/>
        </p:nvSpPr>
        <p:spPr>
          <a:xfrm>
            <a:off x="657225" y="4014788"/>
            <a:ext cx="1562100" cy="128588"/>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No personal data in the dataset</a:t>
            </a:r>
            <a:endParaRPr lang="en-US" sz="677" dirty="0"/>
          </a:p>
        </p:txBody>
      </p:sp>
      <p:sp>
        <p:nvSpPr>
          <p:cNvPr id="44" name="Shape 39"/>
          <p:cNvSpPr/>
          <p:nvPr/>
        </p:nvSpPr>
        <p:spPr>
          <a:xfrm>
            <a:off x="2438400" y="3024188"/>
            <a:ext cx="1809750" cy="1643063"/>
          </a:xfrm>
          <a:prstGeom prst="roundRect">
            <a:avLst/>
          </a:prstGeom>
          <a:solidFill>
            <a:srgbClr val="FFFFFF"/>
          </a:solidFill>
          <a:ln w="4524">
            <a:solidFill>
              <a:srgbClr val="E3DACA"/>
            </a:solidFill>
            <a:prstDash val="solid"/>
          </a:ln>
        </p:spPr>
      </p:sp>
      <p:sp>
        <p:nvSpPr>
          <p:cNvPr id="45" name="Shape 40"/>
          <p:cNvSpPr/>
          <p:nvPr/>
        </p:nvSpPr>
        <p:spPr>
          <a:xfrm>
            <a:off x="2562225" y="3148013"/>
            <a:ext cx="133350" cy="14288"/>
          </a:xfrm>
          <a:prstGeom prst="rect">
            <a:avLst/>
          </a:prstGeom>
          <a:solidFill>
            <a:srgbClr val="B8893B"/>
          </a:solidFill>
          <a:ln/>
        </p:spPr>
      </p:sp>
      <p:sp>
        <p:nvSpPr>
          <p:cNvPr id="46" name="Text 41"/>
          <p:cNvSpPr/>
          <p:nvPr/>
        </p:nvSpPr>
        <p:spPr>
          <a:xfrm>
            <a:off x="2562225" y="3214688"/>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EDI</a:t>
            </a:r>
            <a:endParaRPr lang="en-US" sz="962" dirty="0"/>
          </a:p>
        </p:txBody>
      </p:sp>
      <p:sp>
        <p:nvSpPr>
          <p:cNvPr id="47" name="Text 42"/>
          <p:cNvSpPr/>
          <p:nvPr/>
        </p:nvSpPr>
        <p:spPr>
          <a:xfrm>
            <a:off x="2562225" y="3462338"/>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48" name="Text 43"/>
          <p:cNvSpPr/>
          <p:nvPr/>
        </p:nvSpPr>
        <p:spPr>
          <a:xfrm>
            <a:off x="2562225" y="3567113"/>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Smaller producers may be under-sampled</a:t>
            </a:r>
            <a:endParaRPr lang="en-US" sz="677" dirty="0"/>
          </a:p>
        </p:txBody>
      </p:sp>
      <p:sp>
        <p:nvSpPr>
          <p:cNvPr id="49" name="Text 44"/>
          <p:cNvSpPr/>
          <p:nvPr/>
        </p:nvSpPr>
        <p:spPr>
          <a:xfrm>
            <a:off x="2562225" y="3910013"/>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50" name="Text 45"/>
          <p:cNvSpPr/>
          <p:nvPr/>
        </p:nvSpPr>
        <p:spPr>
          <a:xfrm>
            <a:off x="2562225" y="4014788"/>
            <a:ext cx="1562100" cy="257175"/>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Per-source error reported; Sinhala and Tamil labels as future work</a:t>
            </a:r>
            <a:endParaRPr lang="en-US" sz="677" dirty="0"/>
          </a:p>
        </p:txBody>
      </p:sp>
      <p:sp>
        <p:nvSpPr>
          <p:cNvPr id="51" name="Shape 46"/>
          <p:cNvSpPr/>
          <p:nvPr/>
        </p:nvSpPr>
        <p:spPr>
          <a:xfrm>
            <a:off x="4343400" y="3024188"/>
            <a:ext cx="1809750" cy="1643063"/>
          </a:xfrm>
          <a:prstGeom prst="roundRect">
            <a:avLst/>
          </a:prstGeom>
          <a:solidFill>
            <a:srgbClr val="FFFFFF"/>
          </a:solidFill>
          <a:ln w="4524">
            <a:solidFill>
              <a:srgbClr val="E3DACA"/>
            </a:solidFill>
            <a:prstDash val="solid"/>
          </a:ln>
        </p:spPr>
      </p:sp>
      <p:sp>
        <p:nvSpPr>
          <p:cNvPr id="52" name="Shape 47"/>
          <p:cNvSpPr/>
          <p:nvPr/>
        </p:nvSpPr>
        <p:spPr>
          <a:xfrm>
            <a:off x="4467225" y="3148013"/>
            <a:ext cx="133350" cy="14288"/>
          </a:xfrm>
          <a:prstGeom prst="rect">
            <a:avLst/>
          </a:prstGeom>
          <a:solidFill>
            <a:srgbClr val="B8893B"/>
          </a:solidFill>
          <a:ln/>
        </p:spPr>
      </p:sp>
      <p:sp>
        <p:nvSpPr>
          <p:cNvPr id="53" name="Text 48"/>
          <p:cNvSpPr/>
          <p:nvPr/>
        </p:nvSpPr>
        <p:spPr>
          <a:xfrm>
            <a:off x="4467225" y="3214688"/>
            <a:ext cx="1562100" cy="171450"/>
          </a:xfrm>
          <a:prstGeom prst="rect">
            <a:avLst/>
          </a:prstGeom>
          <a:noFill/>
          <a:ln/>
        </p:spPr>
        <p:txBody>
          <a:bodyPr wrap="square" lIns="0" tIns="0" rIns="0" bIns="0" rtlCol="0" anchor="t"/>
          <a:lstStyle/>
          <a:p>
            <a:pPr algn="l" indent="0" marL="0">
              <a:lnSpc>
                <a:spcPts val="1282"/>
              </a:lnSpc>
              <a:buNone/>
            </a:pPr>
            <a:r>
              <a:rPr lang="en-US" sz="962" b="1" dirty="0">
                <a:solidFill>
                  <a:srgbClr val="0E2A26">
                    <a:alpha val="99000"/>
                  </a:srgbClr>
                </a:solidFill>
                <a:latin typeface="Playfair Display" pitchFamily="34" charset="0"/>
                <a:ea typeface="Playfair Display" pitchFamily="34" charset="-122"/>
                <a:cs typeface="Playfair Display" pitchFamily="34" charset="-120"/>
              </a:rPr>
              <a:t>Generative AI</a:t>
            </a:r>
            <a:endParaRPr lang="en-US" sz="962" dirty="0"/>
          </a:p>
        </p:txBody>
      </p:sp>
      <p:sp>
        <p:nvSpPr>
          <p:cNvPr id="54" name="Text 49"/>
          <p:cNvSpPr/>
          <p:nvPr/>
        </p:nvSpPr>
        <p:spPr>
          <a:xfrm>
            <a:off x="4467225" y="3462338"/>
            <a:ext cx="1619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9A3B2E">
                    <a:alpha val="99000"/>
                  </a:srgbClr>
                </a:solidFill>
                <a:latin typeface="Inter" pitchFamily="34" charset="0"/>
                <a:ea typeface="Inter" pitchFamily="34" charset="-122"/>
                <a:cs typeface="Inter" pitchFamily="34" charset="-120"/>
              </a:rPr>
              <a:t>RISK</a:t>
            </a:r>
            <a:endParaRPr lang="en-US" sz="427" dirty="0"/>
          </a:p>
        </p:txBody>
      </p:sp>
      <p:sp>
        <p:nvSpPr>
          <p:cNvPr id="55" name="Text 50"/>
          <p:cNvSpPr/>
          <p:nvPr/>
        </p:nvSpPr>
        <p:spPr>
          <a:xfrm>
            <a:off x="4467225" y="3567113"/>
            <a:ext cx="1562100" cy="128588"/>
          </a:xfrm>
          <a:prstGeom prst="rect">
            <a:avLst/>
          </a:prstGeom>
          <a:noFill/>
          <a:ln/>
        </p:spPr>
        <p:txBody>
          <a:bodyPr wrap="square" lIns="0" tIns="0" rIns="0" bIns="0" rtlCol="0" anchor="t"/>
          <a:lstStyle/>
          <a:p>
            <a:pPr algn="l" indent="0" marL="0">
              <a:lnSpc>
                <a:spcPts val="948"/>
              </a:lnSpc>
              <a:buNone/>
            </a:pPr>
            <a:r>
              <a:rPr lang="en-US" sz="677" dirty="0">
                <a:solidFill>
                  <a:srgbClr val="23302D">
                    <a:alpha val="99000"/>
                  </a:srgbClr>
                </a:solidFill>
                <a:latin typeface="Inter" pitchFamily="34" charset="0"/>
                <a:ea typeface="Inter" pitchFamily="34" charset="-122"/>
                <a:cs typeface="Inter" pitchFamily="34" charset="-120"/>
              </a:rPr>
              <a:t>Over-reliance on AI drafting</a:t>
            </a:r>
            <a:endParaRPr lang="en-US" sz="677" dirty="0"/>
          </a:p>
        </p:txBody>
      </p:sp>
      <p:sp>
        <p:nvSpPr>
          <p:cNvPr id="56" name="Text 51"/>
          <p:cNvSpPr/>
          <p:nvPr/>
        </p:nvSpPr>
        <p:spPr>
          <a:xfrm>
            <a:off x="4467225" y="3781425"/>
            <a:ext cx="428625" cy="71438"/>
          </a:xfrm>
          <a:prstGeom prst="rect">
            <a:avLst/>
          </a:prstGeom>
          <a:noFill/>
          <a:ln/>
        </p:spPr>
        <p:txBody>
          <a:bodyPr wrap="square" lIns="0" tIns="0" rIns="0" bIns="0" rtlCol="0" anchor="t"/>
          <a:lstStyle/>
          <a:p>
            <a:pPr algn="l" indent="0" marL="0">
              <a:lnSpc>
                <a:spcPts val="517"/>
              </a:lnSpc>
              <a:buNone/>
            </a:pPr>
            <a:r>
              <a:rPr lang="en-US" sz="427" b="1" spc="68" kern="0" dirty="0">
                <a:solidFill>
                  <a:srgbClr val="1F5C4F">
                    <a:alpha val="99000"/>
                  </a:srgbClr>
                </a:solidFill>
                <a:latin typeface="Inter" pitchFamily="34" charset="0"/>
                <a:ea typeface="Inter" pitchFamily="34" charset="-122"/>
                <a:cs typeface="Inter" pitchFamily="34" charset="-120"/>
              </a:rPr>
              <a:t>SAFEGUARD</a:t>
            </a:r>
            <a:endParaRPr lang="en-US" sz="427" dirty="0"/>
          </a:p>
        </p:txBody>
      </p:sp>
      <p:sp>
        <p:nvSpPr>
          <p:cNvPr id="57" name="Text 52"/>
          <p:cNvSpPr/>
          <p:nvPr/>
        </p:nvSpPr>
        <p:spPr>
          <a:xfrm>
            <a:off x="4467225" y="3886200"/>
            <a:ext cx="1562100" cy="385763"/>
          </a:xfrm>
          <a:prstGeom prst="rect">
            <a:avLst/>
          </a:prstGeom>
          <a:noFill/>
          <a:ln/>
        </p:spPr>
        <p:txBody>
          <a:bodyPr wrap="square" lIns="0" tIns="0" rIns="0" bIns="0" rtlCol="0" anchor="t"/>
          <a:lstStyle/>
          <a:p>
            <a:pPr algn="l" indent="0" marL="0">
              <a:lnSpc>
                <a:spcPts val="948"/>
              </a:lnSpc>
              <a:buNone/>
            </a:pPr>
            <a:r>
              <a:rPr lang="en-US" sz="677" dirty="0">
                <a:solidFill>
                  <a:srgbClr val="0E2A26">
                    <a:alpha val="99000"/>
                  </a:srgbClr>
                </a:solidFill>
                <a:latin typeface="Inter" pitchFamily="34" charset="0"/>
                <a:ea typeface="Inter" pitchFamily="34" charset="-122"/>
                <a:cs typeface="Inter" pitchFamily="34" charset="-120"/>
              </a:rPr>
              <a:t>Drafting and search support only; every citation verified; AI-use register</a:t>
            </a:r>
            <a:endParaRPr lang="en-US" sz="677" dirty="0"/>
          </a:p>
        </p:txBody>
      </p:sp>
      <p:sp>
        <p:nvSpPr>
          <p:cNvPr id="58" name="Shape 53"/>
          <p:cNvSpPr/>
          <p:nvPr/>
        </p:nvSpPr>
        <p:spPr>
          <a:xfrm>
            <a:off x="6305550" y="1038225"/>
            <a:ext cx="2305050" cy="3629025"/>
          </a:xfrm>
          <a:prstGeom prst="roundRect">
            <a:avLst/>
          </a:prstGeom>
          <a:solidFill>
            <a:srgbClr val="0E2A26"/>
          </a:solidFill>
          <a:ln/>
        </p:spPr>
      </p:sp>
      <p:sp>
        <p:nvSpPr>
          <p:cNvPr id="59" name="Text 54"/>
          <p:cNvSpPr/>
          <p:nvPr/>
        </p:nvSpPr>
        <p:spPr>
          <a:xfrm>
            <a:off x="6467475" y="1438275"/>
            <a:ext cx="11858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SUSTAINABILITY AND SDGS</a:t>
            </a:r>
            <a:endParaRPr lang="en-US" sz="499" dirty="0"/>
          </a:p>
        </p:txBody>
      </p:sp>
      <p:sp>
        <p:nvSpPr>
          <p:cNvPr id="60" name="Shape 55"/>
          <p:cNvSpPr/>
          <p:nvPr/>
        </p:nvSpPr>
        <p:spPr>
          <a:xfrm>
            <a:off x="6467475" y="1666875"/>
            <a:ext cx="304800" cy="304800"/>
          </a:xfrm>
          <a:prstGeom prst="ellipse">
            <a:avLst/>
          </a:prstGeom>
          <a:noFill/>
          <a:ln w="9049">
            <a:solidFill>
              <a:srgbClr val="D4AF63"/>
            </a:solidFill>
            <a:prstDash val="solid"/>
          </a:ln>
        </p:spPr>
      </p:sp>
      <p:sp>
        <p:nvSpPr>
          <p:cNvPr id="61" name="Text 56"/>
          <p:cNvSpPr/>
          <p:nvPr/>
        </p:nvSpPr>
        <p:spPr>
          <a:xfrm>
            <a:off x="6574631" y="173831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9</a:t>
            </a:r>
            <a:endParaRPr lang="en-US" sz="998" dirty="0"/>
          </a:p>
        </p:txBody>
      </p:sp>
      <p:sp>
        <p:nvSpPr>
          <p:cNvPr id="62" name="Text 57"/>
          <p:cNvSpPr/>
          <p:nvPr/>
        </p:nvSpPr>
        <p:spPr>
          <a:xfrm>
            <a:off x="6867525" y="1676400"/>
            <a:ext cx="228600" cy="80963"/>
          </a:xfrm>
          <a:prstGeom prst="rect">
            <a:avLst/>
          </a:prstGeom>
          <a:noFill/>
          <a:ln/>
        </p:spPr>
        <p:txBody>
          <a:bodyPr wrap="square" lIns="0" tIns="0" rIns="0" bIns="0" rtlCol="0" anchor="t"/>
          <a:lstStyle/>
          <a:p>
            <a:pPr algn="l" indent="0" marL="0">
              <a:lnSpc>
                <a:spcPts val="604"/>
              </a:lnSpc>
              <a:buNone/>
            </a:pPr>
            <a:r>
              <a:rPr lang="en-US" sz="499" b="1" spc="50" kern="0" dirty="0">
                <a:solidFill>
                  <a:srgbClr val="9DB7AF">
                    <a:alpha val="99000"/>
                  </a:srgbClr>
                </a:solidFill>
                <a:latin typeface="Inter" pitchFamily="34" charset="0"/>
                <a:ea typeface="Inter" pitchFamily="34" charset="-122"/>
                <a:cs typeface="Inter" pitchFamily="34" charset="-120"/>
              </a:rPr>
              <a:t>SDG 9</a:t>
            </a:r>
            <a:endParaRPr lang="en-US" sz="499" dirty="0"/>
          </a:p>
        </p:txBody>
      </p:sp>
      <p:sp>
        <p:nvSpPr>
          <p:cNvPr id="63" name="Text 58"/>
          <p:cNvSpPr/>
          <p:nvPr/>
        </p:nvSpPr>
        <p:spPr>
          <a:xfrm>
            <a:off x="6867525" y="1781175"/>
            <a:ext cx="1581150" cy="247650"/>
          </a:xfrm>
          <a:prstGeom prst="rect">
            <a:avLst/>
          </a:prstGeom>
          <a:noFill/>
          <a:ln/>
        </p:spPr>
        <p:txBody>
          <a:bodyPr wrap="square" lIns="0" tIns="0" rIns="0" bIns="0" rtlCol="0" anchor="t"/>
          <a:lstStyle/>
          <a:p>
            <a:pPr algn="l" indent="0" marL="0">
              <a:lnSpc>
                <a:spcPts val="914"/>
              </a:lnSpc>
              <a:buNone/>
            </a:pPr>
            <a:r>
              <a:rPr lang="en-US" sz="677" dirty="0">
                <a:solidFill>
                  <a:srgbClr val="E8EFEC">
                    <a:alpha val="99000"/>
                  </a:srgbClr>
                </a:solidFill>
                <a:latin typeface="Inter" pitchFamily="34" charset="0"/>
                <a:ea typeface="Inter" pitchFamily="34" charset="-122"/>
                <a:cs typeface="Inter" pitchFamily="34" charset="-120"/>
              </a:rPr>
              <a:t>Low-cost sensing and AI for tea processing</a:t>
            </a:r>
            <a:endParaRPr lang="en-US" sz="677" dirty="0"/>
          </a:p>
        </p:txBody>
      </p:sp>
      <p:sp>
        <p:nvSpPr>
          <p:cNvPr id="64" name="Shape 59"/>
          <p:cNvSpPr/>
          <p:nvPr/>
        </p:nvSpPr>
        <p:spPr>
          <a:xfrm>
            <a:off x="6467475" y="2162175"/>
            <a:ext cx="304800" cy="304800"/>
          </a:xfrm>
          <a:prstGeom prst="ellipse">
            <a:avLst/>
          </a:prstGeom>
          <a:noFill/>
          <a:ln w="9049">
            <a:solidFill>
              <a:srgbClr val="D4AF63"/>
            </a:solidFill>
            <a:prstDash val="solid"/>
          </a:ln>
        </p:spPr>
      </p:sp>
      <p:sp>
        <p:nvSpPr>
          <p:cNvPr id="65" name="Text 60"/>
          <p:cNvSpPr/>
          <p:nvPr/>
        </p:nvSpPr>
        <p:spPr>
          <a:xfrm>
            <a:off x="6546056" y="2233613"/>
            <a:ext cx="14763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12</a:t>
            </a:r>
            <a:endParaRPr lang="en-US" sz="998" dirty="0"/>
          </a:p>
        </p:txBody>
      </p:sp>
      <p:sp>
        <p:nvSpPr>
          <p:cNvPr id="66" name="Text 61"/>
          <p:cNvSpPr/>
          <p:nvPr/>
        </p:nvSpPr>
        <p:spPr>
          <a:xfrm>
            <a:off x="6867525" y="2171700"/>
            <a:ext cx="266700" cy="80963"/>
          </a:xfrm>
          <a:prstGeom prst="rect">
            <a:avLst/>
          </a:prstGeom>
          <a:noFill/>
          <a:ln/>
        </p:spPr>
        <p:txBody>
          <a:bodyPr wrap="square" lIns="0" tIns="0" rIns="0" bIns="0" rtlCol="0" anchor="t"/>
          <a:lstStyle/>
          <a:p>
            <a:pPr algn="l" indent="0" marL="0">
              <a:lnSpc>
                <a:spcPts val="604"/>
              </a:lnSpc>
              <a:buNone/>
            </a:pPr>
            <a:r>
              <a:rPr lang="en-US" sz="499" b="1" spc="50" kern="0" dirty="0">
                <a:solidFill>
                  <a:srgbClr val="9DB7AF">
                    <a:alpha val="99000"/>
                  </a:srgbClr>
                </a:solidFill>
                <a:latin typeface="Inter" pitchFamily="34" charset="0"/>
                <a:ea typeface="Inter" pitchFamily="34" charset="-122"/>
                <a:cs typeface="Inter" pitchFamily="34" charset="-120"/>
              </a:rPr>
              <a:t>SDG 12</a:t>
            </a:r>
            <a:endParaRPr lang="en-US" sz="499" dirty="0"/>
          </a:p>
        </p:txBody>
      </p:sp>
      <p:sp>
        <p:nvSpPr>
          <p:cNvPr id="67" name="Text 62"/>
          <p:cNvSpPr/>
          <p:nvPr/>
        </p:nvSpPr>
        <p:spPr>
          <a:xfrm>
            <a:off x="6867525" y="2276475"/>
            <a:ext cx="1581150" cy="247650"/>
          </a:xfrm>
          <a:prstGeom prst="rect">
            <a:avLst/>
          </a:prstGeom>
          <a:noFill/>
          <a:ln/>
        </p:spPr>
        <p:txBody>
          <a:bodyPr wrap="square" lIns="0" tIns="0" rIns="0" bIns="0" rtlCol="0" anchor="t"/>
          <a:lstStyle/>
          <a:p>
            <a:pPr algn="l" indent="0" marL="0">
              <a:lnSpc>
                <a:spcPts val="914"/>
              </a:lnSpc>
              <a:buNone/>
            </a:pPr>
            <a:r>
              <a:rPr lang="en-US" sz="677" dirty="0">
                <a:solidFill>
                  <a:srgbClr val="E8EFEC">
                    <a:alpha val="99000"/>
                  </a:srgbClr>
                </a:solidFill>
                <a:latin typeface="Inter" pitchFamily="34" charset="0"/>
                <a:ea typeface="Inter" pitchFamily="34" charset="-122"/>
                <a:cs typeface="Inter" pitchFamily="34" charset="-120"/>
              </a:rPr>
              <a:t>Less waste from testing and mis-dried tea</a:t>
            </a:r>
            <a:endParaRPr lang="en-US" sz="677" dirty="0"/>
          </a:p>
        </p:txBody>
      </p:sp>
      <p:sp>
        <p:nvSpPr>
          <p:cNvPr id="68" name="Shape 63"/>
          <p:cNvSpPr/>
          <p:nvPr/>
        </p:nvSpPr>
        <p:spPr>
          <a:xfrm>
            <a:off x="6467475" y="2657475"/>
            <a:ext cx="304800" cy="304800"/>
          </a:xfrm>
          <a:prstGeom prst="ellipse">
            <a:avLst/>
          </a:prstGeom>
          <a:noFill/>
          <a:ln w="9049">
            <a:solidFill>
              <a:srgbClr val="D4AF63"/>
            </a:solidFill>
            <a:prstDash val="solid"/>
          </a:ln>
        </p:spPr>
      </p:sp>
      <p:sp>
        <p:nvSpPr>
          <p:cNvPr id="69" name="Text 64"/>
          <p:cNvSpPr/>
          <p:nvPr/>
        </p:nvSpPr>
        <p:spPr>
          <a:xfrm>
            <a:off x="6574631" y="2728913"/>
            <a:ext cx="90488" cy="161925"/>
          </a:xfrm>
          <a:prstGeom prst="rect">
            <a:avLst/>
          </a:prstGeom>
          <a:noFill/>
          <a:ln/>
        </p:spPr>
        <p:txBody>
          <a:bodyPr wrap="square" lIns="0" tIns="0" rIns="0" bIns="0" rtlCol="0" anchor="t"/>
          <a:lstStyle/>
          <a:p>
            <a:pPr algn="l" indent="0" marL="0">
              <a:lnSpc>
                <a:spcPts val="1207"/>
              </a:lnSpc>
              <a:buNone/>
            </a:pPr>
            <a:r>
              <a:rPr lang="en-US" sz="998" b="1" spc="-10" kern="0" dirty="0">
                <a:solidFill>
                  <a:srgbClr val="D4AF63">
                    <a:alpha val="99000"/>
                  </a:srgbClr>
                </a:solidFill>
                <a:latin typeface="Inter" pitchFamily="34" charset="0"/>
                <a:ea typeface="Inter" pitchFamily="34" charset="-122"/>
                <a:cs typeface="Inter" pitchFamily="34" charset="-120"/>
              </a:rPr>
              <a:t>8</a:t>
            </a:r>
            <a:endParaRPr lang="en-US" sz="998" dirty="0"/>
          </a:p>
        </p:txBody>
      </p:sp>
      <p:sp>
        <p:nvSpPr>
          <p:cNvPr id="70" name="Text 65"/>
          <p:cNvSpPr/>
          <p:nvPr/>
        </p:nvSpPr>
        <p:spPr>
          <a:xfrm>
            <a:off x="6867525" y="2667000"/>
            <a:ext cx="228600" cy="80963"/>
          </a:xfrm>
          <a:prstGeom prst="rect">
            <a:avLst/>
          </a:prstGeom>
          <a:noFill/>
          <a:ln/>
        </p:spPr>
        <p:txBody>
          <a:bodyPr wrap="square" lIns="0" tIns="0" rIns="0" bIns="0" rtlCol="0" anchor="t"/>
          <a:lstStyle/>
          <a:p>
            <a:pPr algn="l" indent="0" marL="0">
              <a:lnSpc>
                <a:spcPts val="604"/>
              </a:lnSpc>
              <a:buNone/>
            </a:pPr>
            <a:r>
              <a:rPr lang="en-US" sz="499" b="1" spc="50" kern="0" dirty="0">
                <a:solidFill>
                  <a:srgbClr val="9DB7AF">
                    <a:alpha val="99000"/>
                  </a:srgbClr>
                </a:solidFill>
                <a:latin typeface="Inter" pitchFamily="34" charset="0"/>
                <a:ea typeface="Inter" pitchFamily="34" charset="-122"/>
                <a:cs typeface="Inter" pitchFamily="34" charset="-120"/>
              </a:rPr>
              <a:t>SDG 8</a:t>
            </a:r>
            <a:endParaRPr lang="en-US" sz="499" dirty="0"/>
          </a:p>
        </p:txBody>
      </p:sp>
      <p:sp>
        <p:nvSpPr>
          <p:cNvPr id="71" name="Text 66"/>
          <p:cNvSpPr/>
          <p:nvPr/>
        </p:nvSpPr>
        <p:spPr>
          <a:xfrm>
            <a:off x="6867525" y="2771775"/>
            <a:ext cx="1581150" cy="123825"/>
          </a:xfrm>
          <a:prstGeom prst="rect">
            <a:avLst/>
          </a:prstGeom>
          <a:noFill/>
          <a:ln/>
        </p:spPr>
        <p:txBody>
          <a:bodyPr wrap="square" lIns="0" tIns="0" rIns="0" bIns="0" rtlCol="0" anchor="t"/>
          <a:lstStyle/>
          <a:p>
            <a:pPr algn="l" indent="0" marL="0">
              <a:lnSpc>
                <a:spcPts val="914"/>
              </a:lnSpc>
              <a:buNone/>
            </a:pPr>
            <a:r>
              <a:rPr lang="en-US" sz="677" dirty="0">
                <a:solidFill>
                  <a:srgbClr val="E8EFEC">
                    <a:alpha val="99000"/>
                  </a:srgbClr>
                </a:solidFill>
                <a:latin typeface="Inter" pitchFamily="34" charset="0"/>
                <a:ea typeface="Inter" pitchFamily="34" charset="-122"/>
                <a:cs typeface="Inter" pitchFamily="34" charset="-120"/>
              </a:rPr>
              <a:t>Value in Sri Lanka's export industry</a:t>
            </a:r>
            <a:endParaRPr lang="en-US" sz="677" dirty="0"/>
          </a:p>
        </p:txBody>
      </p:sp>
      <p:sp>
        <p:nvSpPr>
          <p:cNvPr id="72" name="Shape 67"/>
          <p:cNvSpPr/>
          <p:nvPr/>
        </p:nvSpPr>
        <p:spPr>
          <a:xfrm>
            <a:off x="6467475" y="3152775"/>
            <a:ext cx="1981200" cy="4763"/>
          </a:xfrm>
          <a:prstGeom prst="rect">
            <a:avLst/>
          </a:prstGeom>
          <a:solidFill>
            <a:srgbClr val="FFFFFF">
              <a:alpha val="15000"/>
            </a:srgbClr>
          </a:solidFill>
          <a:ln/>
        </p:spPr>
      </p:sp>
      <p:sp>
        <p:nvSpPr>
          <p:cNvPr id="73" name="Text 68"/>
          <p:cNvSpPr/>
          <p:nvPr/>
        </p:nvSpPr>
        <p:spPr>
          <a:xfrm>
            <a:off x="6467475" y="3248025"/>
            <a:ext cx="1981200" cy="266700"/>
          </a:xfrm>
          <a:prstGeom prst="rect">
            <a:avLst/>
          </a:prstGeom>
          <a:noFill/>
          <a:ln/>
        </p:spPr>
        <p:txBody>
          <a:bodyPr wrap="square" lIns="0" tIns="0" rIns="0" bIns="0" rtlCol="0" anchor="t"/>
          <a:lstStyle/>
          <a:p>
            <a:pPr algn="l" indent="0" marL="0">
              <a:lnSpc>
                <a:spcPts val="981"/>
              </a:lnSpc>
              <a:buNone/>
            </a:pPr>
            <a:r>
              <a:rPr lang="en-US" sz="677" dirty="0">
                <a:solidFill>
                  <a:srgbClr val="DCE7E3">
                    <a:alpha val="99000"/>
                  </a:srgbClr>
                </a:solidFill>
                <a:latin typeface="Inter" pitchFamily="34" charset="0"/>
                <a:ea typeface="Inter" pitchFamily="34" charset="-122"/>
                <a:cs typeface="Inter" pitchFamily="34" charset="-120"/>
              </a:rPr>
              <a:t>No reagents, no sample destroyed, fewer oven runs; small models on a laptop CPU.</a:t>
            </a:r>
            <a:endParaRPr lang="en-US" sz="677" dirty="0"/>
          </a:p>
        </p:txBody>
      </p:sp>
      <p:sp>
        <p:nvSpPr>
          <p:cNvPr id="74" name="Shape 69"/>
          <p:cNvSpPr/>
          <p:nvPr/>
        </p:nvSpPr>
        <p:spPr>
          <a:xfrm>
            <a:off x="6467475" y="3629025"/>
            <a:ext cx="1981200" cy="4763"/>
          </a:xfrm>
          <a:prstGeom prst="rect">
            <a:avLst/>
          </a:prstGeom>
          <a:solidFill>
            <a:srgbClr val="FFFFFF">
              <a:alpha val="15000"/>
            </a:srgbClr>
          </a:solidFill>
          <a:ln/>
        </p:spPr>
      </p:sp>
      <p:sp>
        <p:nvSpPr>
          <p:cNvPr id="75" name="Text 70"/>
          <p:cNvSpPr/>
          <p:nvPr/>
        </p:nvSpPr>
        <p:spPr>
          <a:xfrm>
            <a:off x="6467475" y="3733800"/>
            <a:ext cx="6238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D4AF63">
                    <a:alpha val="99000"/>
                  </a:srgbClr>
                </a:solidFill>
                <a:latin typeface="Inter" pitchFamily="34" charset="0"/>
                <a:ea typeface="Inter" pitchFamily="34" charset="-122"/>
                <a:cs typeface="Inter" pitchFamily="34" charset="-120"/>
              </a:rPr>
              <a:t>ETHICS STATUS</a:t>
            </a:r>
            <a:endParaRPr lang="en-US" sz="463" dirty="0"/>
          </a:p>
        </p:txBody>
      </p:sp>
      <p:sp>
        <p:nvSpPr>
          <p:cNvPr id="76" name="Text 71"/>
          <p:cNvSpPr/>
          <p:nvPr/>
        </p:nvSpPr>
        <p:spPr>
          <a:xfrm>
            <a:off x="6467475" y="3867150"/>
            <a:ext cx="1981200" cy="400050"/>
          </a:xfrm>
          <a:prstGeom prst="rect">
            <a:avLst/>
          </a:prstGeom>
          <a:noFill/>
          <a:ln/>
        </p:spPr>
        <p:txBody>
          <a:bodyPr wrap="square" lIns="0" tIns="0" rIns="0" bIns="0" rtlCol="0" anchor="t"/>
          <a:lstStyle/>
          <a:p>
            <a:pPr algn="l" indent="0" marL="0">
              <a:lnSpc>
                <a:spcPts val="981"/>
              </a:lnSpc>
              <a:buNone/>
            </a:pPr>
            <a:r>
              <a:rPr lang="en-US" sz="677" dirty="0">
                <a:solidFill>
                  <a:srgbClr val="E8EFEC">
                    <a:alpha val="99000"/>
                  </a:srgbClr>
                </a:solidFill>
                <a:latin typeface="Inter" pitchFamily="34" charset="0"/>
                <a:ea typeface="Inter" pitchFamily="34" charset="-122"/>
                <a:cs typeface="Inter" pitchFamily="34" charset="-120"/>
              </a:rPr>
              <a:t>Low risk: no personal data; anonymous informed consent for field users; approval before any data collection.</a:t>
            </a:r>
            <a:endParaRPr lang="en-US" sz="67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842963"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17   ·   SCHEDULE</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Time schedule and milestones</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10500" y="295275"/>
            <a:ext cx="800100" cy="161925"/>
          </a:xfrm>
          <a:prstGeom prst="roundRect">
            <a:avLst/>
          </a:prstGeom>
          <a:noFill/>
          <a:ln w="5429">
            <a:solidFill>
              <a:srgbClr val="B8893B"/>
            </a:solidFill>
            <a:prstDash val="solid"/>
          </a:ln>
        </p:spPr>
      </p:sp>
      <p:sp>
        <p:nvSpPr>
          <p:cNvPr id="7" name="Text 4"/>
          <p:cNvSpPr/>
          <p:nvPr/>
        </p:nvSpPr>
        <p:spPr>
          <a:xfrm>
            <a:off x="7896225" y="335756"/>
            <a:ext cx="628650"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Time schedule 5%</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0988"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17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24384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Sep</a:t>
            </a:r>
            <a:endParaRPr lang="en-US" sz="534" dirty="0"/>
          </a:p>
        </p:txBody>
      </p:sp>
      <p:sp>
        <p:nvSpPr>
          <p:cNvPr id="15" name="Text 10"/>
          <p:cNvSpPr/>
          <p:nvPr/>
        </p:nvSpPr>
        <p:spPr>
          <a:xfrm>
            <a:off x="31242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Oct</a:t>
            </a:r>
            <a:endParaRPr lang="en-US" sz="534" dirty="0"/>
          </a:p>
        </p:txBody>
      </p:sp>
      <p:sp>
        <p:nvSpPr>
          <p:cNvPr id="16" name="Shape 11"/>
          <p:cNvSpPr/>
          <p:nvPr/>
        </p:nvSpPr>
        <p:spPr>
          <a:xfrm>
            <a:off x="3124200" y="1162050"/>
            <a:ext cx="4763" cy="2095500"/>
          </a:xfrm>
          <a:prstGeom prst="rect">
            <a:avLst/>
          </a:prstGeom>
          <a:solidFill>
            <a:srgbClr val="E3DACA"/>
          </a:solidFill>
          <a:ln/>
        </p:spPr>
      </p:sp>
      <p:sp>
        <p:nvSpPr>
          <p:cNvPr id="17" name="Text 12"/>
          <p:cNvSpPr/>
          <p:nvPr/>
        </p:nvSpPr>
        <p:spPr>
          <a:xfrm>
            <a:off x="38100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Nov</a:t>
            </a:r>
            <a:endParaRPr lang="en-US" sz="534" dirty="0"/>
          </a:p>
        </p:txBody>
      </p:sp>
      <p:sp>
        <p:nvSpPr>
          <p:cNvPr id="18" name="Shape 13"/>
          <p:cNvSpPr/>
          <p:nvPr/>
        </p:nvSpPr>
        <p:spPr>
          <a:xfrm>
            <a:off x="3810000" y="1162050"/>
            <a:ext cx="4763" cy="2095500"/>
          </a:xfrm>
          <a:prstGeom prst="rect">
            <a:avLst/>
          </a:prstGeom>
          <a:solidFill>
            <a:srgbClr val="E3DACA"/>
          </a:solidFill>
          <a:ln/>
        </p:spPr>
      </p:sp>
      <p:sp>
        <p:nvSpPr>
          <p:cNvPr id="19" name="Text 14"/>
          <p:cNvSpPr/>
          <p:nvPr/>
        </p:nvSpPr>
        <p:spPr>
          <a:xfrm>
            <a:off x="44958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Dec</a:t>
            </a:r>
            <a:endParaRPr lang="en-US" sz="534" dirty="0"/>
          </a:p>
        </p:txBody>
      </p:sp>
      <p:sp>
        <p:nvSpPr>
          <p:cNvPr id="20" name="Shape 15"/>
          <p:cNvSpPr/>
          <p:nvPr/>
        </p:nvSpPr>
        <p:spPr>
          <a:xfrm>
            <a:off x="4495800" y="1162050"/>
            <a:ext cx="4763" cy="2095500"/>
          </a:xfrm>
          <a:prstGeom prst="rect">
            <a:avLst/>
          </a:prstGeom>
          <a:solidFill>
            <a:srgbClr val="E3DACA"/>
          </a:solidFill>
          <a:ln/>
        </p:spPr>
      </p:sp>
      <p:sp>
        <p:nvSpPr>
          <p:cNvPr id="21" name="Text 16"/>
          <p:cNvSpPr/>
          <p:nvPr/>
        </p:nvSpPr>
        <p:spPr>
          <a:xfrm>
            <a:off x="51816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Jan</a:t>
            </a:r>
            <a:endParaRPr lang="en-US" sz="534" dirty="0"/>
          </a:p>
        </p:txBody>
      </p:sp>
      <p:sp>
        <p:nvSpPr>
          <p:cNvPr id="22" name="Shape 17"/>
          <p:cNvSpPr/>
          <p:nvPr/>
        </p:nvSpPr>
        <p:spPr>
          <a:xfrm>
            <a:off x="5181600" y="1162050"/>
            <a:ext cx="4763" cy="2095500"/>
          </a:xfrm>
          <a:prstGeom prst="rect">
            <a:avLst/>
          </a:prstGeom>
          <a:solidFill>
            <a:srgbClr val="E3DACA"/>
          </a:solidFill>
          <a:ln/>
        </p:spPr>
      </p:sp>
      <p:sp>
        <p:nvSpPr>
          <p:cNvPr id="23" name="Text 18"/>
          <p:cNvSpPr/>
          <p:nvPr/>
        </p:nvSpPr>
        <p:spPr>
          <a:xfrm>
            <a:off x="58674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Feb</a:t>
            </a:r>
            <a:endParaRPr lang="en-US" sz="534" dirty="0"/>
          </a:p>
        </p:txBody>
      </p:sp>
      <p:sp>
        <p:nvSpPr>
          <p:cNvPr id="24" name="Shape 19"/>
          <p:cNvSpPr/>
          <p:nvPr/>
        </p:nvSpPr>
        <p:spPr>
          <a:xfrm>
            <a:off x="5867400" y="1162050"/>
            <a:ext cx="4763" cy="2095500"/>
          </a:xfrm>
          <a:prstGeom prst="rect">
            <a:avLst/>
          </a:prstGeom>
          <a:solidFill>
            <a:srgbClr val="E3DACA"/>
          </a:solidFill>
          <a:ln/>
        </p:spPr>
      </p:sp>
      <p:sp>
        <p:nvSpPr>
          <p:cNvPr id="25" name="Text 20"/>
          <p:cNvSpPr/>
          <p:nvPr/>
        </p:nvSpPr>
        <p:spPr>
          <a:xfrm>
            <a:off x="65532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Mar</a:t>
            </a:r>
            <a:endParaRPr lang="en-US" sz="534" dirty="0"/>
          </a:p>
        </p:txBody>
      </p:sp>
      <p:sp>
        <p:nvSpPr>
          <p:cNvPr id="26" name="Shape 21"/>
          <p:cNvSpPr/>
          <p:nvPr/>
        </p:nvSpPr>
        <p:spPr>
          <a:xfrm>
            <a:off x="6553200" y="1162050"/>
            <a:ext cx="4763" cy="2095500"/>
          </a:xfrm>
          <a:prstGeom prst="rect">
            <a:avLst/>
          </a:prstGeom>
          <a:solidFill>
            <a:srgbClr val="E3DACA"/>
          </a:solidFill>
          <a:ln/>
        </p:spPr>
      </p:sp>
      <p:sp>
        <p:nvSpPr>
          <p:cNvPr id="27" name="Text 22"/>
          <p:cNvSpPr/>
          <p:nvPr/>
        </p:nvSpPr>
        <p:spPr>
          <a:xfrm>
            <a:off x="72390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Apr</a:t>
            </a:r>
            <a:endParaRPr lang="en-US" sz="534" dirty="0"/>
          </a:p>
        </p:txBody>
      </p:sp>
      <p:sp>
        <p:nvSpPr>
          <p:cNvPr id="28" name="Shape 23"/>
          <p:cNvSpPr/>
          <p:nvPr/>
        </p:nvSpPr>
        <p:spPr>
          <a:xfrm>
            <a:off x="7239000" y="1162050"/>
            <a:ext cx="4763" cy="2095500"/>
          </a:xfrm>
          <a:prstGeom prst="rect">
            <a:avLst/>
          </a:prstGeom>
          <a:solidFill>
            <a:srgbClr val="E3DACA"/>
          </a:solidFill>
          <a:ln/>
        </p:spPr>
      </p:sp>
      <p:sp>
        <p:nvSpPr>
          <p:cNvPr id="29" name="Text 24"/>
          <p:cNvSpPr/>
          <p:nvPr/>
        </p:nvSpPr>
        <p:spPr>
          <a:xfrm>
            <a:off x="7924800" y="1019175"/>
            <a:ext cx="685800" cy="85725"/>
          </a:xfrm>
          <a:prstGeom prst="rect">
            <a:avLst/>
          </a:prstGeom>
          <a:noFill/>
          <a:ln/>
        </p:spPr>
        <p:txBody>
          <a:bodyPr wrap="square" lIns="0" tIns="0" rIns="0" bIns="0" rtlCol="0" anchor="t"/>
          <a:lstStyle/>
          <a:p>
            <a:pPr algn="ctr" indent="0" marL="0">
              <a:lnSpc>
                <a:spcPts val="647"/>
              </a:lnSpc>
              <a:buNone/>
            </a:pPr>
            <a:r>
              <a:rPr lang="en-US" sz="534" b="1" spc="43" kern="0" dirty="0">
                <a:solidFill>
                  <a:srgbClr val="B8893B">
                    <a:alpha val="99000"/>
                  </a:srgbClr>
                </a:solidFill>
                <a:latin typeface="Inter" pitchFamily="34" charset="0"/>
                <a:ea typeface="Inter" pitchFamily="34" charset="-122"/>
                <a:cs typeface="Inter" pitchFamily="34" charset="-120"/>
              </a:rPr>
              <a:t>May</a:t>
            </a:r>
            <a:endParaRPr lang="en-US" sz="534" dirty="0"/>
          </a:p>
        </p:txBody>
      </p:sp>
      <p:sp>
        <p:nvSpPr>
          <p:cNvPr id="30" name="Shape 25"/>
          <p:cNvSpPr/>
          <p:nvPr/>
        </p:nvSpPr>
        <p:spPr>
          <a:xfrm>
            <a:off x="7924800" y="1162050"/>
            <a:ext cx="4763" cy="2095500"/>
          </a:xfrm>
          <a:prstGeom prst="rect">
            <a:avLst/>
          </a:prstGeom>
          <a:solidFill>
            <a:srgbClr val="E3DACA"/>
          </a:solidFill>
          <a:ln/>
        </p:spPr>
      </p:sp>
      <p:sp>
        <p:nvSpPr>
          <p:cNvPr id="31" name="Text 26"/>
          <p:cNvSpPr/>
          <p:nvPr/>
        </p:nvSpPr>
        <p:spPr>
          <a:xfrm>
            <a:off x="2438400" y="904875"/>
            <a:ext cx="152400"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2026</a:t>
            </a:r>
            <a:endParaRPr lang="en-US" sz="463" dirty="0"/>
          </a:p>
        </p:txBody>
      </p:sp>
      <p:sp>
        <p:nvSpPr>
          <p:cNvPr id="32" name="Text 27"/>
          <p:cNvSpPr/>
          <p:nvPr/>
        </p:nvSpPr>
        <p:spPr>
          <a:xfrm>
            <a:off x="5181600" y="904875"/>
            <a:ext cx="152400"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2027</a:t>
            </a:r>
            <a:endParaRPr lang="en-US" sz="463" dirty="0"/>
          </a:p>
        </p:txBody>
      </p:sp>
      <p:sp>
        <p:nvSpPr>
          <p:cNvPr id="33" name="Shape 28"/>
          <p:cNvSpPr/>
          <p:nvPr/>
        </p:nvSpPr>
        <p:spPr>
          <a:xfrm>
            <a:off x="533400" y="1200150"/>
            <a:ext cx="8077200" cy="209550"/>
          </a:xfrm>
          <a:prstGeom prst="rect">
            <a:avLst/>
          </a:prstGeom>
          <a:solidFill>
            <a:srgbClr val="FFFFFF">
              <a:alpha val="60000"/>
            </a:srgbClr>
          </a:solidFill>
          <a:ln/>
        </p:spPr>
      </p:sp>
      <p:sp>
        <p:nvSpPr>
          <p:cNvPr id="34" name="Text 29"/>
          <p:cNvSpPr/>
          <p:nvPr/>
        </p:nvSpPr>
        <p:spPr>
          <a:xfrm>
            <a:off x="590550" y="1252538"/>
            <a:ext cx="100013"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P1</a:t>
            </a:r>
            <a:endParaRPr lang="en-US" sz="641" dirty="0"/>
          </a:p>
        </p:txBody>
      </p:sp>
      <p:sp>
        <p:nvSpPr>
          <p:cNvPr id="35" name="Text 30"/>
          <p:cNvSpPr/>
          <p:nvPr/>
        </p:nvSpPr>
        <p:spPr>
          <a:xfrm>
            <a:off x="876300" y="125253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Research and proposal</a:t>
            </a:r>
            <a:endParaRPr lang="en-US" sz="641" dirty="0"/>
          </a:p>
        </p:txBody>
      </p:sp>
      <p:sp>
        <p:nvSpPr>
          <p:cNvPr id="36" name="Shape 31"/>
          <p:cNvSpPr/>
          <p:nvPr/>
        </p:nvSpPr>
        <p:spPr>
          <a:xfrm>
            <a:off x="2466975" y="1243013"/>
            <a:ext cx="1314450" cy="123825"/>
          </a:xfrm>
          <a:prstGeom prst="roundRect">
            <a:avLst/>
          </a:prstGeom>
          <a:solidFill>
            <a:srgbClr val="1F5C4F"/>
          </a:solidFill>
          <a:ln/>
        </p:spPr>
      </p:sp>
      <p:sp>
        <p:nvSpPr>
          <p:cNvPr id="37" name="Text 32"/>
          <p:cNvSpPr/>
          <p:nvPr/>
        </p:nvSpPr>
        <p:spPr>
          <a:xfrm>
            <a:off x="590550" y="1462088"/>
            <a:ext cx="109538"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P2</a:t>
            </a:r>
            <a:endParaRPr lang="en-US" sz="641" dirty="0"/>
          </a:p>
        </p:txBody>
      </p:sp>
      <p:sp>
        <p:nvSpPr>
          <p:cNvPr id="38" name="Text 33"/>
          <p:cNvSpPr/>
          <p:nvPr/>
        </p:nvSpPr>
        <p:spPr>
          <a:xfrm>
            <a:off x="876300" y="146208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Ethics, protocol and pilot</a:t>
            </a:r>
            <a:endParaRPr lang="en-US" sz="641" dirty="0"/>
          </a:p>
        </p:txBody>
      </p:sp>
      <p:sp>
        <p:nvSpPr>
          <p:cNvPr id="39" name="Shape 34"/>
          <p:cNvSpPr/>
          <p:nvPr/>
        </p:nvSpPr>
        <p:spPr>
          <a:xfrm>
            <a:off x="3838575" y="1452563"/>
            <a:ext cx="628650" cy="123825"/>
          </a:xfrm>
          <a:prstGeom prst="roundRect">
            <a:avLst/>
          </a:prstGeom>
          <a:solidFill>
            <a:srgbClr val="1F5C4F"/>
          </a:solidFill>
          <a:ln/>
        </p:spPr>
      </p:sp>
      <p:sp>
        <p:nvSpPr>
          <p:cNvPr id="40" name="Shape 35"/>
          <p:cNvSpPr/>
          <p:nvPr/>
        </p:nvSpPr>
        <p:spPr>
          <a:xfrm>
            <a:off x="533400" y="1619250"/>
            <a:ext cx="8077200" cy="209550"/>
          </a:xfrm>
          <a:prstGeom prst="rect">
            <a:avLst/>
          </a:prstGeom>
          <a:solidFill>
            <a:srgbClr val="FFFFFF">
              <a:alpha val="60000"/>
            </a:srgbClr>
          </a:solidFill>
          <a:ln/>
        </p:spPr>
      </p:sp>
      <p:sp>
        <p:nvSpPr>
          <p:cNvPr id="41" name="Text 36"/>
          <p:cNvSpPr/>
          <p:nvPr/>
        </p:nvSpPr>
        <p:spPr>
          <a:xfrm>
            <a:off x="590550" y="1671638"/>
            <a:ext cx="1143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P3</a:t>
            </a:r>
            <a:endParaRPr lang="en-US" sz="641" dirty="0"/>
          </a:p>
        </p:txBody>
      </p:sp>
      <p:sp>
        <p:nvSpPr>
          <p:cNvPr id="42" name="Text 37"/>
          <p:cNvSpPr/>
          <p:nvPr/>
        </p:nvSpPr>
        <p:spPr>
          <a:xfrm>
            <a:off x="876300" y="167163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Moisture data collection</a:t>
            </a:r>
            <a:endParaRPr lang="en-US" sz="641" dirty="0"/>
          </a:p>
        </p:txBody>
      </p:sp>
      <p:sp>
        <p:nvSpPr>
          <p:cNvPr id="43" name="Shape 38"/>
          <p:cNvSpPr/>
          <p:nvPr/>
        </p:nvSpPr>
        <p:spPr>
          <a:xfrm>
            <a:off x="4524375" y="1662113"/>
            <a:ext cx="2000250" cy="123825"/>
          </a:xfrm>
          <a:prstGeom prst="roundRect">
            <a:avLst/>
          </a:prstGeom>
          <a:solidFill>
            <a:srgbClr val="B8893B"/>
          </a:solidFill>
          <a:ln/>
        </p:spPr>
      </p:sp>
      <p:sp>
        <p:nvSpPr>
          <p:cNvPr id="44" name="Text 39"/>
          <p:cNvSpPr/>
          <p:nvPr/>
        </p:nvSpPr>
        <p:spPr>
          <a:xfrm>
            <a:off x="590550" y="1881187"/>
            <a:ext cx="1143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P4</a:t>
            </a:r>
            <a:endParaRPr lang="en-US" sz="641" dirty="0"/>
          </a:p>
        </p:txBody>
      </p:sp>
      <p:sp>
        <p:nvSpPr>
          <p:cNvPr id="45" name="Text 40"/>
          <p:cNvSpPr/>
          <p:nvPr/>
        </p:nvSpPr>
        <p:spPr>
          <a:xfrm>
            <a:off x="876300" y="1881187"/>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Cleaning and baseline</a:t>
            </a:r>
            <a:endParaRPr lang="en-US" sz="641" dirty="0"/>
          </a:p>
        </p:txBody>
      </p:sp>
      <p:sp>
        <p:nvSpPr>
          <p:cNvPr id="46" name="Shape 41"/>
          <p:cNvSpPr/>
          <p:nvPr/>
        </p:nvSpPr>
        <p:spPr>
          <a:xfrm>
            <a:off x="5210175" y="1871663"/>
            <a:ext cx="1314450" cy="123825"/>
          </a:xfrm>
          <a:prstGeom prst="roundRect">
            <a:avLst/>
          </a:prstGeom>
          <a:solidFill>
            <a:srgbClr val="1F5C4F"/>
          </a:solidFill>
          <a:ln/>
        </p:spPr>
      </p:sp>
      <p:sp>
        <p:nvSpPr>
          <p:cNvPr id="47" name="Shape 42"/>
          <p:cNvSpPr/>
          <p:nvPr/>
        </p:nvSpPr>
        <p:spPr>
          <a:xfrm>
            <a:off x="533400" y="2038350"/>
            <a:ext cx="8077200" cy="209550"/>
          </a:xfrm>
          <a:prstGeom prst="rect">
            <a:avLst/>
          </a:prstGeom>
          <a:solidFill>
            <a:srgbClr val="FFFFFF">
              <a:alpha val="60000"/>
            </a:srgbClr>
          </a:solidFill>
          <a:ln/>
        </p:spPr>
      </p:sp>
      <p:sp>
        <p:nvSpPr>
          <p:cNvPr id="48" name="Text 43"/>
          <p:cNvSpPr/>
          <p:nvPr/>
        </p:nvSpPr>
        <p:spPr>
          <a:xfrm>
            <a:off x="590550" y="2090738"/>
            <a:ext cx="109538"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P5</a:t>
            </a:r>
            <a:endParaRPr lang="en-US" sz="641" dirty="0"/>
          </a:p>
        </p:txBody>
      </p:sp>
      <p:sp>
        <p:nvSpPr>
          <p:cNvPr id="49" name="Text 44"/>
          <p:cNvSpPr/>
          <p:nvPr/>
        </p:nvSpPr>
        <p:spPr>
          <a:xfrm>
            <a:off x="876300" y="209073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Multi-parameter feasibility</a:t>
            </a:r>
            <a:endParaRPr lang="en-US" sz="641" dirty="0"/>
          </a:p>
        </p:txBody>
      </p:sp>
      <p:sp>
        <p:nvSpPr>
          <p:cNvPr id="50" name="Shape 45"/>
          <p:cNvSpPr/>
          <p:nvPr/>
        </p:nvSpPr>
        <p:spPr>
          <a:xfrm>
            <a:off x="5210175" y="2081212"/>
            <a:ext cx="2000250" cy="123825"/>
          </a:xfrm>
          <a:prstGeom prst="roundRect">
            <a:avLst/>
          </a:prstGeom>
          <a:solidFill>
            <a:srgbClr val="1F5C4F"/>
          </a:solidFill>
          <a:ln/>
        </p:spPr>
      </p:sp>
      <p:sp>
        <p:nvSpPr>
          <p:cNvPr id="51" name="Text 46"/>
          <p:cNvSpPr/>
          <p:nvPr/>
        </p:nvSpPr>
        <p:spPr>
          <a:xfrm>
            <a:off x="590550" y="2300288"/>
            <a:ext cx="1143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P6</a:t>
            </a:r>
            <a:endParaRPr lang="en-US" sz="641" dirty="0"/>
          </a:p>
        </p:txBody>
      </p:sp>
      <p:sp>
        <p:nvSpPr>
          <p:cNvPr id="52" name="Text 47"/>
          <p:cNvSpPr/>
          <p:nvPr/>
        </p:nvSpPr>
        <p:spPr>
          <a:xfrm>
            <a:off x="876300" y="230028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Preprocessing and selection</a:t>
            </a:r>
            <a:endParaRPr lang="en-US" sz="641" dirty="0"/>
          </a:p>
        </p:txBody>
      </p:sp>
      <p:sp>
        <p:nvSpPr>
          <p:cNvPr id="53" name="Shape 48"/>
          <p:cNvSpPr/>
          <p:nvPr/>
        </p:nvSpPr>
        <p:spPr>
          <a:xfrm>
            <a:off x="5895975" y="2290763"/>
            <a:ext cx="1314450" cy="123825"/>
          </a:xfrm>
          <a:prstGeom prst="roundRect">
            <a:avLst/>
          </a:prstGeom>
          <a:solidFill>
            <a:srgbClr val="1F5C4F"/>
          </a:solidFill>
          <a:ln/>
        </p:spPr>
      </p:sp>
      <p:sp>
        <p:nvSpPr>
          <p:cNvPr id="54" name="Shape 49"/>
          <p:cNvSpPr/>
          <p:nvPr/>
        </p:nvSpPr>
        <p:spPr>
          <a:xfrm>
            <a:off x="533400" y="2457450"/>
            <a:ext cx="8077200" cy="209550"/>
          </a:xfrm>
          <a:prstGeom prst="rect">
            <a:avLst/>
          </a:prstGeom>
          <a:solidFill>
            <a:srgbClr val="FFFFFF">
              <a:alpha val="60000"/>
            </a:srgbClr>
          </a:solidFill>
          <a:ln/>
        </p:spPr>
      </p:sp>
      <p:sp>
        <p:nvSpPr>
          <p:cNvPr id="55" name="Text 50"/>
          <p:cNvSpPr/>
          <p:nvPr/>
        </p:nvSpPr>
        <p:spPr>
          <a:xfrm>
            <a:off x="590550" y="2509838"/>
            <a:ext cx="104775"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P7</a:t>
            </a:r>
            <a:endParaRPr lang="en-US" sz="641" dirty="0"/>
          </a:p>
        </p:txBody>
      </p:sp>
      <p:sp>
        <p:nvSpPr>
          <p:cNvPr id="56" name="Text 51"/>
          <p:cNvSpPr/>
          <p:nvPr/>
        </p:nvSpPr>
        <p:spPr>
          <a:xfrm>
            <a:off x="876300" y="250983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Model development</a:t>
            </a:r>
            <a:endParaRPr lang="en-US" sz="641" dirty="0"/>
          </a:p>
        </p:txBody>
      </p:sp>
      <p:sp>
        <p:nvSpPr>
          <p:cNvPr id="57" name="Shape 52"/>
          <p:cNvSpPr/>
          <p:nvPr/>
        </p:nvSpPr>
        <p:spPr>
          <a:xfrm>
            <a:off x="6581775" y="2500313"/>
            <a:ext cx="628650" cy="123825"/>
          </a:xfrm>
          <a:prstGeom prst="roundRect">
            <a:avLst/>
          </a:prstGeom>
          <a:solidFill>
            <a:srgbClr val="1F5C4F"/>
          </a:solidFill>
          <a:ln/>
        </p:spPr>
      </p:sp>
      <p:sp>
        <p:nvSpPr>
          <p:cNvPr id="58" name="Text 53"/>
          <p:cNvSpPr/>
          <p:nvPr/>
        </p:nvSpPr>
        <p:spPr>
          <a:xfrm>
            <a:off x="590550" y="2719388"/>
            <a:ext cx="1143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P8</a:t>
            </a:r>
            <a:endParaRPr lang="en-US" sz="641" dirty="0"/>
          </a:p>
        </p:txBody>
      </p:sp>
      <p:sp>
        <p:nvSpPr>
          <p:cNvPr id="59" name="Text 54"/>
          <p:cNvSpPr/>
          <p:nvPr/>
        </p:nvSpPr>
        <p:spPr>
          <a:xfrm>
            <a:off x="876300" y="271938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Evaluation and prototype</a:t>
            </a:r>
            <a:endParaRPr lang="en-US" sz="641" dirty="0"/>
          </a:p>
        </p:txBody>
      </p:sp>
      <p:sp>
        <p:nvSpPr>
          <p:cNvPr id="60" name="Shape 55"/>
          <p:cNvSpPr/>
          <p:nvPr/>
        </p:nvSpPr>
        <p:spPr>
          <a:xfrm>
            <a:off x="6581775" y="2709863"/>
            <a:ext cx="1314450" cy="123825"/>
          </a:xfrm>
          <a:prstGeom prst="roundRect">
            <a:avLst/>
          </a:prstGeom>
          <a:solidFill>
            <a:srgbClr val="1F5C4F"/>
          </a:solidFill>
          <a:ln/>
        </p:spPr>
      </p:sp>
      <p:sp>
        <p:nvSpPr>
          <p:cNvPr id="61" name="Shape 56"/>
          <p:cNvSpPr/>
          <p:nvPr/>
        </p:nvSpPr>
        <p:spPr>
          <a:xfrm>
            <a:off x="533400" y="2876550"/>
            <a:ext cx="8077200" cy="209550"/>
          </a:xfrm>
          <a:prstGeom prst="rect">
            <a:avLst/>
          </a:prstGeom>
          <a:solidFill>
            <a:srgbClr val="FFFFFF">
              <a:alpha val="60000"/>
            </a:srgbClr>
          </a:solidFill>
          <a:ln/>
        </p:spPr>
      </p:sp>
      <p:sp>
        <p:nvSpPr>
          <p:cNvPr id="62" name="Text 57"/>
          <p:cNvSpPr/>
          <p:nvPr/>
        </p:nvSpPr>
        <p:spPr>
          <a:xfrm>
            <a:off x="590550" y="2928938"/>
            <a:ext cx="1143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P9</a:t>
            </a:r>
            <a:endParaRPr lang="en-US" sz="641" dirty="0"/>
          </a:p>
        </p:txBody>
      </p:sp>
      <p:sp>
        <p:nvSpPr>
          <p:cNvPr id="63" name="Text 58"/>
          <p:cNvSpPr/>
          <p:nvPr/>
        </p:nvSpPr>
        <p:spPr>
          <a:xfrm>
            <a:off x="876300" y="292893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Field feasibility</a:t>
            </a:r>
            <a:endParaRPr lang="en-US" sz="641" dirty="0"/>
          </a:p>
        </p:txBody>
      </p:sp>
      <p:sp>
        <p:nvSpPr>
          <p:cNvPr id="64" name="Shape 59"/>
          <p:cNvSpPr/>
          <p:nvPr/>
        </p:nvSpPr>
        <p:spPr>
          <a:xfrm>
            <a:off x="7267575" y="2919413"/>
            <a:ext cx="628650" cy="123825"/>
          </a:xfrm>
          <a:prstGeom prst="roundRect">
            <a:avLst/>
          </a:prstGeom>
          <a:solidFill>
            <a:srgbClr val="1F5C4F"/>
          </a:solidFill>
          <a:ln/>
        </p:spPr>
      </p:sp>
      <p:sp>
        <p:nvSpPr>
          <p:cNvPr id="65" name="Text 60"/>
          <p:cNvSpPr/>
          <p:nvPr/>
        </p:nvSpPr>
        <p:spPr>
          <a:xfrm>
            <a:off x="590550" y="3138488"/>
            <a:ext cx="152400" cy="104775"/>
          </a:xfrm>
          <a:prstGeom prst="rect">
            <a:avLst/>
          </a:prstGeom>
          <a:noFill/>
          <a:ln/>
        </p:spPr>
        <p:txBody>
          <a:bodyPr wrap="square" lIns="0" tIns="0" rIns="0" bIns="0" rtlCol="0" anchor="t"/>
          <a:lstStyle/>
          <a:p>
            <a:pPr algn="l" indent="0" marL="0">
              <a:lnSpc>
                <a:spcPts val="776"/>
              </a:lnSpc>
              <a:buNone/>
            </a:pPr>
            <a:r>
              <a:rPr lang="en-US" sz="641" b="1" spc="-6" kern="0" dirty="0">
                <a:solidFill>
                  <a:srgbClr val="B8893B">
                    <a:alpha val="99000"/>
                  </a:srgbClr>
                </a:solidFill>
                <a:latin typeface="Inter" pitchFamily="34" charset="0"/>
                <a:ea typeface="Inter" pitchFamily="34" charset="-122"/>
                <a:cs typeface="Inter" pitchFamily="34" charset="-120"/>
              </a:rPr>
              <a:t>P10</a:t>
            </a:r>
            <a:endParaRPr lang="en-US" sz="641" dirty="0"/>
          </a:p>
        </p:txBody>
      </p:sp>
      <p:sp>
        <p:nvSpPr>
          <p:cNvPr id="66" name="Text 61"/>
          <p:cNvSpPr/>
          <p:nvPr/>
        </p:nvSpPr>
        <p:spPr>
          <a:xfrm>
            <a:off x="876300" y="3138488"/>
            <a:ext cx="1524000" cy="104775"/>
          </a:xfrm>
          <a:prstGeom prst="rect">
            <a:avLst/>
          </a:prstGeom>
          <a:noFill/>
          <a:ln/>
        </p:spPr>
        <p:txBody>
          <a:bodyPr wrap="square" lIns="0" tIns="0" rIns="0" bIns="0" rtlCol="0" anchor="t"/>
          <a:lstStyle/>
          <a:p>
            <a:pPr algn="l" indent="0" marL="0">
              <a:lnSpc>
                <a:spcPts val="776"/>
              </a:lnSpc>
              <a:buNone/>
            </a:pPr>
            <a:r>
              <a:rPr lang="en-US" sz="641" dirty="0">
                <a:solidFill>
                  <a:srgbClr val="0E2A26">
                    <a:alpha val="99000"/>
                  </a:srgbClr>
                </a:solidFill>
                <a:latin typeface="Inter" pitchFamily="34" charset="0"/>
                <a:ea typeface="Inter" pitchFamily="34" charset="-122"/>
                <a:cs typeface="Inter" pitchFamily="34" charset="-120"/>
              </a:rPr>
              <a:t>Write-up and viva</a:t>
            </a:r>
            <a:endParaRPr lang="en-US" sz="641" dirty="0"/>
          </a:p>
        </p:txBody>
      </p:sp>
      <p:sp>
        <p:nvSpPr>
          <p:cNvPr id="67" name="Shape 62"/>
          <p:cNvSpPr/>
          <p:nvPr/>
        </p:nvSpPr>
        <p:spPr>
          <a:xfrm>
            <a:off x="7267575" y="3128963"/>
            <a:ext cx="1314450" cy="123825"/>
          </a:xfrm>
          <a:prstGeom prst="roundRect">
            <a:avLst/>
          </a:prstGeom>
          <a:solidFill>
            <a:srgbClr val="1F5C4F"/>
          </a:solidFill>
          <a:ln/>
        </p:spPr>
      </p:sp>
      <p:sp>
        <p:nvSpPr>
          <p:cNvPr id="68" name="Text 63"/>
          <p:cNvSpPr/>
          <p:nvPr/>
        </p:nvSpPr>
        <p:spPr>
          <a:xfrm>
            <a:off x="590550" y="3467100"/>
            <a:ext cx="490538"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B8893B">
                    <a:alpha val="99000"/>
                  </a:srgbClr>
                </a:solidFill>
                <a:latin typeface="Inter" pitchFamily="34" charset="0"/>
                <a:ea typeface="Inter" pitchFamily="34" charset="-122"/>
                <a:cs typeface="Inter" pitchFamily="34" charset="-120"/>
              </a:rPr>
              <a:t>MILESTONES</a:t>
            </a:r>
            <a:endParaRPr lang="en-US" sz="463" dirty="0"/>
          </a:p>
        </p:txBody>
      </p:sp>
      <p:sp>
        <p:nvSpPr>
          <p:cNvPr id="69" name="Shape 64"/>
          <p:cNvSpPr/>
          <p:nvPr/>
        </p:nvSpPr>
        <p:spPr>
          <a:xfrm>
            <a:off x="2438400" y="3514725"/>
            <a:ext cx="6172200" cy="9525"/>
          </a:xfrm>
          <a:prstGeom prst="rect">
            <a:avLst/>
          </a:prstGeom>
          <a:solidFill>
            <a:srgbClr val="0E2A26">
              <a:alpha val="25000"/>
            </a:srgbClr>
          </a:solidFill>
          <a:ln/>
        </p:spPr>
      </p:sp>
      <p:sp>
        <p:nvSpPr>
          <p:cNvPr id="70" name="Shape 65"/>
          <p:cNvSpPr/>
          <p:nvPr/>
        </p:nvSpPr>
        <p:spPr>
          <a:xfrm rot="-2700000">
            <a:off x="3141954" y="3413417"/>
            <a:ext cx="85725" cy="85725"/>
          </a:xfrm>
          <a:prstGeom prst="rect">
            <a:avLst/>
          </a:prstGeom>
          <a:solidFill>
            <a:srgbClr val="0E2A26"/>
          </a:solidFill>
          <a:ln/>
        </p:spPr>
      </p:sp>
      <p:sp>
        <p:nvSpPr>
          <p:cNvPr id="71" name="Text 66"/>
          <p:cNvSpPr/>
          <p:nvPr/>
        </p:nvSpPr>
        <p:spPr>
          <a:xfrm>
            <a:off x="2790825" y="3600450"/>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31 Oct</a:t>
            </a:r>
            <a:endParaRPr lang="en-US" sz="499" dirty="0"/>
          </a:p>
        </p:txBody>
      </p:sp>
      <p:sp>
        <p:nvSpPr>
          <p:cNvPr id="72" name="Text 67"/>
          <p:cNvSpPr/>
          <p:nvPr/>
        </p:nvSpPr>
        <p:spPr>
          <a:xfrm>
            <a:off x="2790825" y="3695700"/>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Proposal</a:t>
            </a:r>
            <a:endParaRPr lang="en-US" sz="463" dirty="0"/>
          </a:p>
        </p:txBody>
      </p:sp>
      <p:sp>
        <p:nvSpPr>
          <p:cNvPr id="73" name="Shape 68"/>
          <p:cNvSpPr/>
          <p:nvPr/>
        </p:nvSpPr>
        <p:spPr>
          <a:xfrm rot="-2700000">
            <a:off x="3827754" y="3413417"/>
            <a:ext cx="85725" cy="85725"/>
          </a:xfrm>
          <a:prstGeom prst="rect">
            <a:avLst/>
          </a:prstGeom>
          <a:solidFill>
            <a:srgbClr val="0E2A26"/>
          </a:solidFill>
          <a:ln/>
        </p:spPr>
      </p:sp>
      <p:sp>
        <p:nvSpPr>
          <p:cNvPr id="74" name="Text 69"/>
          <p:cNvSpPr/>
          <p:nvPr/>
        </p:nvSpPr>
        <p:spPr>
          <a:xfrm>
            <a:off x="3476625" y="3819525"/>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30 Nov</a:t>
            </a:r>
            <a:endParaRPr lang="en-US" sz="499" dirty="0"/>
          </a:p>
        </p:txBody>
      </p:sp>
      <p:sp>
        <p:nvSpPr>
          <p:cNvPr id="75" name="Text 70"/>
          <p:cNvSpPr/>
          <p:nvPr/>
        </p:nvSpPr>
        <p:spPr>
          <a:xfrm>
            <a:off x="3476625" y="3914775"/>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Ethics and SOPs</a:t>
            </a:r>
            <a:endParaRPr lang="en-US" sz="463" dirty="0"/>
          </a:p>
        </p:txBody>
      </p:sp>
      <p:sp>
        <p:nvSpPr>
          <p:cNvPr id="76" name="Shape 71"/>
          <p:cNvSpPr/>
          <p:nvPr/>
        </p:nvSpPr>
        <p:spPr>
          <a:xfrm rot="-2700000">
            <a:off x="6228054" y="3413417"/>
            <a:ext cx="85725" cy="85725"/>
          </a:xfrm>
          <a:prstGeom prst="rect">
            <a:avLst/>
          </a:prstGeom>
          <a:solidFill>
            <a:srgbClr val="0E2A26"/>
          </a:solidFill>
          <a:ln/>
        </p:spPr>
      </p:sp>
      <p:sp>
        <p:nvSpPr>
          <p:cNvPr id="77" name="Text 72"/>
          <p:cNvSpPr/>
          <p:nvPr/>
        </p:nvSpPr>
        <p:spPr>
          <a:xfrm>
            <a:off x="5876925" y="3600450"/>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15 Feb</a:t>
            </a:r>
            <a:endParaRPr lang="en-US" sz="499" dirty="0"/>
          </a:p>
        </p:txBody>
      </p:sp>
      <p:sp>
        <p:nvSpPr>
          <p:cNvPr id="78" name="Text 73"/>
          <p:cNvSpPr/>
          <p:nvPr/>
        </p:nvSpPr>
        <p:spPr>
          <a:xfrm>
            <a:off x="5876925" y="3695700"/>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Dataset ≥ 80</a:t>
            </a:r>
            <a:endParaRPr lang="en-US" sz="463" dirty="0"/>
          </a:p>
        </p:txBody>
      </p:sp>
      <p:sp>
        <p:nvSpPr>
          <p:cNvPr id="79" name="Shape 74"/>
          <p:cNvSpPr/>
          <p:nvPr/>
        </p:nvSpPr>
        <p:spPr>
          <a:xfrm rot="-2700000">
            <a:off x="6570954" y="3413417"/>
            <a:ext cx="85725" cy="85725"/>
          </a:xfrm>
          <a:prstGeom prst="rect">
            <a:avLst/>
          </a:prstGeom>
          <a:solidFill>
            <a:srgbClr val="0E2A26"/>
          </a:solidFill>
          <a:ln/>
        </p:spPr>
      </p:sp>
      <p:sp>
        <p:nvSpPr>
          <p:cNvPr id="80" name="Text 75"/>
          <p:cNvSpPr/>
          <p:nvPr/>
        </p:nvSpPr>
        <p:spPr>
          <a:xfrm>
            <a:off x="6219825" y="3819525"/>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28 Feb</a:t>
            </a:r>
            <a:endParaRPr lang="en-US" sz="499" dirty="0"/>
          </a:p>
        </p:txBody>
      </p:sp>
      <p:sp>
        <p:nvSpPr>
          <p:cNvPr id="81" name="Text 76"/>
          <p:cNvSpPr/>
          <p:nvPr/>
        </p:nvSpPr>
        <p:spPr>
          <a:xfrm>
            <a:off x="6219825" y="3914775"/>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Test set locked</a:t>
            </a:r>
            <a:endParaRPr lang="en-US" sz="463" dirty="0"/>
          </a:p>
        </p:txBody>
      </p:sp>
      <p:sp>
        <p:nvSpPr>
          <p:cNvPr id="82" name="Shape 77"/>
          <p:cNvSpPr/>
          <p:nvPr/>
        </p:nvSpPr>
        <p:spPr>
          <a:xfrm rot="-2700000">
            <a:off x="7699667" y="3413417"/>
            <a:ext cx="85725" cy="85725"/>
          </a:xfrm>
          <a:prstGeom prst="rect">
            <a:avLst/>
          </a:prstGeom>
          <a:solidFill>
            <a:srgbClr val="0E2A26"/>
          </a:solidFill>
          <a:ln/>
        </p:spPr>
      </p:sp>
      <p:sp>
        <p:nvSpPr>
          <p:cNvPr id="83" name="Text 78"/>
          <p:cNvSpPr/>
          <p:nvPr/>
        </p:nvSpPr>
        <p:spPr>
          <a:xfrm>
            <a:off x="7351395" y="3600450"/>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20 Apr</a:t>
            </a:r>
            <a:endParaRPr lang="en-US" sz="499" dirty="0"/>
          </a:p>
        </p:txBody>
      </p:sp>
      <p:sp>
        <p:nvSpPr>
          <p:cNvPr id="84" name="Text 79"/>
          <p:cNvSpPr/>
          <p:nvPr/>
        </p:nvSpPr>
        <p:spPr>
          <a:xfrm>
            <a:off x="7351395" y="3695700"/>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Evaluation</a:t>
            </a:r>
            <a:endParaRPr lang="en-US" sz="463" dirty="0"/>
          </a:p>
        </p:txBody>
      </p:sp>
      <p:sp>
        <p:nvSpPr>
          <p:cNvPr id="85" name="Shape 80"/>
          <p:cNvSpPr/>
          <p:nvPr/>
        </p:nvSpPr>
        <p:spPr>
          <a:xfrm rot="-2700000">
            <a:off x="8285454" y="3413417"/>
            <a:ext cx="85725" cy="85725"/>
          </a:xfrm>
          <a:prstGeom prst="rect">
            <a:avLst/>
          </a:prstGeom>
          <a:solidFill>
            <a:srgbClr val="0E2A26"/>
          </a:solidFill>
          <a:ln/>
        </p:spPr>
      </p:sp>
      <p:sp>
        <p:nvSpPr>
          <p:cNvPr id="86" name="Text 81"/>
          <p:cNvSpPr/>
          <p:nvPr/>
        </p:nvSpPr>
        <p:spPr>
          <a:xfrm>
            <a:off x="7934325" y="3819525"/>
            <a:ext cx="666750" cy="80963"/>
          </a:xfrm>
          <a:prstGeom prst="rect">
            <a:avLst/>
          </a:prstGeom>
          <a:noFill/>
          <a:ln/>
        </p:spPr>
        <p:txBody>
          <a:bodyPr wrap="square" lIns="0" tIns="0" rIns="0" bIns="0" rtlCol="0" anchor="t"/>
          <a:lstStyle/>
          <a:p>
            <a:pPr algn="ctr" indent="0" marL="0">
              <a:lnSpc>
                <a:spcPts val="604"/>
              </a:lnSpc>
              <a:buNone/>
            </a:pPr>
            <a:r>
              <a:rPr lang="en-US" sz="499" b="1" dirty="0">
                <a:solidFill>
                  <a:srgbClr val="0E2A26">
                    <a:alpha val="99000"/>
                  </a:srgbClr>
                </a:solidFill>
                <a:latin typeface="Inter" pitchFamily="34" charset="0"/>
                <a:ea typeface="Inter" pitchFamily="34" charset="-122"/>
                <a:cs typeface="Inter" pitchFamily="34" charset="-120"/>
              </a:rPr>
              <a:t>15 May</a:t>
            </a:r>
            <a:endParaRPr lang="en-US" sz="499" dirty="0"/>
          </a:p>
        </p:txBody>
      </p:sp>
      <p:sp>
        <p:nvSpPr>
          <p:cNvPr id="87" name="Text 82"/>
          <p:cNvSpPr/>
          <p:nvPr/>
        </p:nvSpPr>
        <p:spPr>
          <a:xfrm>
            <a:off x="7934325" y="3914775"/>
            <a:ext cx="666750" cy="76200"/>
          </a:xfrm>
          <a:prstGeom prst="rect">
            <a:avLst/>
          </a:prstGeom>
          <a:noFill/>
          <a:ln/>
        </p:spPr>
        <p:txBody>
          <a:bodyPr wrap="square" lIns="0" tIns="0" rIns="0" bIns="0" rtlCol="0" anchor="t"/>
          <a:lstStyle/>
          <a:p>
            <a:pPr algn="ctr"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Final thesis</a:t>
            </a:r>
            <a:endParaRPr lang="en-US" sz="463" dirty="0"/>
          </a:p>
        </p:txBody>
      </p:sp>
      <p:sp>
        <p:nvSpPr>
          <p:cNvPr id="88" name="Shape 83"/>
          <p:cNvSpPr/>
          <p:nvPr/>
        </p:nvSpPr>
        <p:spPr>
          <a:xfrm>
            <a:off x="533400" y="4143375"/>
            <a:ext cx="8077200" cy="523875"/>
          </a:xfrm>
          <a:prstGeom prst="roundRect">
            <a:avLst/>
          </a:prstGeom>
          <a:solidFill>
            <a:srgbClr val="0E2A26"/>
          </a:solidFill>
          <a:ln/>
        </p:spPr>
      </p:sp>
      <p:sp>
        <p:nvSpPr>
          <p:cNvPr id="89" name="Text 84"/>
          <p:cNvSpPr/>
          <p:nvPr/>
        </p:nvSpPr>
        <p:spPr>
          <a:xfrm>
            <a:off x="704850" y="4267200"/>
            <a:ext cx="652463"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CRITICAL PATH</a:t>
            </a:r>
            <a:endParaRPr lang="en-US" sz="499" dirty="0"/>
          </a:p>
        </p:txBody>
      </p:sp>
      <p:sp>
        <p:nvSpPr>
          <p:cNvPr id="90" name="Text 85"/>
          <p:cNvSpPr/>
          <p:nvPr/>
        </p:nvSpPr>
        <p:spPr>
          <a:xfrm>
            <a:off x="704850" y="4400550"/>
            <a:ext cx="7715250" cy="247650"/>
          </a:xfrm>
          <a:prstGeom prst="rect">
            <a:avLst/>
          </a:prstGeom>
          <a:noFill/>
          <a:ln/>
        </p:spPr>
        <p:txBody>
          <a:bodyPr wrap="square" lIns="0" tIns="0" rIns="0" bIns="0" rtlCol="0" anchor="t"/>
          <a:lstStyle/>
          <a:p>
            <a:pPr algn="l" indent="0" marL="0">
              <a:lnSpc>
                <a:spcPts val="930"/>
              </a:lnSpc>
              <a:buNone/>
            </a:pPr>
            <a:r>
              <a:rPr lang="en-US" sz="641" dirty="0">
                <a:solidFill>
                  <a:srgbClr val="E8EFEC">
                    <a:alpha val="99000"/>
                  </a:srgbClr>
                </a:solidFill>
                <a:latin typeface="Inter" pitchFamily="34" charset="0"/>
                <a:ea typeface="Inter" pitchFamily="34" charset="-122"/>
                <a:cs typeface="Inter" pitchFamily="34" charset="-120"/>
              </a:rPr>
              <a:t>Data collection (gold) depends on spectrometer access and suppliers. Baseline modelling starts on early batches; 2 to 3 weeks of contingency sit in P10. Fortnightly supervisor meetings; weekly Gantt review.</a:t>
            </a:r>
            <a:endParaRPr lang="en-US" sz="64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619125"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18   ·   RISKS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Risks and mitigation</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834313" y="295275"/>
            <a:ext cx="776288" cy="161925"/>
          </a:xfrm>
          <a:prstGeom prst="roundRect">
            <a:avLst/>
          </a:prstGeom>
          <a:noFill/>
          <a:ln w="5429">
            <a:solidFill>
              <a:srgbClr val="B8893B"/>
            </a:solidFill>
            <a:prstDash val="solid"/>
          </a:ln>
        </p:spPr>
      </p:sp>
      <p:sp>
        <p:nvSpPr>
          <p:cNvPr id="7" name="Text 4"/>
          <p:cNvSpPr/>
          <p:nvPr/>
        </p:nvSpPr>
        <p:spPr>
          <a:xfrm>
            <a:off x="7920038" y="335756"/>
            <a:ext cx="604838"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Schedule/risk 5%</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18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Shape 9"/>
          <p:cNvSpPr/>
          <p:nvPr/>
        </p:nvSpPr>
        <p:spPr>
          <a:xfrm>
            <a:off x="533400" y="1038225"/>
            <a:ext cx="8077200" cy="2886075"/>
          </a:xfrm>
          <a:prstGeom prst="roundRect">
            <a:avLst>
              <a:gd name="adj" fmla="val 5069"/>
            </a:avLst>
          </a:prstGeom>
          <a:solidFill>
            <a:srgbClr val="FFFFFF"/>
          </a:solidFill>
          <a:ln w="4524">
            <a:solidFill>
              <a:srgbClr val="E3DACA"/>
            </a:solidFill>
            <a:prstDash val="solid"/>
          </a:ln>
        </p:spPr>
      </p:sp>
      <p:sp>
        <p:nvSpPr>
          <p:cNvPr id="15" name="Shape 10"/>
          <p:cNvSpPr/>
          <p:nvPr/>
        </p:nvSpPr>
        <p:spPr>
          <a:xfrm>
            <a:off x="533400" y="1038225"/>
            <a:ext cx="8077200" cy="219075"/>
          </a:xfrm>
          <a:prstGeom prst="rect">
            <a:avLst/>
          </a:prstGeom>
          <a:solidFill>
            <a:srgbClr val="EDE6D6"/>
          </a:solidFill>
          <a:ln/>
        </p:spPr>
      </p:sp>
      <p:sp>
        <p:nvSpPr>
          <p:cNvPr id="16" name="Text 11"/>
          <p:cNvSpPr/>
          <p:nvPr/>
        </p:nvSpPr>
        <p:spPr>
          <a:xfrm>
            <a:off x="647700" y="1104900"/>
            <a:ext cx="234315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RISK</a:t>
            </a:r>
            <a:endParaRPr lang="en-US" sz="463" dirty="0"/>
          </a:p>
        </p:txBody>
      </p:sp>
      <p:sp>
        <p:nvSpPr>
          <p:cNvPr id="17" name="Text 12"/>
          <p:cNvSpPr/>
          <p:nvPr/>
        </p:nvSpPr>
        <p:spPr>
          <a:xfrm>
            <a:off x="3124200" y="1104900"/>
            <a:ext cx="67627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LIKELIHOOD</a:t>
            </a:r>
            <a:endParaRPr lang="en-US" sz="463" dirty="0"/>
          </a:p>
        </p:txBody>
      </p:sp>
      <p:sp>
        <p:nvSpPr>
          <p:cNvPr id="18" name="Text 13"/>
          <p:cNvSpPr/>
          <p:nvPr/>
        </p:nvSpPr>
        <p:spPr>
          <a:xfrm>
            <a:off x="3933825" y="1104900"/>
            <a:ext cx="581025"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IMPACT</a:t>
            </a:r>
            <a:endParaRPr lang="en-US" sz="463" dirty="0"/>
          </a:p>
        </p:txBody>
      </p:sp>
      <p:sp>
        <p:nvSpPr>
          <p:cNvPr id="19" name="Text 14"/>
          <p:cNvSpPr/>
          <p:nvPr/>
        </p:nvSpPr>
        <p:spPr>
          <a:xfrm>
            <a:off x="4648200" y="1104900"/>
            <a:ext cx="3943350" cy="85725"/>
          </a:xfrm>
          <a:prstGeom prst="rect">
            <a:avLst/>
          </a:prstGeom>
          <a:noFill/>
          <a:ln/>
        </p:spPr>
        <p:txBody>
          <a:bodyPr wrap="square" lIns="0" tIns="0" rIns="0" bIns="0" rtlCol="0" anchor="t"/>
          <a:lstStyle/>
          <a:p>
            <a:pPr algn="l" indent="0" marL="0">
              <a:lnSpc>
                <a:spcPts val="625"/>
              </a:lnSpc>
              <a:buNone/>
            </a:pPr>
            <a:r>
              <a:rPr lang="en-US" sz="463" b="1" spc="65" kern="0" dirty="0">
                <a:solidFill>
                  <a:srgbClr val="B8893B">
                    <a:alpha val="99000"/>
                  </a:srgbClr>
                </a:solidFill>
                <a:latin typeface="Inter" pitchFamily="34" charset="0"/>
                <a:ea typeface="Inter" pitchFamily="34" charset="-122"/>
                <a:cs typeface="Inter" pitchFamily="34" charset="-120"/>
              </a:rPr>
              <a:t>RESPONSE</a:t>
            </a:r>
            <a:endParaRPr lang="en-US" sz="463" dirty="0"/>
          </a:p>
        </p:txBody>
      </p:sp>
      <p:sp>
        <p:nvSpPr>
          <p:cNvPr id="20" name="Shape 15"/>
          <p:cNvSpPr/>
          <p:nvPr/>
        </p:nvSpPr>
        <p:spPr>
          <a:xfrm>
            <a:off x="533400" y="1257300"/>
            <a:ext cx="8077200" cy="381000"/>
          </a:xfrm>
          <a:prstGeom prst="rect">
            <a:avLst/>
          </a:prstGeom>
          <a:solidFill>
            <a:srgbClr val="FBF9F4"/>
          </a:solidFill>
          <a:ln/>
        </p:spPr>
      </p:sp>
      <p:sp>
        <p:nvSpPr>
          <p:cNvPr id="21" name="Text 16"/>
          <p:cNvSpPr/>
          <p:nvPr/>
        </p:nvSpPr>
        <p:spPr>
          <a:xfrm>
            <a:off x="647700" y="1376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Spectrometer unavailable</a:t>
            </a:r>
            <a:endParaRPr lang="en-US" sz="748" dirty="0"/>
          </a:p>
        </p:txBody>
      </p:sp>
      <p:sp>
        <p:nvSpPr>
          <p:cNvPr id="22" name="Text 17"/>
          <p:cNvSpPr/>
          <p:nvPr/>
        </p:nvSpPr>
        <p:spPr>
          <a:xfrm>
            <a:off x="4648200" y="1376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Confirm access by mid-November; benchtop fallback</a:t>
            </a:r>
            <a:endParaRPr lang="en-US" sz="748" dirty="0"/>
          </a:p>
        </p:txBody>
      </p:sp>
      <p:sp>
        <p:nvSpPr>
          <p:cNvPr id="23" name="Shape 18"/>
          <p:cNvSpPr/>
          <p:nvPr/>
        </p:nvSpPr>
        <p:spPr>
          <a:xfrm>
            <a:off x="533400" y="1257300"/>
            <a:ext cx="8077200" cy="4763"/>
          </a:xfrm>
          <a:prstGeom prst="rect">
            <a:avLst/>
          </a:prstGeom>
          <a:solidFill>
            <a:srgbClr val="E3DACA"/>
          </a:solidFill>
          <a:ln/>
        </p:spPr>
      </p:sp>
      <p:sp>
        <p:nvSpPr>
          <p:cNvPr id="24" name="Shape 19"/>
          <p:cNvSpPr/>
          <p:nvPr/>
        </p:nvSpPr>
        <p:spPr>
          <a:xfrm>
            <a:off x="3124200" y="1376363"/>
            <a:ext cx="390525" cy="142875"/>
          </a:xfrm>
          <a:prstGeom prst="roundRect">
            <a:avLst/>
          </a:prstGeom>
          <a:solidFill>
            <a:srgbClr val="F6E7C8"/>
          </a:solidFill>
          <a:ln/>
        </p:spPr>
      </p:sp>
      <p:sp>
        <p:nvSpPr>
          <p:cNvPr id="25" name="Text 20"/>
          <p:cNvSpPr/>
          <p:nvPr/>
        </p:nvSpPr>
        <p:spPr>
          <a:xfrm>
            <a:off x="3190875" y="1409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26" name="Shape 21"/>
          <p:cNvSpPr/>
          <p:nvPr/>
        </p:nvSpPr>
        <p:spPr>
          <a:xfrm>
            <a:off x="3933825" y="1376363"/>
            <a:ext cx="280988" cy="142875"/>
          </a:xfrm>
          <a:prstGeom prst="roundRect">
            <a:avLst/>
          </a:prstGeom>
          <a:solidFill>
            <a:srgbClr val="F2DED8"/>
          </a:solidFill>
          <a:ln/>
        </p:spPr>
      </p:sp>
      <p:sp>
        <p:nvSpPr>
          <p:cNvPr id="27" name="Text 22"/>
          <p:cNvSpPr/>
          <p:nvPr/>
        </p:nvSpPr>
        <p:spPr>
          <a:xfrm>
            <a:off x="4000500" y="1409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28" name="Shape 23"/>
          <p:cNvSpPr/>
          <p:nvPr/>
        </p:nvSpPr>
        <p:spPr>
          <a:xfrm>
            <a:off x="533400" y="1638300"/>
            <a:ext cx="8077200" cy="381000"/>
          </a:xfrm>
          <a:prstGeom prst="rect">
            <a:avLst/>
          </a:prstGeom>
          <a:solidFill>
            <a:srgbClr val="FFFFFF"/>
          </a:solidFill>
          <a:ln/>
        </p:spPr>
      </p:sp>
      <p:sp>
        <p:nvSpPr>
          <p:cNvPr id="29" name="Text 24"/>
          <p:cNvSpPr/>
          <p:nvPr/>
        </p:nvSpPr>
        <p:spPr>
          <a:xfrm>
            <a:off x="647700" y="1757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Too few samples or narrow moisture range</a:t>
            </a:r>
            <a:endParaRPr lang="en-US" sz="748" dirty="0"/>
          </a:p>
        </p:txBody>
      </p:sp>
      <p:sp>
        <p:nvSpPr>
          <p:cNvPr id="30" name="Text 25"/>
          <p:cNvSpPr/>
          <p:nvPr/>
        </p:nvSpPr>
        <p:spPr>
          <a:xfrm>
            <a:off x="4648200" y="1757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Several suppliers and conditioning; accept 80 samples; drop the neural network</a:t>
            </a:r>
            <a:endParaRPr lang="en-US" sz="748" dirty="0"/>
          </a:p>
        </p:txBody>
      </p:sp>
      <p:sp>
        <p:nvSpPr>
          <p:cNvPr id="31" name="Shape 26"/>
          <p:cNvSpPr/>
          <p:nvPr/>
        </p:nvSpPr>
        <p:spPr>
          <a:xfrm>
            <a:off x="533400" y="1638300"/>
            <a:ext cx="8077200" cy="4763"/>
          </a:xfrm>
          <a:prstGeom prst="rect">
            <a:avLst/>
          </a:prstGeom>
          <a:solidFill>
            <a:srgbClr val="E3DACA"/>
          </a:solidFill>
          <a:ln/>
        </p:spPr>
      </p:sp>
      <p:sp>
        <p:nvSpPr>
          <p:cNvPr id="32" name="Shape 27"/>
          <p:cNvSpPr/>
          <p:nvPr/>
        </p:nvSpPr>
        <p:spPr>
          <a:xfrm>
            <a:off x="3124200" y="1757363"/>
            <a:ext cx="390525" cy="142875"/>
          </a:xfrm>
          <a:prstGeom prst="roundRect">
            <a:avLst/>
          </a:prstGeom>
          <a:solidFill>
            <a:srgbClr val="F6E7C8"/>
          </a:solidFill>
          <a:ln/>
        </p:spPr>
      </p:sp>
      <p:sp>
        <p:nvSpPr>
          <p:cNvPr id="33" name="Text 28"/>
          <p:cNvSpPr/>
          <p:nvPr/>
        </p:nvSpPr>
        <p:spPr>
          <a:xfrm>
            <a:off x="3190875" y="1790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34" name="Shape 29"/>
          <p:cNvSpPr/>
          <p:nvPr/>
        </p:nvSpPr>
        <p:spPr>
          <a:xfrm>
            <a:off x="3933825" y="1757363"/>
            <a:ext cx="280988" cy="142875"/>
          </a:xfrm>
          <a:prstGeom prst="roundRect">
            <a:avLst/>
          </a:prstGeom>
          <a:solidFill>
            <a:srgbClr val="F2DED8"/>
          </a:solidFill>
          <a:ln/>
        </p:spPr>
      </p:sp>
      <p:sp>
        <p:nvSpPr>
          <p:cNvPr id="35" name="Text 30"/>
          <p:cNvSpPr/>
          <p:nvPr/>
        </p:nvSpPr>
        <p:spPr>
          <a:xfrm>
            <a:off x="4000500" y="1790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36" name="Shape 31"/>
          <p:cNvSpPr/>
          <p:nvPr/>
        </p:nvSpPr>
        <p:spPr>
          <a:xfrm>
            <a:off x="533400" y="2019300"/>
            <a:ext cx="8077200" cy="381000"/>
          </a:xfrm>
          <a:prstGeom prst="rect">
            <a:avLst/>
          </a:prstGeom>
          <a:solidFill>
            <a:srgbClr val="FBF9F4"/>
          </a:solidFill>
          <a:ln/>
        </p:spPr>
      </p:sp>
      <p:sp>
        <p:nvSpPr>
          <p:cNvPr id="37" name="Text 32"/>
          <p:cNvSpPr/>
          <p:nvPr/>
        </p:nvSpPr>
        <p:spPr>
          <a:xfrm>
            <a:off x="647700" y="2138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Inconsistent oven reference values</a:t>
            </a:r>
            <a:endParaRPr lang="en-US" sz="748" dirty="0"/>
          </a:p>
        </p:txBody>
      </p:sp>
      <p:sp>
        <p:nvSpPr>
          <p:cNvPr id="38" name="Text 33"/>
          <p:cNvSpPr/>
          <p:nvPr/>
        </p:nvSpPr>
        <p:spPr>
          <a:xfrm>
            <a:off x="4648200" y="2138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Written SOP, pilot and triplicates; re-run if SD &gt; 0.2%</a:t>
            </a:r>
            <a:endParaRPr lang="en-US" sz="748" dirty="0"/>
          </a:p>
        </p:txBody>
      </p:sp>
      <p:sp>
        <p:nvSpPr>
          <p:cNvPr id="39" name="Shape 34"/>
          <p:cNvSpPr/>
          <p:nvPr/>
        </p:nvSpPr>
        <p:spPr>
          <a:xfrm>
            <a:off x="533400" y="2019300"/>
            <a:ext cx="8077200" cy="4763"/>
          </a:xfrm>
          <a:prstGeom prst="rect">
            <a:avLst/>
          </a:prstGeom>
          <a:solidFill>
            <a:srgbClr val="E3DACA"/>
          </a:solidFill>
          <a:ln/>
        </p:spPr>
      </p:sp>
      <p:sp>
        <p:nvSpPr>
          <p:cNvPr id="40" name="Shape 35"/>
          <p:cNvSpPr/>
          <p:nvPr/>
        </p:nvSpPr>
        <p:spPr>
          <a:xfrm>
            <a:off x="3124200" y="2138363"/>
            <a:ext cx="390525" cy="142875"/>
          </a:xfrm>
          <a:prstGeom prst="roundRect">
            <a:avLst/>
          </a:prstGeom>
          <a:solidFill>
            <a:srgbClr val="F6E7C8"/>
          </a:solidFill>
          <a:ln/>
        </p:spPr>
      </p:sp>
      <p:sp>
        <p:nvSpPr>
          <p:cNvPr id="41" name="Text 36"/>
          <p:cNvSpPr/>
          <p:nvPr/>
        </p:nvSpPr>
        <p:spPr>
          <a:xfrm>
            <a:off x="3190875" y="2171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42" name="Shape 37"/>
          <p:cNvSpPr/>
          <p:nvPr/>
        </p:nvSpPr>
        <p:spPr>
          <a:xfrm>
            <a:off x="3933825" y="2138363"/>
            <a:ext cx="280988" cy="142875"/>
          </a:xfrm>
          <a:prstGeom prst="roundRect">
            <a:avLst/>
          </a:prstGeom>
          <a:solidFill>
            <a:srgbClr val="F2DED8"/>
          </a:solidFill>
          <a:ln/>
        </p:spPr>
      </p:sp>
      <p:sp>
        <p:nvSpPr>
          <p:cNvPr id="43" name="Text 38"/>
          <p:cNvSpPr/>
          <p:nvPr/>
        </p:nvSpPr>
        <p:spPr>
          <a:xfrm>
            <a:off x="4000500" y="2171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44" name="Shape 39"/>
          <p:cNvSpPr/>
          <p:nvPr/>
        </p:nvSpPr>
        <p:spPr>
          <a:xfrm>
            <a:off x="533400" y="2400300"/>
            <a:ext cx="8077200" cy="381000"/>
          </a:xfrm>
          <a:prstGeom prst="rect">
            <a:avLst/>
          </a:prstGeom>
          <a:solidFill>
            <a:srgbClr val="FFFFFF"/>
          </a:solidFill>
          <a:ln/>
        </p:spPr>
      </p:sp>
      <p:sp>
        <p:nvSpPr>
          <p:cNvPr id="45" name="Text 40"/>
          <p:cNvSpPr/>
          <p:nvPr/>
        </p:nvSpPr>
        <p:spPr>
          <a:xfrm>
            <a:off x="647700" y="2519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Data leakage inflating results</a:t>
            </a:r>
            <a:endParaRPr lang="en-US" sz="748" dirty="0"/>
          </a:p>
        </p:txBody>
      </p:sp>
      <p:sp>
        <p:nvSpPr>
          <p:cNvPr id="46" name="Text 41"/>
          <p:cNvSpPr/>
          <p:nvPr/>
        </p:nvSpPr>
        <p:spPr>
          <a:xfrm>
            <a:off x="4648200" y="2519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Hashed locked test set; scikit-learn pipelines</a:t>
            </a:r>
            <a:endParaRPr lang="en-US" sz="748" dirty="0"/>
          </a:p>
        </p:txBody>
      </p:sp>
      <p:sp>
        <p:nvSpPr>
          <p:cNvPr id="47" name="Shape 42"/>
          <p:cNvSpPr/>
          <p:nvPr/>
        </p:nvSpPr>
        <p:spPr>
          <a:xfrm>
            <a:off x="533400" y="2400300"/>
            <a:ext cx="8077200" cy="4763"/>
          </a:xfrm>
          <a:prstGeom prst="rect">
            <a:avLst/>
          </a:prstGeom>
          <a:solidFill>
            <a:srgbClr val="E3DACA"/>
          </a:solidFill>
          <a:ln/>
        </p:spPr>
      </p:sp>
      <p:sp>
        <p:nvSpPr>
          <p:cNvPr id="48" name="Shape 43"/>
          <p:cNvSpPr/>
          <p:nvPr/>
        </p:nvSpPr>
        <p:spPr>
          <a:xfrm>
            <a:off x="3124200" y="2519363"/>
            <a:ext cx="390525" cy="142875"/>
          </a:xfrm>
          <a:prstGeom prst="roundRect">
            <a:avLst/>
          </a:prstGeom>
          <a:solidFill>
            <a:srgbClr val="F6E7C8"/>
          </a:solidFill>
          <a:ln/>
        </p:spPr>
      </p:sp>
      <p:sp>
        <p:nvSpPr>
          <p:cNvPr id="49" name="Text 44"/>
          <p:cNvSpPr/>
          <p:nvPr/>
        </p:nvSpPr>
        <p:spPr>
          <a:xfrm>
            <a:off x="3190875" y="2552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50" name="Shape 45"/>
          <p:cNvSpPr/>
          <p:nvPr/>
        </p:nvSpPr>
        <p:spPr>
          <a:xfrm>
            <a:off x="3933825" y="2519363"/>
            <a:ext cx="280988" cy="142875"/>
          </a:xfrm>
          <a:prstGeom prst="roundRect">
            <a:avLst/>
          </a:prstGeom>
          <a:solidFill>
            <a:srgbClr val="F2DED8"/>
          </a:solidFill>
          <a:ln/>
        </p:spPr>
      </p:sp>
      <p:sp>
        <p:nvSpPr>
          <p:cNvPr id="51" name="Text 46"/>
          <p:cNvSpPr/>
          <p:nvPr/>
        </p:nvSpPr>
        <p:spPr>
          <a:xfrm>
            <a:off x="4000500" y="2552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52" name="Shape 47"/>
          <p:cNvSpPr/>
          <p:nvPr/>
        </p:nvSpPr>
        <p:spPr>
          <a:xfrm>
            <a:off x="533400" y="2781300"/>
            <a:ext cx="8077200" cy="381000"/>
          </a:xfrm>
          <a:prstGeom prst="rect">
            <a:avLst/>
          </a:prstGeom>
          <a:solidFill>
            <a:srgbClr val="FBF9F4"/>
          </a:solidFill>
          <a:ln/>
        </p:spPr>
      </p:sp>
      <p:sp>
        <p:nvSpPr>
          <p:cNvPr id="53" name="Text 48"/>
          <p:cNvSpPr/>
          <p:nvPr/>
        </p:nvSpPr>
        <p:spPr>
          <a:xfrm>
            <a:off x="647700" y="2900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No partner lab for other parameters</a:t>
            </a:r>
            <a:endParaRPr lang="en-US" sz="748" dirty="0"/>
          </a:p>
        </p:txBody>
      </p:sp>
      <p:sp>
        <p:nvSpPr>
          <p:cNvPr id="54" name="Text 49"/>
          <p:cNvSpPr/>
          <p:nvPr/>
        </p:nvSpPr>
        <p:spPr>
          <a:xfrm>
            <a:off x="4648200" y="2900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Early outreach; evidence-only route already planned</a:t>
            </a:r>
            <a:endParaRPr lang="en-US" sz="748" dirty="0"/>
          </a:p>
        </p:txBody>
      </p:sp>
      <p:sp>
        <p:nvSpPr>
          <p:cNvPr id="55" name="Shape 50"/>
          <p:cNvSpPr/>
          <p:nvPr/>
        </p:nvSpPr>
        <p:spPr>
          <a:xfrm>
            <a:off x="533400" y="2781300"/>
            <a:ext cx="8077200" cy="4763"/>
          </a:xfrm>
          <a:prstGeom prst="rect">
            <a:avLst/>
          </a:prstGeom>
          <a:solidFill>
            <a:srgbClr val="E3DACA"/>
          </a:solidFill>
          <a:ln/>
        </p:spPr>
      </p:sp>
      <p:sp>
        <p:nvSpPr>
          <p:cNvPr id="56" name="Shape 51"/>
          <p:cNvSpPr/>
          <p:nvPr/>
        </p:nvSpPr>
        <p:spPr>
          <a:xfrm>
            <a:off x="3124200" y="2900363"/>
            <a:ext cx="280988" cy="142875"/>
          </a:xfrm>
          <a:prstGeom prst="roundRect">
            <a:avLst/>
          </a:prstGeom>
          <a:solidFill>
            <a:srgbClr val="F2DED8"/>
          </a:solidFill>
          <a:ln/>
        </p:spPr>
      </p:sp>
      <p:sp>
        <p:nvSpPr>
          <p:cNvPr id="57" name="Text 52"/>
          <p:cNvSpPr/>
          <p:nvPr/>
        </p:nvSpPr>
        <p:spPr>
          <a:xfrm>
            <a:off x="3190875" y="2933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58" name="Shape 53"/>
          <p:cNvSpPr/>
          <p:nvPr/>
        </p:nvSpPr>
        <p:spPr>
          <a:xfrm>
            <a:off x="3933825" y="2900363"/>
            <a:ext cx="390525" cy="142875"/>
          </a:xfrm>
          <a:prstGeom prst="roundRect">
            <a:avLst/>
          </a:prstGeom>
          <a:solidFill>
            <a:srgbClr val="F6E7C8"/>
          </a:solidFill>
          <a:ln/>
        </p:spPr>
      </p:sp>
      <p:sp>
        <p:nvSpPr>
          <p:cNvPr id="59" name="Text 54"/>
          <p:cNvSpPr/>
          <p:nvPr/>
        </p:nvSpPr>
        <p:spPr>
          <a:xfrm>
            <a:off x="4000500" y="2933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60" name="Shape 55"/>
          <p:cNvSpPr/>
          <p:nvPr/>
        </p:nvSpPr>
        <p:spPr>
          <a:xfrm>
            <a:off x="533400" y="3162300"/>
            <a:ext cx="8077200" cy="381000"/>
          </a:xfrm>
          <a:prstGeom prst="rect">
            <a:avLst/>
          </a:prstGeom>
          <a:solidFill>
            <a:srgbClr val="FFFFFF"/>
          </a:solidFill>
          <a:ln/>
        </p:spPr>
      </p:sp>
      <p:sp>
        <p:nvSpPr>
          <p:cNvPr id="61" name="Text 56"/>
          <p:cNvSpPr/>
          <p:nvPr/>
        </p:nvSpPr>
        <p:spPr>
          <a:xfrm>
            <a:off x="647700" y="3281363"/>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Scope creep to all parameters</a:t>
            </a:r>
            <a:endParaRPr lang="en-US" sz="748" dirty="0"/>
          </a:p>
        </p:txBody>
      </p:sp>
      <p:sp>
        <p:nvSpPr>
          <p:cNvPr id="62" name="Text 57"/>
          <p:cNvSpPr/>
          <p:nvPr/>
        </p:nvSpPr>
        <p:spPr>
          <a:xfrm>
            <a:off x="4648200" y="3281363"/>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MoSCoW; moisture-first agreed with supervisor</a:t>
            </a:r>
            <a:endParaRPr lang="en-US" sz="748" dirty="0"/>
          </a:p>
        </p:txBody>
      </p:sp>
      <p:sp>
        <p:nvSpPr>
          <p:cNvPr id="63" name="Shape 58"/>
          <p:cNvSpPr/>
          <p:nvPr/>
        </p:nvSpPr>
        <p:spPr>
          <a:xfrm>
            <a:off x="533400" y="3162300"/>
            <a:ext cx="8077200" cy="4763"/>
          </a:xfrm>
          <a:prstGeom prst="rect">
            <a:avLst/>
          </a:prstGeom>
          <a:solidFill>
            <a:srgbClr val="E3DACA"/>
          </a:solidFill>
          <a:ln/>
        </p:spPr>
      </p:sp>
      <p:sp>
        <p:nvSpPr>
          <p:cNvPr id="64" name="Shape 59"/>
          <p:cNvSpPr/>
          <p:nvPr/>
        </p:nvSpPr>
        <p:spPr>
          <a:xfrm>
            <a:off x="3124200" y="3281363"/>
            <a:ext cx="280988" cy="142875"/>
          </a:xfrm>
          <a:prstGeom prst="roundRect">
            <a:avLst/>
          </a:prstGeom>
          <a:solidFill>
            <a:srgbClr val="F2DED8"/>
          </a:solidFill>
          <a:ln/>
        </p:spPr>
      </p:sp>
      <p:sp>
        <p:nvSpPr>
          <p:cNvPr id="65" name="Text 60"/>
          <p:cNvSpPr/>
          <p:nvPr/>
        </p:nvSpPr>
        <p:spPr>
          <a:xfrm>
            <a:off x="3190875" y="3314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66" name="Shape 61"/>
          <p:cNvSpPr/>
          <p:nvPr/>
        </p:nvSpPr>
        <p:spPr>
          <a:xfrm>
            <a:off x="3933825" y="3281363"/>
            <a:ext cx="280988" cy="142875"/>
          </a:xfrm>
          <a:prstGeom prst="roundRect">
            <a:avLst/>
          </a:prstGeom>
          <a:solidFill>
            <a:srgbClr val="F2DED8"/>
          </a:solidFill>
          <a:ln/>
        </p:spPr>
      </p:sp>
      <p:sp>
        <p:nvSpPr>
          <p:cNvPr id="67" name="Text 62"/>
          <p:cNvSpPr/>
          <p:nvPr/>
        </p:nvSpPr>
        <p:spPr>
          <a:xfrm>
            <a:off x="4000500" y="3314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68" name="Shape 63"/>
          <p:cNvSpPr/>
          <p:nvPr/>
        </p:nvSpPr>
        <p:spPr>
          <a:xfrm>
            <a:off x="533400" y="3543300"/>
            <a:ext cx="8077200" cy="381000"/>
          </a:xfrm>
          <a:prstGeom prst="rect">
            <a:avLst/>
          </a:prstGeom>
          <a:solidFill>
            <a:srgbClr val="FBF9F4"/>
          </a:solidFill>
          <a:ln/>
        </p:spPr>
      </p:sp>
      <p:sp>
        <p:nvSpPr>
          <p:cNvPr id="69" name="Text 64"/>
          <p:cNvSpPr/>
          <p:nvPr/>
        </p:nvSpPr>
        <p:spPr>
          <a:xfrm>
            <a:off x="647700" y="3662362"/>
            <a:ext cx="2343150" cy="133350"/>
          </a:xfrm>
          <a:prstGeom prst="rect">
            <a:avLst/>
          </a:prstGeom>
          <a:noFill/>
          <a:ln/>
        </p:spPr>
        <p:txBody>
          <a:bodyPr wrap="square" lIns="0" tIns="0" rIns="0" bIns="0" rtlCol="0" anchor="t"/>
          <a:lstStyle/>
          <a:p>
            <a:pPr algn="l" indent="0" marL="0">
              <a:lnSpc>
                <a:spcPts val="1010"/>
              </a:lnSpc>
              <a:buNone/>
            </a:pPr>
            <a:r>
              <a:rPr lang="en-US" sz="748" b="1" dirty="0">
                <a:solidFill>
                  <a:srgbClr val="0E2A26">
                    <a:alpha val="99000"/>
                  </a:srgbClr>
                </a:solidFill>
                <a:latin typeface="Inter" pitchFamily="34" charset="0"/>
                <a:ea typeface="Inter" pitchFamily="34" charset="-122"/>
                <a:cs typeface="Inter" pitchFamily="34" charset="-120"/>
              </a:rPr>
              <a:t>Field conditions reduce accuracy</a:t>
            </a:r>
            <a:endParaRPr lang="en-US" sz="748" dirty="0"/>
          </a:p>
        </p:txBody>
      </p:sp>
      <p:sp>
        <p:nvSpPr>
          <p:cNvPr id="70" name="Text 65"/>
          <p:cNvSpPr/>
          <p:nvPr/>
        </p:nvSpPr>
        <p:spPr>
          <a:xfrm>
            <a:off x="4648200" y="3662362"/>
            <a:ext cx="3943350" cy="133350"/>
          </a:xfrm>
          <a:prstGeom prst="rect">
            <a:avLst/>
          </a:prstGeom>
          <a:noFill/>
          <a:ln/>
        </p:spPr>
        <p:txBody>
          <a:bodyPr wrap="square" lIns="0" tIns="0" rIns="0" bIns="0" rtlCol="0" anchor="t"/>
          <a:lstStyle/>
          <a:p>
            <a:pPr algn="l" indent="0" marL="0">
              <a:lnSpc>
                <a:spcPts val="1010"/>
              </a:lnSpc>
              <a:buNone/>
            </a:pPr>
            <a:r>
              <a:rPr lang="en-US" sz="748" dirty="0">
                <a:solidFill>
                  <a:srgbClr val="23302D">
                    <a:alpha val="99000"/>
                  </a:srgbClr>
                </a:solidFill>
                <a:latin typeface="Inter" pitchFamily="34" charset="0"/>
                <a:ea typeface="Inter" pitchFamily="34" charset="-122"/>
                <a:cs typeface="Inter" pitchFamily="34" charset="-120"/>
              </a:rPr>
              <a:t>Log conditions; report as a feasibility finding</a:t>
            </a:r>
            <a:endParaRPr lang="en-US" sz="748" dirty="0"/>
          </a:p>
        </p:txBody>
      </p:sp>
      <p:sp>
        <p:nvSpPr>
          <p:cNvPr id="71" name="Shape 66"/>
          <p:cNvSpPr/>
          <p:nvPr/>
        </p:nvSpPr>
        <p:spPr>
          <a:xfrm>
            <a:off x="533400" y="3543300"/>
            <a:ext cx="8077200" cy="4763"/>
          </a:xfrm>
          <a:prstGeom prst="rect">
            <a:avLst/>
          </a:prstGeom>
          <a:solidFill>
            <a:srgbClr val="E3DACA"/>
          </a:solidFill>
          <a:ln/>
        </p:spPr>
      </p:sp>
      <p:sp>
        <p:nvSpPr>
          <p:cNvPr id="72" name="Shape 67"/>
          <p:cNvSpPr/>
          <p:nvPr/>
        </p:nvSpPr>
        <p:spPr>
          <a:xfrm>
            <a:off x="3124200" y="3662362"/>
            <a:ext cx="280988" cy="142875"/>
          </a:xfrm>
          <a:prstGeom prst="roundRect">
            <a:avLst/>
          </a:prstGeom>
          <a:solidFill>
            <a:srgbClr val="F2DED8"/>
          </a:solidFill>
          <a:ln/>
        </p:spPr>
      </p:sp>
      <p:sp>
        <p:nvSpPr>
          <p:cNvPr id="73" name="Text 68"/>
          <p:cNvSpPr/>
          <p:nvPr/>
        </p:nvSpPr>
        <p:spPr>
          <a:xfrm>
            <a:off x="3190875" y="3695700"/>
            <a:ext cx="147638"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9A3B2E">
                    <a:alpha val="99000"/>
                  </a:srgbClr>
                </a:solidFill>
                <a:latin typeface="Inter" pitchFamily="34" charset="0"/>
                <a:ea typeface="Inter" pitchFamily="34" charset="-122"/>
                <a:cs typeface="Inter" pitchFamily="34" charset="-120"/>
              </a:rPr>
              <a:t>High</a:t>
            </a:r>
            <a:endParaRPr lang="en-US" sz="463" dirty="0"/>
          </a:p>
        </p:txBody>
      </p:sp>
      <p:sp>
        <p:nvSpPr>
          <p:cNvPr id="74" name="Shape 69"/>
          <p:cNvSpPr/>
          <p:nvPr/>
        </p:nvSpPr>
        <p:spPr>
          <a:xfrm>
            <a:off x="3933825" y="3662362"/>
            <a:ext cx="390525" cy="142875"/>
          </a:xfrm>
          <a:prstGeom prst="roundRect">
            <a:avLst/>
          </a:prstGeom>
          <a:solidFill>
            <a:srgbClr val="F6E7C8"/>
          </a:solidFill>
          <a:ln/>
        </p:spPr>
      </p:sp>
      <p:sp>
        <p:nvSpPr>
          <p:cNvPr id="75" name="Text 70"/>
          <p:cNvSpPr/>
          <p:nvPr/>
        </p:nvSpPr>
        <p:spPr>
          <a:xfrm>
            <a:off x="4000500" y="3695700"/>
            <a:ext cx="257175" cy="76200"/>
          </a:xfrm>
          <a:prstGeom prst="rect">
            <a:avLst/>
          </a:prstGeom>
          <a:noFill/>
          <a:ln/>
        </p:spPr>
        <p:txBody>
          <a:bodyPr wrap="square" lIns="0" tIns="0" rIns="0" bIns="0" rtlCol="0" anchor="t"/>
          <a:lstStyle/>
          <a:p>
            <a:pPr algn="l" indent="0" marL="0">
              <a:lnSpc>
                <a:spcPts val="560"/>
              </a:lnSpc>
              <a:buNone/>
            </a:pPr>
            <a:r>
              <a:rPr lang="en-US" sz="463" b="1" spc="19" kern="0" dirty="0">
                <a:solidFill>
                  <a:srgbClr val="8C6A2C">
                    <a:alpha val="99000"/>
                  </a:srgbClr>
                </a:solidFill>
                <a:latin typeface="Inter" pitchFamily="34" charset="0"/>
                <a:ea typeface="Inter" pitchFamily="34" charset="-122"/>
                <a:cs typeface="Inter" pitchFamily="34" charset="-120"/>
              </a:rPr>
              <a:t>Medium</a:t>
            </a:r>
            <a:endParaRPr lang="en-US" sz="463" dirty="0"/>
          </a:p>
        </p:txBody>
      </p:sp>
      <p:sp>
        <p:nvSpPr>
          <p:cNvPr id="76" name="Text 71"/>
          <p:cNvSpPr/>
          <p:nvPr/>
        </p:nvSpPr>
        <p:spPr>
          <a:xfrm>
            <a:off x="666750" y="4505325"/>
            <a:ext cx="7943850" cy="161925"/>
          </a:xfrm>
          <a:prstGeom prst="rect">
            <a:avLst/>
          </a:prstGeom>
          <a:noFill/>
          <a:ln/>
        </p:spPr>
        <p:txBody>
          <a:bodyPr wrap="square" lIns="0" tIns="0" rIns="0" bIns="0" rtlCol="0" anchor="t"/>
          <a:lstStyle/>
          <a:p>
            <a:pPr algn="l" indent="0" marL="0">
              <a:lnSpc>
                <a:spcPts val="1229"/>
              </a:lnSpc>
              <a:buNone/>
            </a:pPr>
            <a:r>
              <a:rPr lang="en-US" sz="891" spc="-4" kern="0" dirty="0">
                <a:solidFill>
                  <a:srgbClr val="0E2A26">
                    <a:alpha val="99000"/>
                  </a:srgbClr>
                </a:solidFill>
                <a:latin typeface="Inter" pitchFamily="34" charset="0"/>
                <a:ea typeface="Inter" pitchFamily="34" charset="-122"/>
                <a:cs typeface="Inter" pitchFamily="34" charset="-120"/>
              </a:rPr>
              <a:t>Weak or negative results, for example AI not beating PLSR, are reported as findings rather than hidden.</a:t>
            </a:r>
            <a:endParaRPr lang="en-US" sz="891" dirty="0"/>
          </a:p>
        </p:txBody>
      </p:sp>
      <p:sp>
        <p:nvSpPr>
          <p:cNvPr id="77" name="Shape 72"/>
          <p:cNvSpPr/>
          <p:nvPr/>
        </p:nvSpPr>
        <p:spPr>
          <a:xfrm>
            <a:off x="533400" y="4524375"/>
            <a:ext cx="19050" cy="133350"/>
          </a:xfrm>
          <a:prstGeom prst="rect">
            <a:avLst/>
          </a:prstGeom>
          <a:solidFill>
            <a:srgbClr val="B8893B"/>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95250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19   ·   REFERENCES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References (1 of 2)</a:t>
            </a:r>
            <a:endParaRPr lang="en-US" sz="1924" dirty="0"/>
          </a:p>
        </p:txBody>
      </p:sp>
      <p:sp>
        <p:nvSpPr>
          <p:cNvPr id="5" name="Shape 2"/>
          <p:cNvSpPr/>
          <p:nvPr/>
        </p:nvSpPr>
        <p:spPr>
          <a:xfrm>
            <a:off x="533400" y="809625"/>
            <a:ext cx="266700" cy="14288"/>
          </a:xfrm>
          <a:prstGeom prst="rect">
            <a:avLst/>
          </a:prstGeom>
          <a:solidFill>
            <a:srgbClr val="B8893B"/>
          </a:solidFill>
          <a:ln/>
        </p:spPr>
      </p:sp>
      <p:sp>
        <p:nvSpPr>
          <p:cNvPr id="6" name="Shape 3"/>
          <p:cNvSpPr/>
          <p:nvPr/>
        </p:nvSpPr>
        <p:spPr>
          <a:xfrm>
            <a:off x="7924800" y="295275"/>
            <a:ext cx="685800" cy="161925"/>
          </a:xfrm>
          <a:prstGeom prst="roundRect">
            <a:avLst/>
          </a:prstGeom>
          <a:noFill/>
          <a:ln w="5429">
            <a:solidFill>
              <a:srgbClr val="B8893B"/>
            </a:solidFill>
            <a:prstDash val="solid"/>
          </a:ln>
        </p:spPr>
      </p:sp>
      <p:sp>
        <p:nvSpPr>
          <p:cNvPr id="7" name="Text 4"/>
          <p:cNvSpPr/>
          <p:nvPr/>
        </p:nvSpPr>
        <p:spPr>
          <a:xfrm>
            <a:off x="8010525" y="335756"/>
            <a:ext cx="514350"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References 5%</a:t>
            </a:r>
            <a:endParaRPr lang="en-US" sz="499" dirty="0"/>
          </a:p>
        </p:txBody>
      </p:sp>
      <p:sp>
        <p:nvSpPr>
          <p:cNvPr id="8" name="Shape 5"/>
          <p:cNvSpPr/>
          <p:nvPr/>
        </p:nvSpPr>
        <p:spPr>
          <a:xfrm>
            <a:off x="533400" y="4781550"/>
            <a:ext cx="8077200" cy="4763"/>
          </a:xfrm>
          <a:prstGeom prst="rect">
            <a:avLst/>
          </a:prstGeom>
          <a:solidFill>
            <a:srgbClr val="0E2A26">
              <a:alpha val="12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7000875"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19  /  23</a:t>
            </a:r>
            <a:endParaRPr lang="en-US" sz="499" dirty="0"/>
          </a:p>
        </p:txBody>
      </p:sp>
      <p:pic>
        <p:nvPicPr>
          <p:cNvPr id="12"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3"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4" name="Text 9"/>
          <p:cNvSpPr/>
          <p:nvPr/>
        </p:nvSpPr>
        <p:spPr>
          <a:xfrm>
            <a:off x="533400" y="952500"/>
            <a:ext cx="3209925"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B8893B">
                    <a:alpha val="99000"/>
                  </a:srgbClr>
                </a:solidFill>
                <a:latin typeface="Inter" pitchFamily="34" charset="0"/>
                <a:ea typeface="Inter" pitchFamily="34" charset="-122"/>
                <a:cs typeface="Inter" pitchFamily="34" charset="-120"/>
              </a:rPr>
              <a:t>JOURNAL ARTICLES  ·  ALL IN Q1 OR Q2 JOURNALS (SCIMAGO)  ·  HARVARD STYLE</a:t>
            </a:r>
            <a:endParaRPr lang="en-US" sz="463" dirty="0"/>
          </a:p>
        </p:txBody>
      </p:sp>
      <p:sp>
        <p:nvSpPr>
          <p:cNvPr id="15" name="Text 10"/>
          <p:cNvSpPr/>
          <p:nvPr/>
        </p:nvSpPr>
        <p:spPr>
          <a:xfrm>
            <a:off x="533400" y="114300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Bai, X. et al. (2022)</a:t>
            </a:r>
            <a:endParaRPr lang="en-US" sz="606" dirty="0"/>
          </a:p>
        </p:txBody>
      </p:sp>
      <p:sp>
        <p:nvSpPr>
          <p:cNvPr id="16" name="Text 11"/>
          <p:cNvSpPr/>
          <p:nvPr/>
        </p:nvSpPr>
        <p:spPr>
          <a:xfrm>
            <a:off x="2247900" y="114300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Near-infrared spectroscopy and machine learning-based technique to predict quality-related parameters in instant tea.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Scientific Reports</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12, 3833. https://doi.org/10.1038/s41598-022-07652-z</a:t>
            </a:r>
            <a:endParaRPr lang="en-US" sz="606" dirty="0"/>
          </a:p>
        </p:txBody>
      </p:sp>
      <p:sp>
        <p:nvSpPr>
          <p:cNvPr id="17" name="Shape 12"/>
          <p:cNvSpPr/>
          <p:nvPr/>
        </p:nvSpPr>
        <p:spPr>
          <a:xfrm>
            <a:off x="533400" y="1423988"/>
            <a:ext cx="8077200" cy="4763"/>
          </a:xfrm>
          <a:prstGeom prst="rect">
            <a:avLst/>
          </a:prstGeom>
          <a:solidFill>
            <a:srgbClr val="E3DACA"/>
          </a:solidFill>
          <a:ln/>
        </p:spPr>
      </p:sp>
      <p:sp>
        <p:nvSpPr>
          <p:cNvPr id="18" name="Text 13"/>
          <p:cNvSpPr/>
          <p:nvPr/>
        </p:nvSpPr>
        <p:spPr>
          <a:xfrm>
            <a:off x="533400" y="1476375"/>
            <a:ext cx="1571625" cy="2286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Borggaard, C. and Thodberg, H.H. (1992)</a:t>
            </a:r>
            <a:endParaRPr lang="en-US" sz="606" dirty="0"/>
          </a:p>
        </p:txBody>
      </p:sp>
      <p:sp>
        <p:nvSpPr>
          <p:cNvPr id="19" name="Text 14"/>
          <p:cNvSpPr/>
          <p:nvPr/>
        </p:nvSpPr>
        <p:spPr>
          <a:xfrm>
            <a:off x="2247900" y="1476375"/>
            <a:ext cx="6362700" cy="1143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Optimal minimal neural interpretation of spectra.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Analytical Chemistry</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64(5), pp.545-551. https://doi.org/10.1021/ac00029a018</a:t>
            </a:r>
            <a:endParaRPr lang="en-US" sz="606" dirty="0"/>
          </a:p>
        </p:txBody>
      </p:sp>
      <p:sp>
        <p:nvSpPr>
          <p:cNvPr id="20" name="Shape 15"/>
          <p:cNvSpPr/>
          <p:nvPr/>
        </p:nvSpPr>
        <p:spPr>
          <a:xfrm>
            <a:off x="533400" y="1757363"/>
            <a:ext cx="8077200" cy="4763"/>
          </a:xfrm>
          <a:prstGeom prst="rect">
            <a:avLst/>
          </a:prstGeom>
          <a:solidFill>
            <a:srgbClr val="E3DACA"/>
          </a:solidFill>
          <a:ln/>
        </p:spPr>
      </p:sp>
      <p:sp>
        <p:nvSpPr>
          <p:cNvPr id="21" name="Text 16"/>
          <p:cNvSpPr/>
          <p:nvPr/>
        </p:nvSpPr>
        <p:spPr>
          <a:xfrm>
            <a:off x="533400" y="180975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Dong, C. et al. (2018)</a:t>
            </a:r>
            <a:endParaRPr lang="en-US" sz="606" dirty="0"/>
          </a:p>
        </p:txBody>
      </p:sp>
      <p:sp>
        <p:nvSpPr>
          <p:cNvPr id="22" name="Text 17"/>
          <p:cNvSpPr/>
          <p:nvPr/>
        </p:nvSpPr>
        <p:spPr>
          <a:xfrm>
            <a:off x="2247900" y="180975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Rapid determination by near infrared spectroscopy of theaflavins-to-thearubigins ratio during Congou black tea fermentation process.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Spectrochimica Acta Part A: Molecular and Biomolecular Spectroscopy</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205, pp.227-234. https://doi.org/10.1016/j.saa.2018.07.029</a:t>
            </a:r>
            <a:endParaRPr lang="en-US" sz="606" dirty="0"/>
          </a:p>
        </p:txBody>
      </p:sp>
      <p:sp>
        <p:nvSpPr>
          <p:cNvPr id="23" name="Shape 18"/>
          <p:cNvSpPr/>
          <p:nvPr/>
        </p:nvSpPr>
        <p:spPr>
          <a:xfrm>
            <a:off x="533400" y="2090738"/>
            <a:ext cx="8077200" cy="4763"/>
          </a:xfrm>
          <a:prstGeom prst="rect">
            <a:avLst/>
          </a:prstGeom>
          <a:solidFill>
            <a:srgbClr val="E3DACA"/>
          </a:solidFill>
          <a:ln/>
        </p:spPr>
      </p:sp>
      <p:sp>
        <p:nvSpPr>
          <p:cNvPr id="24" name="Text 19"/>
          <p:cNvSpPr/>
          <p:nvPr/>
        </p:nvSpPr>
        <p:spPr>
          <a:xfrm>
            <a:off x="533400" y="2143125"/>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Lan, T. et al. (2022)</a:t>
            </a:r>
            <a:endParaRPr lang="en-US" sz="606" dirty="0"/>
          </a:p>
        </p:txBody>
      </p:sp>
      <p:sp>
        <p:nvSpPr>
          <p:cNvPr id="25" name="Text 20"/>
          <p:cNvSpPr/>
          <p:nvPr/>
        </p:nvSpPr>
        <p:spPr>
          <a:xfrm>
            <a:off x="2247900" y="2143125"/>
            <a:ext cx="6362700" cy="1143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A rapid prediction method of moisture content for green tea fixation based on WOA-Elman.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Foods</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11(18), 2928. https://doi.org/10.3390/foods11182928</a:t>
            </a:r>
            <a:endParaRPr lang="en-US" sz="606" dirty="0"/>
          </a:p>
        </p:txBody>
      </p:sp>
      <p:sp>
        <p:nvSpPr>
          <p:cNvPr id="26" name="Shape 21"/>
          <p:cNvSpPr/>
          <p:nvPr/>
        </p:nvSpPr>
        <p:spPr>
          <a:xfrm>
            <a:off x="533400" y="2309813"/>
            <a:ext cx="8077200" cy="4763"/>
          </a:xfrm>
          <a:prstGeom prst="rect">
            <a:avLst/>
          </a:prstGeom>
          <a:solidFill>
            <a:srgbClr val="E3DACA"/>
          </a:solidFill>
          <a:ln/>
        </p:spPr>
      </p:sp>
      <p:sp>
        <p:nvSpPr>
          <p:cNvPr id="27" name="Text 22"/>
          <p:cNvSpPr/>
          <p:nvPr/>
        </p:nvSpPr>
        <p:spPr>
          <a:xfrm>
            <a:off x="533400" y="236220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Li, L. et al. (2023)</a:t>
            </a:r>
            <a:endParaRPr lang="en-US" sz="606" dirty="0"/>
          </a:p>
        </p:txBody>
      </p:sp>
      <p:sp>
        <p:nvSpPr>
          <p:cNvPr id="28" name="Text 23"/>
          <p:cNvSpPr/>
          <p:nvPr/>
        </p:nvSpPr>
        <p:spPr>
          <a:xfrm>
            <a:off x="2247900" y="236220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Rapid and comprehensive grade evaluation of Keemun black tea using efficient multidimensional data fusion.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Food Chemistry: X</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20, 100924. https://doi.org/10.1016/j.fochx.2023.100924</a:t>
            </a:r>
            <a:endParaRPr lang="en-US" sz="606" dirty="0"/>
          </a:p>
        </p:txBody>
      </p:sp>
      <p:sp>
        <p:nvSpPr>
          <p:cNvPr id="29" name="Shape 24"/>
          <p:cNvSpPr/>
          <p:nvPr/>
        </p:nvSpPr>
        <p:spPr>
          <a:xfrm>
            <a:off x="533400" y="2643188"/>
            <a:ext cx="8077200" cy="4763"/>
          </a:xfrm>
          <a:prstGeom prst="rect">
            <a:avLst/>
          </a:prstGeom>
          <a:solidFill>
            <a:srgbClr val="E3DACA"/>
          </a:solidFill>
          <a:ln/>
        </p:spPr>
      </p:sp>
      <p:sp>
        <p:nvSpPr>
          <p:cNvPr id="30" name="Text 25"/>
          <p:cNvSpPr/>
          <p:nvPr/>
        </p:nvSpPr>
        <p:spPr>
          <a:xfrm>
            <a:off x="533400" y="2695575"/>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Liang, J. et al. (2025)</a:t>
            </a:r>
            <a:endParaRPr lang="en-US" sz="606" dirty="0"/>
          </a:p>
        </p:txBody>
      </p:sp>
      <p:sp>
        <p:nvSpPr>
          <p:cNvPr id="31" name="Text 26"/>
          <p:cNvSpPr/>
          <p:nvPr/>
        </p:nvSpPr>
        <p:spPr>
          <a:xfrm>
            <a:off x="2247900" y="2695575"/>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A black tea quality testing method for scale production using CV and NIRS with TCN for spectral feature extraction.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Food Chemistry</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464, 141567. https://doi.org/10.1016/j.foodchem.2024.141567</a:t>
            </a:r>
            <a:endParaRPr lang="en-US" sz="606" dirty="0"/>
          </a:p>
        </p:txBody>
      </p:sp>
      <p:sp>
        <p:nvSpPr>
          <p:cNvPr id="32" name="Shape 27"/>
          <p:cNvSpPr/>
          <p:nvPr/>
        </p:nvSpPr>
        <p:spPr>
          <a:xfrm>
            <a:off x="533400" y="2976563"/>
            <a:ext cx="8077200" cy="4763"/>
          </a:xfrm>
          <a:prstGeom prst="rect">
            <a:avLst/>
          </a:prstGeom>
          <a:solidFill>
            <a:srgbClr val="E3DACA"/>
          </a:solidFill>
          <a:ln/>
        </p:spPr>
      </p:sp>
      <p:sp>
        <p:nvSpPr>
          <p:cNvPr id="33" name="Text 28"/>
          <p:cNvSpPr/>
          <p:nvPr/>
        </p:nvSpPr>
        <p:spPr>
          <a:xfrm>
            <a:off x="533400" y="302895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Liu, H. et al. (2025)</a:t>
            </a:r>
            <a:endParaRPr lang="en-US" sz="606" dirty="0"/>
          </a:p>
        </p:txBody>
      </p:sp>
      <p:sp>
        <p:nvSpPr>
          <p:cNvPr id="34" name="Text 29"/>
          <p:cNvSpPr/>
          <p:nvPr/>
        </p:nvSpPr>
        <p:spPr>
          <a:xfrm>
            <a:off x="2247900" y="302895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Improvement method for tea leaf moisture content prediction using VIS-NIR spectrum based on transfer learning.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Spectrochimica Acta Part A: Molecular and Biomolecular Spectroscopy</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343, 126571. https://doi.org/10.1016/j.saa.2025.126571</a:t>
            </a:r>
            <a:endParaRPr lang="en-US" sz="606" dirty="0"/>
          </a:p>
        </p:txBody>
      </p:sp>
      <p:sp>
        <p:nvSpPr>
          <p:cNvPr id="35" name="Shape 30"/>
          <p:cNvSpPr/>
          <p:nvPr/>
        </p:nvSpPr>
        <p:spPr>
          <a:xfrm>
            <a:off x="533400" y="3309938"/>
            <a:ext cx="8077200" cy="4763"/>
          </a:xfrm>
          <a:prstGeom prst="rect">
            <a:avLst/>
          </a:prstGeom>
          <a:solidFill>
            <a:srgbClr val="E3DACA"/>
          </a:solidFill>
          <a:ln/>
        </p:spPr>
      </p:sp>
      <p:sp>
        <p:nvSpPr>
          <p:cNvPr id="36" name="Text 31"/>
          <p:cNvSpPr/>
          <p:nvPr/>
        </p:nvSpPr>
        <p:spPr>
          <a:xfrm>
            <a:off x="533400" y="3362325"/>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Liu, Y. et al. (2024)</a:t>
            </a:r>
            <a:endParaRPr lang="en-US" sz="606" dirty="0"/>
          </a:p>
        </p:txBody>
      </p:sp>
      <p:sp>
        <p:nvSpPr>
          <p:cNvPr id="37" name="Text 32"/>
          <p:cNvSpPr/>
          <p:nvPr/>
        </p:nvSpPr>
        <p:spPr>
          <a:xfrm>
            <a:off x="2247900" y="3362325"/>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Simultaneous determination of four catechins in black tea via NIR spectroscopy and feature wavelength selection: a novel approach.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Sensors</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24(11), 3362. https://doi.org/10.3390/s24113362</a:t>
            </a:r>
            <a:endParaRPr lang="en-US" sz="606" dirty="0"/>
          </a:p>
        </p:txBody>
      </p:sp>
      <p:sp>
        <p:nvSpPr>
          <p:cNvPr id="38" name="Shape 33"/>
          <p:cNvSpPr/>
          <p:nvPr/>
        </p:nvSpPr>
        <p:spPr>
          <a:xfrm>
            <a:off x="533400" y="3643313"/>
            <a:ext cx="8077200" cy="4763"/>
          </a:xfrm>
          <a:prstGeom prst="rect">
            <a:avLst/>
          </a:prstGeom>
          <a:solidFill>
            <a:srgbClr val="E3DACA"/>
          </a:solidFill>
          <a:ln/>
        </p:spPr>
      </p:sp>
      <p:sp>
        <p:nvSpPr>
          <p:cNvPr id="39" name="Text 34"/>
          <p:cNvSpPr/>
          <p:nvPr/>
        </p:nvSpPr>
        <p:spPr>
          <a:xfrm>
            <a:off x="533400" y="369570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Piyasena, K.G.N.P. et al. (2022)</a:t>
            </a:r>
            <a:endParaRPr lang="en-US" sz="606" dirty="0"/>
          </a:p>
        </p:txBody>
      </p:sp>
      <p:sp>
        <p:nvSpPr>
          <p:cNvPr id="40" name="Text 35"/>
          <p:cNvSpPr/>
          <p:nvPr/>
        </p:nvSpPr>
        <p:spPr>
          <a:xfrm>
            <a:off x="2247900" y="369570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Evaluation of inherent fructose, glucose and sucrose concentrations in tea leaves (Camellia sinensis L.) and in black tea.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Applied Food Research</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2, 100100. https://doi.org/10.1016/j.afres.2022.100100</a:t>
            </a:r>
            <a:endParaRPr lang="en-US" sz="606" dirty="0"/>
          </a:p>
        </p:txBody>
      </p:sp>
      <p:sp>
        <p:nvSpPr>
          <p:cNvPr id="41" name="Shape 36"/>
          <p:cNvSpPr/>
          <p:nvPr/>
        </p:nvSpPr>
        <p:spPr>
          <a:xfrm>
            <a:off x="533400" y="3976687"/>
            <a:ext cx="8077200" cy="4763"/>
          </a:xfrm>
          <a:prstGeom prst="rect">
            <a:avLst/>
          </a:prstGeom>
          <a:solidFill>
            <a:srgbClr val="E3DACA"/>
          </a:solidFill>
          <a:ln/>
        </p:spPr>
      </p:sp>
      <p:sp>
        <p:nvSpPr>
          <p:cNvPr id="42" name="Text 37"/>
          <p:cNvSpPr/>
          <p:nvPr/>
        </p:nvSpPr>
        <p:spPr>
          <a:xfrm>
            <a:off x="533400" y="4029075"/>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Rehman, N.U. et al. (2020)</a:t>
            </a:r>
            <a:endParaRPr lang="en-US" sz="606" dirty="0"/>
          </a:p>
        </p:txBody>
      </p:sp>
      <p:sp>
        <p:nvSpPr>
          <p:cNvPr id="43" name="Text 38"/>
          <p:cNvSpPr/>
          <p:nvPr/>
        </p:nvSpPr>
        <p:spPr>
          <a:xfrm>
            <a:off x="2247900" y="4029075"/>
            <a:ext cx="6362700" cy="1143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FT-NIRS coupled with PLS regression as a complement to HPLC routine analysis of caffeine in tea samples.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Foods</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9(6), 827. https://doi.org/10.3390/foods9060827</a:t>
            </a:r>
            <a:endParaRPr lang="en-US" sz="606" dirty="0"/>
          </a:p>
        </p:txBody>
      </p:sp>
      <p:sp>
        <p:nvSpPr>
          <p:cNvPr id="44" name="Shape 39"/>
          <p:cNvSpPr/>
          <p:nvPr/>
        </p:nvSpPr>
        <p:spPr>
          <a:xfrm>
            <a:off x="533400" y="4195763"/>
            <a:ext cx="8077200" cy="4763"/>
          </a:xfrm>
          <a:prstGeom prst="rect">
            <a:avLst/>
          </a:prstGeom>
          <a:solidFill>
            <a:srgbClr val="E3DACA"/>
          </a:solidFill>
          <a:ln/>
        </p:spPr>
      </p:sp>
      <p:sp>
        <p:nvSpPr>
          <p:cNvPr id="45" name="Text 40"/>
          <p:cNvSpPr/>
          <p:nvPr/>
        </p:nvSpPr>
        <p:spPr>
          <a:xfrm>
            <a:off x="533400" y="4248150"/>
            <a:ext cx="1571625" cy="114300"/>
          </a:xfrm>
          <a:prstGeom prst="rect">
            <a:avLst/>
          </a:prstGeom>
          <a:noFill/>
          <a:ln/>
        </p:spPr>
        <p:txBody>
          <a:bodyPr wrap="square" lIns="0" tIns="0" rIns="0" bIns="0" rtlCol="0" anchor="t"/>
          <a:lstStyle/>
          <a:p>
            <a:pPr algn="l" indent="0" marL="0">
              <a:lnSpc>
                <a:spcPts val="848"/>
              </a:lnSpc>
              <a:buNone/>
            </a:pPr>
            <a:r>
              <a:rPr lang="en-US" sz="606" b="1" dirty="0">
                <a:solidFill>
                  <a:srgbClr val="1F5C4F">
                    <a:alpha val="99000"/>
                  </a:srgbClr>
                </a:solidFill>
                <a:latin typeface="Inter" pitchFamily="34" charset="0"/>
                <a:ea typeface="Inter" pitchFamily="34" charset="-122"/>
                <a:cs typeface="Inter" pitchFamily="34" charset="-120"/>
              </a:rPr>
              <a:t>Revilla, I. et al. (2024)</a:t>
            </a:r>
            <a:endParaRPr lang="en-US" sz="606" dirty="0"/>
          </a:p>
        </p:txBody>
      </p:sp>
      <p:sp>
        <p:nvSpPr>
          <p:cNvPr id="46" name="Text 41"/>
          <p:cNvSpPr/>
          <p:nvPr/>
        </p:nvSpPr>
        <p:spPr>
          <a:xfrm>
            <a:off x="2247900" y="4248150"/>
            <a:ext cx="6362700" cy="228600"/>
          </a:xfrm>
          <a:prstGeom prst="rect">
            <a:avLst/>
          </a:prstGeom>
          <a:noFill/>
          <a:ln/>
        </p:spPr>
        <p:txBody>
          <a:bodyPr wrap="square" lIns="0" tIns="0" rIns="0" bIns="0" rtlCol="0" anchor="t"/>
          <a:lstStyle/>
          <a:p>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The potential use of near infrared spectroscopy (NIRS) to determine the heavy metals and the percentage of blends in tea. </a:t>
            </a:r>
            <a:pPr algn="l" indent="0" marL="0">
              <a:lnSpc>
                <a:spcPts val="848"/>
              </a:lnSpc>
              <a:buNone/>
            </a:pPr>
            <a:r>
              <a:rPr lang="en-US" sz="606" i="1" dirty="0">
                <a:solidFill>
                  <a:srgbClr val="23302D">
                    <a:alpha val="99000"/>
                  </a:srgbClr>
                </a:solidFill>
                <a:latin typeface="Inter" pitchFamily="34" charset="0"/>
                <a:ea typeface="Inter" pitchFamily="34" charset="-122"/>
                <a:cs typeface="Inter" pitchFamily="34" charset="-120"/>
              </a:rPr>
              <a:t>Foods</a:t>
            </a:r>
            <a:pPr algn="l" indent="0" marL="0">
              <a:lnSpc>
                <a:spcPts val="848"/>
              </a:lnSpc>
              <a:buNone/>
            </a:pPr>
            <a:r>
              <a:rPr lang="en-US" sz="606" dirty="0">
                <a:solidFill>
                  <a:srgbClr val="23302D">
                    <a:alpha val="99000"/>
                  </a:srgbClr>
                </a:solidFill>
                <a:latin typeface="Inter" pitchFamily="34" charset="0"/>
                <a:ea typeface="Inter" pitchFamily="34" charset="-122"/>
                <a:cs typeface="Inter" pitchFamily="34" charset="-120"/>
              </a:rPr>
              <a:t>, 13(3), 450. https://doi.org/10.3390/foods13030450</a:t>
            </a:r>
            <a:endParaRPr lang="en-US" sz="606"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8"/>
        </a:solidFill>
      </p:bgPr>
    </p:bg>
    <p:spTree>
      <p:nvGrpSpPr>
        <p:cNvPr id="1" name=""/>
        <p:cNvGrpSpPr/>
        <p:nvPr/>
      </p:nvGrpSpPr>
      <p:grpSpPr>
        <a:xfrm>
          <a:off x="0" y="0"/>
          <a:ext cx="0" cy="0"/>
          <a:chOff x="0" y="0"/>
          <a:chExt cx="0" cy="0"/>
        </a:xfrm>
      </p:grpSpPr>
      <p:sp>
        <p:nvSpPr>
          <p:cNvPr id="3" name="Text 0"/>
          <p:cNvSpPr/>
          <p:nvPr/>
        </p:nvSpPr>
        <p:spPr>
          <a:xfrm>
            <a:off x="533400" y="314325"/>
            <a:ext cx="966788"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B8893B">
                    <a:alpha val="99000"/>
                  </a:srgbClr>
                </a:solidFill>
                <a:latin typeface="Inter" pitchFamily="34" charset="0"/>
                <a:ea typeface="Inter" pitchFamily="34" charset="-122"/>
                <a:cs typeface="Inter" pitchFamily="34" charset="-120"/>
              </a:rPr>
              <a:t>20   ·   REFERENCES</a:t>
            </a:r>
            <a:endParaRPr lang="en-US" sz="534" dirty="0"/>
          </a:p>
        </p:txBody>
      </p:sp>
      <p:sp>
        <p:nvSpPr>
          <p:cNvPr id="4" name="Text 1"/>
          <p:cNvSpPr/>
          <p:nvPr/>
        </p:nvSpPr>
        <p:spPr>
          <a:xfrm>
            <a:off x="523875" y="447675"/>
            <a:ext cx="6381750" cy="285750"/>
          </a:xfrm>
          <a:prstGeom prst="rect">
            <a:avLst/>
          </a:prstGeom>
          <a:noFill/>
          <a:ln/>
        </p:spPr>
        <p:txBody>
          <a:bodyPr wrap="square" lIns="0" tIns="0" rIns="0" bIns="0" rtlCol="0" anchor="t"/>
          <a:lstStyle/>
          <a:p>
            <a:pPr algn="l" indent="0" marL="0">
              <a:lnSpc>
                <a:spcPts val="2155"/>
              </a:lnSpc>
              <a:buNone/>
            </a:pPr>
            <a:r>
              <a:rPr lang="en-US" sz="1924" b="1" dirty="0">
                <a:solidFill>
                  <a:srgbClr val="0E2A26">
                    <a:alpha val="99000"/>
                  </a:srgbClr>
                </a:solidFill>
                <a:latin typeface="Playfair Display" pitchFamily="34" charset="0"/>
                <a:ea typeface="Playfair Display" pitchFamily="34" charset="-122"/>
                <a:cs typeface="Playfair Display" pitchFamily="34" charset="-120"/>
              </a:rPr>
              <a:t>References (2 of 2)</a:t>
            </a:r>
            <a:endParaRPr lang="en-US" sz="1924" dirty="0"/>
          </a:p>
        </p:txBody>
      </p:sp>
      <p:sp>
        <p:nvSpPr>
          <p:cNvPr id="5" name="Shape 2"/>
          <p:cNvSpPr/>
          <p:nvPr/>
        </p:nvSpPr>
        <p:spPr>
          <a:xfrm>
            <a:off x="7924800" y="295275"/>
            <a:ext cx="685800" cy="161925"/>
          </a:xfrm>
          <a:prstGeom prst="roundRect">
            <a:avLst/>
          </a:prstGeom>
          <a:noFill/>
          <a:ln w="5429">
            <a:solidFill>
              <a:srgbClr val="B8893B"/>
            </a:solidFill>
            <a:prstDash val="solid"/>
          </a:ln>
        </p:spPr>
      </p:sp>
      <p:sp>
        <p:nvSpPr>
          <p:cNvPr id="6" name="Text 3"/>
          <p:cNvSpPr/>
          <p:nvPr/>
        </p:nvSpPr>
        <p:spPr>
          <a:xfrm>
            <a:off x="8010525" y="335756"/>
            <a:ext cx="514350"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B8893B">
                    <a:alpha val="99000"/>
                  </a:srgbClr>
                </a:solidFill>
                <a:latin typeface="Inter" pitchFamily="34" charset="0"/>
                <a:ea typeface="Inter" pitchFamily="34" charset="-122"/>
                <a:cs typeface="Inter" pitchFamily="34" charset="-120"/>
              </a:rPr>
              <a:t>References 5%</a:t>
            </a:r>
            <a:endParaRPr lang="en-US" sz="499" dirty="0"/>
          </a:p>
        </p:txBody>
      </p:sp>
      <p:sp>
        <p:nvSpPr>
          <p:cNvPr id="7" name="Shape 4"/>
          <p:cNvSpPr/>
          <p:nvPr/>
        </p:nvSpPr>
        <p:spPr>
          <a:xfrm>
            <a:off x="533400" y="4781550"/>
            <a:ext cx="8077200" cy="4763"/>
          </a:xfrm>
          <a:prstGeom prst="rect">
            <a:avLst/>
          </a:prstGeom>
          <a:solidFill>
            <a:srgbClr val="0E2A26">
              <a:alpha val="12000"/>
            </a:srgbClr>
          </a:solidFill>
          <a:ln/>
        </p:spPr>
      </p:sp>
      <p:sp>
        <p:nvSpPr>
          <p:cNvPr id="8" name="Text 5"/>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0E2A26">
                    <a:alpha val="99000"/>
                  </a:srgbClr>
                </a:solidFill>
                <a:latin typeface="Inter" pitchFamily="34" charset="0"/>
                <a:ea typeface="Inter" pitchFamily="34" charset="-122"/>
                <a:cs typeface="Inter" pitchFamily="34" charset="-120"/>
              </a:rPr>
              <a:t>TEA SENSE</a:t>
            </a:r>
            <a:endParaRPr lang="en-US" sz="463" dirty="0"/>
          </a:p>
        </p:txBody>
      </p:sp>
      <p:sp>
        <p:nvSpPr>
          <p:cNvPr id="9" name="Text 6"/>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6E7672">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0" name="Text 7"/>
          <p:cNvSpPr/>
          <p:nvPr/>
        </p:nvSpPr>
        <p:spPr>
          <a:xfrm>
            <a:off x="7000875" y="4881563"/>
            <a:ext cx="29527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B8893B">
                    <a:alpha val="99000"/>
                  </a:srgbClr>
                </a:solidFill>
                <a:latin typeface="Inter" pitchFamily="34" charset="0"/>
                <a:ea typeface="Inter" pitchFamily="34" charset="-122"/>
                <a:cs typeface="Inter" pitchFamily="34" charset="-120"/>
              </a:rPr>
              <a:t>20  /  23</a:t>
            </a:r>
            <a:endParaRPr lang="en-US" sz="499" dirty="0"/>
          </a:p>
        </p:txBody>
      </p:sp>
      <p:pic>
        <p:nvPicPr>
          <p:cNvPr id="11" name="Image 0" descr="preencoded.png">    </p:cNvPr>
          <p:cNvPicPr>
            <a:picLocks noChangeAspect="1"/>
          </p:cNvPicPr>
          <p:nvPr/>
        </p:nvPicPr>
        <p:blipFill>
          <a:blip r:embed="rId1"/>
          <a:srcRect l="0" r="0" t="0" b="0"/>
          <a:stretch/>
        </p:blipFill>
        <p:spPr>
          <a:xfrm>
            <a:off x="7620000" y="4838700"/>
            <a:ext cx="381000" cy="200025"/>
          </a:xfrm>
          <a:prstGeom prst="rect">
            <a:avLst/>
          </a:prstGeom>
        </p:spPr>
      </p:pic>
      <p:pic>
        <p:nvPicPr>
          <p:cNvPr id="12" name="Image 1" descr="preencoded.png">    </p:cNvPr>
          <p:cNvPicPr>
            <a:picLocks noChangeAspect="1"/>
          </p:cNvPicPr>
          <p:nvPr/>
        </p:nvPicPr>
        <p:blipFill>
          <a:blip r:embed="rId2"/>
          <a:srcRect l="0" r="0" t="0" b="0"/>
          <a:stretch/>
        </p:blipFill>
        <p:spPr>
          <a:xfrm>
            <a:off x="8086725" y="4872038"/>
            <a:ext cx="523875" cy="133350"/>
          </a:xfrm>
          <a:prstGeom prst="rect">
            <a:avLst/>
          </a:prstGeom>
        </p:spPr>
      </p:pic>
      <p:sp>
        <p:nvSpPr>
          <p:cNvPr id="13" name="Shape 8"/>
          <p:cNvSpPr/>
          <p:nvPr/>
        </p:nvSpPr>
        <p:spPr>
          <a:xfrm>
            <a:off x="533400" y="809625"/>
            <a:ext cx="266700" cy="14288"/>
          </a:xfrm>
          <a:prstGeom prst="rect">
            <a:avLst/>
          </a:prstGeom>
          <a:solidFill>
            <a:srgbClr val="B8893B"/>
          </a:solidFill>
          <a:ln/>
        </p:spPr>
      </p:sp>
      <p:sp>
        <p:nvSpPr>
          <p:cNvPr id="14" name="Text 9"/>
          <p:cNvSpPr/>
          <p:nvPr/>
        </p:nvSpPr>
        <p:spPr>
          <a:xfrm>
            <a:off x="533400" y="971550"/>
            <a:ext cx="1323975"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B8893B">
                    <a:alpha val="99000"/>
                  </a:srgbClr>
                </a:solidFill>
                <a:latin typeface="Inter" pitchFamily="34" charset="0"/>
                <a:ea typeface="Inter" pitchFamily="34" charset="-122"/>
                <a:cs typeface="Inter" pitchFamily="34" charset="-120"/>
              </a:rPr>
              <a:t>JOURNAL ARTICLES (CONTINUED)</a:t>
            </a:r>
            <a:endParaRPr lang="en-US" sz="463" dirty="0"/>
          </a:p>
        </p:txBody>
      </p:sp>
      <p:sp>
        <p:nvSpPr>
          <p:cNvPr id="15" name="Text 10"/>
          <p:cNvSpPr/>
          <p:nvPr/>
        </p:nvSpPr>
        <p:spPr>
          <a:xfrm>
            <a:off x="533400" y="114300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Roberts, E.A.H. and Smith, R.F. (1961)</a:t>
            </a:r>
            <a:endParaRPr lang="en-US" sz="570" dirty="0"/>
          </a:p>
        </p:txBody>
      </p:sp>
      <p:sp>
        <p:nvSpPr>
          <p:cNvPr id="16" name="Text 11"/>
          <p:cNvSpPr/>
          <p:nvPr/>
        </p:nvSpPr>
        <p:spPr>
          <a:xfrm>
            <a:off x="2247900" y="114300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Spectrophotometric measurements of theaflavins and thearubigins in black tea liquors in assessments of quality in teas.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The Analyst</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86(1019), pp.94-98. https://doi.org/10.1039/AN9618600094</a:t>
            </a:r>
            <a:endParaRPr lang="en-US" sz="570" dirty="0"/>
          </a:p>
        </p:txBody>
      </p:sp>
      <p:sp>
        <p:nvSpPr>
          <p:cNvPr id="17" name="Shape 12"/>
          <p:cNvSpPr/>
          <p:nvPr/>
        </p:nvSpPr>
        <p:spPr>
          <a:xfrm>
            <a:off x="533400" y="1390650"/>
            <a:ext cx="8077200" cy="4763"/>
          </a:xfrm>
          <a:prstGeom prst="rect">
            <a:avLst/>
          </a:prstGeom>
          <a:solidFill>
            <a:srgbClr val="E3DACA"/>
          </a:solidFill>
          <a:ln/>
        </p:spPr>
      </p:sp>
      <p:sp>
        <p:nvSpPr>
          <p:cNvPr id="18" name="Text 13"/>
          <p:cNvSpPr/>
          <p:nvPr/>
        </p:nvSpPr>
        <p:spPr>
          <a:xfrm>
            <a:off x="533400" y="142875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Tang, J. et al. (2025)</a:t>
            </a:r>
            <a:endParaRPr lang="en-US" sz="570" dirty="0"/>
          </a:p>
        </p:txBody>
      </p:sp>
      <p:sp>
        <p:nvSpPr>
          <p:cNvPr id="19" name="Text 14"/>
          <p:cNvSpPr/>
          <p:nvPr/>
        </p:nvSpPr>
        <p:spPr>
          <a:xfrm>
            <a:off x="2247900" y="142875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Spectral multi-scale attention fusion network for rapid detection of black tea adulteration using a handheld spectrometer.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Foods</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14(24), 4261. https://doi.org/10.3390/foods14244261</a:t>
            </a:r>
            <a:endParaRPr lang="en-US" sz="570" dirty="0"/>
          </a:p>
        </p:txBody>
      </p:sp>
      <p:sp>
        <p:nvSpPr>
          <p:cNvPr id="20" name="Shape 15"/>
          <p:cNvSpPr/>
          <p:nvPr/>
        </p:nvSpPr>
        <p:spPr>
          <a:xfrm>
            <a:off x="533400" y="1676400"/>
            <a:ext cx="8077200" cy="4763"/>
          </a:xfrm>
          <a:prstGeom prst="rect">
            <a:avLst/>
          </a:prstGeom>
          <a:solidFill>
            <a:srgbClr val="E3DACA"/>
          </a:solidFill>
          <a:ln/>
        </p:spPr>
      </p:sp>
      <p:sp>
        <p:nvSpPr>
          <p:cNvPr id="21" name="Text 16"/>
          <p:cNvSpPr/>
          <p:nvPr/>
        </p:nvSpPr>
        <p:spPr>
          <a:xfrm>
            <a:off x="533400" y="171450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Tao, W. et al. (2026)</a:t>
            </a:r>
            <a:endParaRPr lang="en-US" sz="570" dirty="0"/>
          </a:p>
        </p:txBody>
      </p:sp>
      <p:sp>
        <p:nvSpPr>
          <p:cNvPr id="22" name="Text 17"/>
          <p:cNvSpPr/>
          <p:nvPr/>
        </p:nvSpPr>
        <p:spPr>
          <a:xfrm>
            <a:off x="2247900" y="171450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Deep learning model for real time moisture content detection and prediction in white tea withering using near infrared spectroscopy.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Scientific Reports</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16, 26972. https://doi.org/10.1038/s41598-026-57739-0</a:t>
            </a:r>
            <a:endParaRPr lang="en-US" sz="570" dirty="0"/>
          </a:p>
        </p:txBody>
      </p:sp>
      <p:sp>
        <p:nvSpPr>
          <p:cNvPr id="23" name="Shape 18"/>
          <p:cNvSpPr/>
          <p:nvPr/>
        </p:nvSpPr>
        <p:spPr>
          <a:xfrm>
            <a:off x="533400" y="1962150"/>
            <a:ext cx="8077200" cy="4763"/>
          </a:xfrm>
          <a:prstGeom prst="rect">
            <a:avLst/>
          </a:prstGeom>
          <a:solidFill>
            <a:srgbClr val="E3DACA"/>
          </a:solidFill>
          <a:ln/>
        </p:spPr>
      </p:sp>
      <p:sp>
        <p:nvSpPr>
          <p:cNvPr id="24" name="Text 19"/>
          <p:cNvSpPr/>
          <p:nvPr/>
        </p:nvSpPr>
        <p:spPr>
          <a:xfrm>
            <a:off x="533400" y="200025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Wang, Q. et al. (2023)</a:t>
            </a:r>
            <a:endParaRPr lang="en-US" sz="570" dirty="0"/>
          </a:p>
        </p:txBody>
      </p:sp>
      <p:sp>
        <p:nvSpPr>
          <p:cNvPr id="25" name="Text 20"/>
          <p:cNvSpPr/>
          <p:nvPr/>
        </p:nvSpPr>
        <p:spPr>
          <a:xfrm>
            <a:off x="2247900" y="200025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Development of a specific and sensitive method for the detection of glyphosate pesticide and its metabolite in tea using dummy molecularly imprinted solid-phase extraction coupled with liquid chromatography-tandem quadrupole mass spectrometry.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Journal of Chromatography A</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1705, 464209. https://doi.org/10.1016/j.chroma.2023.464209</a:t>
            </a:r>
            <a:endParaRPr lang="en-US" sz="570" dirty="0"/>
          </a:p>
        </p:txBody>
      </p:sp>
      <p:sp>
        <p:nvSpPr>
          <p:cNvPr id="26" name="Shape 21"/>
          <p:cNvSpPr/>
          <p:nvPr/>
        </p:nvSpPr>
        <p:spPr>
          <a:xfrm>
            <a:off x="533400" y="2247900"/>
            <a:ext cx="8077200" cy="4763"/>
          </a:xfrm>
          <a:prstGeom prst="rect">
            <a:avLst/>
          </a:prstGeom>
          <a:solidFill>
            <a:srgbClr val="E3DACA"/>
          </a:solidFill>
          <a:ln/>
        </p:spPr>
      </p:sp>
      <p:sp>
        <p:nvSpPr>
          <p:cNvPr id="27" name="Text 22"/>
          <p:cNvSpPr/>
          <p:nvPr/>
        </p:nvSpPr>
        <p:spPr>
          <a:xfrm>
            <a:off x="533400" y="228600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Wang, S. et al. (2025)</a:t>
            </a:r>
            <a:endParaRPr lang="en-US" sz="570" dirty="0"/>
          </a:p>
        </p:txBody>
      </p:sp>
      <p:sp>
        <p:nvSpPr>
          <p:cNvPr id="28" name="Text 23"/>
          <p:cNvSpPr/>
          <p:nvPr/>
        </p:nvSpPr>
        <p:spPr>
          <a:xfrm>
            <a:off x="2247900" y="228600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A review: integration of NIRS and chemometric methods for tea quality control: principles, spectral preprocessing methods, machine learning algorithms, research progress, and future directions.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Food Research International</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205, 115870. https://doi.org/10.1016/j.foodres.2025.115870</a:t>
            </a:r>
            <a:endParaRPr lang="en-US" sz="570" dirty="0"/>
          </a:p>
        </p:txBody>
      </p:sp>
      <p:sp>
        <p:nvSpPr>
          <p:cNvPr id="29" name="Shape 24"/>
          <p:cNvSpPr/>
          <p:nvPr/>
        </p:nvSpPr>
        <p:spPr>
          <a:xfrm>
            <a:off x="533400" y="2533650"/>
            <a:ext cx="8077200" cy="4763"/>
          </a:xfrm>
          <a:prstGeom prst="rect">
            <a:avLst/>
          </a:prstGeom>
          <a:solidFill>
            <a:srgbClr val="E3DACA"/>
          </a:solidFill>
          <a:ln/>
        </p:spPr>
      </p:sp>
      <p:sp>
        <p:nvSpPr>
          <p:cNvPr id="30" name="Text 25"/>
          <p:cNvSpPr/>
          <p:nvPr/>
        </p:nvSpPr>
        <p:spPr>
          <a:xfrm>
            <a:off x="533400" y="257175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Wang, Y. et al. (2021)</a:t>
            </a:r>
            <a:endParaRPr lang="en-US" sz="570" dirty="0"/>
          </a:p>
        </p:txBody>
      </p:sp>
      <p:sp>
        <p:nvSpPr>
          <p:cNvPr id="31" name="Text 26"/>
          <p:cNvSpPr/>
          <p:nvPr/>
        </p:nvSpPr>
        <p:spPr>
          <a:xfrm>
            <a:off x="2247900" y="257175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Enhanced quality monitoring during black tea processing by the fusion of NIRS and computer vision.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Journal of Food Engineering</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304, 110599. https://doi.org/10.1016/j.jfoodeng.2021.110599</a:t>
            </a:r>
            <a:endParaRPr lang="en-US" sz="570" dirty="0"/>
          </a:p>
        </p:txBody>
      </p:sp>
      <p:sp>
        <p:nvSpPr>
          <p:cNvPr id="32" name="Shape 27"/>
          <p:cNvSpPr/>
          <p:nvPr/>
        </p:nvSpPr>
        <p:spPr>
          <a:xfrm>
            <a:off x="533400" y="2819400"/>
            <a:ext cx="8077200" cy="4763"/>
          </a:xfrm>
          <a:prstGeom prst="rect">
            <a:avLst/>
          </a:prstGeom>
          <a:solidFill>
            <a:srgbClr val="E3DACA"/>
          </a:solidFill>
          <a:ln/>
        </p:spPr>
      </p:sp>
      <p:sp>
        <p:nvSpPr>
          <p:cNvPr id="33" name="Text 28"/>
          <p:cNvSpPr/>
          <p:nvPr/>
        </p:nvSpPr>
        <p:spPr>
          <a:xfrm>
            <a:off x="533400" y="285750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Wu, X. et al. (2027)</a:t>
            </a:r>
            <a:endParaRPr lang="en-US" sz="570" dirty="0"/>
          </a:p>
        </p:txBody>
      </p:sp>
      <p:sp>
        <p:nvSpPr>
          <p:cNvPr id="34" name="Text 29"/>
          <p:cNvSpPr/>
          <p:nvPr/>
        </p:nvSpPr>
        <p:spPr>
          <a:xfrm>
            <a:off x="2247900" y="285750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Authentication and traceability of tea as a high-risk product: a comprehensive review of spectroscopic and chemometric solutions.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Food Control</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192, 112555. https://doi.org/10.1016/j.foodcont.2026.112555</a:t>
            </a:r>
            <a:endParaRPr lang="en-US" sz="570" dirty="0"/>
          </a:p>
        </p:txBody>
      </p:sp>
      <p:sp>
        <p:nvSpPr>
          <p:cNvPr id="35" name="Shape 30"/>
          <p:cNvSpPr/>
          <p:nvPr/>
        </p:nvSpPr>
        <p:spPr>
          <a:xfrm>
            <a:off x="533400" y="3105150"/>
            <a:ext cx="8077200" cy="4763"/>
          </a:xfrm>
          <a:prstGeom prst="rect">
            <a:avLst/>
          </a:prstGeom>
          <a:solidFill>
            <a:srgbClr val="E3DACA"/>
          </a:solidFill>
          <a:ln/>
        </p:spPr>
      </p:sp>
      <p:sp>
        <p:nvSpPr>
          <p:cNvPr id="36" name="Text 31"/>
          <p:cNvSpPr/>
          <p:nvPr/>
        </p:nvSpPr>
        <p:spPr>
          <a:xfrm>
            <a:off x="533400" y="314325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Zareef, M. et al. (2018)</a:t>
            </a:r>
            <a:endParaRPr lang="en-US" sz="570" dirty="0"/>
          </a:p>
        </p:txBody>
      </p:sp>
      <p:sp>
        <p:nvSpPr>
          <p:cNvPr id="37" name="Text 32"/>
          <p:cNvSpPr/>
          <p:nvPr/>
        </p:nvSpPr>
        <p:spPr>
          <a:xfrm>
            <a:off x="2247900" y="314325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Prediction of amino acids, caffeine, theaflavins and water extract in black tea using FT-NIR spectroscopy coupled chemometrics algorithms.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Analytical Methods</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10(25), pp.3023-3031. https://doi.org/10.1039/C8AY00731D</a:t>
            </a:r>
            <a:endParaRPr lang="en-US" sz="570" dirty="0"/>
          </a:p>
        </p:txBody>
      </p:sp>
      <p:sp>
        <p:nvSpPr>
          <p:cNvPr id="38" name="Shape 33"/>
          <p:cNvSpPr/>
          <p:nvPr/>
        </p:nvSpPr>
        <p:spPr>
          <a:xfrm>
            <a:off x="533400" y="3390900"/>
            <a:ext cx="8077200" cy="4763"/>
          </a:xfrm>
          <a:prstGeom prst="rect">
            <a:avLst/>
          </a:prstGeom>
          <a:solidFill>
            <a:srgbClr val="E3DACA"/>
          </a:solidFill>
          <a:ln/>
        </p:spPr>
      </p:sp>
      <p:sp>
        <p:nvSpPr>
          <p:cNvPr id="39" name="Text 34"/>
          <p:cNvSpPr/>
          <p:nvPr/>
        </p:nvSpPr>
        <p:spPr>
          <a:xfrm>
            <a:off x="533400" y="3429000"/>
            <a:ext cx="1571625" cy="104775"/>
          </a:xfrm>
          <a:prstGeom prst="rect">
            <a:avLst/>
          </a:prstGeom>
          <a:noFill/>
          <a:ln/>
        </p:spPr>
        <p:txBody>
          <a:bodyPr wrap="square" lIns="0" tIns="0" rIns="0" bIns="0" rtlCol="0" anchor="t"/>
          <a:lstStyle/>
          <a:p>
            <a:pPr algn="l" indent="0" marL="0">
              <a:lnSpc>
                <a:spcPts val="787"/>
              </a:lnSpc>
              <a:buNone/>
            </a:pPr>
            <a:r>
              <a:rPr lang="en-US" sz="570" b="1" dirty="0">
                <a:solidFill>
                  <a:srgbClr val="1F5C4F">
                    <a:alpha val="99000"/>
                  </a:srgbClr>
                </a:solidFill>
                <a:latin typeface="Inter" pitchFamily="34" charset="0"/>
                <a:ea typeface="Inter" pitchFamily="34" charset="-122"/>
                <a:cs typeface="Inter" pitchFamily="34" charset="-120"/>
              </a:rPr>
              <a:t>Zou, H. et al. (2022)</a:t>
            </a:r>
            <a:endParaRPr lang="en-US" sz="570" dirty="0"/>
          </a:p>
        </p:txBody>
      </p:sp>
      <p:sp>
        <p:nvSpPr>
          <p:cNvPr id="40" name="Text 35"/>
          <p:cNvSpPr/>
          <p:nvPr/>
        </p:nvSpPr>
        <p:spPr>
          <a:xfrm>
            <a:off x="2247900" y="3429000"/>
            <a:ext cx="6362700" cy="209550"/>
          </a:xfrm>
          <a:prstGeom prst="rect">
            <a:avLst/>
          </a:prstGeom>
          <a:noFill/>
          <a:ln/>
        </p:spPr>
        <p:txBody>
          <a:bodyPr wrap="square" lIns="0" tIns="0" rIns="0" bIns="0" rtlCol="0" anchor="t"/>
          <a:lstStyle/>
          <a:p>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Prediction method of the moisture content of black tea during processing based on the miniaturized near-infrared spectrometer. </a:t>
            </a:r>
            <a:pPr algn="l" indent="0" marL="0">
              <a:lnSpc>
                <a:spcPts val="787"/>
              </a:lnSpc>
              <a:buNone/>
            </a:pPr>
            <a:r>
              <a:rPr lang="en-US" sz="570" i="1" dirty="0">
                <a:solidFill>
                  <a:srgbClr val="23302D">
                    <a:alpha val="99000"/>
                  </a:srgbClr>
                </a:solidFill>
                <a:latin typeface="Inter" pitchFamily="34" charset="0"/>
                <a:ea typeface="Inter" pitchFamily="34" charset="-122"/>
                <a:cs typeface="Inter" pitchFamily="34" charset="-120"/>
              </a:rPr>
              <a:t>Horticulturae</a:t>
            </a:r>
            <a:pPr algn="l" indent="0" marL="0">
              <a:lnSpc>
                <a:spcPts val="787"/>
              </a:lnSpc>
              <a:buNone/>
            </a:pPr>
            <a:r>
              <a:rPr lang="en-US" sz="570" dirty="0">
                <a:solidFill>
                  <a:srgbClr val="23302D">
                    <a:alpha val="99000"/>
                  </a:srgbClr>
                </a:solidFill>
                <a:latin typeface="Inter" pitchFamily="34" charset="0"/>
                <a:ea typeface="Inter" pitchFamily="34" charset="-122"/>
                <a:cs typeface="Inter" pitchFamily="34" charset="-120"/>
              </a:rPr>
              <a:t>, 8(12), 1170. https://doi.org/10.3390/horticulturae8121170</a:t>
            </a:r>
            <a:endParaRPr lang="en-US" sz="570" dirty="0"/>
          </a:p>
        </p:txBody>
      </p:sp>
      <p:sp>
        <p:nvSpPr>
          <p:cNvPr id="41" name="Text 36"/>
          <p:cNvSpPr/>
          <p:nvPr/>
        </p:nvSpPr>
        <p:spPr>
          <a:xfrm>
            <a:off x="533400" y="3743325"/>
            <a:ext cx="3276600" cy="76200"/>
          </a:xfrm>
          <a:prstGeom prst="rect">
            <a:avLst/>
          </a:prstGeom>
          <a:noFill/>
          <a:ln/>
        </p:spPr>
        <p:txBody>
          <a:bodyPr wrap="square" lIns="0" tIns="0" rIns="0" bIns="0" rtlCol="0" anchor="t"/>
          <a:lstStyle/>
          <a:p>
            <a:pPr algn="l" indent="0" marL="0">
              <a:lnSpc>
                <a:spcPts val="560"/>
              </a:lnSpc>
              <a:buNone/>
            </a:pPr>
            <a:r>
              <a:rPr lang="en-US" sz="463" b="1" spc="74" kern="0" dirty="0">
                <a:solidFill>
                  <a:srgbClr val="B8893B">
                    <a:alpha val="99000"/>
                  </a:srgbClr>
                </a:solidFill>
                <a:latin typeface="Inter" pitchFamily="34" charset="0"/>
                <a:ea typeface="Inter" pitchFamily="34" charset="-122"/>
                <a:cs typeface="Inter" pitchFamily="34" charset="-120"/>
              </a:rPr>
              <a:t>STANDARDS, PROFESSIONAL CODES AND DATA SOURCES (NOT JOURNAL ARTICLES)</a:t>
            </a:r>
            <a:endParaRPr lang="en-US" sz="463" dirty="0"/>
          </a:p>
        </p:txBody>
      </p:sp>
      <p:sp>
        <p:nvSpPr>
          <p:cNvPr id="42" name="Shape 37"/>
          <p:cNvSpPr/>
          <p:nvPr/>
        </p:nvSpPr>
        <p:spPr>
          <a:xfrm>
            <a:off x="533400" y="3876675"/>
            <a:ext cx="8077200" cy="4763"/>
          </a:xfrm>
          <a:prstGeom prst="rect">
            <a:avLst/>
          </a:prstGeom>
          <a:solidFill>
            <a:srgbClr val="0E2A26">
              <a:alpha val="18000"/>
            </a:srgbClr>
          </a:solidFill>
          <a:ln/>
        </p:spPr>
      </p:sp>
      <p:sp>
        <p:nvSpPr>
          <p:cNvPr id="43" name="Text 38"/>
          <p:cNvSpPr/>
          <p:nvPr/>
        </p:nvSpPr>
        <p:spPr>
          <a:xfrm>
            <a:off x="533400" y="3952875"/>
            <a:ext cx="3924300" cy="180975"/>
          </a:xfrm>
          <a:prstGeom prst="rect">
            <a:avLst/>
          </a:prstGeom>
          <a:noFill/>
          <a:ln/>
        </p:spPr>
        <p:txBody>
          <a:bodyPr wrap="square" lIns="0" tIns="0" rIns="0" bIns="0" rtlCol="0" anchor="t"/>
          <a:lstStyle/>
          <a:p>
            <a:pPr algn="l" indent="0" marL="0">
              <a:lnSpc>
                <a:spcPts val="688"/>
              </a:lnSpc>
              <a:buNone/>
            </a:pPr>
            <a:r>
              <a:rPr lang="en-US" sz="499" b="1" dirty="0">
                <a:solidFill>
                  <a:srgbClr val="1F5C4F">
                    <a:alpha val="99000"/>
                  </a:srgbClr>
                </a:solidFill>
                <a:latin typeface="Inter" pitchFamily="34" charset="0"/>
                <a:ea typeface="Inter" pitchFamily="34" charset="-122"/>
                <a:cs typeface="Inter" pitchFamily="34" charset="-120"/>
              </a:rPr>
              <a:t>BCS (n.d.)</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BCS, The Chartered Institute for IT. </a:t>
            </a:r>
            <a:pPr algn="l" indent="0" marL="0">
              <a:lnSpc>
                <a:spcPts val="688"/>
              </a:lnSpc>
              <a:buNone/>
            </a:pPr>
            <a:r>
              <a:rPr lang="en-US" sz="499" i="1" dirty="0">
                <a:solidFill>
                  <a:srgbClr val="23302D">
                    <a:alpha val="99000"/>
                  </a:srgbClr>
                </a:solidFill>
                <a:latin typeface="Inter" pitchFamily="34" charset="0"/>
                <a:ea typeface="Inter" pitchFamily="34" charset="-122"/>
                <a:cs typeface="Inter" pitchFamily="34" charset="-120"/>
              </a:rPr>
              <a:t>BCS Code of Conduct</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Available at: https://www.bcs.org/membership-and-registrations/become-a-member/bcs-code-of-conduct (Accessed: 19 October 2026).</a:t>
            </a:r>
            <a:endParaRPr lang="en-US" sz="499" dirty="0"/>
          </a:p>
        </p:txBody>
      </p:sp>
      <p:sp>
        <p:nvSpPr>
          <p:cNvPr id="44" name="Text 39"/>
          <p:cNvSpPr/>
          <p:nvPr/>
        </p:nvSpPr>
        <p:spPr>
          <a:xfrm>
            <a:off x="4686300" y="3952875"/>
            <a:ext cx="3924300" cy="180975"/>
          </a:xfrm>
          <a:prstGeom prst="rect">
            <a:avLst/>
          </a:prstGeom>
          <a:noFill/>
          <a:ln/>
        </p:spPr>
        <p:txBody>
          <a:bodyPr wrap="square" lIns="0" tIns="0" rIns="0" bIns="0" rtlCol="0" anchor="t"/>
          <a:lstStyle/>
          <a:p>
            <a:pPr algn="l" indent="0" marL="0">
              <a:lnSpc>
                <a:spcPts val="688"/>
              </a:lnSpc>
              <a:buNone/>
            </a:pPr>
            <a:r>
              <a:rPr lang="en-US" sz="499" b="1" dirty="0">
                <a:solidFill>
                  <a:srgbClr val="1F5C4F">
                    <a:alpha val="99000"/>
                  </a:srgbClr>
                </a:solidFill>
                <a:latin typeface="Inter" pitchFamily="34" charset="0"/>
                <a:ea typeface="Inter" pitchFamily="34" charset="-122"/>
                <a:cs typeface="Inter" pitchFamily="34" charset="-120"/>
              </a:rPr>
              <a:t>Daily FT (2026)</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a:t>
            </a:r>
            <a:pPr algn="l" indent="0" marL="0">
              <a:lnSpc>
                <a:spcPts val="688"/>
              </a:lnSpc>
              <a:buNone/>
            </a:pPr>
            <a:r>
              <a:rPr lang="en-US" sz="499" i="1" dirty="0">
                <a:solidFill>
                  <a:srgbClr val="23302D">
                    <a:alpha val="99000"/>
                  </a:srgbClr>
                </a:solidFill>
                <a:latin typeface="Inter" pitchFamily="34" charset="0"/>
                <a:ea typeface="Inter" pitchFamily="34" charset="-122"/>
                <a:cs typeface="Inter" pitchFamily="34" charset="-120"/>
              </a:rPr>
              <a:t>Tea exports top $1.5 b in 2025 despite price pressures</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23 January. Available at: https://www.ft.lk/front-page/Tea-exports-top-1-5-b-in-2025-despite-price-pressures/44-787299 (Accessed: 19 October 2026).</a:t>
            </a:r>
            <a:endParaRPr lang="en-US" sz="499" dirty="0"/>
          </a:p>
        </p:txBody>
      </p:sp>
      <p:sp>
        <p:nvSpPr>
          <p:cNvPr id="45" name="Text 40"/>
          <p:cNvSpPr/>
          <p:nvPr/>
        </p:nvSpPr>
        <p:spPr>
          <a:xfrm>
            <a:off x="533400" y="4181475"/>
            <a:ext cx="3924300" cy="180975"/>
          </a:xfrm>
          <a:prstGeom prst="rect">
            <a:avLst/>
          </a:prstGeom>
          <a:noFill/>
          <a:ln/>
        </p:spPr>
        <p:txBody>
          <a:bodyPr wrap="square" lIns="0" tIns="0" rIns="0" bIns="0" rtlCol="0" anchor="t"/>
          <a:lstStyle/>
          <a:p>
            <a:pPr algn="l" indent="0" marL="0">
              <a:lnSpc>
                <a:spcPts val="688"/>
              </a:lnSpc>
              <a:buNone/>
            </a:pPr>
            <a:r>
              <a:rPr lang="en-US" sz="499" b="1" dirty="0">
                <a:solidFill>
                  <a:srgbClr val="1F5C4F">
                    <a:alpha val="99000"/>
                  </a:srgbClr>
                </a:solidFill>
                <a:latin typeface="Inter" pitchFamily="34" charset="0"/>
                <a:ea typeface="Inter" pitchFamily="34" charset="-122"/>
                <a:cs typeface="Inter" pitchFamily="34" charset="-120"/>
              </a:rPr>
              <a:t>ISO (1980)</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a:t>
            </a:r>
            <a:pPr algn="l" indent="0" marL="0">
              <a:lnSpc>
                <a:spcPts val="688"/>
              </a:lnSpc>
              <a:buNone/>
            </a:pPr>
            <a:r>
              <a:rPr lang="en-US" sz="499" i="1" dirty="0">
                <a:solidFill>
                  <a:srgbClr val="23302D">
                    <a:alpha val="99000"/>
                  </a:srgbClr>
                </a:solidFill>
                <a:latin typeface="Inter" pitchFamily="34" charset="0"/>
                <a:ea typeface="Inter" pitchFamily="34" charset="-122"/>
                <a:cs typeface="Inter" pitchFamily="34" charset="-120"/>
              </a:rPr>
              <a:t>ISO 1573:1980 Tea: determination of loss in mass at 103 C</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Geneva: International Organization for Standardization.</a:t>
            </a:r>
            <a:endParaRPr lang="en-US" sz="499" dirty="0"/>
          </a:p>
        </p:txBody>
      </p:sp>
      <p:sp>
        <p:nvSpPr>
          <p:cNvPr id="46" name="Text 41"/>
          <p:cNvSpPr/>
          <p:nvPr/>
        </p:nvSpPr>
        <p:spPr>
          <a:xfrm>
            <a:off x="4686300" y="4181475"/>
            <a:ext cx="3924300" cy="180975"/>
          </a:xfrm>
          <a:prstGeom prst="rect">
            <a:avLst/>
          </a:prstGeom>
          <a:noFill/>
          <a:ln/>
        </p:spPr>
        <p:txBody>
          <a:bodyPr wrap="square" lIns="0" tIns="0" rIns="0" bIns="0" rtlCol="0" anchor="t"/>
          <a:lstStyle/>
          <a:p>
            <a:pPr algn="l" indent="0" marL="0">
              <a:lnSpc>
                <a:spcPts val="688"/>
              </a:lnSpc>
              <a:buNone/>
            </a:pPr>
            <a:r>
              <a:rPr lang="en-US" sz="499" b="1" dirty="0">
                <a:solidFill>
                  <a:srgbClr val="1F5C4F">
                    <a:alpha val="99000"/>
                  </a:srgbClr>
                </a:solidFill>
                <a:latin typeface="Inter" pitchFamily="34" charset="0"/>
                <a:ea typeface="Inter" pitchFamily="34" charset="-122"/>
                <a:cs typeface="Inter" pitchFamily="34" charset="-120"/>
              </a:rPr>
              <a:t>ISO (2005)</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a:t>
            </a:r>
            <a:pPr algn="l" indent="0" marL="0">
              <a:lnSpc>
                <a:spcPts val="688"/>
              </a:lnSpc>
              <a:buNone/>
            </a:pPr>
            <a:r>
              <a:rPr lang="en-US" sz="499" i="1" dirty="0">
                <a:solidFill>
                  <a:srgbClr val="23302D">
                    <a:alpha val="99000"/>
                  </a:srgbClr>
                </a:solidFill>
                <a:latin typeface="Inter" pitchFamily="34" charset="0"/>
                <a:ea typeface="Inter" pitchFamily="34" charset="-122"/>
                <a:cs typeface="Inter" pitchFamily="34" charset="-120"/>
              </a:rPr>
              <a:t>ISO 14502-1:2005 Determination of substances characteristic of green and black tea, Part 1: content of total polyphenols in tea</a:t>
            </a:r>
            <a:pPr algn="l" indent="0" marL="0">
              <a:lnSpc>
                <a:spcPts val="688"/>
              </a:lnSpc>
              <a:buNone/>
            </a:pPr>
            <a:r>
              <a:rPr lang="en-US" sz="499" dirty="0">
                <a:solidFill>
                  <a:srgbClr val="23302D">
                    <a:alpha val="99000"/>
                  </a:srgbClr>
                </a:solidFill>
                <a:latin typeface="Inter" pitchFamily="34" charset="0"/>
                <a:ea typeface="Inter" pitchFamily="34" charset="-122"/>
                <a:cs typeface="Inter" pitchFamily="34" charset="-120"/>
              </a:rPr>
              <a:t>. Geneva: ISO.</a:t>
            </a:r>
            <a:endParaRPr lang="en-US" sz="499"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420"/>
        </a:solidFill>
      </p:bgPr>
    </p:bg>
    <p:spTree>
      <p:nvGrpSpPr>
        <p:cNvPr id="1" name=""/>
        <p:cNvGrpSpPr/>
        <p:nvPr/>
      </p:nvGrpSpPr>
      <p:grpSpPr>
        <a:xfrm>
          <a:off x="0" y="0"/>
          <a:ext cx="0" cy="0"/>
          <a:chOff x="0" y="0"/>
          <a:chExt cx="0" cy="0"/>
        </a:xfrm>
      </p:grpSpPr>
      <p:sp>
        <p:nvSpPr>
          <p:cNvPr id="3" name="Shape 0"/>
          <p:cNvSpPr/>
          <p:nvPr/>
        </p:nvSpPr>
        <p:spPr>
          <a:xfrm>
            <a:off x="5619750" y="-2000250"/>
            <a:ext cx="5715000" cy="5715000"/>
          </a:xfrm>
          <a:prstGeom prst="ellipse">
            <a:avLst/>
          </a:prstGeom>
          <a:solidFill>
            <a:srgbClr val="1F5C4F">
              <a:alpha val="28000"/>
            </a:srgbClr>
          </a:solidFill>
          <a:ln/>
        </p:spPr>
      </p:sp>
      <p:sp>
        <p:nvSpPr>
          <p:cNvPr id="4" name="Shape 1"/>
          <p:cNvSpPr/>
          <p:nvPr/>
        </p:nvSpPr>
        <p:spPr>
          <a:xfrm>
            <a:off x="6000750" y="-1619250"/>
            <a:ext cx="5715000" cy="5715000"/>
          </a:xfrm>
          <a:prstGeom prst="ellipse">
            <a:avLst/>
          </a:prstGeom>
          <a:noFill/>
          <a:ln w="6787">
            <a:solidFill>
              <a:srgbClr val="C9A24E">
                <a:alpha val="35000"/>
              </a:srgbClr>
            </a:solidFill>
            <a:prstDash val="solid"/>
          </a:ln>
        </p:spPr>
      </p:sp>
      <p:sp>
        <p:nvSpPr>
          <p:cNvPr id="5" name="Text 2"/>
          <p:cNvSpPr/>
          <p:nvPr/>
        </p:nvSpPr>
        <p:spPr>
          <a:xfrm>
            <a:off x="533400" y="314325"/>
            <a:ext cx="97155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D4AF63">
                    <a:alpha val="99000"/>
                  </a:srgbClr>
                </a:solidFill>
                <a:latin typeface="Inter" pitchFamily="34" charset="0"/>
                <a:ea typeface="Inter" pitchFamily="34" charset="-122"/>
                <a:cs typeface="Inter" pitchFamily="34" charset="-120"/>
              </a:rPr>
              <a:t>21   ·   CONCLUSION</a:t>
            </a:r>
            <a:endParaRPr lang="en-US" sz="534" dirty="0"/>
          </a:p>
        </p:txBody>
      </p:sp>
      <p:sp>
        <p:nvSpPr>
          <p:cNvPr id="6" name="Shape 3"/>
          <p:cNvSpPr/>
          <p:nvPr/>
        </p:nvSpPr>
        <p:spPr>
          <a:xfrm>
            <a:off x="7805738" y="295275"/>
            <a:ext cx="804863" cy="161925"/>
          </a:xfrm>
          <a:prstGeom prst="roundRect">
            <a:avLst/>
          </a:prstGeom>
          <a:noFill/>
          <a:ln w="5429">
            <a:solidFill>
              <a:srgbClr val="D4AF63"/>
            </a:solidFill>
            <a:prstDash val="solid"/>
          </a:ln>
        </p:spPr>
      </p:sp>
      <p:sp>
        <p:nvSpPr>
          <p:cNvPr id="7" name="Text 4"/>
          <p:cNvSpPr/>
          <p:nvPr/>
        </p:nvSpPr>
        <p:spPr>
          <a:xfrm>
            <a:off x="7891463" y="335756"/>
            <a:ext cx="6334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D4AF63">
                    <a:alpha val="99000"/>
                  </a:srgbClr>
                </a:solidFill>
                <a:latin typeface="Inter" pitchFamily="34" charset="0"/>
                <a:ea typeface="Inter" pitchFamily="34" charset="-122"/>
                <a:cs typeface="Inter" pitchFamily="34" charset="-120"/>
              </a:rPr>
              <a:t>Delivery/Q&amp;A 30%</a:t>
            </a:r>
            <a:endParaRPr lang="en-US" sz="499" dirty="0"/>
          </a:p>
        </p:txBody>
      </p:sp>
      <p:sp>
        <p:nvSpPr>
          <p:cNvPr id="8" name="Shape 5"/>
          <p:cNvSpPr/>
          <p:nvPr/>
        </p:nvSpPr>
        <p:spPr>
          <a:xfrm>
            <a:off x="533400" y="4781550"/>
            <a:ext cx="8077200" cy="4763"/>
          </a:xfrm>
          <a:prstGeom prst="rect">
            <a:avLst/>
          </a:prstGeom>
          <a:solidFill>
            <a:srgbClr val="FFFFFF">
              <a:alpha val="15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FFFFFF">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9DB7AF">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6762750" y="4881563"/>
            <a:ext cx="285750"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D4AF63">
                    <a:alpha val="99000"/>
                  </a:srgbClr>
                </a:solidFill>
                <a:latin typeface="Inter" pitchFamily="34" charset="0"/>
                <a:ea typeface="Inter" pitchFamily="34" charset="-122"/>
                <a:cs typeface="Inter" pitchFamily="34" charset="-120"/>
              </a:rPr>
              <a:t>21  /  23</a:t>
            </a:r>
            <a:endParaRPr lang="en-US" sz="499" dirty="0"/>
          </a:p>
        </p:txBody>
      </p:sp>
      <p:sp>
        <p:nvSpPr>
          <p:cNvPr id="12" name="Shape 9"/>
          <p:cNvSpPr/>
          <p:nvPr/>
        </p:nvSpPr>
        <p:spPr>
          <a:xfrm>
            <a:off x="7391400" y="4819650"/>
            <a:ext cx="1219200" cy="257175"/>
          </a:xfrm>
          <a:prstGeom prst="roundRect">
            <a:avLst/>
          </a:prstGeom>
          <a:solidFill>
            <a:srgbClr val="FFFFFF"/>
          </a:solidFill>
          <a:ln/>
        </p:spPr>
      </p:sp>
      <p:pic>
        <p:nvPicPr>
          <p:cNvPr id="13" name="Image 0" descr="preencoded.png">    </p:cNvPr>
          <p:cNvPicPr>
            <a:picLocks noChangeAspect="1"/>
          </p:cNvPicPr>
          <p:nvPr/>
        </p:nvPicPr>
        <p:blipFill>
          <a:blip r:embed="rId1"/>
          <a:srcRect l="0" r="0" t="0" b="0"/>
          <a:stretch/>
        </p:blipFill>
        <p:spPr>
          <a:xfrm>
            <a:off x="7458075" y="4848225"/>
            <a:ext cx="381000" cy="200025"/>
          </a:xfrm>
          <a:prstGeom prst="rect">
            <a:avLst/>
          </a:prstGeom>
        </p:spPr>
      </p:pic>
      <p:pic>
        <p:nvPicPr>
          <p:cNvPr id="14" name="Image 1" descr="preencoded.png">    </p:cNvPr>
          <p:cNvPicPr>
            <a:picLocks noChangeAspect="1"/>
          </p:cNvPicPr>
          <p:nvPr/>
        </p:nvPicPr>
        <p:blipFill>
          <a:blip r:embed="rId2"/>
          <a:srcRect l="0" r="0" t="0" b="0"/>
          <a:stretch/>
        </p:blipFill>
        <p:spPr>
          <a:xfrm>
            <a:off x="8001000" y="4881563"/>
            <a:ext cx="523875" cy="133350"/>
          </a:xfrm>
          <a:prstGeom prst="rect">
            <a:avLst/>
          </a:prstGeom>
        </p:spPr>
      </p:pic>
      <p:sp>
        <p:nvSpPr>
          <p:cNvPr id="15" name="Text 10"/>
          <p:cNvSpPr/>
          <p:nvPr/>
        </p:nvSpPr>
        <p:spPr>
          <a:xfrm>
            <a:off x="523875" y="447675"/>
            <a:ext cx="4286250" cy="342900"/>
          </a:xfrm>
          <a:prstGeom prst="rect">
            <a:avLst/>
          </a:prstGeom>
          <a:noFill/>
          <a:ln/>
        </p:spPr>
        <p:txBody>
          <a:bodyPr wrap="square" lIns="0" tIns="0" rIns="0" bIns="0" rtlCol="0" anchor="t"/>
          <a:lstStyle/>
          <a:p>
            <a:pPr algn="l" indent="0" marL="0">
              <a:lnSpc>
                <a:spcPts val="2564"/>
              </a:lnSpc>
              <a:buNone/>
            </a:pPr>
            <a:r>
              <a:rPr lang="en-US" sz="1924" b="1" dirty="0">
                <a:solidFill>
                  <a:srgbClr val="FFFFFF">
                    <a:alpha val="99000"/>
                  </a:srgbClr>
                </a:solidFill>
                <a:latin typeface="Playfair Display" pitchFamily="34" charset="0"/>
                <a:ea typeface="Playfair Display" pitchFamily="34" charset="-122"/>
                <a:cs typeface="Playfair Display" pitchFamily="34" charset="-120"/>
              </a:rPr>
              <a:t>Closing statement</a:t>
            </a:r>
            <a:endParaRPr lang="en-US" sz="1924" dirty="0"/>
          </a:p>
        </p:txBody>
      </p:sp>
      <p:sp>
        <p:nvSpPr>
          <p:cNvPr id="16" name="Shape 11"/>
          <p:cNvSpPr/>
          <p:nvPr/>
        </p:nvSpPr>
        <p:spPr>
          <a:xfrm>
            <a:off x="533400" y="828675"/>
            <a:ext cx="266700" cy="14288"/>
          </a:xfrm>
          <a:prstGeom prst="rect">
            <a:avLst/>
          </a:prstGeom>
          <a:solidFill>
            <a:srgbClr val="D4AF63"/>
          </a:solidFill>
          <a:ln/>
        </p:spPr>
      </p:sp>
      <p:sp>
        <p:nvSpPr>
          <p:cNvPr id="17" name="Text 12"/>
          <p:cNvSpPr/>
          <p:nvPr/>
        </p:nvSpPr>
        <p:spPr>
          <a:xfrm>
            <a:off x="533400" y="1619250"/>
            <a:ext cx="3048000" cy="1100138"/>
          </a:xfrm>
          <a:prstGeom prst="rect">
            <a:avLst/>
          </a:prstGeom>
          <a:noFill/>
          <a:ln/>
        </p:spPr>
        <p:txBody>
          <a:bodyPr wrap="square" lIns="0" tIns="0" rIns="0" bIns="0" rtlCol="0" anchor="t"/>
          <a:lstStyle/>
          <a:p>
            <a:pPr algn="l" indent="0" marL="0">
              <a:lnSpc>
                <a:spcPts val="2727"/>
              </a:lnSpc>
              <a:buNone/>
            </a:pPr>
            <a:r>
              <a:rPr lang="en-US" sz="2351" spc="-12" kern="0" dirty="0">
                <a:solidFill>
                  <a:srgbClr val="D4AF63">
                    <a:alpha val="99000"/>
                  </a:srgbClr>
                </a:solidFill>
                <a:latin typeface="Inter" pitchFamily="34" charset="0"/>
                <a:ea typeface="Inter" pitchFamily="34" charset="-122"/>
                <a:cs typeface="Inter" pitchFamily="34" charset="-120"/>
              </a:rPr>
              <a:t>Seconds of light, instead of hours of drying.</a:t>
            </a:r>
            <a:endParaRPr lang="en-US" sz="2351" dirty="0"/>
          </a:p>
        </p:txBody>
      </p:sp>
      <p:sp>
        <p:nvSpPr>
          <p:cNvPr id="18" name="Text 13"/>
          <p:cNvSpPr/>
          <p:nvPr/>
        </p:nvSpPr>
        <p:spPr>
          <a:xfrm>
            <a:off x="533400" y="2952750"/>
            <a:ext cx="2857500" cy="333375"/>
          </a:xfrm>
          <a:prstGeom prst="rect">
            <a:avLst/>
          </a:prstGeom>
          <a:noFill/>
          <a:ln/>
        </p:spPr>
        <p:txBody>
          <a:bodyPr wrap="square" lIns="0" tIns="0" rIns="0" bIns="0" rtlCol="0" anchor="t"/>
          <a:lstStyle/>
          <a:p>
            <a:pPr algn="l" indent="0" marL="0">
              <a:lnSpc>
                <a:spcPts val="1229"/>
              </a:lnSpc>
              <a:buNone/>
            </a:pPr>
            <a:r>
              <a:rPr lang="en-US" sz="819" dirty="0">
                <a:solidFill>
                  <a:srgbClr val="DCE7E3">
                    <a:alpha val="99000"/>
                  </a:srgbClr>
                </a:solidFill>
                <a:latin typeface="Inter" pitchFamily="34" charset="0"/>
                <a:ea typeface="Inter" pitchFamily="34" charset="-122"/>
                <a:cs typeface="Inter" pitchFamily="34" charset="-120"/>
              </a:rPr>
              <a:t>Tea Sense tests whether that promise holds for Sri Lankan black tea, honestly and on unseen samples.</a:t>
            </a:r>
            <a:endParaRPr lang="en-US" sz="819" dirty="0"/>
          </a:p>
        </p:txBody>
      </p:sp>
      <p:sp>
        <p:nvSpPr>
          <p:cNvPr id="19" name="Text 14"/>
          <p:cNvSpPr/>
          <p:nvPr/>
        </p:nvSpPr>
        <p:spPr>
          <a:xfrm>
            <a:off x="4095750" y="1314450"/>
            <a:ext cx="195263"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D4AF63">
                    <a:alpha val="99000"/>
                  </a:srgbClr>
                </a:solidFill>
                <a:latin typeface="Inter" pitchFamily="34" charset="0"/>
                <a:ea typeface="Inter" pitchFamily="34" charset="-122"/>
                <a:cs typeface="Inter" pitchFamily="34" charset="-120"/>
              </a:rPr>
              <a:t>01</a:t>
            </a:r>
            <a:endParaRPr lang="en-US" sz="1283" dirty="0"/>
          </a:p>
        </p:txBody>
      </p:sp>
      <p:sp>
        <p:nvSpPr>
          <p:cNvPr id="20" name="Text 15"/>
          <p:cNvSpPr/>
          <p:nvPr/>
        </p:nvSpPr>
        <p:spPr>
          <a:xfrm>
            <a:off x="4524375" y="1333500"/>
            <a:ext cx="4086225" cy="361950"/>
          </a:xfrm>
          <a:prstGeom prst="rect">
            <a:avLst/>
          </a:prstGeom>
          <a:noFill/>
          <a:ln/>
        </p:spPr>
        <p:txBody>
          <a:bodyPr wrap="square" lIns="0" tIns="0" rIns="0" bIns="0" rtlCol="0" anchor="t"/>
          <a:lstStyle/>
          <a:p>
            <a:pPr algn="l" indent="0" marL="0">
              <a:lnSpc>
                <a:spcPts val="1343"/>
              </a:lnSpc>
              <a:buNone/>
            </a:pPr>
            <a:r>
              <a:rPr lang="en-US" sz="926" dirty="0">
                <a:solidFill>
                  <a:srgbClr val="FFFFFF">
                    <a:alpha val="99000"/>
                  </a:srgbClr>
                </a:solidFill>
                <a:latin typeface="Inter" pitchFamily="34" charset="0"/>
                <a:ea typeface="Inter" pitchFamily="34" charset="-122"/>
                <a:cs typeface="Inter" pitchFamily="34" charset="-120"/>
              </a:rPr>
              <a:t>Addresses slow, fragmented tea quality testing: oven moisture takes about six hours.</a:t>
            </a:r>
            <a:endParaRPr lang="en-US" sz="926" dirty="0"/>
          </a:p>
        </p:txBody>
      </p:sp>
      <p:sp>
        <p:nvSpPr>
          <p:cNvPr id="21" name="Shape 16"/>
          <p:cNvSpPr/>
          <p:nvPr/>
        </p:nvSpPr>
        <p:spPr>
          <a:xfrm>
            <a:off x="4095750" y="1828800"/>
            <a:ext cx="4514850" cy="4763"/>
          </a:xfrm>
          <a:prstGeom prst="rect">
            <a:avLst/>
          </a:prstGeom>
          <a:solidFill>
            <a:srgbClr val="FFFFFF">
              <a:alpha val="15000"/>
            </a:srgbClr>
          </a:solidFill>
          <a:ln/>
        </p:spPr>
      </p:sp>
      <p:sp>
        <p:nvSpPr>
          <p:cNvPr id="22" name="Text 17"/>
          <p:cNvSpPr/>
          <p:nvPr/>
        </p:nvSpPr>
        <p:spPr>
          <a:xfrm>
            <a:off x="4095750" y="1943100"/>
            <a:ext cx="223838"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D4AF63">
                    <a:alpha val="99000"/>
                  </a:srgbClr>
                </a:solidFill>
                <a:latin typeface="Inter" pitchFamily="34" charset="0"/>
                <a:ea typeface="Inter" pitchFamily="34" charset="-122"/>
                <a:cs typeface="Inter" pitchFamily="34" charset="-120"/>
              </a:rPr>
              <a:t>02</a:t>
            </a:r>
            <a:endParaRPr lang="en-US" sz="1283" dirty="0"/>
          </a:p>
        </p:txBody>
      </p:sp>
      <p:sp>
        <p:nvSpPr>
          <p:cNvPr id="23" name="Text 18"/>
          <p:cNvSpPr/>
          <p:nvPr/>
        </p:nvSpPr>
        <p:spPr>
          <a:xfrm>
            <a:off x="4524375" y="1962150"/>
            <a:ext cx="4086225" cy="361950"/>
          </a:xfrm>
          <a:prstGeom prst="rect">
            <a:avLst/>
          </a:prstGeom>
          <a:noFill/>
          <a:ln/>
        </p:spPr>
        <p:txBody>
          <a:bodyPr wrap="square" lIns="0" tIns="0" rIns="0" bIns="0" rtlCol="0" anchor="t"/>
          <a:lstStyle/>
          <a:p>
            <a:pPr algn="l" indent="0" marL="0">
              <a:lnSpc>
                <a:spcPts val="1343"/>
              </a:lnSpc>
              <a:buNone/>
            </a:pPr>
            <a:r>
              <a:rPr lang="en-US" sz="926" dirty="0">
                <a:solidFill>
                  <a:srgbClr val="FFFFFF">
                    <a:alpha val="99000"/>
                  </a:srgbClr>
                </a:solidFill>
                <a:latin typeface="Inter" pitchFamily="34" charset="0"/>
                <a:ea typeface="Inter" pitchFamily="34" charset="-122"/>
                <a:cs typeface="Inter" pitchFamily="34" charset="-120"/>
              </a:rPr>
              <a:t>Proposes a shared-spectrum NIR and AI framework, validated on moisture.</a:t>
            </a:r>
            <a:endParaRPr lang="en-US" sz="926" dirty="0"/>
          </a:p>
        </p:txBody>
      </p:sp>
      <p:sp>
        <p:nvSpPr>
          <p:cNvPr id="24" name="Shape 19"/>
          <p:cNvSpPr/>
          <p:nvPr/>
        </p:nvSpPr>
        <p:spPr>
          <a:xfrm>
            <a:off x="4095750" y="2457450"/>
            <a:ext cx="4514850" cy="4763"/>
          </a:xfrm>
          <a:prstGeom prst="rect">
            <a:avLst/>
          </a:prstGeom>
          <a:solidFill>
            <a:srgbClr val="FFFFFF">
              <a:alpha val="15000"/>
            </a:srgbClr>
          </a:solidFill>
          <a:ln/>
        </p:spPr>
      </p:sp>
      <p:sp>
        <p:nvSpPr>
          <p:cNvPr id="25" name="Text 20"/>
          <p:cNvSpPr/>
          <p:nvPr/>
        </p:nvSpPr>
        <p:spPr>
          <a:xfrm>
            <a:off x="4095750" y="2571750"/>
            <a:ext cx="228600"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D4AF63">
                    <a:alpha val="99000"/>
                  </a:srgbClr>
                </a:solidFill>
                <a:latin typeface="Inter" pitchFamily="34" charset="0"/>
                <a:ea typeface="Inter" pitchFamily="34" charset="-122"/>
                <a:cs typeface="Inter" pitchFamily="34" charset="-120"/>
              </a:rPr>
              <a:t>03</a:t>
            </a:r>
            <a:endParaRPr lang="en-US" sz="1283" dirty="0"/>
          </a:p>
        </p:txBody>
      </p:sp>
      <p:sp>
        <p:nvSpPr>
          <p:cNvPr id="26" name="Text 21"/>
          <p:cNvSpPr/>
          <p:nvPr/>
        </p:nvSpPr>
        <p:spPr>
          <a:xfrm>
            <a:off x="4524375" y="2590800"/>
            <a:ext cx="4086225" cy="361950"/>
          </a:xfrm>
          <a:prstGeom prst="rect">
            <a:avLst/>
          </a:prstGeom>
          <a:noFill/>
          <a:ln/>
        </p:spPr>
        <p:txBody>
          <a:bodyPr wrap="square" lIns="0" tIns="0" rIns="0" bIns="0" rtlCol="0" anchor="t"/>
          <a:lstStyle/>
          <a:p>
            <a:pPr algn="l" indent="0" marL="0">
              <a:lnSpc>
                <a:spcPts val="1343"/>
              </a:lnSpc>
              <a:buNone/>
            </a:pPr>
            <a:r>
              <a:rPr lang="en-US" sz="926" dirty="0">
                <a:solidFill>
                  <a:srgbClr val="FFFFFF">
                    <a:alpha val="99000"/>
                  </a:srgbClr>
                </a:solidFill>
                <a:latin typeface="Inter" pitchFamily="34" charset="0"/>
                <a:ea typeface="Inter" pitchFamily="34" charset="-122"/>
                <a:cs typeface="Inter" pitchFamily="34" charset="-120"/>
              </a:rPr>
              <a:t>Uses a quantitative experiment plus a structured evidence synthesis of Q1/Q2 literature.</a:t>
            </a:r>
            <a:endParaRPr lang="en-US" sz="926" dirty="0"/>
          </a:p>
        </p:txBody>
      </p:sp>
      <p:sp>
        <p:nvSpPr>
          <p:cNvPr id="27" name="Shape 22"/>
          <p:cNvSpPr/>
          <p:nvPr/>
        </p:nvSpPr>
        <p:spPr>
          <a:xfrm>
            <a:off x="4095750" y="3086100"/>
            <a:ext cx="4514850" cy="4763"/>
          </a:xfrm>
          <a:prstGeom prst="rect">
            <a:avLst/>
          </a:prstGeom>
          <a:solidFill>
            <a:srgbClr val="FFFFFF">
              <a:alpha val="15000"/>
            </a:srgbClr>
          </a:solidFill>
          <a:ln/>
        </p:spPr>
      </p:sp>
      <p:sp>
        <p:nvSpPr>
          <p:cNvPr id="28" name="Text 23"/>
          <p:cNvSpPr/>
          <p:nvPr/>
        </p:nvSpPr>
        <p:spPr>
          <a:xfrm>
            <a:off x="4095750" y="3200400"/>
            <a:ext cx="228600"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D4AF63">
                    <a:alpha val="99000"/>
                  </a:srgbClr>
                </a:solidFill>
                <a:latin typeface="Inter" pitchFamily="34" charset="0"/>
                <a:ea typeface="Inter" pitchFamily="34" charset="-122"/>
                <a:cs typeface="Inter" pitchFamily="34" charset="-120"/>
              </a:rPr>
              <a:t>04</a:t>
            </a:r>
            <a:endParaRPr lang="en-US" sz="1283" dirty="0"/>
          </a:p>
        </p:txBody>
      </p:sp>
      <p:sp>
        <p:nvSpPr>
          <p:cNvPr id="29" name="Text 24"/>
          <p:cNvSpPr/>
          <p:nvPr/>
        </p:nvSpPr>
        <p:spPr>
          <a:xfrm>
            <a:off x="4524375" y="3219450"/>
            <a:ext cx="4086225" cy="361950"/>
          </a:xfrm>
          <a:prstGeom prst="rect">
            <a:avLst/>
          </a:prstGeom>
          <a:noFill/>
          <a:ln/>
        </p:spPr>
        <p:txBody>
          <a:bodyPr wrap="square" lIns="0" tIns="0" rIns="0" bIns="0" rtlCol="0" anchor="t"/>
          <a:lstStyle/>
          <a:p>
            <a:pPr algn="l" indent="0" marL="0">
              <a:lnSpc>
                <a:spcPts val="1343"/>
              </a:lnSpc>
              <a:buNone/>
            </a:pPr>
            <a:r>
              <a:rPr lang="en-US" sz="926" dirty="0">
                <a:solidFill>
                  <a:srgbClr val="FFFFFF">
                    <a:alpha val="99000"/>
                  </a:srgbClr>
                </a:solidFill>
                <a:latin typeface="Inter" pitchFamily="34" charset="0"/>
                <a:ea typeface="Inter" pitchFamily="34" charset="-122"/>
                <a:cs typeface="Inter" pitchFamily="34" charset="-120"/>
              </a:rPr>
              <a:t>Evaluates with held-out and unseen-source RMSEP, R2p, RPD, bias and time per sample.</a:t>
            </a:r>
            <a:endParaRPr lang="en-US" sz="926" dirty="0"/>
          </a:p>
        </p:txBody>
      </p:sp>
      <p:sp>
        <p:nvSpPr>
          <p:cNvPr id="30" name="Shape 25"/>
          <p:cNvSpPr/>
          <p:nvPr/>
        </p:nvSpPr>
        <p:spPr>
          <a:xfrm>
            <a:off x="4095750" y="3714750"/>
            <a:ext cx="4514850" cy="4763"/>
          </a:xfrm>
          <a:prstGeom prst="rect">
            <a:avLst/>
          </a:prstGeom>
          <a:solidFill>
            <a:srgbClr val="FFFFFF">
              <a:alpha val="15000"/>
            </a:srgbClr>
          </a:solidFill>
          <a:ln/>
        </p:spPr>
      </p:sp>
      <p:sp>
        <p:nvSpPr>
          <p:cNvPr id="31" name="Text 26"/>
          <p:cNvSpPr/>
          <p:nvPr/>
        </p:nvSpPr>
        <p:spPr>
          <a:xfrm>
            <a:off x="4095750" y="3829050"/>
            <a:ext cx="223838" cy="209550"/>
          </a:xfrm>
          <a:prstGeom prst="rect">
            <a:avLst/>
          </a:prstGeom>
          <a:noFill/>
          <a:ln/>
        </p:spPr>
        <p:txBody>
          <a:bodyPr wrap="square" lIns="0" tIns="0" rIns="0" bIns="0" rtlCol="0" anchor="t"/>
          <a:lstStyle/>
          <a:p>
            <a:pPr algn="l" indent="0" marL="0">
              <a:lnSpc>
                <a:spcPts val="1552"/>
              </a:lnSpc>
              <a:buNone/>
            </a:pPr>
            <a:r>
              <a:rPr lang="en-US" sz="1283" b="1" spc="-13" kern="0" dirty="0">
                <a:solidFill>
                  <a:srgbClr val="D4AF63">
                    <a:alpha val="99000"/>
                  </a:srgbClr>
                </a:solidFill>
                <a:latin typeface="Inter" pitchFamily="34" charset="0"/>
                <a:ea typeface="Inter" pitchFamily="34" charset="-122"/>
                <a:cs typeface="Inter" pitchFamily="34" charset="-120"/>
              </a:rPr>
              <a:t>05</a:t>
            </a:r>
            <a:endParaRPr lang="en-US" sz="1283" dirty="0"/>
          </a:p>
        </p:txBody>
      </p:sp>
      <p:sp>
        <p:nvSpPr>
          <p:cNvPr id="32" name="Text 27"/>
          <p:cNvSpPr/>
          <p:nvPr/>
        </p:nvSpPr>
        <p:spPr>
          <a:xfrm>
            <a:off x="4524375" y="3848100"/>
            <a:ext cx="4086225" cy="361950"/>
          </a:xfrm>
          <a:prstGeom prst="rect">
            <a:avLst/>
          </a:prstGeom>
          <a:noFill/>
          <a:ln/>
        </p:spPr>
        <p:txBody>
          <a:bodyPr wrap="square" lIns="0" tIns="0" rIns="0" bIns="0" rtlCol="0" anchor="t"/>
          <a:lstStyle/>
          <a:p>
            <a:pPr algn="l" indent="0" marL="0">
              <a:lnSpc>
                <a:spcPts val="1343"/>
              </a:lnSpc>
              <a:buNone/>
            </a:pPr>
            <a:r>
              <a:rPr lang="en-US" sz="926" dirty="0">
                <a:solidFill>
                  <a:srgbClr val="FFFFFF">
                    <a:alpha val="99000"/>
                  </a:srgbClr>
                </a:solidFill>
                <a:latin typeface="Inter" pitchFamily="34" charset="0"/>
                <a:ea typeface="Inter" pitchFamily="34" charset="-122"/>
                <a:cs typeface="Inter" pitchFamily="34" charset="-120"/>
              </a:rPr>
              <a:t>Delivers a dataset, models, a prototype and a feasibility map for five further parameters.</a:t>
            </a:r>
            <a:endParaRPr lang="en-US" sz="92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420"/>
        </a:solidFill>
      </p:bgPr>
    </p:bg>
    <p:spTree>
      <p:nvGrpSpPr>
        <p:cNvPr id="1" name=""/>
        <p:cNvGrpSpPr/>
        <p:nvPr/>
      </p:nvGrpSpPr>
      <p:grpSpPr>
        <a:xfrm>
          <a:off x="0" y="0"/>
          <a:ext cx="0" cy="0"/>
          <a:chOff x="0" y="0"/>
          <a:chExt cx="0" cy="0"/>
        </a:xfrm>
      </p:grpSpPr>
      <p:sp>
        <p:nvSpPr>
          <p:cNvPr id="3" name="Shape 0"/>
          <p:cNvSpPr/>
          <p:nvPr/>
        </p:nvSpPr>
        <p:spPr>
          <a:xfrm>
            <a:off x="5619750" y="-2000250"/>
            <a:ext cx="5715000" cy="5715000"/>
          </a:xfrm>
          <a:prstGeom prst="ellipse">
            <a:avLst/>
          </a:prstGeom>
          <a:solidFill>
            <a:srgbClr val="1F5C4F">
              <a:alpha val="28000"/>
            </a:srgbClr>
          </a:solidFill>
          <a:ln/>
        </p:spPr>
      </p:sp>
      <p:sp>
        <p:nvSpPr>
          <p:cNvPr id="4" name="Shape 1"/>
          <p:cNvSpPr/>
          <p:nvPr/>
        </p:nvSpPr>
        <p:spPr>
          <a:xfrm>
            <a:off x="6000750" y="-1619250"/>
            <a:ext cx="5715000" cy="5715000"/>
          </a:xfrm>
          <a:prstGeom prst="ellipse">
            <a:avLst/>
          </a:prstGeom>
          <a:noFill/>
          <a:ln w="6787">
            <a:solidFill>
              <a:srgbClr val="C9A24E">
                <a:alpha val="35000"/>
              </a:srgbClr>
            </a:solidFill>
            <a:prstDash val="solid"/>
          </a:ln>
        </p:spPr>
      </p:sp>
      <p:sp>
        <p:nvSpPr>
          <p:cNvPr id="5" name="Text 2"/>
          <p:cNvSpPr/>
          <p:nvPr/>
        </p:nvSpPr>
        <p:spPr>
          <a:xfrm>
            <a:off x="533400" y="314325"/>
            <a:ext cx="904875"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D4AF63">
                    <a:alpha val="99000"/>
                  </a:srgbClr>
                </a:solidFill>
                <a:latin typeface="Inter" pitchFamily="34" charset="0"/>
                <a:ea typeface="Inter" pitchFamily="34" charset="-122"/>
                <a:cs typeface="Inter" pitchFamily="34" charset="-120"/>
              </a:rPr>
              <a:t>22   ·   QUESTIONS</a:t>
            </a:r>
            <a:endParaRPr lang="en-US" sz="534" dirty="0"/>
          </a:p>
        </p:txBody>
      </p:sp>
      <p:sp>
        <p:nvSpPr>
          <p:cNvPr id="6" name="Shape 3"/>
          <p:cNvSpPr/>
          <p:nvPr/>
        </p:nvSpPr>
        <p:spPr>
          <a:xfrm>
            <a:off x="7805738" y="295275"/>
            <a:ext cx="804863" cy="161925"/>
          </a:xfrm>
          <a:prstGeom prst="roundRect">
            <a:avLst/>
          </a:prstGeom>
          <a:noFill/>
          <a:ln w="5429">
            <a:solidFill>
              <a:srgbClr val="D4AF63"/>
            </a:solidFill>
            <a:prstDash val="solid"/>
          </a:ln>
        </p:spPr>
      </p:sp>
      <p:sp>
        <p:nvSpPr>
          <p:cNvPr id="7" name="Text 4"/>
          <p:cNvSpPr/>
          <p:nvPr/>
        </p:nvSpPr>
        <p:spPr>
          <a:xfrm>
            <a:off x="7891463" y="335756"/>
            <a:ext cx="633413" cy="80963"/>
          </a:xfrm>
          <a:prstGeom prst="rect">
            <a:avLst/>
          </a:prstGeom>
          <a:noFill/>
          <a:ln/>
        </p:spPr>
        <p:txBody>
          <a:bodyPr wrap="square" lIns="0" tIns="0" rIns="0" bIns="0" rtlCol="0" anchor="t"/>
          <a:lstStyle/>
          <a:p>
            <a:pPr algn="l" indent="0" marL="0">
              <a:lnSpc>
                <a:spcPts val="604"/>
              </a:lnSpc>
              <a:buNone/>
            </a:pPr>
            <a:r>
              <a:rPr lang="en-US" sz="499" b="1" spc="20" kern="0" dirty="0">
                <a:solidFill>
                  <a:srgbClr val="D4AF63">
                    <a:alpha val="99000"/>
                  </a:srgbClr>
                </a:solidFill>
                <a:latin typeface="Inter" pitchFamily="34" charset="0"/>
                <a:ea typeface="Inter" pitchFamily="34" charset="-122"/>
                <a:cs typeface="Inter" pitchFamily="34" charset="-120"/>
              </a:rPr>
              <a:t>Delivery/Q&amp;A 30%</a:t>
            </a:r>
            <a:endParaRPr lang="en-US" sz="499" dirty="0"/>
          </a:p>
        </p:txBody>
      </p:sp>
      <p:sp>
        <p:nvSpPr>
          <p:cNvPr id="8" name="Shape 5"/>
          <p:cNvSpPr/>
          <p:nvPr/>
        </p:nvSpPr>
        <p:spPr>
          <a:xfrm>
            <a:off x="533400" y="4781550"/>
            <a:ext cx="8077200" cy="4763"/>
          </a:xfrm>
          <a:prstGeom prst="rect">
            <a:avLst/>
          </a:prstGeom>
          <a:solidFill>
            <a:srgbClr val="FFFFFF">
              <a:alpha val="15000"/>
            </a:srgbClr>
          </a:solidFill>
          <a:ln/>
        </p:spPr>
      </p:sp>
      <p:sp>
        <p:nvSpPr>
          <p:cNvPr id="9" name="Text 6"/>
          <p:cNvSpPr/>
          <p:nvPr/>
        </p:nvSpPr>
        <p:spPr>
          <a:xfrm>
            <a:off x="533400" y="4886325"/>
            <a:ext cx="433388" cy="76200"/>
          </a:xfrm>
          <a:prstGeom prst="rect">
            <a:avLst/>
          </a:prstGeom>
          <a:noFill/>
          <a:ln/>
        </p:spPr>
        <p:txBody>
          <a:bodyPr wrap="square" lIns="0" tIns="0" rIns="0" bIns="0" rtlCol="0" anchor="t"/>
          <a:lstStyle/>
          <a:p>
            <a:pPr algn="l" indent="0" marL="0">
              <a:lnSpc>
                <a:spcPts val="560"/>
              </a:lnSpc>
              <a:buNone/>
            </a:pPr>
            <a:r>
              <a:rPr lang="en-US" sz="463" b="1" spc="83" kern="0" dirty="0">
                <a:solidFill>
                  <a:srgbClr val="FFFFFF">
                    <a:alpha val="99000"/>
                  </a:srgbClr>
                </a:solidFill>
                <a:latin typeface="Inter" pitchFamily="34" charset="0"/>
                <a:ea typeface="Inter" pitchFamily="34" charset="-122"/>
                <a:cs typeface="Inter" pitchFamily="34" charset="-120"/>
              </a:rPr>
              <a:t>TEA SENSE</a:t>
            </a:r>
            <a:endParaRPr lang="en-US" sz="463" dirty="0"/>
          </a:p>
        </p:txBody>
      </p:sp>
      <p:sp>
        <p:nvSpPr>
          <p:cNvPr id="10" name="Text 7"/>
          <p:cNvSpPr/>
          <p:nvPr/>
        </p:nvSpPr>
        <p:spPr>
          <a:xfrm>
            <a:off x="1052513" y="4886325"/>
            <a:ext cx="2890838" cy="76200"/>
          </a:xfrm>
          <a:prstGeom prst="rect">
            <a:avLst/>
          </a:prstGeom>
          <a:noFill/>
          <a:ln/>
        </p:spPr>
        <p:txBody>
          <a:bodyPr wrap="square" lIns="0" tIns="0" rIns="0" bIns="0" rtlCol="0" anchor="t"/>
          <a:lstStyle/>
          <a:p>
            <a:pPr algn="l" indent="0" marL="0">
              <a:lnSpc>
                <a:spcPts val="560"/>
              </a:lnSpc>
              <a:buNone/>
            </a:pPr>
            <a:r>
              <a:rPr lang="en-US" sz="463" dirty="0">
                <a:solidFill>
                  <a:srgbClr val="9DB7AF">
                    <a:alpha val="99000"/>
                  </a:srgbClr>
                </a:solidFill>
                <a:latin typeface="Inter" pitchFamily="34" charset="0"/>
                <a:ea typeface="Inter" pitchFamily="34" charset="-122"/>
                <a:cs typeface="Inter" pitchFamily="34" charset="-120"/>
              </a:rPr>
              <a:t>Muhammed Saad Mazhar  ·  IIT 20221804 / UoW W2053223  ·  Final Year Project Proposal 2026/27</a:t>
            </a:r>
            <a:endParaRPr lang="en-US" sz="463" dirty="0"/>
          </a:p>
        </p:txBody>
      </p:sp>
      <p:sp>
        <p:nvSpPr>
          <p:cNvPr id="11" name="Text 8"/>
          <p:cNvSpPr/>
          <p:nvPr/>
        </p:nvSpPr>
        <p:spPr>
          <a:xfrm>
            <a:off x="6762750" y="4881563"/>
            <a:ext cx="295275" cy="80963"/>
          </a:xfrm>
          <a:prstGeom prst="rect">
            <a:avLst/>
          </a:prstGeom>
          <a:noFill/>
          <a:ln/>
        </p:spPr>
        <p:txBody>
          <a:bodyPr wrap="square" lIns="0" tIns="0" rIns="0" bIns="0" rtlCol="0" anchor="t"/>
          <a:lstStyle/>
          <a:p>
            <a:pPr algn="l" indent="0" marL="0">
              <a:lnSpc>
                <a:spcPts val="604"/>
              </a:lnSpc>
              <a:buNone/>
            </a:pPr>
            <a:r>
              <a:rPr lang="en-US" sz="499" b="1" spc="30" kern="0" dirty="0">
                <a:solidFill>
                  <a:srgbClr val="D4AF63">
                    <a:alpha val="99000"/>
                  </a:srgbClr>
                </a:solidFill>
                <a:latin typeface="Inter" pitchFamily="34" charset="0"/>
                <a:ea typeface="Inter" pitchFamily="34" charset="-122"/>
                <a:cs typeface="Inter" pitchFamily="34" charset="-120"/>
              </a:rPr>
              <a:t>22  /  23</a:t>
            </a:r>
            <a:endParaRPr lang="en-US" sz="499" dirty="0"/>
          </a:p>
        </p:txBody>
      </p:sp>
      <p:sp>
        <p:nvSpPr>
          <p:cNvPr id="12" name="Shape 9"/>
          <p:cNvSpPr/>
          <p:nvPr/>
        </p:nvSpPr>
        <p:spPr>
          <a:xfrm>
            <a:off x="7391400" y="4819650"/>
            <a:ext cx="1219200" cy="257175"/>
          </a:xfrm>
          <a:prstGeom prst="roundRect">
            <a:avLst/>
          </a:prstGeom>
          <a:solidFill>
            <a:srgbClr val="FFFFFF"/>
          </a:solidFill>
          <a:ln/>
        </p:spPr>
      </p:sp>
      <p:pic>
        <p:nvPicPr>
          <p:cNvPr id="13" name="Image 0" descr="preencoded.png">    </p:cNvPr>
          <p:cNvPicPr>
            <a:picLocks noChangeAspect="1"/>
          </p:cNvPicPr>
          <p:nvPr/>
        </p:nvPicPr>
        <p:blipFill>
          <a:blip r:embed="rId1"/>
          <a:srcRect l="0" r="0" t="0" b="0"/>
          <a:stretch/>
        </p:blipFill>
        <p:spPr>
          <a:xfrm>
            <a:off x="7458075" y="4848225"/>
            <a:ext cx="381000" cy="200025"/>
          </a:xfrm>
          <a:prstGeom prst="rect">
            <a:avLst/>
          </a:prstGeom>
        </p:spPr>
      </p:pic>
      <p:pic>
        <p:nvPicPr>
          <p:cNvPr id="14" name="Image 1" descr="preencoded.png">    </p:cNvPr>
          <p:cNvPicPr>
            <a:picLocks noChangeAspect="1"/>
          </p:cNvPicPr>
          <p:nvPr/>
        </p:nvPicPr>
        <p:blipFill>
          <a:blip r:embed="rId2"/>
          <a:srcRect l="0" r="0" t="0" b="0"/>
          <a:stretch/>
        </p:blipFill>
        <p:spPr>
          <a:xfrm>
            <a:off x="8001000" y="4881563"/>
            <a:ext cx="523875" cy="133350"/>
          </a:xfrm>
          <a:prstGeom prst="rect">
            <a:avLst/>
          </a:prstGeom>
        </p:spPr>
      </p:pic>
      <p:sp>
        <p:nvSpPr>
          <p:cNvPr id="15" name="Text 10"/>
          <p:cNvSpPr/>
          <p:nvPr/>
        </p:nvSpPr>
        <p:spPr>
          <a:xfrm>
            <a:off x="495300" y="1095375"/>
            <a:ext cx="2185988" cy="1047750"/>
          </a:xfrm>
          <a:prstGeom prst="rect">
            <a:avLst/>
          </a:prstGeom>
          <a:noFill/>
          <a:ln/>
        </p:spPr>
        <p:txBody>
          <a:bodyPr wrap="square" lIns="0" tIns="0" rIns="0" bIns="0" rtlCol="0" anchor="t"/>
          <a:lstStyle/>
          <a:p>
            <a:pPr algn="l" indent="0" marL="0">
              <a:lnSpc>
                <a:spcPts val="7838"/>
              </a:lnSpc>
              <a:buNone/>
            </a:pPr>
            <a:r>
              <a:rPr lang="en-US" sz="7838" b="1" spc="-313" kern="0" dirty="0">
                <a:solidFill>
                  <a:srgbClr val="D4AF63">
                    <a:alpha val="99000"/>
                  </a:srgbClr>
                </a:solidFill>
                <a:latin typeface="Inter" pitchFamily="34" charset="0"/>
                <a:ea typeface="Inter" pitchFamily="34" charset="-122"/>
                <a:cs typeface="Inter" pitchFamily="34" charset="-120"/>
              </a:rPr>
              <a:t>Q&amp;A</a:t>
            </a:r>
            <a:endParaRPr lang="en-US" sz="7838" dirty="0"/>
          </a:p>
        </p:txBody>
      </p:sp>
      <p:sp>
        <p:nvSpPr>
          <p:cNvPr id="16" name="Text 11"/>
          <p:cNvSpPr/>
          <p:nvPr/>
        </p:nvSpPr>
        <p:spPr>
          <a:xfrm>
            <a:off x="533400" y="2381250"/>
            <a:ext cx="3333750" cy="252413"/>
          </a:xfrm>
          <a:prstGeom prst="rect">
            <a:avLst/>
          </a:prstGeom>
          <a:noFill/>
          <a:ln/>
        </p:spPr>
        <p:txBody>
          <a:bodyPr wrap="square" lIns="0" tIns="0" rIns="0" bIns="0" rtlCol="0" anchor="t"/>
          <a:lstStyle/>
          <a:p>
            <a:pPr algn="l" indent="0" marL="0">
              <a:lnSpc>
                <a:spcPts val="1897"/>
              </a:lnSpc>
              <a:buNone/>
            </a:pPr>
            <a:r>
              <a:rPr lang="en-US" sz="1568" spc="-8" kern="0" dirty="0">
                <a:solidFill>
                  <a:srgbClr val="FFFFFF">
                    <a:alpha val="99000"/>
                  </a:srgbClr>
                </a:solidFill>
                <a:latin typeface="Inter" pitchFamily="34" charset="0"/>
                <a:ea typeface="Inter" pitchFamily="34" charset="-122"/>
                <a:cs typeface="Inter" pitchFamily="34" charset="-120"/>
              </a:rPr>
              <a:t>Questions and discussion</a:t>
            </a:r>
            <a:endParaRPr lang="en-US" sz="1568" dirty="0"/>
          </a:p>
        </p:txBody>
      </p:sp>
      <p:sp>
        <p:nvSpPr>
          <p:cNvPr id="17" name="Shape 12"/>
          <p:cNvSpPr/>
          <p:nvPr/>
        </p:nvSpPr>
        <p:spPr>
          <a:xfrm>
            <a:off x="533400" y="2762250"/>
            <a:ext cx="266700" cy="14288"/>
          </a:xfrm>
          <a:prstGeom prst="rect">
            <a:avLst/>
          </a:prstGeom>
          <a:solidFill>
            <a:srgbClr val="D4AF63"/>
          </a:solidFill>
          <a:ln/>
        </p:spPr>
      </p:sp>
      <p:sp>
        <p:nvSpPr>
          <p:cNvPr id="18" name="Text 13"/>
          <p:cNvSpPr/>
          <p:nvPr/>
        </p:nvSpPr>
        <p:spPr>
          <a:xfrm>
            <a:off x="533400" y="2886075"/>
            <a:ext cx="3281363" cy="157163"/>
          </a:xfrm>
          <a:prstGeom prst="rect">
            <a:avLst/>
          </a:prstGeom>
          <a:noFill/>
          <a:ln/>
        </p:spPr>
        <p:txBody>
          <a:bodyPr wrap="square" lIns="0" tIns="0" rIns="0" bIns="0" rtlCol="0" anchor="t"/>
          <a:lstStyle/>
          <a:p>
            <a:pPr algn="l" indent="0" marL="0">
              <a:lnSpc>
                <a:spcPts val="1176"/>
              </a:lnSpc>
              <a:buNone/>
            </a:pPr>
            <a:r>
              <a:rPr lang="en-US" sz="784" dirty="0">
                <a:solidFill>
                  <a:srgbClr val="DCE7E3">
                    <a:alpha val="99000"/>
                  </a:srgbClr>
                </a:solidFill>
                <a:latin typeface="Inter" pitchFamily="34" charset="0"/>
                <a:ea typeface="Inter" pitchFamily="34" charset="-122"/>
                <a:cs typeface="Inter" pitchFamily="34" charset="-120"/>
              </a:rPr>
              <a:t>I welcome questions on the method, the evidence and the plan.</a:t>
            </a:r>
            <a:endParaRPr lang="en-US" sz="784" dirty="0"/>
          </a:p>
        </p:txBody>
      </p:sp>
      <p:sp>
        <p:nvSpPr>
          <p:cNvPr id="19" name="Text 14"/>
          <p:cNvSpPr/>
          <p:nvPr/>
        </p:nvSpPr>
        <p:spPr>
          <a:xfrm>
            <a:off x="4381500" y="1019175"/>
            <a:ext cx="990600" cy="80963"/>
          </a:xfrm>
          <a:prstGeom prst="rect">
            <a:avLst/>
          </a:prstGeom>
          <a:noFill/>
          <a:ln/>
        </p:spPr>
        <p:txBody>
          <a:bodyPr wrap="square" lIns="0" tIns="0" rIns="0" bIns="0" rtlCol="0" anchor="t"/>
          <a:lstStyle/>
          <a:p>
            <a:pPr algn="l" indent="0" marL="0">
              <a:lnSpc>
                <a:spcPts val="604"/>
              </a:lnSpc>
              <a:buNone/>
            </a:pPr>
            <a:r>
              <a:rPr lang="en-US" sz="499" b="1" spc="90" kern="0" dirty="0">
                <a:solidFill>
                  <a:srgbClr val="D4AF63">
                    <a:alpha val="99000"/>
                  </a:srgbClr>
                </a:solidFill>
                <a:latin typeface="Inter" pitchFamily="34" charset="0"/>
                <a:ea typeface="Inter" pitchFamily="34" charset="-122"/>
                <a:cs typeface="Inter" pitchFamily="34" charset="-120"/>
              </a:rPr>
              <a:t>PREPARED TO DISCUSS</a:t>
            </a:r>
            <a:endParaRPr lang="en-US" sz="499" dirty="0"/>
          </a:p>
        </p:txBody>
      </p:sp>
      <p:sp>
        <p:nvSpPr>
          <p:cNvPr id="20" name="Text 15"/>
          <p:cNvSpPr/>
          <p:nvPr/>
        </p:nvSpPr>
        <p:spPr>
          <a:xfrm>
            <a:off x="4381500" y="1228725"/>
            <a:ext cx="4229100" cy="176213"/>
          </a:xfrm>
          <a:prstGeom prst="rect">
            <a:avLst/>
          </a:prstGeom>
          <a:noFill/>
          <a:ln/>
        </p:spPr>
        <p:txBody>
          <a:bodyPr wrap="square" lIns="0" tIns="0" rIns="0" bIns="0" rtlCol="0" anchor="t"/>
          <a:lstStyle/>
          <a:p>
            <a:pPr algn="l" indent="0" marL="0">
              <a:lnSpc>
                <a:spcPts val="1330"/>
              </a:lnSpc>
              <a:buNone/>
            </a:pPr>
            <a:r>
              <a:rPr lang="en-US" sz="998" b="1" dirty="0">
                <a:solidFill>
                  <a:srgbClr val="FFFFFF">
                    <a:alpha val="99000"/>
                  </a:srgbClr>
                </a:solidFill>
                <a:latin typeface="Playfair Display" pitchFamily="34" charset="0"/>
                <a:ea typeface="Playfair Display" pitchFamily="34" charset="-122"/>
                <a:cs typeface="Playfair Display" pitchFamily="34" charset="-120"/>
              </a:rPr>
              <a:t>Why moisture first?</a:t>
            </a:r>
            <a:endParaRPr lang="en-US" sz="998" dirty="0"/>
          </a:p>
        </p:txBody>
      </p:sp>
      <p:sp>
        <p:nvSpPr>
          <p:cNvPr id="21" name="Text 16"/>
          <p:cNvSpPr/>
          <p:nvPr/>
        </p:nvSpPr>
        <p:spPr>
          <a:xfrm>
            <a:off x="4381500" y="1433513"/>
            <a:ext cx="4229100" cy="138113"/>
          </a:xfrm>
          <a:prstGeom prst="rect">
            <a:avLst/>
          </a:prstGeom>
          <a:noFill/>
          <a:ln/>
        </p:spPr>
        <p:txBody>
          <a:bodyPr wrap="square" lIns="0" tIns="0" rIns="0" bIns="0" rtlCol="0" anchor="t"/>
          <a:lstStyle/>
          <a:p>
            <a:pPr algn="l" indent="0" marL="0">
              <a:lnSpc>
                <a:spcPts val="1033"/>
              </a:lnSpc>
              <a:buNone/>
            </a:pPr>
            <a:r>
              <a:rPr lang="en-US" sz="713" dirty="0">
                <a:solidFill>
                  <a:srgbClr val="B9CCC6">
                    <a:alpha val="99000"/>
                  </a:srgbClr>
                </a:solidFill>
                <a:latin typeface="Inter" pitchFamily="34" charset="0"/>
                <a:ea typeface="Inter" pitchFamily="34" charset="-122"/>
                <a:cs typeface="Inter" pitchFamily="34" charset="-120"/>
              </a:rPr>
              <a:t>Strongest NIR signal, and the oven reference is available in-house.</a:t>
            </a:r>
            <a:endParaRPr lang="en-US" sz="713" dirty="0"/>
          </a:p>
        </p:txBody>
      </p:sp>
      <p:sp>
        <p:nvSpPr>
          <p:cNvPr id="22" name="Shape 17"/>
          <p:cNvSpPr/>
          <p:nvPr/>
        </p:nvSpPr>
        <p:spPr>
          <a:xfrm>
            <a:off x="4381500" y="1666875"/>
            <a:ext cx="4229100" cy="4763"/>
          </a:xfrm>
          <a:prstGeom prst="rect">
            <a:avLst/>
          </a:prstGeom>
          <a:solidFill>
            <a:srgbClr val="FFFFFF">
              <a:alpha val="15000"/>
            </a:srgbClr>
          </a:solidFill>
          <a:ln/>
        </p:spPr>
      </p:sp>
      <p:sp>
        <p:nvSpPr>
          <p:cNvPr id="23" name="Text 18"/>
          <p:cNvSpPr/>
          <p:nvPr/>
        </p:nvSpPr>
        <p:spPr>
          <a:xfrm>
            <a:off x="4381500" y="1762125"/>
            <a:ext cx="4229100" cy="176213"/>
          </a:xfrm>
          <a:prstGeom prst="rect">
            <a:avLst/>
          </a:prstGeom>
          <a:noFill/>
          <a:ln/>
        </p:spPr>
        <p:txBody>
          <a:bodyPr wrap="square" lIns="0" tIns="0" rIns="0" bIns="0" rtlCol="0" anchor="t"/>
          <a:lstStyle/>
          <a:p>
            <a:pPr algn="l" indent="0" marL="0">
              <a:lnSpc>
                <a:spcPts val="1330"/>
              </a:lnSpc>
              <a:buNone/>
            </a:pPr>
            <a:r>
              <a:rPr lang="en-US" sz="998" b="1" dirty="0">
                <a:solidFill>
                  <a:srgbClr val="FFFFFF">
                    <a:alpha val="99000"/>
                  </a:srgbClr>
                </a:solidFill>
                <a:latin typeface="Playfair Display" pitchFamily="34" charset="0"/>
                <a:ea typeface="Playfair Display" pitchFamily="34" charset="-122"/>
                <a:cs typeface="Playfair Display" pitchFamily="34" charset="-120"/>
              </a:rPr>
              <a:t>Why not glyphosate by NIR?</a:t>
            </a:r>
            <a:endParaRPr lang="en-US" sz="998" dirty="0"/>
          </a:p>
        </p:txBody>
      </p:sp>
      <p:sp>
        <p:nvSpPr>
          <p:cNvPr id="24" name="Text 19"/>
          <p:cNvSpPr/>
          <p:nvPr/>
        </p:nvSpPr>
        <p:spPr>
          <a:xfrm>
            <a:off x="4381500" y="1966912"/>
            <a:ext cx="4229100" cy="138113"/>
          </a:xfrm>
          <a:prstGeom prst="rect">
            <a:avLst/>
          </a:prstGeom>
          <a:noFill/>
          <a:ln/>
        </p:spPr>
        <p:txBody>
          <a:bodyPr wrap="square" lIns="0" tIns="0" rIns="0" bIns="0" rtlCol="0" anchor="t"/>
          <a:lstStyle/>
          <a:p>
            <a:pPr algn="l" indent="0" marL="0">
              <a:lnSpc>
                <a:spcPts val="1033"/>
              </a:lnSpc>
              <a:buNone/>
            </a:pPr>
            <a:r>
              <a:rPr lang="en-US" sz="713" dirty="0">
                <a:solidFill>
                  <a:srgbClr val="B9CCC6">
                    <a:alpha val="99000"/>
                  </a:srgbClr>
                </a:solidFill>
                <a:latin typeface="Inter" pitchFamily="34" charset="0"/>
                <a:ea typeface="Inter" pitchFamily="34" charset="-122"/>
                <a:cs typeface="Inter" pitchFamily="34" charset="-120"/>
              </a:rPr>
              <a:t>Trace residue with no NIR signal; it needs LC-MS/MS (Wang et al., 2023).</a:t>
            </a:r>
            <a:endParaRPr lang="en-US" sz="713" dirty="0"/>
          </a:p>
        </p:txBody>
      </p:sp>
      <p:sp>
        <p:nvSpPr>
          <p:cNvPr id="25" name="Shape 20"/>
          <p:cNvSpPr/>
          <p:nvPr/>
        </p:nvSpPr>
        <p:spPr>
          <a:xfrm>
            <a:off x="4381500" y="2200275"/>
            <a:ext cx="4229100" cy="4763"/>
          </a:xfrm>
          <a:prstGeom prst="rect">
            <a:avLst/>
          </a:prstGeom>
          <a:solidFill>
            <a:srgbClr val="FFFFFF">
              <a:alpha val="15000"/>
            </a:srgbClr>
          </a:solidFill>
          <a:ln/>
        </p:spPr>
      </p:sp>
      <p:sp>
        <p:nvSpPr>
          <p:cNvPr id="26" name="Text 21"/>
          <p:cNvSpPr/>
          <p:nvPr/>
        </p:nvSpPr>
        <p:spPr>
          <a:xfrm>
            <a:off x="4381500" y="2295525"/>
            <a:ext cx="4229100" cy="176213"/>
          </a:xfrm>
          <a:prstGeom prst="rect">
            <a:avLst/>
          </a:prstGeom>
          <a:noFill/>
          <a:ln/>
        </p:spPr>
        <p:txBody>
          <a:bodyPr wrap="square" lIns="0" tIns="0" rIns="0" bIns="0" rtlCol="0" anchor="t"/>
          <a:lstStyle/>
          <a:p>
            <a:pPr algn="l" indent="0" marL="0">
              <a:lnSpc>
                <a:spcPts val="1330"/>
              </a:lnSpc>
              <a:buNone/>
            </a:pPr>
            <a:r>
              <a:rPr lang="en-US" sz="998" b="1" dirty="0">
                <a:solidFill>
                  <a:srgbClr val="FFFFFF">
                    <a:alpha val="99000"/>
                  </a:srgbClr>
                </a:solidFill>
                <a:latin typeface="Playfair Display" pitchFamily="34" charset="0"/>
                <a:ea typeface="Playfair Display" pitchFamily="34" charset="-122"/>
                <a:cs typeface="Playfair Display" pitchFamily="34" charset="-120"/>
              </a:rPr>
              <a:t>Why PLSR as the baseline?</a:t>
            </a:r>
            <a:endParaRPr lang="en-US" sz="998" dirty="0"/>
          </a:p>
        </p:txBody>
      </p:sp>
      <p:sp>
        <p:nvSpPr>
          <p:cNvPr id="27" name="Text 22"/>
          <p:cNvSpPr/>
          <p:nvPr/>
        </p:nvSpPr>
        <p:spPr>
          <a:xfrm>
            <a:off x="4381500" y="2500313"/>
            <a:ext cx="4229100" cy="138113"/>
          </a:xfrm>
          <a:prstGeom prst="rect">
            <a:avLst/>
          </a:prstGeom>
          <a:noFill/>
          <a:ln/>
        </p:spPr>
        <p:txBody>
          <a:bodyPr wrap="square" lIns="0" tIns="0" rIns="0" bIns="0" rtlCol="0" anchor="t"/>
          <a:lstStyle/>
          <a:p>
            <a:pPr algn="l" indent="0" marL="0">
              <a:lnSpc>
                <a:spcPts val="1033"/>
              </a:lnSpc>
              <a:buNone/>
            </a:pPr>
            <a:r>
              <a:rPr lang="en-US" sz="713" dirty="0">
                <a:solidFill>
                  <a:srgbClr val="B9CCC6">
                    <a:alpha val="99000"/>
                  </a:srgbClr>
                </a:solidFill>
                <a:latin typeface="Inter" pitchFamily="34" charset="0"/>
                <a:ea typeface="Inter" pitchFamily="34" charset="-122"/>
                <a:cs typeface="Inter" pitchFamily="34" charset="-120"/>
              </a:rPr>
              <a:t>The standard, well-understood model for small spectral datasets.</a:t>
            </a:r>
            <a:endParaRPr lang="en-US" sz="713" dirty="0"/>
          </a:p>
        </p:txBody>
      </p:sp>
      <p:sp>
        <p:nvSpPr>
          <p:cNvPr id="28" name="Shape 23"/>
          <p:cNvSpPr/>
          <p:nvPr/>
        </p:nvSpPr>
        <p:spPr>
          <a:xfrm>
            <a:off x="4381500" y="2733675"/>
            <a:ext cx="4229100" cy="4763"/>
          </a:xfrm>
          <a:prstGeom prst="rect">
            <a:avLst/>
          </a:prstGeom>
          <a:solidFill>
            <a:srgbClr val="FFFFFF">
              <a:alpha val="15000"/>
            </a:srgbClr>
          </a:solidFill>
          <a:ln/>
        </p:spPr>
      </p:sp>
      <p:sp>
        <p:nvSpPr>
          <p:cNvPr id="29" name="Text 24"/>
          <p:cNvSpPr/>
          <p:nvPr/>
        </p:nvSpPr>
        <p:spPr>
          <a:xfrm>
            <a:off x="4381500" y="2828925"/>
            <a:ext cx="4229100" cy="176213"/>
          </a:xfrm>
          <a:prstGeom prst="rect">
            <a:avLst/>
          </a:prstGeom>
          <a:noFill/>
          <a:ln/>
        </p:spPr>
        <p:txBody>
          <a:bodyPr wrap="square" lIns="0" tIns="0" rIns="0" bIns="0" rtlCol="0" anchor="t"/>
          <a:lstStyle/>
          <a:p>
            <a:pPr algn="l" indent="0" marL="0">
              <a:lnSpc>
                <a:spcPts val="1330"/>
              </a:lnSpc>
              <a:buNone/>
            </a:pPr>
            <a:r>
              <a:rPr lang="en-US" sz="998" b="1" dirty="0">
                <a:solidFill>
                  <a:srgbClr val="FFFFFF">
                    <a:alpha val="99000"/>
                  </a:srgbClr>
                </a:solidFill>
                <a:latin typeface="Playfair Display" pitchFamily="34" charset="0"/>
                <a:ea typeface="Playfair Display" pitchFamily="34" charset="-122"/>
                <a:cs typeface="Playfair Display" pitchFamily="34" charset="-120"/>
              </a:rPr>
              <a:t>How is leakage prevented?</a:t>
            </a:r>
            <a:endParaRPr lang="en-US" sz="998" dirty="0"/>
          </a:p>
        </p:txBody>
      </p:sp>
      <p:sp>
        <p:nvSpPr>
          <p:cNvPr id="30" name="Text 25"/>
          <p:cNvSpPr/>
          <p:nvPr/>
        </p:nvSpPr>
        <p:spPr>
          <a:xfrm>
            <a:off x="4381500" y="3033713"/>
            <a:ext cx="4229100" cy="138113"/>
          </a:xfrm>
          <a:prstGeom prst="rect">
            <a:avLst/>
          </a:prstGeom>
          <a:noFill/>
          <a:ln/>
        </p:spPr>
        <p:txBody>
          <a:bodyPr wrap="square" lIns="0" tIns="0" rIns="0" bIns="0" rtlCol="0" anchor="t"/>
          <a:lstStyle/>
          <a:p>
            <a:pPr algn="l" indent="0" marL="0">
              <a:lnSpc>
                <a:spcPts val="1033"/>
              </a:lnSpc>
              <a:buNone/>
            </a:pPr>
            <a:r>
              <a:rPr lang="en-US" sz="713" dirty="0">
                <a:solidFill>
                  <a:srgbClr val="B9CCC6">
                    <a:alpha val="99000"/>
                  </a:srgbClr>
                </a:solidFill>
                <a:latin typeface="Inter" pitchFamily="34" charset="0"/>
                <a:ea typeface="Inter" pitchFamily="34" charset="-122"/>
                <a:cs typeface="Inter" pitchFamily="34" charset="-120"/>
              </a:rPr>
              <a:t>A locked, hashed test set; all tuning inside cross-validation.</a:t>
            </a:r>
            <a:endParaRPr lang="en-US" sz="713" dirty="0"/>
          </a:p>
        </p:txBody>
      </p:sp>
      <p:sp>
        <p:nvSpPr>
          <p:cNvPr id="31" name="Shape 26"/>
          <p:cNvSpPr/>
          <p:nvPr/>
        </p:nvSpPr>
        <p:spPr>
          <a:xfrm>
            <a:off x="4381500" y="3267075"/>
            <a:ext cx="4229100" cy="4763"/>
          </a:xfrm>
          <a:prstGeom prst="rect">
            <a:avLst/>
          </a:prstGeom>
          <a:solidFill>
            <a:srgbClr val="FFFFFF">
              <a:alpha val="15000"/>
            </a:srgbClr>
          </a:solidFill>
          <a:ln/>
        </p:spPr>
      </p:sp>
      <p:sp>
        <p:nvSpPr>
          <p:cNvPr id="32" name="Text 27"/>
          <p:cNvSpPr/>
          <p:nvPr/>
        </p:nvSpPr>
        <p:spPr>
          <a:xfrm>
            <a:off x="4381500" y="3362325"/>
            <a:ext cx="4229100" cy="176213"/>
          </a:xfrm>
          <a:prstGeom prst="rect">
            <a:avLst/>
          </a:prstGeom>
          <a:noFill/>
          <a:ln/>
        </p:spPr>
        <p:txBody>
          <a:bodyPr wrap="square" lIns="0" tIns="0" rIns="0" bIns="0" rtlCol="0" anchor="t"/>
          <a:lstStyle/>
          <a:p>
            <a:pPr algn="l" indent="0" marL="0">
              <a:lnSpc>
                <a:spcPts val="1330"/>
              </a:lnSpc>
              <a:buNone/>
            </a:pPr>
            <a:r>
              <a:rPr lang="en-US" sz="998" b="1" dirty="0">
                <a:solidFill>
                  <a:srgbClr val="FFFFFF">
                    <a:alpha val="99000"/>
                  </a:srgbClr>
                </a:solidFill>
                <a:latin typeface="Playfair Display" pitchFamily="34" charset="0"/>
                <a:ea typeface="Playfair Display" pitchFamily="34" charset="-122"/>
                <a:cs typeface="Playfair Display" pitchFamily="34" charset="-120"/>
              </a:rPr>
              <a:t>What is the biggest risk?</a:t>
            </a:r>
            <a:endParaRPr lang="en-US" sz="998" dirty="0"/>
          </a:p>
        </p:txBody>
      </p:sp>
      <p:sp>
        <p:nvSpPr>
          <p:cNvPr id="33" name="Text 28"/>
          <p:cNvSpPr/>
          <p:nvPr/>
        </p:nvSpPr>
        <p:spPr>
          <a:xfrm>
            <a:off x="4381500" y="3567113"/>
            <a:ext cx="4229100" cy="138113"/>
          </a:xfrm>
          <a:prstGeom prst="rect">
            <a:avLst/>
          </a:prstGeom>
          <a:noFill/>
          <a:ln/>
        </p:spPr>
        <p:txBody>
          <a:bodyPr wrap="square" lIns="0" tIns="0" rIns="0" bIns="0" rtlCol="0" anchor="t"/>
          <a:lstStyle/>
          <a:p>
            <a:pPr algn="l" indent="0" marL="0">
              <a:lnSpc>
                <a:spcPts val="1033"/>
              </a:lnSpc>
              <a:buNone/>
            </a:pPr>
            <a:r>
              <a:rPr lang="en-US" sz="713" dirty="0">
                <a:solidFill>
                  <a:srgbClr val="B9CCC6">
                    <a:alpha val="99000"/>
                  </a:srgbClr>
                </a:solidFill>
                <a:latin typeface="Inter" pitchFamily="34" charset="0"/>
                <a:ea typeface="Inter" pitchFamily="34" charset="-122"/>
                <a:cs typeface="Inter" pitchFamily="34" charset="-120"/>
              </a:rPr>
              <a:t>Spectrometer access; a benchtop instrument is the fallback.</a:t>
            </a:r>
            <a:endParaRPr lang="en-US" sz="713"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420"/>
        </a:solidFill>
      </p:bgPr>
    </p:bg>
    <p:spTree>
      <p:nvGrpSpPr>
        <p:cNvPr id="1" name=""/>
        <p:cNvGrpSpPr/>
        <p:nvPr/>
      </p:nvGrpSpPr>
      <p:grpSpPr>
        <a:xfrm>
          <a:off x="0" y="0"/>
          <a:ext cx="0" cy="0"/>
          <a:chOff x="0" y="0"/>
          <a:chExt cx="0" cy="0"/>
        </a:xfrm>
      </p:grpSpPr>
      <p:sp>
        <p:nvSpPr>
          <p:cNvPr id="3" name="Shape 0"/>
          <p:cNvSpPr/>
          <p:nvPr/>
        </p:nvSpPr>
        <p:spPr>
          <a:xfrm>
            <a:off x="5619750" y="-2000250"/>
            <a:ext cx="5715000" cy="5715000"/>
          </a:xfrm>
          <a:prstGeom prst="ellipse">
            <a:avLst/>
          </a:prstGeom>
          <a:solidFill>
            <a:srgbClr val="1F5C4F">
              <a:alpha val="28000"/>
            </a:srgbClr>
          </a:solidFill>
          <a:ln/>
        </p:spPr>
      </p:sp>
      <p:sp>
        <p:nvSpPr>
          <p:cNvPr id="4" name="Shape 1"/>
          <p:cNvSpPr/>
          <p:nvPr/>
        </p:nvSpPr>
        <p:spPr>
          <a:xfrm>
            <a:off x="6000750" y="-1619250"/>
            <a:ext cx="5715000" cy="5715000"/>
          </a:xfrm>
          <a:prstGeom prst="ellipse">
            <a:avLst/>
          </a:prstGeom>
          <a:noFill/>
          <a:ln w="6787">
            <a:solidFill>
              <a:srgbClr val="C9A24E">
                <a:alpha val="35000"/>
              </a:srgbClr>
            </a:solidFill>
            <a:prstDash val="solid"/>
          </a:ln>
        </p:spPr>
      </p:sp>
      <p:sp>
        <p:nvSpPr>
          <p:cNvPr id="5" name="Text 2"/>
          <p:cNvSpPr/>
          <p:nvPr/>
        </p:nvSpPr>
        <p:spPr>
          <a:xfrm>
            <a:off x="533400" y="314325"/>
            <a:ext cx="914400" cy="85725"/>
          </a:xfrm>
          <a:prstGeom prst="rect">
            <a:avLst/>
          </a:prstGeom>
          <a:noFill/>
          <a:ln/>
        </p:spPr>
        <p:txBody>
          <a:bodyPr wrap="square" lIns="0" tIns="0" rIns="0" bIns="0" rtlCol="0" anchor="t"/>
          <a:lstStyle/>
          <a:p>
            <a:pPr algn="l" indent="0" marL="0">
              <a:lnSpc>
                <a:spcPts val="647"/>
              </a:lnSpc>
              <a:buNone/>
            </a:pPr>
            <a:r>
              <a:rPr lang="en-US" sz="534" b="1" spc="118" kern="0" dirty="0">
                <a:solidFill>
                  <a:srgbClr val="D4AF63">
                    <a:alpha val="99000"/>
                  </a:srgbClr>
                </a:solidFill>
                <a:latin typeface="Inter" pitchFamily="34" charset="0"/>
                <a:ea typeface="Inter" pitchFamily="34" charset="-122"/>
                <a:cs typeface="Inter" pitchFamily="34" charset="-120"/>
              </a:rPr>
              <a:t>23   ·   THANK YOU</a:t>
            </a:r>
            <a:endParaRPr lang="en-US" sz="534" dirty="0"/>
          </a:p>
        </p:txBody>
      </p:sp>
      <p:sp>
        <p:nvSpPr>
          <p:cNvPr id="6" name="Text 3"/>
          <p:cNvSpPr/>
          <p:nvPr/>
        </p:nvSpPr>
        <p:spPr>
          <a:xfrm>
            <a:off x="504825" y="1190625"/>
            <a:ext cx="3938588" cy="847725"/>
          </a:xfrm>
          <a:prstGeom prst="rect">
            <a:avLst/>
          </a:prstGeom>
          <a:noFill/>
          <a:ln/>
        </p:spPr>
        <p:txBody>
          <a:bodyPr wrap="square" lIns="0" tIns="0" rIns="0" bIns="0" rtlCol="0" anchor="t"/>
          <a:lstStyle/>
          <a:p>
            <a:pPr algn="l" indent="0" marL="0">
              <a:lnSpc>
                <a:spcPts val="6359"/>
              </a:lnSpc>
              <a:buNone/>
            </a:pPr>
            <a:r>
              <a:rPr lang="en-US" sz="6056" b="1" dirty="0">
                <a:solidFill>
                  <a:srgbClr val="FFFFFF">
                    <a:alpha val="99000"/>
                  </a:srgbClr>
                </a:solidFill>
                <a:latin typeface="Playfair Display" pitchFamily="34" charset="0"/>
                <a:ea typeface="Playfair Display" pitchFamily="34" charset="-122"/>
                <a:cs typeface="Playfair Display" pitchFamily="34" charset="-120"/>
              </a:rPr>
              <a:t>Thank you</a:t>
            </a:r>
            <a:endParaRPr lang="en-US" sz="6056" dirty="0"/>
          </a:p>
        </p:txBody>
      </p:sp>
      <p:sp>
        <p:nvSpPr>
          <p:cNvPr id="7" name="Shape 4"/>
          <p:cNvSpPr/>
          <p:nvPr/>
        </p:nvSpPr>
        <p:spPr>
          <a:xfrm>
            <a:off x="542925" y="2238375"/>
            <a:ext cx="457200" cy="19050"/>
          </a:xfrm>
          <a:prstGeom prst="rect">
            <a:avLst/>
          </a:prstGeom>
          <a:solidFill>
            <a:srgbClr val="D4AF63"/>
          </a:solidFill>
          <a:ln/>
        </p:spPr>
      </p:sp>
      <p:sp>
        <p:nvSpPr>
          <p:cNvPr id="8" name="Text 5"/>
          <p:cNvSpPr/>
          <p:nvPr/>
        </p:nvSpPr>
        <p:spPr>
          <a:xfrm>
            <a:off x="542925" y="2400300"/>
            <a:ext cx="5715000" cy="209550"/>
          </a:xfrm>
          <a:prstGeom prst="rect">
            <a:avLst/>
          </a:prstGeom>
          <a:noFill/>
          <a:ln/>
        </p:spPr>
        <p:txBody>
          <a:bodyPr wrap="square" lIns="0" tIns="0" rIns="0" bIns="0" rtlCol="0" anchor="t"/>
          <a:lstStyle/>
          <a:p>
            <a:pPr algn="l" indent="0" marL="0">
              <a:lnSpc>
                <a:spcPts val="1552"/>
              </a:lnSpc>
              <a:buNone/>
            </a:pPr>
            <a:r>
              <a:rPr lang="en-US" sz="1283" dirty="0">
                <a:solidFill>
                  <a:srgbClr val="D3E3DD">
                    <a:alpha val="99000"/>
                  </a:srgbClr>
                </a:solidFill>
                <a:latin typeface="Inter" pitchFamily="34" charset="0"/>
                <a:ea typeface="Inter" pitchFamily="34" charset="-122"/>
                <a:cs typeface="Inter" pitchFamily="34" charset="-120"/>
              </a:rPr>
              <a:t>Tea Sense: NIR spectroscopy and AI for rapid tea testing</a:t>
            </a:r>
            <a:endParaRPr lang="en-US" sz="1283" dirty="0"/>
          </a:p>
        </p:txBody>
      </p:sp>
      <p:sp>
        <p:nvSpPr>
          <p:cNvPr id="9" name="Text 6"/>
          <p:cNvSpPr/>
          <p:nvPr/>
        </p:nvSpPr>
        <p:spPr>
          <a:xfrm>
            <a:off x="542925" y="2857500"/>
            <a:ext cx="1524000" cy="147638"/>
          </a:xfrm>
          <a:prstGeom prst="rect">
            <a:avLst/>
          </a:prstGeom>
          <a:noFill/>
          <a:ln/>
        </p:spPr>
        <p:txBody>
          <a:bodyPr wrap="square" lIns="0" tIns="0" rIns="0" bIns="0" rtlCol="0" anchor="t"/>
          <a:lstStyle/>
          <a:p>
            <a:pPr algn="l" indent="0" marL="0">
              <a:lnSpc>
                <a:spcPts val="1121"/>
              </a:lnSpc>
              <a:buNone/>
            </a:pPr>
            <a:r>
              <a:rPr lang="en-US" sz="926" b="1" dirty="0">
                <a:solidFill>
                  <a:srgbClr val="FFFFFF">
                    <a:alpha val="99000"/>
                  </a:srgbClr>
                </a:solidFill>
                <a:latin typeface="Inter" pitchFamily="34" charset="0"/>
                <a:ea typeface="Inter" pitchFamily="34" charset="-122"/>
                <a:cs typeface="Inter" pitchFamily="34" charset="-120"/>
              </a:rPr>
              <a:t>Muhammed Saad Mazhar</a:t>
            </a:r>
            <a:endParaRPr lang="en-US" sz="926" dirty="0"/>
          </a:p>
        </p:txBody>
      </p:sp>
      <p:sp>
        <p:nvSpPr>
          <p:cNvPr id="10" name="Text 7"/>
          <p:cNvSpPr/>
          <p:nvPr/>
        </p:nvSpPr>
        <p:spPr>
          <a:xfrm>
            <a:off x="542925" y="3057525"/>
            <a:ext cx="4286250" cy="471488"/>
          </a:xfrm>
          <a:prstGeom prst="rect">
            <a:avLst/>
          </a:prstGeom>
          <a:noFill/>
          <a:ln/>
        </p:spPr>
        <p:txBody>
          <a:bodyPr wrap="square" lIns="0" tIns="0" rIns="0" bIns="0" rtlCol="0" anchor="t"/>
          <a:lstStyle/>
          <a:p>
            <a:pPr algn="l" indent="0" marL="0">
              <a:lnSpc>
                <a:spcPts val="1160"/>
              </a:lnSpc>
              <a:buNone/>
            </a:pPr>
            <a:r>
              <a:rPr lang="en-US" sz="748" dirty="0">
                <a:solidFill>
                  <a:srgbClr val="B9CCC6">
                    <a:alpha val="99000"/>
                  </a:srgbClr>
                </a:solidFill>
                <a:latin typeface="Inter" pitchFamily="34" charset="0"/>
                <a:ea typeface="Inter" pitchFamily="34" charset="-122"/>
                <a:cs typeface="Inter" pitchFamily="34" charset="-120"/>
              </a:rPr>
              <a:t>IIT 20221804  ·  UoW W2053223</a:t>
            </a:r>
            <a:endParaRPr lang="en-US" sz="748" dirty="0"/>
          </a:p>
          <a:p>
            <a:pPr algn="l" indent="0" marL="0">
              <a:lnSpc>
                <a:spcPts val="1160"/>
              </a:lnSpc>
              <a:buNone/>
            </a:pPr>
            <a:r>
              <a:rPr lang="en-US" sz="748" dirty="0">
                <a:solidFill>
                  <a:srgbClr val="B9CCC6">
                    <a:alpha val="99000"/>
                  </a:srgbClr>
                </a:solidFill>
                <a:latin typeface="Inter" pitchFamily="34" charset="0"/>
                <a:ea typeface="Inter" pitchFamily="34" charset="-122"/>
                <a:cs typeface="Inter" pitchFamily="34" charset="-120"/>
              </a:rPr>
              <a:t>Supervisor: Mr. Ajeevan Sivanandhan</a:t>
            </a:r>
            <a:endParaRPr lang="en-US" sz="748" dirty="0"/>
          </a:p>
          <a:p>
            <a:pPr algn="l" indent="0" marL="0">
              <a:lnSpc>
                <a:spcPts val="1160"/>
              </a:lnSpc>
              <a:buNone/>
            </a:pPr>
            <a:r>
              <a:rPr lang="en-US" sz="748" dirty="0">
                <a:solidFill>
                  <a:srgbClr val="B9CCC6">
                    <a:alpha val="99000"/>
                  </a:srgbClr>
                </a:solidFill>
                <a:latin typeface="Inter" pitchFamily="34" charset="0"/>
                <a:ea typeface="Inter" pitchFamily="34" charset="-122"/>
                <a:cs typeface="Inter" pitchFamily="34" charset="-120"/>
              </a:rPr>
              <a:t>BSc (Hons) Computer Science, IIT / University of Westminster</a:t>
            </a:r>
            <a:endParaRPr lang="en-US" sz="748" dirty="0"/>
          </a:p>
        </p:txBody>
      </p:sp>
      <p:sp>
        <p:nvSpPr>
          <p:cNvPr id="11" name="Shape 8"/>
          <p:cNvSpPr/>
          <p:nvPr/>
        </p:nvSpPr>
        <p:spPr>
          <a:xfrm>
            <a:off x="533400" y="3905250"/>
            <a:ext cx="2667000" cy="647700"/>
          </a:xfrm>
          <a:prstGeom prst="roundRect">
            <a:avLst/>
          </a:prstGeom>
          <a:solidFill>
            <a:srgbClr val="FFFFFF"/>
          </a:solidFill>
          <a:ln/>
        </p:spPr>
      </p:sp>
      <p:pic>
        <p:nvPicPr>
          <p:cNvPr id="12" name="Image 0" descr="preencoded.png">    </p:cNvPr>
          <p:cNvPicPr>
            <a:picLocks noChangeAspect="1"/>
          </p:cNvPicPr>
          <p:nvPr/>
        </p:nvPicPr>
        <p:blipFill>
          <a:blip r:embed="rId1"/>
          <a:srcRect l="0" r="0" t="0" b="0"/>
          <a:stretch/>
        </p:blipFill>
        <p:spPr>
          <a:xfrm>
            <a:off x="666750" y="3971925"/>
            <a:ext cx="981075" cy="514350"/>
          </a:xfrm>
          <a:prstGeom prst="rect">
            <a:avLst/>
          </a:prstGeom>
        </p:spPr>
      </p:pic>
      <p:pic>
        <p:nvPicPr>
          <p:cNvPr id="13" name="Image 1" descr="preencoded.png">    </p:cNvPr>
          <p:cNvPicPr>
            <a:picLocks noChangeAspect="1"/>
          </p:cNvPicPr>
          <p:nvPr/>
        </p:nvPicPr>
        <p:blipFill>
          <a:blip r:embed="rId2"/>
          <a:srcRect l="0" r="0" t="0" b="0"/>
          <a:stretch/>
        </p:blipFill>
        <p:spPr>
          <a:xfrm>
            <a:off x="1828800" y="4071938"/>
            <a:ext cx="1238250" cy="314325"/>
          </a:xfrm>
          <a:prstGeom prst="rect">
            <a:avLst/>
          </a:prstGeom>
        </p:spPr>
      </p:pic>
      <p:sp>
        <p:nvSpPr>
          <p:cNvPr id="14" name="Shape 9"/>
          <p:cNvSpPr/>
          <p:nvPr/>
        </p:nvSpPr>
        <p:spPr>
          <a:xfrm>
            <a:off x="1743075" y="4048125"/>
            <a:ext cx="4763" cy="361950"/>
          </a:xfrm>
          <a:prstGeom prst="rect">
            <a:avLst/>
          </a:prstGeom>
          <a:solidFill>
            <a:srgbClr val="0E2A26">
              <a:alpha val="15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2026-10-19T15:55:28Z</dcterms:created>
  <dcterms:modified xsi:type="dcterms:W3CDTF">2026-10-19T15:55:28Z</dcterms:modified>
</cp:coreProperties>
</file>