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12"/>
  </p:notesMasterIdLst>
  <p:handoutMasterIdLst>
    <p:handoutMasterId r:id="rId13"/>
  </p:handoutMasterIdLst>
  <p:sldIdLst>
    <p:sldId id="370" r:id="rId2"/>
    <p:sldId id="371" r:id="rId3"/>
    <p:sldId id="372" r:id="rId4"/>
    <p:sldId id="373" r:id="rId5"/>
    <p:sldId id="374" r:id="rId6"/>
    <p:sldId id="375" r:id="rId7"/>
    <p:sldId id="377" r:id="rId8"/>
    <p:sldId id="376" r:id="rId9"/>
    <p:sldId id="379" r:id="rId10"/>
    <p:sldId id="378" r:id="rId1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292929"/>
    <a:srgbClr val="777777"/>
    <a:srgbClr val="B2B2B2"/>
    <a:srgbClr val="FFFF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49A57E-A594-43EF-93F7-A777CD447A8A}" v="11" dt="2025-09-22T05:06:23.3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10" autoAdjust="0"/>
    <p:restoredTop sz="95033" autoAdjust="0"/>
  </p:normalViewPr>
  <p:slideViewPr>
    <p:cSldViewPr>
      <p:cViewPr varScale="1">
        <p:scale>
          <a:sx n="82" d="100"/>
          <a:sy n="82" d="100"/>
        </p:scale>
        <p:origin x="1517"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987E1A75-AB23-48C4-A8B2-F4AA286F849E}"/>
    <pc:docChg chg="undo custSel modSld">
      <pc:chgData name="Daphne Economou" userId="d065a339-36cf-4937-af08-41751becbd81" providerId="ADAL" clId="{987E1A75-AB23-48C4-A8B2-F4AA286F849E}" dt="2024-09-22T11:17:45.676" v="261" actId="962"/>
      <pc:docMkLst>
        <pc:docMk/>
      </pc:docMkLst>
      <pc:sldChg chg="modSp mod">
        <pc:chgData name="Daphne Economou" userId="d065a339-36cf-4937-af08-41751becbd81" providerId="ADAL" clId="{987E1A75-AB23-48C4-A8B2-F4AA286F849E}" dt="2024-09-21T10:50:45.764" v="256" actId="20577"/>
        <pc:sldMkLst>
          <pc:docMk/>
          <pc:sldMk cId="0" sldId="371"/>
        </pc:sldMkLst>
      </pc:sldChg>
      <pc:sldChg chg="modSp mod">
        <pc:chgData name="Daphne Economou" userId="d065a339-36cf-4937-af08-41751becbd81" providerId="ADAL" clId="{987E1A75-AB23-48C4-A8B2-F4AA286F849E}" dt="2024-09-21T10:18:05.874" v="104" actId="113"/>
        <pc:sldMkLst>
          <pc:docMk/>
          <pc:sldMk cId="0" sldId="372"/>
        </pc:sldMkLst>
      </pc:sldChg>
      <pc:sldChg chg="modSp mod">
        <pc:chgData name="Daphne Economou" userId="d065a339-36cf-4937-af08-41751becbd81" providerId="ADAL" clId="{987E1A75-AB23-48C4-A8B2-F4AA286F849E}" dt="2024-09-21T10:45:47.819" v="157" actId="20577"/>
        <pc:sldMkLst>
          <pc:docMk/>
          <pc:sldMk cId="0" sldId="376"/>
        </pc:sldMkLst>
      </pc:sldChg>
      <pc:sldChg chg="addSp delSp modSp mod">
        <pc:chgData name="Daphne Economou" userId="d065a339-36cf-4937-af08-41751becbd81" providerId="ADAL" clId="{987E1A75-AB23-48C4-A8B2-F4AA286F849E}" dt="2024-09-22T11:17:45.676" v="261" actId="962"/>
        <pc:sldMkLst>
          <pc:docMk/>
          <pc:sldMk cId="0" sldId="377"/>
        </pc:sldMkLst>
      </pc:sldChg>
      <pc:sldChg chg="modSp mod">
        <pc:chgData name="Daphne Economou" userId="d065a339-36cf-4937-af08-41751becbd81" providerId="ADAL" clId="{987E1A75-AB23-48C4-A8B2-F4AA286F849E}" dt="2024-09-21T10:46:19.865" v="213" actId="20577"/>
        <pc:sldMkLst>
          <pc:docMk/>
          <pc:sldMk cId="0" sldId="378"/>
        </pc:sldMkLst>
      </pc:sldChg>
      <pc:sldChg chg="modSp mod">
        <pc:chgData name="Daphne Economou" userId="d065a339-36cf-4937-af08-41751becbd81" providerId="ADAL" clId="{987E1A75-AB23-48C4-A8B2-F4AA286F849E}" dt="2024-09-21T10:46:56.636" v="224" actId="20577"/>
        <pc:sldMkLst>
          <pc:docMk/>
          <pc:sldMk cId="0" sldId="379"/>
        </pc:sldMkLst>
      </pc:sldChg>
    </pc:docChg>
  </pc:docChgLst>
  <pc:docChgLst>
    <pc:chgData name="Sahdiya Hussain" userId="476cea1f-64a0-49cb-9a9c-d1a51e59e4bf" providerId="ADAL" clId="{8873DEF9-5373-4545-897B-E19DC8F056C3}"/>
    <pc:docChg chg="undo custSel modSld">
      <pc:chgData name="Sahdiya Hussain" userId="476cea1f-64a0-49cb-9a9c-d1a51e59e4bf" providerId="ADAL" clId="{8873DEF9-5373-4545-897B-E19DC8F056C3}" dt="2025-09-22T05:09:11.945" v="167" actId="20577"/>
      <pc:docMkLst>
        <pc:docMk/>
      </pc:docMkLst>
      <pc:sldChg chg="modSp mod">
        <pc:chgData name="Sahdiya Hussain" userId="476cea1f-64a0-49cb-9a9c-d1a51e59e4bf" providerId="ADAL" clId="{8873DEF9-5373-4545-897B-E19DC8F056C3}" dt="2025-09-22T05:09:11.945" v="167" actId="20577"/>
        <pc:sldMkLst>
          <pc:docMk/>
          <pc:sldMk cId="0" sldId="370"/>
        </pc:sldMkLst>
        <pc:spChg chg="mod">
          <ac:chgData name="Sahdiya Hussain" userId="476cea1f-64a0-49cb-9a9c-d1a51e59e4bf" providerId="ADAL" clId="{8873DEF9-5373-4545-897B-E19DC8F056C3}" dt="2025-09-22T05:09:11.945" v="167" actId="20577"/>
          <ac:spMkLst>
            <pc:docMk/>
            <pc:sldMk cId="0" sldId="370"/>
            <ac:spMk id="5" creationId="{74105839-4659-4E54-A796-9812B8C74B00}"/>
          </ac:spMkLst>
        </pc:spChg>
      </pc:sldChg>
      <pc:sldChg chg="modSp mod">
        <pc:chgData name="Sahdiya Hussain" userId="476cea1f-64a0-49cb-9a9c-d1a51e59e4bf" providerId="ADAL" clId="{8873DEF9-5373-4545-897B-E19DC8F056C3}" dt="2025-09-22T05:02:10.476" v="92" actId="20577"/>
        <pc:sldMkLst>
          <pc:docMk/>
          <pc:sldMk cId="0" sldId="371"/>
        </pc:sldMkLst>
        <pc:spChg chg="mod">
          <ac:chgData name="Sahdiya Hussain" userId="476cea1f-64a0-49cb-9a9c-d1a51e59e4bf" providerId="ADAL" clId="{8873DEF9-5373-4545-897B-E19DC8F056C3}" dt="2025-09-22T04:59:56.631" v="70" actId="20577"/>
          <ac:spMkLst>
            <pc:docMk/>
            <pc:sldMk cId="0" sldId="371"/>
            <ac:spMk id="4" creationId="{09DC391D-62FD-4805-93B9-FAC0C46FA69F}"/>
          </ac:spMkLst>
        </pc:spChg>
        <pc:spChg chg="mod">
          <ac:chgData name="Sahdiya Hussain" userId="476cea1f-64a0-49cb-9a9c-d1a51e59e4bf" providerId="ADAL" clId="{8873DEF9-5373-4545-897B-E19DC8F056C3}" dt="2025-09-22T05:02:10.476" v="92" actId="20577"/>
          <ac:spMkLst>
            <pc:docMk/>
            <pc:sldMk cId="0" sldId="371"/>
            <ac:spMk id="6" creationId="{00000000-0000-0000-0000-000000000000}"/>
          </ac:spMkLst>
        </pc:spChg>
      </pc:sldChg>
      <pc:sldChg chg="modSp mod">
        <pc:chgData name="Sahdiya Hussain" userId="476cea1f-64a0-49cb-9a9c-d1a51e59e4bf" providerId="ADAL" clId="{8873DEF9-5373-4545-897B-E19DC8F056C3}" dt="2025-09-22T05:03:47.597" v="121" actId="20577"/>
        <pc:sldMkLst>
          <pc:docMk/>
          <pc:sldMk cId="0" sldId="372"/>
        </pc:sldMkLst>
        <pc:spChg chg="mod">
          <ac:chgData name="Sahdiya Hussain" userId="476cea1f-64a0-49cb-9a9c-d1a51e59e4bf" providerId="ADAL" clId="{8873DEF9-5373-4545-897B-E19DC8F056C3}" dt="2025-09-22T05:00:28.047" v="71" actId="20577"/>
          <ac:spMkLst>
            <pc:docMk/>
            <pc:sldMk cId="0" sldId="372"/>
            <ac:spMk id="4" creationId="{E1A30570-5D5B-44BC-9476-74E4D0F6AD13}"/>
          </ac:spMkLst>
        </pc:spChg>
        <pc:spChg chg="mod">
          <ac:chgData name="Sahdiya Hussain" userId="476cea1f-64a0-49cb-9a9c-d1a51e59e4bf" providerId="ADAL" clId="{8873DEF9-5373-4545-897B-E19DC8F056C3}" dt="2025-09-22T05:03:47.597" v="121" actId="20577"/>
          <ac:spMkLst>
            <pc:docMk/>
            <pc:sldMk cId="0" sldId="372"/>
            <ac:spMk id="6" creationId="{00000000-0000-0000-0000-000000000000}"/>
          </ac:spMkLst>
        </pc:spChg>
      </pc:sldChg>
      <pc:sldChg chg="modSp mod">
        <pc:chgData name="Sahdiya Hussain" userId="476cea1f-64a0-49cb-9a9c-d1a51e59e4bf" providerId="ADAL" clId="{8873DEF9-5373-4545-897B-E19DC8F056C3}" dt="2025-09-22T05:00:38.298" v="72" actId="20577"/>
        <pc:sldMkLst>
          <pc:docMk/>
          <pc:sldMk cId="0" sldId="373"/>
        </pc:sldMkLst>
        <pc:spChg chg="mod">
          <ac:chgData name="Sahdiya Hussain" userId="476cea1f-64a0-49cb-9a9c-d1a51e59e4bf" providerId="ADAL" clId="{8873DEF9-5373-4545-897B-E19DC8F056C3}" dt="2025-09-22T05:00:38.298" v="72" actId="20577"/>
          <ac:spMkLst>
            <pc:docMk/>
            <pc:sldMk cId="0" sldId="373"/>
            <ac:spMk id="4" creationId="{B077C16B-63BE-480B-85C8-DE65A8D38938}"/>
          </ac:spMkLst>
        </pc:spChg>
      </pc:sldChg>
      <pc:sldChg chg="modSp mod">
        <pc:chgData name="Sahdiya Hussain" userId="476cea1f-64a0-49cb-9a9c-d1a51e59e4bf" providerId="ADAL" clId="{8873DEF9-5373-4545-897B-E19DC8F056C3}" dt="2025-09-22T05:00:45.379" v="73" actId="20577"/>
        <pc:sldMkLst>
          <pc:docMk/>
          <pc:sldMk cId="0" sldId="374"/>
        </pc:sldMkLst>
        <pc:spChg chg="mod">
          <ac:chgData name="Sahdiya Hussain" userId="476cea1f-64a0-49cb-9a9c-d1a51e59e4bf" providerId="ADAL" clId="{8873DEF9-5373-4545-897B-E19DC8F056C3}" dt="2025-09-22T05:00:45.379" v="73" actId="20577"/>
          <ac:spMkLst>
            <pc:docMk/>
            <pc:sldMk cId="0" sldId="374"/>
            <ac:spMk id="4" creationId="{5DF20B18-7864-40DD-925E-7B3996598E8B}"/>
          </ac:spMkLst>
        </pc:spChg>
      </pc:sldChg>
      <pc:sldChg chg="modSp mod">
        <pc:chgData name="Sahdiya Hussain" userId="476cea1f-64a0-49cb-9a9c-d1a51e59e4bf" providerId="ADAL" clId="{8873DEF9-5373-4545-897B-E19DC8F056C3}" dt="2025-09-22T05:05:26.126" v="123" actId="20577"/>
        <pc:sldMkLst>
          <pc:docMk/>
          <pc:sldMk cId="0" sldId="376"/>
        </pc:sldMkLst>
        <pc:spChg chg="mod">
          <ac:chgData name="Sahdiya Hussain" userId="476cea1f-64a0-49cb-9a9c-d1a51e59e4bf" providerId="ADAL" clId="{8873DEF9-5373-4545-897B-E19DC8F056C3}" dt="2025-09-22T05:01:00.008" v="75" actId="20577"/>
          <ac:spMkLst>
            <pc:docMk/>
            <pc:sldMk cId="0" sldId="376"/>
            <ac:spMk id="4" creationId="{CEF46636-935A-4D30-BB0B-07B139DD77D9}"/>
          </ac:spMkLst>
        </pc:spChg>
        <pc:graphicFrameChg chg="modGraphic">
          <ac:chgData name="Sahdiya Hussain" userId="476cea1f-64a0-49cb-9a9c-d1a51e59e4bf" providerId="ADAL" clId="{8873DEF9-5373-4545-897B-E19DC8F056C3}" dt="2025-09-22T05:05:26.126" v="123" actId="20577"/>
          <ac:graphicFrameMkLst>
            <pc:docMk/>
            <pc:sldMk cId="0" sldId="376"/>
            <ac:graphicFrameMk id="9" creationId="{00000000-0000-0000-0000-000000000000}"/>
          </ac:graphicFrameMkLst>
        </pc:graphicFrameChg>
      </pc:sldChg>
      <pc:sldChg chg="modSp mod">
        <pc:chgData name="Sahdiya Hussain" userId="476cea1f-64a0-49cb-9a9c-d1a51e59e4bf" providerId="ADAL" clId="{8873DEF9-5373-4545-897B-E19DC8F056C3}" dt="2025-09-22T05:00:52.844" v="74" actId="20577"/>
        <pc:sldMkLst>
          <pc:docMk/>
          <pc:sldMk cId="0" sldId="377"/>
        </pc:sldMkLst>
        <pc:spChg chg="mod">
          <ac:chgData name="Sahdiya Hussain" userId="476cea1f-64a0-49cb-9a9c-d1a51e59e4bf" providerId="ADAL" clId="{8873DEF9-5373-4545-897B-E19DC8F056C3}" dt="2025-09-22T05:00:52.844" v="74" actId="20577"/>
          <ac:spMkLst>
            <pc:docMk/>
            <pc:sldMk cId="0" sldId="377"/>
            <ac:spMk id="12" creationId="{2E169DD0-D2B4-4CD7-8EB9-C893AAE83D35}"/>
          </ac:spMkLst>
        </pc:spChg>
      </pc:sldChg>
      <pc:sldChg chg="modSp mod">
        <pc:chgData name="Sahdiya Hussain" userId="476cea1f-64a0-49cb-9a9c-d1a51e59e4bf" providerId="ADAL" clId="{8873DEF9-5373-4545-897B-E19DC8F056C3}" dt="2025-09-22T05:01:35.695" v="77" actId="20577"/>
        <pc:sldMkLst>
          <pc:docMk/>
          <pc:sldMk cId="0" sldId="378"/>
        </pc:sldMkLst>
        <pc:spChg chg="mod">
          <ac:chgData name="Sahdiya Hussain" userId="476cea1f-64a0-49cb-9a9c-d1a51e59e4bf" providerId="ADAL" clId="{8873DEF9-5373-4545-897B-E19DC8F056C3}" dt="2025-09-22T05:01:35.695" v="77" actId="20577"/>
          <ac:spMkLst>
            <pc:docMk/>
            <pc:sldMk cId="0" sldId="378"/>
            <ac:spMk id="4" creationId="{AFEFCDEA-75AB-4D42-A7C5-1EFEF398E9EC}"/>
          </ac:spMkLst>
        </pc:spChg>
      </pc:sldChg>
      <pc:sldChg chg="modSp mod">
        <pc:chgData name="Sahdiya Hussain" userId="476cea1f-64a0-49cb-9a9c-d1a51e59e4bf" providerId="ADAL" clId="{8873DEF9-5373-4545-897B-E19DC8F056C3}" dt="2025-09-22T05:06:47.739" v="166" actId="5793"/>
        <pc:sldMkLst>
          <pc:docMk/>
          <pc:sldMk cId="0" sldId="379"/>
        </pc:sldMkLst>
        <pc:spChg chg="mod">
          <ac:chgData name="Sahdiya Hussain" userId="476cea1f-64a0-49cb-9a9c-d1a51e59e4bf" providerId="ADAL" clId="{8873DEF9-5373-4545-897B-E19DC8F056C3}" dt="2025-09-22T05:01:27.944" v="76" actId="20577"/>
          <ac:spMkLst>
            <pc:docMk/>
            <pc:sldMk cId="0" sldId="379"/>
            <ac:spMk id="4" creationId="{54111FD7-2AC4-47E1-8C57-2A11D53305D9}"/>
          </ac:spMkLst>
        </pc:spChg>
        <pc:spChg chg="mod">
          <ac:chgData name="Sahdiya Hussain" userId="476cea1f-64a0-49cb-9a9c-d1a51e59e4bf" providerId="ADAL" clId="{8873DEF9-5373-4545-897B-E19DC8F056C3}" dt="2025-09-22T05:06:47.739" v="166" actId="5793"/>
          <ac:spMkLst>
            <pc:docMk/>
            <pc:sldMk cId="0" sldId="379"/>
            <ac:spMk id="6" creationId="{00000000-0000-0000-0000-000000000000}"/>
          </ac:spMkLst>
        </pc:spChg>
      </pc:sldChg>
    </pc:docChg>
  </pc:docChgLst>
  <pc:docChgLst>
    <pc:chgData name="Daphne Economou" userId="d065a339-36cf-4937-af08-41751becbd81" providerId="ADAL" clId="{5EF65EB6-D383-4AE6-91C2-7287677C8E24}"/>
    <pc:docChg chg="modSld">
      <pc:chgData name="Daphne Economou" userId="d065a339-36cf-4937-af08-41751becbd81" providerId="ADAL" clId="{5EF65EB6-D383-4AE6-91C2-7287677C8E24}" dt="2023-10-20T19:14:39.668" v="213" actId="962"/>
      <pc:docMkLst>
        <pc:docMk/>
      </pc:docMkLst>
      <pc:sldChg chg="modSp mod">
        <pc:chgData name="Daphne Economou" userId="d065a339-36cf-4937-af08-41751becbd81" providerId="ADAL" clId="{5EF65EB6-D383-4AE6-91C2-7287677C8E24}" dt="2023-10-20T19:14:39.668" v="213" actId="962"/>
        <pc:sldMkLst>
          <pc:docMk/>
          <pc:sldMk cId="0" sldId="37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a:t>
            </a:fld>
            <a:endParaRPr lang="en-US"/>
          </a:p>
        </p:txBody>
      </p:sp>
    </p:spTree>
    <p:extLst>
      <p:ext uri="{BB962C8B-B14F-4D97-AF65-F5344CB8AC3E}">
        <p14:creationId xmlns:p14="http://schemas.microsoft.com/office/powerpoint/2010/main" val="2743360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a:t>
            </a:fld>
            <a:endParaRPr lang="en-US"/>
          </a:p>
        </p:txBody>
      </p:sp>
    </p:spTree>
    <p:extLst>
      <p:ext uri="{BB962C8B-B14F-4D97-AF65-F5344CB8AC3E}">
        <p14:creationId xmlns:p14="http://schemas.microsoft.com/office/powerpoint/2010/main" val="649987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3B225748-449B-4E6E-B2FD-9A517E5C9785}"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9</a:t>
            </a:fld>
            <a:endParaRPr lang="en-US"/>
          </a:p>
        </p:txBody>
      </p:sp>
    </p:spTree>
    <p:extLst>
      <p:ext uri="{BB962C8B-B14F-4D97-AF65-F5344CB8AC3E}">
        <p14:creationId xmlns:p14="http://schemas.microsoft.com/office/powerpoint/2010/main" val="4006363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1400">
                <a:solidFill>
                  <a:srgbClr val="FFFFFF"/>
                </a:solidFill>
                <a:latin typeface="+mj-lt"/>
              </a:defRPr>
            </a:lvl1pPr>
          </a:lstStyle>
          <a:p>
            <a:fld id="{89FCF5F5-2E63-4179-A725-215DAA90152B}" type="datetime1">
              <a:rPr lang="en-US" smtClean="0"/>
              <a:t>9/22/2025</a:t>
            </a:fld>
            <a:endParaRPr lang="en-US" dirty="0"/>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/10</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3ECD271D-7F79-4982-92B6-B11060E90173}" type="datetime1">
              <a:rPr lang="en-US" smtClean="0"/>
              <a:t>9/22/2025</a:t>
            </a:fld>
            <a:endParaRPr lang="en-US" dirty="0"/>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/10</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/10</a:t>
            </a:r>
            <a:endParaRPr lang="en-US" dirty="0"/>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724FD7A6-0520-4D8B-8F40-5CDA16A64D89}" type="datetime1">
              <a:rPr lang="en-US" smtClean="0"/>
              <a:t>9/22/2025</a:t>
            </a:fld>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Date Placeholder 13"/>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EBEA7DC1-0565-4061-92F3-D3CAA16811E4}" type="datetime1">
              <a:rPr lang="en-US" smtClean="0"/>
              <a:t>9/22/2025</a:t>
            </a:fld>
            <a:endParaRPr lang="en-US" dirty="0"/>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/46</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7" name="Date Placeholder 13"/>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661C0D12-5DC0-4821-B7AB-D8F24CA00DC1}" type="datetime1">
              <a:rPr lang="en-US" smtClean="0"/>
              <a:t>9/22/2025</a:t>
            </a:fld>
            <a:endParaRPr lang="en-US" dirty="0"/>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/46</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B416C37D-2132-4383-B9A1-6544B090EB6C}" type="datetime1">
              <a:rPr lang="en-US" smtClean="0"/>
              <a:t>9/22/2025</a:t>
            </a:fld>
            <a:endParaRPr lang="en-US" dirty="0"/>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/10</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/46</a:t>
            </a:r>
            <a:endParaRPr lang="en-US" dirty="0"/>
          </a:p>
        </p:txBody>
      </p:sp>
      <p:sp>
        <p:nvSpPr>
          <p:cNvPr id="5"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5034B1C7-BB89-4711-B65A-02DD700E4F80}" type="datetime1">
              <a:rPr lang="en-US" smtClean="0"/>
              <a:t>9/22/2025</a:t>
            </a:fld>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13"/>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3941C6CD-D20D-4846-9C91-94E95FA7667B}" type="datetime1">
              <a:rPr lang="en-US" smtClean="0"/>
              <a:t>9/22/2025</a:t>
            </a:fld>
            <a:endParaRPr lang="en-US" dirty="0"/>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/46</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/46</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5" name="Date Placeholder 13"/>
          <p:cNvSpPr>
            <a:spLocks noGrp="1"/>
          </p:cNvSpPr>
          <p:nvPr>
            <p:ph type="dt" sz="half" idx="12"/>
          </p:nvPr>
        </p:nvSpPr>
        <p:spPr>
          <a:xfrm>
            <a:off x="6477000" y="6286520"/>
            <a:ext cx="2452718" cy="327005"/>
          </a:xfrm>
          <a:prstGeom prst="rect">
            <a:avLst/>
          </a:prstGeom>
        </p:spPr>
        <p:txBody>
          <a:bodyPr vert="horz" anchor="ctr" anchorCtr="0"/>
          <a:lstStyle>
            <a:lvl1pPr algn="l" eaLnBrk="1" latinLnBrk="0" hangingPunct="1">
              <a:defRPr kumimoji="0" sz="1400">
                <a:solidFill>
                  <a:schemeClr val="tx2"/>
                </a:solidFill>
                <a:latin typeface="+mn-lt"/>
              </a:defRPr>
            </a:lvl1pPr>
          </a:lstStyle>
          <a:p>
            <a:fld id="{16AF564C-30AA-498B-AB9A-4F13BCA23A27}" type="datetime1">
              <a:rPr lang="en-US" smtClean="0"/>
              <a:t>9/22/2025</a:t>
            </a:fld>
            <a:endParaRPr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2C058237-D24F-4F87-BA83-47A5DEB828EE}" type="datetime1">
              <a:rPr lang="en-US" smtClean="0"/>
              <a:t>9/22/2025</a:t>
            </a:fld>
            <a:endParaRPr lang="en-US" dirty="0"/>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/10</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/46</a:t>
            </a:r>
            <a:endParaRPr lang="en-US" dirty="0"/>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49699289-3FCF-4CA3-8C0D-4AC064962C13}" type="datetime1">
              <a:rPr lang="en-US" smtClean="0"/>
              <a:t>9/22/2025</a:t>
            </a:fld>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C21F6A61-65BB-4F29-AD9A-9002293E4E69}" type="datetime1">
              <a:rPr lang="en-US" smtClean="0"/>
              <a:t>9/22/2025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/46</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t>6MMCS009W1 Usability Testing &amp; Evaluation</a:t>
            </a:r>
          </a:p>
        </p:txBody>
      </p:sp>
      <p:sp>
        <p:nvSpPr>
          <p:cNvPr id="3" name="Subtitle 2"/>
          <p:cNvSpPr>
            <a:spLocks noGrp="1"/>
          </p:cNvSpPr>
          <p:nvPr>
            <p:ph type="subTitle" idx="1"/>
          </p:nvPr>
        </p:nvSpPr>
        <p:spPr/>
        <p:txBody>
          <a:bodyPr/>
          <a:lstStyle/>
          <a:p>
            <a:r>
              <a:rPr lang="en-GB" dirty="0"/>
              <a:t>Introduction to the module</a:t>
            </a:r>
          </a:p>
        </p:txBody>
      </p:sp>
      <p:sp>
        <p:nvSpPr>
          <p:cNvPr id="5" name="Footer Placeholder 4">
            <a:extLst>
              <a:ext uri="{FF2B5EF4-FFF2-40B4-BE49-F238E27FC236}">
                <a16:creationId xmlns:a16="http://schemas.microsoft.com/office/drawing/2014/main" id="{74105839-4659-4E54-A796-9812B8C74B00}"/>
              </a:ext>
            </a:extLst>
          </p:cNvPr>
          <p:cNvSpPr>
            <a:spLocks noGrp="1"/>
          </p:cNvSpPr>
          <p:nvPr>
            <p:ph type="ftr" sz="quarter" idx="11"/>
          </p:nvPr>
        </p:nvSpPr>
        <p:spPr/>
        <p:txBody>
          <a:bodyPr/>
          <a:lstStyle/>
          <a:p>
            <a:pPr algn="l"/>
            <a:r>
              <a:rPr lang="pt-BR"/>
              <a:t>6MMCS009W1 </a:t>
            </a:r>
            <a:r>
              <a:rPr lang="pt-BR" dirty="0"/>
              <a:t>Usability Testing &amp; Evaluation</a:t>
            </a:r>
            <a:endParaRPr lang="en-US" dirty="0"/>
          </a:p>
        </p:txBody>
      </p:sp>
      <p:sp>
        <p:nvSpPr>
          <p:cNvPr id="8" name="Slide Number Placeholder 7">
            <a:extLst>
              <a:ext uri="{FF2B5EF4-FFF2-40B4-BE49-F238E27FC236}">
                <a16:creationId xmlns:a16="http://schemas.microsoft.com/office/drawing/2014/main" id="{25912554-C973-39DC-B5CF-754A9FD4BE48}"/>
              </a:ext>
            </a:extLst>
          </p:cNvPr>
          <p:cNvSpPr>
            <a:spLocks noGrp="1"/>
          </p:cNvSpPr>
          <p:nvPr>
            <p:ph type="sldNum" sz="quarter" idx="12"/>
          </p:nvPr>
        </p:nvSpPr>
        <p:spPr/>
        <p:txBody>
          <a:bodyPr/>
          <a:lstStyle/>
          <a:p>
            <a:fld id="{C060DF7E-57CF-4468-B64C-3049F1FBC5EB}" type="slidenum">
              <a:rPr lang="en-US" smtClean="0"/>
              <a:pPr/>
              <a:t>1</a:t>
            </a:fld>
            <a:r>
              <a:rPr lang="en-GB"/>
              <a:t>/10</a:t>
            </a:r>
            <a:endParaRPr lang="en-US" dirty="0"/>
          </a:p>
        </p:txBody>
      </p:sp>
      <p:sp>
        <p:nvSpPr>
          <p:cNvPr id="6" name="Date Placeholder 5">
            <a:extLst>
              <a:ext uri="{FF2B5EF4-FFF2-40B4-BE49-F238E27FC236}">
                <a16:creationId xmlns:a16="http://schemas.microsoft.com/office/drawing/2014/main" id="{81DD03F0-0143-D50A-2EA0-CDB5EC850925}"/>
              </a:ext>
            </a:extLst>
          </p:cNvPr>
          <p:cNvSpPr>
            <a:spLocks noGrp="1"/>
          </p:cNvSpPr>
          <p:nvPr>
            <p:ph type="dt" sz="half" idx="10"/>
          </p:nvPr>
        </p:nvSpPr>
        <p:spPr/>
        <p:txBody>
          <a:bodyPr/>
          <a:lstStyle/>
          <a:p>
            <a:fld id="{16805F14-32B9-4F58-BF8A-52CE9F5294DD}" type="datetime1">
              <a:rPr lang="en-US" smtClean="0"/>
              <a:t>9/22/2025</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Contacts</a:t>
            </a:r>
          </a:p>
        </p:txBody>
      </p:sp>
      <p:sp>
        <p:nvSpPr>
          <p:cNvPr id="6" name="Content Placeholder 5"/>
          <p:cNvSpPr>
            <a:spLocks noGrp="1"/>
          </p:cNvSpPr>
          <p:nvPr>
            <p:ph sz="quarter" idx="1"/>
          </p:nvPr>
        </p:nvSpPr>
        <p:spPr>
          <a:xfrm>
            <a:off x="612648" y="1600200"/>
            <a:ext cx="8153400" cy="4781128"/>
          </a:xfrm>
        </p:spPr>
        <p:txBody>
          <a:bodyPr>
            <a:normAutofit/>
          </a:bodyPr>
          <a:lstStyle/>
          <a:p>
            <a:pPr>
              <a:lnSpc>
                <a:spcPct val="120000"/>
              </a:lnSpc>
              <a:spcBef>
                <a:spcPts val="600"/>
              </a:spcBef>
            </a:pPr>
            <a:r>
              <a:rPr lang="en-GB" dirty="0"/>
              <a:t>Sahdiya Hussain</a:t>
            </a:r>
          </a:p>
          <a:p>
            <a:pPr lvl="1">
              <a:lnSpc>
                <a:spcPct val="120000"/>
              </a:lnSpc>
              <a:spcBef>
                <a:spcPts val="600"/>
              </a:spcBef>
            </a:pPr>
            <a:r>
              <a:rPr lang="en-GB" dirty="0"/>
              <a:t>E-mail: </a:t>
            </a:r>
            <a:r>
              <a:rPr lang="en-GB" b="1" dirty="0"/>
              <a:t>Sahdiya.h@iit.ac.lk</a:t>
            </a:r>
            <a:endParaRPr lang="en-GB" b="1" dirty="0">
              <a:solidFill>
                <a:schemeClr val="hlink"/>
              </a:solidFill>
            </a:endParaRPr>
          </a:p>
          <a:p>
            <a:pPr lvl="1">
              <a:lnSpc>
                <a:spcPct val="120000"/>
              </a:lnSpc>
              <a:spcBef>
                <a:spcPts val="600"/>
              </a:spcBef>
            </a:pPr>
            <a:r>
              <a:rPr lang="en-GB" dirty="0"/>
              <a:t>Room: 6 Floor</a:t>
            </a:r>
          </a:p>
          <a:p>
            <a:pPr lvl="1">
              <a:lnSpc>
                <a:spcPct val="120000"/>
              </a:lnSpc>
              <a:spcBef>
                <a:spcPts val="600"/>
              </a:spcBef>
            </a:pPr>
            <a:r>
              <a:rPr lang="en-GB" dirty="0"/>
              <a:t>Office hours</a:t>
            </a:r>
          </a:p>
          <a:p>
            <a:pPr lvl="2"/>
            <a:r>
              <a:rPr lang="en-GB" sz="2400" dirty="0"/>
              <a:t>Onsite open hours Wednesdays 1.30 – 2.30 p.m.</a:t>
            </a:r>
          </a:p>
          <a:p>
            <a:pPr>
              <a:lnSpc>
                <a:spcPct val="120000"/>
              </a:lnSpc>
              <a:spcBef>
                <a:spcPts val="600"/>
              </a:spcBef>
            </a:pPr>
            <a:endParaRPr lang="en-GB" dirty="0"/>
          </a:p>
        </p:txBody>
      </p:sp>
      <p:sp>
        <p:nvSpPr>
          <p:cNvPr id="4" name="Footer Placeholder 3">
            <a:extLst>
              <a:ext uri="{FF2B5EF4-FFF2-40B4-BE49-F238E27FC236}">
                <a16:creationId xmlns:a16="http://schemas.microsoft.com/office/drawing/2014/main" id="{09DC391D-62FD-4805-93B9-FAC0C46FA69F}"/>
              </a:ext>
            </a:extLst>
          </p:cNvPr>
          <p:cNvSpPr>
            <a:spLocks noGrp="1"/>
          </p:cNvSpPr>
          <p:nvPr>
            <p:ph type="ftr" sz="quarter" idx="3"/>
          </p:nvPr>
        </p:nvSpPr>
        <p:spPr/>
        <p:txBody>
          <a:bodyPr/>
          <a:lstStyle/>
          <a:p>
            <a:pPr algn="l"/>
            <a:r>
              <a:rPr lang="en-GB" dirty="0"/>
              <a:t>6MMCS009W1 Usability Testing &amp; Evaluation</a:t>
            </a:r>
            <a:endParaRPr lang="en-US" dirty="0"/>
          </a:p>
        </p:txBody>
      </p:sp>
      <p:sp>
        <p:nvSpPr>
          <p:cNvPr id="7" name="Slide Number Placeholder 6">
            <a:extLst>
              <a:ext uri="{FF2B5EF4-FFF2-40B4-BE49-F238E27FC236}">
                <a16:creationId xmlns:a16="http://schemas.microsoft.com/office/drawing/2014/main" id="{B8D281C6-EA08-926A-A487-47279D901236}"/>
              </a:ext>
            </a:extLst>
          </p:cNvPr>
          <p:cNvSpPr>
            <a:spLocks noGrp="1"/>
          </p:cNvSpPr>
          <p:nvPr>
            <p:ph type="sldNum" sz="quarter" idx="4"/>
          </p:nvPr>
        </p:nvSpPr>
        <p:spPr/>
        <p:txBody>
          <a:bodyPr/>
          <a:lstStyle/>
          <a:p>
            <a:fld id="{9FD7ECCF-50E7-4327-B945-FA93FF7B2BEF}" type="slidenum">
              <a:rPr lang="en-US" smtClean="0"/>
              <a:pPr/>
              <a:t>2</a:t>
            </a:fld>
            <a:r>
              <a:rPr lang="en-GB"/>
              <a:t>/10</a:t>
            </a:r>
            <a:endParaRPr lang="en-US" dirty="0"/>
          </a:p>
        </p:txBody>
      </p:sp>
      <p:sp>
        <p:nvSpPr>
          <p:cNvPr id="5" name="Date Placeholder 4">
            <a:extLst>
              <a:ext uri="{FF2B5EF4-FFF2-40B4-BE49-F238E27FC236}">
                <a16:creationId xmlns:a16="http://schemas.microsoft.com/office/drawing/2014/main" id="{873CFE34-66FB-2881-7484-C12D50457F15}"/>
              </a:ext>
            </a:extLst>
          </p:cNvPr>
          <p:cNvSpPr>
            <a:spLocks noGrp="1"/>
          </p:cNvSpPr>
          <p:nvPr>
            <p:ph type="dt" sz="half" idx="2"/>
          </p:nvPr>
        </p:nvSpPr>
        <p:spPr/>
        <p:txBody>
          <a:bodyPr/>
          <a:lstStyle/>
          <a:p>
            <a:fld id="{9F9BD4E3-00DD-424D-822F-411C977D3F1D}" type="datetime1">
              <a:rPr lang="en-US" smtClean="0"/>
              <a:t>9/22/2025</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Module schedule</a:t>
            </a:r>
          </a:p>
        </p:txBody>
      </p:sp>
      <p:sp>
        <p:nvSpPr>
          <p:cNvPr id="6" name="Content Placeholder 5"/>
          <p:cNvSpPr>
            <a:spLocks noGrp="1"/>
          </p:cNvSpPr>
          <p:nvPr>
            <p:ph sz="quarter" idx="1"/>
          </p:nvPr>
        </p:nvSpPr>
        <p:spPr/>
        <p:txBody>
          <a:bodyPr>
            <a:normAutofit/>
          </a:bodyPr>
          <a:lstStyle/>
          <a:p>
            <a:r>
              <a:rPr lang="en-GB" dirty="0"/>
              <a:t>48 hours for the semester</a:t>
            </a:r>
          </a:p>
          <a:p>
            <a:pPr lvl="1"/>
            <a:endParaRPr lang="en-GB" dirty="0"/>
          </a:p>
          <a:p>
            <a:pPr lvl="1"/>
            <a:r>
              <a:rPr lang="en-GB" sz="2400" b="1" dirty="0"/>
              <a:t>Lecture1, </a:t>
            </a:r>
            <a:r>
              <a:rPr lang="en-GB" sz="2400" b="1" dirty="0">
                <a:solidFill>
                  <a:srgbClr val="333333"/>
                </a:solidFill>
              </a:rPr>
              <a:t>Tuesday</a:t>
            </a:r>
            <a:r>
              <a:rPr lang="en-GB" sz="2400" dirty="0">
                <a:solidFill>
                  <a:srgbClr val="333333"/>
                </a:solidFill>
              </a:rPr>
              <a:t> 10:30 </a:t>
            </a:r>
            <a:r>
              <a:rPr lang="en-GB" sz="2400" b="0" i="0" dirty="0">
                <a:solidFill>
                  <a:srgbClr val="333333"/>
                </a:solidFill>
                <a:effectLst/>
              </a:rPr>
              <a:t>am to 12:30 pm</a:t>
            </a:r>
          </a:p>
          <a:p>
            <a:pPr lvl="1"/>
            <a:r>
              <a:rPr lang="en-GB" sz="2400" b="1" dirty="0"/>
              <a:t>Lecture2, </a:t>
            </a:r>
            <a:r>
              <a:rPr lang="en-GB" sz="2400" b="1" dirty="0">
                <a:solidFill>
                  <a:srgbClr val="333333"/>
                </a:solidFill>
              </a:rPr>
              <a:t>Tuesday</a:t>
            </a:r>
            <a:r>
              <a:rPr lang="en-GB" sz="2400" dirty="0">
                <a:solidFill>
                  <a:srgbClr val="333333"/>
                </a:solidFill>
              </a:rPr>
              <a:t> 1:30 pm to 3:30 pm</a:t>
            </a:r>
          </a:p>
          <a:p>
            <a:pPr lvl="1"/>
            <a:endParaRPr lang="en-GB" sz="2400" b="1" dirty="0"/>
          </a:p>
          <a:p>
            <a:pPr lvl="1"/>
            <a:r>
              <a:rPr lang="en-GB" sz="2400" b="1" dirty="0"/>
              <a:t>Tutorials:</a:t>
            </a:r>
          </a:p>
          <a:p>
            <a:pPr lvl="1"/>
            <a:endParaRPr lang="en-GB" b="0" i="0" u="none" strike="noStrike" dirty="0">
              <a:solidFill>
                <a:srgbClr val="333333"/>
              </a:solidFill>
              <a:effectLst/>
              <a:latin typeface="Arial" panose="020B0604020202020204" pitchFamily="34" charset="0"/>
            </a:endParaRPr>
          </a:p>
          <a:p>
            <a:r>
              <a:rPr lang="en-GB" dirty="0"/>
              <a:t>Attendance will be tracked.</a:t>
            </a:r>
          </a:p>
          <a:p>
            <a:endParaRPr lang="en-GB" dirty="0"/>
          </a:p>
        </p:txBody>
      </p:sp>
      <p:sp>
        <p:nvSpPr>
          <p:cNvPr id="4" name="Footer Placeholder 3">
            <a:extLst>
              <a:ext uri="{FF2B5EF4-FFF2-40B4-BE49-F238E27FC236}">
                <a16:creationId xmlns:a16="http://schemas.microsoft.com/office/drawing/2014/main" id="{E1A30570-5D5B-44BC-9476-74E4D0F6AD13}"/>
              </a:ext>
            </a:extLst>
          </p:cNvPr>
          <p:cNvSpPr>
            <a:spLocks noGrp="1"/>
          </p:cNvSpPr>
          <p:nvPr>
            <p:ph type="ftr" sz="quarter" idx="3"/>
          </p:nvPr>
        </p:nvSpPr>
        <p:spPr/>
        <p:txBody>
          <a:bodyPr/>
          <a:lstStyle/>
          <a:p>
            <a:pPr algn="l"/>
            <a:r>
              <a:rPr lang="en-GB" dirty="0"/>
              <a:t>6MMCS009W1 Usability Testing &amp; Evaluation</a:t>
            </a:r>
            <a:endParaRPr lang="en-US" dirty="0"/>
          </a:p>
        </p:txBody>
      </p:sp>
      <p:sp>
        <p:nvSpPr>
          <p:cNvPr id="7" name="Slide Number Placeholder 6">
            <a:extLst>
              <a:ext uri="{FF2B5EF4-FFF2-40B4-BE49-F238E27FC236}">
                <a16:creationId xmlns:a16="http://schemas.microsoft.com/office/drawing/2014/main" id="{3C2CB983-D330-53B4-7ACF-0BF972C0F099}"/>
              </a:ext>
            </a:extLst>
          </p:cNvPr>
          <p:cNvSpPr>
            <a:spLocks noGrp="1"/>
          </p:cNvSpPr>
          <p:nvPr>
            <p:ph type="sldNum" sz="quarter" idx="4"/>
          </p:nvPr>
        </p:nvSpPr>
        <p:spPr/>
        <p:txBody>
          <a:bodyPr/>
          <a:lstStyle/>
          <a:p>
            <a:fld id="{9FD7ECCF-50E7-4327-B945-FA93FF7B2BEF}" type="slidenum">
              <a:rPr lang="en-US" smtClean="0"/>
              <a:pPr/>
              <a:t>3</a:t>
            </a:fld>
            <a:r>
              <a:rPr lang="en-GB"/>
              <a:t>/10</a:t>
            </a:r>
            <a:endParaRPr lang="en-US" dirty="0"/>
          </a:p>
        </p:txBody>
      </p:sp>
      <p:sp>
        <p:nvSpPr>
          <p:cNvPr id="5" name="Date Placeholder 4">
            <a:extLst>
              <a:ext uri="{FF2B5EF4-FFF2-40B4-BE49-F238E27FC236}">
                <a16:creationId xmlns:a16="http://schemas.microsoft.com/office/drawing/2014/main" id="{D56F9345-422F-EE2E-A6BE-C9B5FB75C5FF}"/>
              </a:ext>
            </a:extLst>
          </p:cNvPr>
          <p:cNvSpPr>
            <a:spLocks noGrp="1"/>
          </p:cNvSpPr>
          <p:nvPr>
            <p:ph type="dt" sz="half" idx="2"/>
          </p:nvPr>
        </p:nvSpPr>
        <p:spPr/>
        <p:txBody>
          <a:bodyPr/>
          <a:lstStyle/>
          <a:p>
            <a:fld id="{FDDBCEB3-1F58-4854-9D14-FA7B29FB0E36}" type="datetime1">
              <a:rPr lang="en-US" smtClean="0"/>
              <a:t>9/22/2025</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Module aims</a:t>
            </a:r>
          </a:p>
        </p:txBody>
      </p:sp>
      <p:sp>
        <p:nvSpPr>
          <p:cNvPr id="6" name="Content Placeholder 5"/>
          <p:cNvSpPr>
            <a:spLocks noGrp="1"/>
          </p:cNvSpPr>
          <p:nvPr>
            <p:ph sz="quarter" idx="1"/>
          </p:nvPr>
        </p:nvSpPr>
        <p:spPr/>
        <p:txBody>
          <a:bodyPr>
            <a:normAutofit/>
          </a:bodyPr>
          <a:lstStyle/>
          <a:p>
            <a:r>
              <a:rPr lang="en-GB" dirty="0"/>
              <a:t>The overall aims of the module are:</a:t>
            </a:r>
          </a:p>
          <a:p>
            <a:pPr lvl="1">
              <a:spcBef>
                <a:spcPts val="1200"/>
              </a:spcBef>
              <a:spcAft>
                <a:spcPts val="600"/>
              </a:spcAft>
            </a:pPr>
            <a:r>
              <a:rPr lang="en-GB" sz="2000" b="0" i="0" u="none" strike="noStrike" baseline="0" dirty="0">
                <a:latin typeface="ArialRegular"/>
              </a:rPr>
              <a:t>The module provides students with essential skills and practice in a range of usability techniques, how to conduct usability studies and evaluations of a wide range of products or platforms. </a:t>
            </a:r>
          </a:p>
          <a:p>
            <a:pPr lvl="1">
              <a:spcBef>
                <a:spcPts val="1200"/>
              </a:spcBef>
              <a:spcAft>
                <a:spcPts val="600"/>
              </a:spcAft>
            </a:pPr>
            <a:r>
              <a:rPr lang="en-GB" sz="2000" b="0" i="0" u="none" strike="noStrike" baseline="0" dirty="0">
                <a:latin typeface="ArialRegular"/>
              </a:rPr>
              <a:t>The importance of applied understanding of the different evaluation approaches and the use of experimental design and statistical analysis is illustrated through real-world examples. </a:t>
            </a:r>
          </a:p>
          <a:p>
            <a:pPr lvl="1">
              <a:spcBef>
                <a:spcPts val="1200"/>
              </a:spcBef>
              <a:spcAft>
                <a:spcPts val="600"/>
              </a:spcAft>
            </a:pPr>
            <a:r>
              <a:rPr lang="en-GB" sz="2000" b="0" i="0" u="none" strike="noStrike" baseline="0" dirty="0">
                <a:latin typeface="ArialRegular"/>
              </a:rPr>
              <a:t>The ability to interpret and critically discuss results is stressed throughout.</a:t>
            </a:r>
            <a:endParaRPr lang="en-GB" sz="3600" dirty="0"/>
          </a:p>
        </p:txBody>
      </p:sp>
      <p:sp>
        <p:nvSpPr>
          <p:cNvPr id="4" name="Footer Placeholder 3">
            <a:extLst>
              <a:ext uri="{FF2B5EF4-FFF2-40B4-BE49-F238E27FC236}">
                <a16:creationId xmlns:a16="http://schemas.microsoft.com/office/drawing/2014/main" id="{B077C16B-63BE-480B-85C8-DE65A8D38938}"/>
              </a:ext>
            </a:extLst>
          </p:cNvPr>
          <p:cNvSpPr>
            <a:spLocks noGrp="1"/>
          </p:cNvSpPr>
          <p:nvPr>
            <p:ph type="ftr" sz="quarter" idx="3"/>
          </p:nvPr>
        </p:nvSpPr>
        <p:spPr/>
        <p:txBody>
          <a:bodyPr/>
          <a:lstStyle/>
          <a:p>
            <a:pPr algn="l"/>
            <a:r>
              <a:rPr lang="en-GB" dirty="0"/>
              <a:t>6MMCS009W1 Usability Testing &amp; Evaluation</a:t>
            </a:r>
            <a:endParaRPr lang="en-US" dirty="0"/>
          </a:p>
        </p:txBody>
      </p:sp>
      <p:sp>
        <p:nvSpPr>
          <p:cNvPr id="7" name="Slide Number Placeholder 6">
            <a:extLst>
              <a:ext uri="{FF2B5EF4-FFF2-40B4-BE49-F238E27FC236}">
                <a16:creationId xmlns:a16="http://schemas.microsoft.com/office/drawing/2014/main" id="{1C8B9EC5-623E-B1AB-9DFF-3F591D17776E}"/>
              </a:ext>
            </a:extLst>
          </p:cNvPr>
          <p:cNvSpPr>
            <a:spLocks noGrp="1"/>
          </p:cNvSpPr>
          <p:nvPr>
            <p:ph type="sldNum" sz="quarter" idx="4"/>
          </p:nvPr>
        </p:nvSpPr>
        <p:spPr/>
        <p:txBody>
          <a:bodyPr/>
          <a:lstStyle/>
          <a:p>
            <a:fld id="{9FD7ECCF-50E7-4327-B945-FA93FF7B2BEF}" type="slidenum">
              <a:rPr lang="en-US" smtClean="0"/>
              <a:pPr/>
              <a:t>4</a:t>
            </a:fld>
            <a:r>
              <a:rPr lang="en-GB"/>
              <a:t>/10</a:t>
            </a:r>
            <a:endParaRPr lang="en-US" dirty="0"/>
          </a:p>
        </p:txBody>
      </p:sp>
      <p:sp>
        <p:nvSpPr>
          <p:cNvPr id="5" name="Date Placeholder 4">
            <a:extLst>
              <a:ext uri="{FF2B5EF4-FFF2-40B4-BE49-F238E27FC236}">
                <a16:creationId xmlns:a16="http://schemas.microsoft.com/office/drawing/2014/main" id="{594F2D6F-6E8B-D26A-ED14-1D15418955D6}"/>
              </a:ext>
            </a:extLst>
          </p:cNvPr>
          <p:cNvSpPr>
            <a:spLocks noGrp="1"/>
          </p:cNvSpPr>
          <p:nvPr>
            <p:ph type="dt" sz="half" idx="2"/>
          </p:nvPr>
        </p:nvSpPr>
        <p:spPr/>
        <p:txBody>
          <a:bodyPr/>
          <a:lstStyle/>
          <a:p>
            <a:fld id="{F1F16695-8E7D-48B7-85C8-927969F7946D}" type="datetime1">
              <a:rPr lang="en-US" smtClean="0"/>
              <a:t>9/22/2025</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Outcomes</a:t>
            </a:r>
          </a:p>
        </p:txBody>
      </p:sp>
      <p:sp>
        <p:nvSpPr>
          <p:cNvPr id="6" name="Content Placeholder 5"/>
          <p:cNvSpPr>
            <a:spLocks noGrp="1"/>
          </p:cNvSpPr>
          <p:nvPr>
            <p:ph sz="quarter" idx="1"/>
          </p:nvPr>
        </p:nvSpPr>
        <p:spPr/>
        <p:txBody>
          <a:bodyPr>
            <a:normAutofit fontScale="92500" lnSpcReduction="10000"/>
          </a:bodyPr>
          <a:lstStyle/>
          <a:p>
            <a:r>
              <a:rPr lang="en-GB" dirty="0"/>
              <a:t>Upon successful completion of this module you will be able to:</a:t>
            </a:r>
          </a:p>
          <a:p>
            <a:pPr marL="715963" lvl="1" indent="-349250" defTabSz="1162050">
              <a:spcBef>
                <a:spcPts val="1200"/>
              </a:spcBef>
              <a:spcAft>
                <a:spcPts val="600"/>
              </a:spcAft>
              <a:tabLst>
                <a:tab pos="1346200" algn="l"/>
              </a:tabLst>
            </a:pPr>
            <a:r>
              <a:rPr lang="en-GB" sz="1800" b="0" i="0" u="none" strike="noStrike" baseline="0" dirty="0">
                <a:latin typeface="ArialRegular"/>
              </a:rPr>
              <a:t>LO1	Demonstrate an applied understanding of the role of evaluation in 	usability context</a:t>
            </a:r>
          </a:p>
          <a:p>
            <a:pPr marL="715963" lvl="1" indent="-349250" defTabSz="1162050">
              <a:spcBef>
                <a:spcPts val="1200"/>
              </a:spcBef>
              <a:spcAft>
                <a:spcPts val="600"/>
              </a:spcAft>
              <a:tabLst>
                <a:tab pos="1346200" algn="l"/>
              </a:tabLst>
            </a:pPr>
            <a:r>
              <a:rPr lang="en-GB" sz="1800" b="0" i="0" u="none" strike="noStrike" baseline="0" dirty="0">
                <a:latin typeface="ArialRegular"/>
              </a:rPr>
              <a:t>LO2	Demonstrate knowledge and understanding in usability testing and 	evaluations by selecting appropriate methods and techniques in a 	variety of contexts</a:t>
            </a:r>
          </a:p>
          <a:p>
            <a:pPr marL="715963" lvl="1" indent="-349250" defTabSz="1162050">
              <a:spcBef>
                <a:spcPts val="1200"/>
              </a:spcBef>
              <a:spcAft>
                <a:spcPts val="600"/>
              </a:spcAft>
              <a:tabLst>
                <a:tab pos="1346200" algn="l"/>
              </a:tabLst>
            </a:pPr>
            <a:r>
              <a:rPr lang="en-GB" sz="1800" b="0" i="0" u="none" strike="noStrike" baseline="0" dirty="0">
                <a:latin typeface="ArialRegular"/>
              </a:rPr>
              <a:t>LO3	Plan, organise and conduct appropriate testing and evaluation 	methods for selected products and systems</a:t>
            </a:r>
          </a:p>
          <a:p>
            <a:pPr marL="715963" lvl="1" indent="-349250" defTabSz="1162050">
              <a:spcBef>
                <a:spcPts val="1200"/>
              </a:spcBef>
              <a:spcAft>
                <a:spcPts val="600"/>
              </a:spcAft>
              <a:tabLst>
                <a:tab pos="1346200" algn="l"/>
              </a:tabLst>
            </a:pPr>
            <a:r>
              <a:rPr lang="en-GB" sz="1800" b="0" i="0" u="none" strike="noStrike" baseline="0" dirty="0">
                <a:latin typeface="ArialRegular"/>
              </a:rPr>
              <a:t>LO4	Apply suitable analytical and/or statistical methods to analysis and 	interpret results to assess the design</a:t>
            </a:r>
          </a:p>
          <a:p>
            <a:pPr marL="715963" lvl="1" indent="-349250" defTabSz="1162050">
              <a:spcBef>
                <a:spcPts val="1200"/>
              </a:spcBef>
              <a:spcAft>
                <a:spcPts val="600"/>
              </a:spcAft>
              <a:tabLst>
                <a:tab pos="1346200" algn="l"/>
              </a:tabLst>
            </a:pPr>
            <a:r>
              <a:rPr lang="en-GB" sz="1800" b="0" i="0" u="none" strike="noStrike" baseline="0" dirty="0">
                <a:latin typeface="ArialRegular"/>
              </a:rPr>
              <a:t>LO5	Formulate and make recommendations to inform decision making in 	terms of design and development of the product</a:t>
            </a:r>
            <a:endParaRPr lang="en-GB" sz="3200" dirty="0"/>
          </a:p>
        </p:txBody>
      </p:sp>
      <p:sp>
        <p:nvSpPr>
          <p:cNvPr id="4" name="Footer Placeholder 3">
            <a:extLst>
              <a:ext uri="{FF2B5EF4-FFF2-40B4-BE49-F238E27FC236}">
                <a16:creationId xmlns:a16="http://schemas.microsoft.com/office/drawing/2014/main" id="{5DF20B18-7864-40DD-925E-7B3996598E8B}"/>
              </a:ext>
            </a:extLst>
          </p:cNvPr>
          <p:cNvSpPr>
            <a:spLocks noGrp="1"/>
          </p:cNvSpPr>
          <p:nvPr>
            <p:ph type="ftr" sz="quarter" idx="3"/>
          </p:nvPr>
        </p:nvSpPr>
        <p:spPr/>
        <p:txBody>
          <a:bodyPr/>
          <a:lstStyle/>
          <a:p>
            <a:pPr algn="l"/>
            <a:r>
              <a:rPr lang="en-GB" dirty="0"/>
              <a:t>6MMCS009W1 Usability Testing &amp; Evaluation</a:t>
            </a:r>
            <a:endParaRPr lang="en-US" dirty="0"/>
          </a:p>
        </p:txBody>
      </p:sp>
      <p:sp>
        <p:nvSpPr>
          <p:cNvPr id="7" name="Slide Number Placeholder 6">
            <a:extLst>
              <a:ext uri="{FF2B5EF4-FFF2-40B4-BE49-F238E27FC236}">
                <a16:creationId xmlns:a16="http://schemas.microsoft.com/office/drawing/2014/main" id="{F0E9223C-2DB4-9C12-C966-2173393ED29E}"/>
              </a:ext>
            </a:extLst>
          </p:cNvPr>
          <p:cNvSpPr>
            <a:spLocks noGrp="1"/>
          </p:cNvSpPr>
          <p:nvPr>
            <p:ph type="sldNum" sz="quarter" idx="4"/>
          </p:nvPr>
        </p:nvSpPr>
        <p:spPr/>
        <p:txBody>
          <a:bodyPr/>
          <a:lstStyle/>
          <a:p>
            <a:fld id="{9FD7ECCF-50E7-4327-B945-FA93FF7B2BEF}" type="slidenum">
              <a:rPr lang="en-US" smtClean="0"/>
              <a:pPr/>
              <a:t>5</a:t>
            </a:fld>
            <a:r>
              <a:rPr lang="en-GB"/>
              <a:t>/10</a:t>
            </a:r>
            <a:endParaRPr lang="en-US" dirty="0"/>
          </a:p>
        </p:txBody>
      </p:sp>
      <p:sp>
        <p:nvSpPr>
          <p:cNvPr id="5" name="Date Placeholder 4">
            <a:extLst>
              <a:ext uri="{FF2B5EF4-FFF2-40B4-BE49-F238E27FC236}">
                <a16:creationId xmlns:a16="http://schemas.microsoft.com/office/drawing/2014/main" id="{52E8216D-C869-1E7B-1A7C-070EECE57C89}"/>
              </a:ext>
            </a:extLst>
          </p:cNvPr>
          <p:cNvSpPr>
            <a:spLocks noGrp="1"/>
          </p:cNvSpPr>
          <p:nvPr>
            <p:ph type="dt" sz="half" idx="2"/>
          </p:nvPr>
        </p:nvSpPr>
        <p:spPr/>
        <p:txBody>
          <a:bodyPr/>
          <a:lstStyle/>
          <a:p>
            <a:fld id="{16DCF913-B483-4142-AB47-D1A33381CA07}" type="datetime1">
              <a:rPr lang="en-US" smtClean="0"/>
              <a:t>9/22/2025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Indicative syllabus content</a:t>
            </a:r>
          </a:p>
        </p:txBody>
      </p:sp>
      <p:sp>
        <p:nvSpPr>
          <p:cNvPr id="6" name="Content Placeholder 5"/>
          <p:cNvSpPr>
            <a:spLocks noGrp="1"/>
          </p:cNvSpPr>
          <p:nvPr>
            <p:ph sz="quarter" idx="1"/>
          </p:nvPr>
        </p:nvSpPr>
        <p:spPr>
          <a:xfrm>
            <a:off x="612648" y="1600200"/>
            <a:ext cx="8153400" cy="4781128"/>
          </a:xfrm>
        </p:spPr>
        <p:txBody>
          <a:bodyPr>
            <a:normAutofit fontScale="92500" lnSpcReduction="10000"/>
          </a:bodyPr>
          <a:lstStyle/>
          <a:p>
            <a:pPr algn="l">
              <a:spcBef>
                <a:spcPts val="600"/>
              </a:spcBef>
              <a:spcAft>
                <a:spcPts val="600"/>
              </a:spcAft>
            </a:pPr>
            <a:r>
              <a:rPr lang="en-GB" sz="1200" b="1" i="0" u="none" strike="noStrike" baseline="0" dirty="0">
                <a:latin typeface="ArialRegular"/>
              </a:rPr>
              <a:t>Role of Testing and evaluation in Usability Studies</a:t>
            </a:r>
            <a:br>
              <a:rPr lang="en-GB" sz="1200" b="0" i="0" u="none" strike="noStrike" baseline="0" dirty="0">
                <a:latin typeface="ArialRegular"/>
              </a:rPr>
            </a:br>
            <a:r>
              <a:rPr lang="en-GB" sz="1200" b="0" i="0" u="none" strike="noStrike" baseline="0" dirty="0">
                <a:latin typeface="ArialRegular"/>
              </a:rPr>
              <a:t>Defining and comparing usability testing and evaluation; Fitting usability testing and evaluations within a user-centred design process – Lean UX and traditional lifecycles; Usability metrics (such as performance metrics, and preference metrics); Formulating appropriate test objectives and considering validity of usability measures; Comparing types of usability testing (such as, formative and summative testing, and remote and lab-based</a:t>
            </a:r>
            <a:r>
              <a:rPr lang="en-GB" sz="1200" dirty="0">
                <a:latin typeface="ArialRegular"/>
              </a:rPr>
              <a:t> </a:t>
            </a:r>
            <a:r>
              <a:rPr lang="en-GB" sz="1200" b="0" i="0" u="none" strike="noStrike" baseline="0" dirty="0">
                <a:latin typeface="ArialRegular"/>
              </a:rPr>
              <a:t>testing); evaluation methods throughout the development lifecycle. Testing different types of products.</a:t>
            </a:r>
          </a:p>
          <a:p>
            <a:pPr algn="l">
              <a:spcBef>
                <a:spcPts val="600"/>
              </a:spcBef>
              <a:spcAft>
                <a:spcPts val="600"/>
              </a:spcAft>
            </a:pPr>
            <a:r>
              <a:rPr lang="en-GB" sz="1200" b="1" i="0" u="none" strike="noStrike" baseline="0" dirty="0">
                <a:latin typeface="ArialRegular"/>
              </a:rPr>
              <a:t>Formulating a real-world enquiry in usability context</a:t>
            </a:r>
            <a:br>
              <a:rPr lang="en-GB" sz="1200" b="0" i="0" u="none" strike="noStrike" baseline="0" dirty="0">
                <a:latin typeface="ArialRegular"/>
              </a:rPr>
            </a:br>
            <a:r>
              <a:rPr lang="en-GB" sz="1200" b="0" i="0" u="none" strike="noStrike" baseline="0" dirty="0">
                <a:latin typeface="ArialRegular"/>
              </a:rPr>
              <a:t>Formulating research questions to identify and explore solutions to real-world usability issues; formulating hypotheses for testing.</a:t>
            </a:r>
          </a:p>
          <a:p>
            <a:pPr algn="l">
              <a:spcBef>
                <a:spcPts val="600"/>
              </a:spcBef>
              <a:spcAft>
                <a:spcPts val="600"/>
              </a:spcAft>
            </a:pPr>
            <a:r>
              <a:rPr lang="en-GB" sz="1200" b="1" i="0" u="none" strike="noStrike" baseline="0" dirty="0">
                <a:latin typeface="ArialRegular"/>
              </a:rPr>
              <a:t>Organising, planning and conducting studies</a:t>
            </a:r>
            <a:br>
              <a:rPr lang="en-GB" sz="1200" b="0" i="0" u="none" strike="noStrike" baseline="0" dirty="0">
                <a:latin typeface="ArialRegular"/>
              </a:rPr>
            </a:br>
            <a:r>
              <a:rPr lang="en-GB" sz="1200" b="0" i="0" u="none" strike="noStrike" baseline="0" dirty="0">
                <a:latin typeface="ArialRegular"/>
              </a:rPr>
              <a:t>Selecting appropriate usability test and evaluation approaches including guerrilla testing, formative evaluation, cognitive walkthroughs; heuristic evaluations, A/B testing and quantitative testing. Considering the testing environment (such as protocols, lab and equipment, testing conditions). Recruiting and screening participants. Setting up user tasks. Defining the roles and tasks of moderator and observer. Piloting a study and considering ethics.</a:t>
            </a:r>
          </a:p>
          <a:p>
            <a:pPr algn="l">
              <a:spcBef>
                <a:spcPts val="600"/>
              </a:spcBef>
              <a:spcAft>
                <a:spcPts val="600"/>
              </a:spcAft>
            </a:pPr>
            <a:r>
              <a:rPr lang="en-GB" sz="1200" b="1" i="0" u="none" strike="noStrike" baseline="0" dirty="0">
                <a:latin typeface="ArialRegular"/>
              </a:rPr>
              <a:t>Data Collection methods</a:t>
            </a:r>
            <a:br>
              <a:rPr lang="en-GB" sz="1200" b="0" i="0" u="none" strike="noStrike" baseline="0" dirty="0">
                <a:latin typeface="ArialRegular"/>
              </a:rPr>
            </a:br>
            <a:r>
              <a:rPr lang="en-GB" sz="1200" b="0" i="0" u="none" strike="noStrike" baseline="0" dirty="0">
                <a:latin typeface="ArialRegular"/>
              </a:rPr>
              <a:t>Discussing types of data collection methods for usability testing (such as survey, observation, and interview); choosing a sample (types of samples, representativeness, sample size, characteristics of sample); Comparing quantitative and qualitative data; levels of measurement (i.e. nominal, ordinal, interval and ratio data); constructing measurements/questionnaires for usability metrics. </a:t>
            </a:r>
          </a:p>
          <a:p>
            <a:pPr algn="l">
              <a:spcBef>
                <a:spcPts val="600"/>
              </a:spcBef>
              <a:spcAft>
                <a:spcPts val="600"/>
              </a:spcAft>
            </a:pPr>
            <a:r>
              <a:rPr lang="en-GB" sz="1200" b="1" i="0" u="none" strike="noStrike" baseline="0" dirty="0">
                <a:latin typeface="ArialRegular"/>
              </a:rPr>
              <a:t>Statistical and Data Analysis</a:t>
            </a:r>
            <a:br>
              <a:rPr lang="en-GB" sz="1200" b="1" i="0" u="none" strike="noStrike" baseline="0" dirty="0">
                <a:latin typeface="ArialRegular"/>
              </a:rPr>
            </a:br>
            <a:r>
              <a:rPr lang="en-GB" sz="1200" b="0" i="0" u="none" strike="noStrike" baseline="0" dirty="0">
                <a:latin typeface="ArialRegular"/>
              </a:rPr>
              <a:t>Overview of the use of statistical analysis and visualization to evaluate experimental data results.</a:t>
            </a:r>
          </a:p>
          <a:p>
            <a:pPr algn="l">
              <a:spcBef>
                <a:spcPts val="600"/>
              </a:spcBef>
              <a:spcAft>
                <a:spcPts val="600"/>
              </a:spcAft>
            </a:pPr>
            <a:r>
              <a:rPr lang="en-GB" sz="1200" b="1" i="0" u="none" strike="noStrike" baseline="0" dirty="0">
                <a:latin typeface="ArialRegular"/>
              </a:rPr>
              <a:t>Reporting on real-world enquiry</a:t>
            </a:r>
            <a:br>
              <a:rPr lang="en-GB" sz="1200" b="0" i="0" u="none" strike="noStrike" baseline="0" dirty="0">
                <a:latin typeface="ArialRegular"/>
              </a:rPr>
            </a:br>
            <a:r>
              <a:rPr lang="en-GB" sz="1200" b="0" i="0" u="none" strike="noStrike" baseline="0" dirty="0">
                <a:latin typeface="ArialRegular"/>
              </a:rPr>
              <a:t>Justifying choices in terms of the organisation and planning of study; Reporting usability testing findings; interpreting results, and making recommendations for improving usability of an IMP.</a:t>
            </a:r>
            <a:endParaRPr lang="en-GB" sz="2000" dirty="0"/>
          </a:p>
        </p:txBody>
      </p:sp>
      <p:sp>
        <p:nvSpPr>
          <p:cNvPr id="4" name="Footer Placeholder 3">
            <a:extLst>
              <a:ext uri="{FF2B5EF4-FFF2-40B4-BE49-F238E27FC236}">
                <a16:creationId xmlns:a16="http://schemas.microsoft.com/office/drawing/2014/main" id="{46A191AD-ED1D-43B0-AE7E-B00943C5FAC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D988BC30-C8C1-E45E-0631-D6242F87993F}"/>
              </a:ext>
            </a:extLst>
          </p:cNvPr>
          <p:cNvSpPr>
            <a:spLocks noGrp="1"/>
          </p:cNvSpPr>
          <p:nvPr>
            <p:ph type="sldNum" sz="quarter" idx="4"/>
          </p:nvPr>
        </p:nvSpPr>
        <p:spPr/>
        <p:txBody>
          <a:bodyPr/>
          <a:lstStyle/>
          <a:p>
            <a:fld id="{9FD7ECCF-50E7-4327-B945-FA93FF7B2BEF}" type="slidenum">
              <a:rPr lang="en-US" smtClean="0"/>
              <a:pPr/>
              <a:t>6</a:t>
            </a:fld>
            <a:r>
              <a:rPr lang="en-GB"/>
              <a:t>/10</a:t>
            </a:r>
            <a:endParaRPr lang="en-US" dirty="0"/>
          </a:p>
        </p:txBody>
      </p:sp>
      <p:sp>
        <p:nvSpPr>
          <p:cNvPr id="5" name="Date Placeholder 4">
            <a:extLst>
              <a:ext uri="{FF2B5EF4-FFF2-40B4-BE49-F238E27FC236}">
                <a16:creationId xmlns:a16="http://schemas.microsoft.com/office/drawing/2014/main" id="{29F33B1C-E1BB-8317-97B8-8A1C96F73A1B}"/>
              </a:ext>
            </a:extLst>
          </p:cNvPr>
          <p:cNvSpPr>
            <a:spLocks noGrp="1"/>
          </p:cNvSpPr>
          <p:nvPr>
            <p:ph type="dt" sz="half" idx="2"/>
          </p:nvPr>
        </p:nvSpPr>
        <p:spPr/>
        <p:txBody>
          <a:bodyPr/>
          <a:lstStyle/>
          <a:p>
            <a:fld id="{B925A01A-0F74-4290-8480-7B0E191720D1}" type="datetime1">
              <a:rPr lang="en-US" smtClean="0"/>
              <a:t>9/22/2025</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188640"/>
            <a:ext cx="8531352" cy="990600"/>
          </a:xfrm>
        </p:spPr>
        <p:txBody>
          <a:bodyPr>
            <a:normAutofit/>
          </a:bodyPr>
          <a:lstStyle/>
          <a:p>
            <a:r>
              <a:rPr lang="en-GB" dirty="0"/>
              <a:t>Module Schedule</a:t>
            </a:r>
            <a:endParaRPr lang="en-GB" b="1" dirty="0">
              <a:solidFill>
                <a:schemeClr val="accent2">
                  <a:lumMod val="75000"/>
                </a:schemeClr>
              </a:solidFill>
            </a:endParaRPr>
          </a:p>
        </p:txBody>
      </p:sp>
      <p:sp>
        <p:nvSpPr>
          <p:cNvPr id="12" name="Footer Placeholder 11">
            <a:extLst>
              <a:ext uri="{FF2B5EF4-FFF2-40B4-BE49-F238E27FC236}">
                <a16:creationId xmlns:a16="http://schemas.microsoft.com/office/drawing/2014/main" id="{2E169DD0-D2B4-4CD7-8EB9-C893AAE83D35}"/>
              </a:ext>
            </a:extLst>
          </p:cNvPr>
          <p:cNvSpPr>
            <a:spLocks noGrp="1"/>
          </p:cNvSpPr>
          <p:nvPr>
            <p:ph type="ftr" sz="quarter" idx="3"/>
          </p:nvPr>
        </p:nvSpPr>
        <p:spPr/>
        <p:txBody>
          <a:bodyPr/>
          <a:lstStyle/>
          <a:p>
            <a:pPr algn="l"/>
            <a:r>
              <a:rPr lang="en-GB" dirty="0"/>
              <a:t>6MMCS009W1 Usability Testing &amp; Evaluation</a:t>
            </a:r>
            <a:endParaRPr lang="en-US" dirty="0"/>
          </a:p>
        </p:txBody>
      </p:sp>
      <p:sp>
        <p:nvSpPr>
          <p:cNvPr id="3" name="Slide Number Placeholder 2">
            <a:extLst>
              <a:ext uri="{FF2B5EF4-FFF2-40B4-BE49-F238E27FC236}">
                <a16:creationId xmlns:a16="http://schemas.microsoft.com/office/drawing/2014/main" id="{9C1A9D8B-4E04-82BB-BD04-3ABE3BA06B69}"/>
              </a:ext>
            </a:extLst>
          </p:cNvPr>
          <p:cNvSpPr>
            <a:spLocks noGrp="1"/>
          </p:cNvSpPr>
          <p:nvPr>
            <p:ph type="sldNum" sz="quarter" idx="4"/>
          </p:nvPr>
        </p:nvSpPr>
        <p:spPr/>
        <p:txBody>
          <a:bodyPr/>
          <a:lstStyle/>
          <a:p>
            <a:fld id="{9FD7ECCF-50E7-4327-B945-FA93FF7B2BEF}" type="slidenum">
              <a:rPr lang="en-US" smtClean="0"/>
              <a:pPr/>
              <a:t>7</a:t>
            </a:fld>
            <a:r>
              <a:rPr lang="en-GB"/>
              <a:t>/10</a:t>
            </a:r>
            <a:endParaRPr lang="en-US" dirty="0"/>
          </a:p>
        </p:txBody>
      </p:sp>
      <p:pic>
        <p:nvPicPr>
          <p:cNvPr id="8" name="Picture 7" descr="Access the module schedule on Blackboard | Welcome and Module Handbook">
            <a:extLst>
              <a:ext uri="{FF2B5EF4-FFF2-40B4-BE49-F238E27FC236}">
                <a16:creationId xmlns:a16="http://schemas.microsoft.com/office/drawing/2014/main" id="{7BFA2DE7-4E9D-E3BA-E8DE-E02EC089756A}"/>
              </a:ext>
            </a:extLst>
          </p:cNvPr>
          <p:cNvPicPr>
            <a:picLocks noChangeAspect="1"/>
          </p:cNvPicPr>
          <p:nvPr/>
        </p:nvPicPr>
        <p:blipFill>
          <a:blip r:embed="rId2"/>
          <a:stretch>
            <a:fillRect/>
          </a:stretch>
        </p:blipFill>
        <p:spPr>
          <a:xfrm>
            <a:off x="1510680" y="1754939"/>
            <a:ext cx="6122640" cy="4583234"/>
          </a:xfrm>
          <a:prstGeom prst="rect">
            <a:avLst/>
          </a:prstGeom>
        </p:spPr>
      </p:pic>
      <p:sp>
        <p:nvSpPr>
          <p:cNvPr id="9" name="TextBox 8" descr="Access the module schedule on Blackboard | Welcome and Module Handbook">
            <a:extLst>
              <a:ext uri="{FF2B5EF4-FFF2-40B4-BE49-F238E27FC236}">
                <a16:creationId xmlns:a16="http://schemas.microsoft.com/office/drawing/2014/main" id="{BA70AABD-E399-1C03-9D42-DB711D5CD35C}"/>
              </a:ext>
            </a:extLst>
          </p:cNvPr>
          <p:cNvSpPr txBox="1"/>
          <p:nvPr/>
        </p:nvSpPr>
        <p:spPr>
          <a:xfrm>
            <a:off x="1259632" y="1506453"/>
            <a:ext cx="6987426" cy="338554"/>
          </a:xfrm>
          <a:prstGeom prst="rect">
            <a:avLst/>
          </a:prstGeom>
          <a:noFill/>
        </p:spPr>
        <p:txBody>
          <a:bodyPr wrap="none" rtlCol="0">
            <a:spAutoFit/>
          </a:bodyPr>
          <a:lstStyle/>
          <a:p>
            <a:r>
              <a:rPr lang="en-GB" sz="1600" b="1" dirty="0">
                <a:solidFill>
                  <a:schemeClr val="accent2">
                    <a:lumMod val="75000"/>
                  </a:schemeClr>
                </a:solidFill>
                <a:latin typeface="+mn-lt"/>
              </a:rPr>
              <a:t>[Access the module schedule on Blackboard | Welcome and Module Handbook]</a:t>
            </a:r>
            <a:endParaRPr lang="en-GB" sz="1600" dirty="0">
              <a:latin typeface="+mn-lt"/>
            </a:endParaRPr>
          </a:p>
        </p:txBody>
      </p:sp>
      <p:sp>
        <p:nvSpPr>
          <p:cNvPr id="13" name="Date Placeholder 12">
            <a:extLst>
              <a:ext uri="{FF2B5EF4-FFF2-40B4-BE49-F238E27FC236}">
                <a16:creationId xmlns:a16="http://schemas.microsoft.com/office/drawing/2014/main" id="{D9C4F285-1826-18F6-E1DC-062BA99E3BE9}"/>
              </a:ext>
            </a:extLst>
          </p:cNvPr>
          <p:cNvSpPr>
            <a:spLocks noGrp="1"/>
          </p:cNvSpPr>
          <p:nvPr>
            <p:ph type="dt" sz="half" idx="2"/>
          </p:nvPr>
        </p:nvSpPr>
        <p:spPr/>
        <p:txBody>
          <a:bodyPr/>
          <a:lstStyle/>
          <a:p>
            <a:fld id="{6AD7649E-7806-4B67-AC1A-A44B8A3D8B91}" type="datetime1">
              <a:rPr lang="en-US" smtClean="0"/>
              <a:t>9/22/2025</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Assessment </a:t>
            </a:r>
          </a:p>
        </p:txBody>
      </p:sp>
      <p:graphicFrame>
        <p:nvGraphicFramePr>
          <p:cNvPr id="9" name="Content Placeholder 8"/>
          <p:cNvGraphicFramePr>
            <a:graphicFrameLocks noGrp="1"/>
          </p:cNvGraphicFramePr>
          <p:nvPr>
            <p:ph sz="quarter" idx="1"/>
            <p:extLst>
              <p:ext uri="{D42A27DB-BD31-4B8C-83A1-F6EECF244321}">
                <p14:modId xmlns:p14="http://schemas.microsoft.com/office/powerpoint/2010/main" val="4023117041"/>
              </p:ext>
            </p:extLst>
          </p:nvPr>
        </p:nvGraphicFramePr>
        <p:xfrm>
          <a:off x="609600" y="1844824"/>
          <a:ext cx="8066855" cy="3974113"/>
        </p:xfrm>
        <a:graphic>
          <a:graphicData uri="http://schemas.openxmlformats.org/drawingml/2006/table">
            <a:tbl>
              <a:tblPr firstRow="1" bandRow="1">
                <a:tableStyleId>{5C22544A-7EE6-4342-B048-85BDC9FD1C3A}</a:tableStyleId>
              </a:tblPr>
              <a:tblGrid>
                <a:gridCol w="1514128">
                  <a:extLst>
                    <a:ext uri="{9D8B030D-6E8A-4147-A177-3AD203B41FA5}">
                      <a16:colId xmlns:a16="http://schemas.microsoft.com/office/drawing/2014/main" val="3954248079"/>
                    </a:ext>
                  </a:extLst>
                </a:gridCol>
                <a:gridCol w="864096">
                  <a:extLst>
                    <a:ext uri="{9D8B030D-6E8A-4147-A177-3AD203B41FA5}">
                      <a16:colId xmlns:a16="http://schemas.microsoft.com/office/drawing/2014/main" val="20002"/>
                    </a:ext>
                  </a:extLst>
                </a:gridCol>
                <a:gridCol w="3168352">
                  <a:extLst>
                    <a:ext uri="{9D8B030D-6E8A-4147-A177-3AD203B41FA5}">
                      <a16:colId xmlns:a16="http://schemas.microsoft.com/office/drawing/2014/main" val="20003"/>
                    </a:ext>
                  </a:extLst>
                </a:gridCol>
                <a:gridCol w="2520279">
                  <a:extLst>
                    <a:ext uri="{9D8B030D-6E8A-4147-A177-3AD203B41FA5}">
                      <a16:colId xmlns:a16="http://schemas.microsoft.com/office/drawing/2014/main" val="20004"/>
                    </a:ext>
                  </a:extLst>
                </a:gridCol>
              </a:tblGrid>
              <a:tr h="377473">
                <a:tc>
                  <a:txBody>
                    <a:bodyPr/>
                    <a:lstStyle/>
                    <a:p>
                      <a:r>
                        <a:rPr lang="en-GB" sz="1400" dirty="0"/>
                        <a:t>Unit</a:t>
                      </a:r>
                    </a:p>
                  </a:txBody>
                  <a:tcPr/>
                </a:tc>
                <a:tc>
                  <a:txBody>
                    <a:bodyPr/>
                    <a:lstStyle/>
                    <a:p>
                      <a:r>
                        <a:rPr lang="en-GB" sz="1400" dirty="0"/>
                        <a:t>Weight</a:t>
                      </a:r>
                    </a:p>
                  </a:txBody>
                  <a:tcPr/>
                </a:tc>
                <a:tc>
                  <a:txBody>
                    <a:bodyPr/>
                    <a:lstStyle/>
                    <a:p>
                      <a:r>
                        <a:rPr lang="en-GB" sz="1400" dirty="0"/>
                        <a:t>Description</a:t>
                      </a:r>
                    </a:p>
                  </a:txBody>
                  <a:tcPr/>
                </a:tc>
                <a:tc>
                  <a:txBody>
                    <a:bodyPr/>
                    <a:lstStyle/>
                    <a:p>
                      <a:r>
                        <a:rPr kumimoji="0" lang="en-GB" sz="1400" b="1" kern="1200" dirty="0">
                          <a:solidFill>
                            <a:schemeClr val="lt1"/>
                          </a:solidFill>
                          <a:latin typeface="+mn-lt"/>
                          <a:ea typeface="+mn-ea"/>
                          <a:cs typeface="+mn-cs"/>
                        </a:rPr>
                        <a:t>Submission Deadline</a:t>
                      </a:r>
                    </a:p>
                  </a:txBody>
                  <a:tcPr/>
                </a:tc>
                <a:extLst>
                  <a:ext uri="{0D108BD9-81ED-4DB2-BD59-A6C34878D82A}">
                    <a16:rowId xmlns:a16="http://schemas.microsoft.com/office/drawing/2014/main" val="10000"/>
                  </a:ext>
                </a:extLst>
              </a:tr>
              <a:tr h="1212564">
                <a:tc>
                  <a:txBody>
                    <a:bodyPr/>
                    <a:lstStyle/>
                    <a:p>
                      <a:r>
                        <a:rPr kumimoji="0" lang="en-GB" sz="1400" b="0" i="0" u="none" strike="noStrike" kern="1200" baseline="0" dirty="0">
                          <a:solidFill>
                            <a:schemeClr val="dk1"/>
                          </a:solidFill>
                          <a:latin typeface="+mn-lt"/>
                          <a:ea typeface="+mn-ea"/>
                          <a:cs typeface="+mn-cs"/>
                        </a:rPr>
                        <a:t>Group coursework</a:t>
                      </a:r>
                    </a:p>
                  </a:txBody>
                  <a:tcPr>
                    <a:solidFill>
                      <a:schemeClr val="accent2">
                        <a:lumMod val="60000"/>
                        <a:lumOff val="40000"/>
                      </a:schemeClr>
                    </a:solidFill>
                  </a:tcPr>
                </a:tc>
                <a:tc>
                  <a:txBody>
                    <a:bodyPr/>
                    <a:lstStyle/>
                    <a:p>
                      <a:r>
                        <a:rPr kumimoji="0" lang="en-GB" sz="1400" b="0" i="0" u="none" strike="noStrike" kern="1200" baseline="0" dirty="0">
                          <a:solidFill>
                            <a:schemeClr val="dk1"/>
                          </a:solidFill>
                          <a:latin typeface="+mn-lt"/>
                          <a:ea typeface="+mn-ea"/>
                          <a:cs typeface="+mn-cs"/>
                        </a:rPr>
                        <a:t>50%</a:t>
                      </a:r>
                    </a:p>
                  </a:txBody>
                  <a:tcPr>
                    <a:solidFill>
                      <a:schemeClr val="accent2">
                        <a:lumMod val="60000"/>
                        <a:lumOff val="40000"/>
                      </a:schemeClr>
                    </a:solidFill>
                  </a:tcPr>
                </a:tc>
                <a:tc>
                  <a:txBody>
                    <a:bodyPr/>
                    <a:lstStyle/>
                    <a:p>
                      <a:r>
                        <a:rPr kumimoji="0" lang="en-GB" sz="1400" b="0" i="0" u="none" strike="noStrike" kern="1200" baseline="0" dirty="0">
                          <a:solidFill>
                            <a:schemeClr val="dk1"/>
                          </a:solidFill>
                          <a:latin typeface="+mn-lt"/>
                          <a:ea typeface="+mn-ea"/>
                          <a:cs typeface="+mn-cs"/>
                        </a:rPr>
                        <a:t>Group coursework - assesses the students’ skills in: forming a research question, organising, planning and conducting</a:t>
                      </a:r>
                    </a:p>
                    <a:p>
                      <a:r>
                        <a:rPr kumimoji="0" lang="en-GB" sz="1400" b="0" i="0" u="none" strike="noStrike" kern="1200" baseline="0" dirty="0">
                          <a:solidFill>
                            <a:schemeClr val="dk1"/>
                          </a:solidFill>
                          <a:latin typeface="+mn-lt"/>
                          <a:ea typeface="+mn-ea"/>
                          <a:cs typeface="+mn-cs"/>
                        </a:rPr>
                        <a:t>user testing and collecting data that help addressing the research question. LO1-LO3.</a:t>
                      </a:r>
                    </a:p>
                  </a:txBody>
                  <a:tcPr>
                    <a:solidFill>
                      <a:schemeClr val="accent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baseline="0" dirty="0">
                          <a:solidFill>
                            <a:schemeClr val="dk1"/>
                          </a:solidFill>
                          <a:latin typeface="+mn-lt"/>
                          <a:ea typeface="+mn-ea"/>
                          <a:cs typeface="+mn-cs"/>
                        </a:rPr>
                        <a:t>21st November 2025, 1pm Online</a:t>
                      </a:r>
                    </a:p>
                    <a:p>
                      <a:pPr marL="0" marR="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baseline="0" dirty="0">
                          <a:solidFill>
                            <a:schemeClr val="dk1"/>
                          </a:solidFill>
                          <a:latin typeface="+mn-lt"/>
                          <a:ea typeface="+mn-ea"/>
                          <a:cs typeface="+mn-cs"/>
                        </a:rPr>
                        <a:t>(viva during tutorial)</a:t>
                      </a:r>
                    </a:p>
                  </a:txBody>
                  <a:tcPr>
                    <a:solidFill>
                      <a:schemeClr val="accent2">
                        <a:lumMod val="60000"/>
                        <a:lumOff val="40000"/>
                      </a:schemeClr>
                    </a:solidFill>
                  </a:tcPr>
                </a:tc>
                <a:extLst>
                  <a:ext uri="{0D108BD9-81ED-4DB2-BD59-A6C34878D82A}">
                    <a16:rowId xmlns:a16="http://schemas.microsoft.com/office/drawing/2014/main" val="10001"/>
                  </a:ext>
                </a:extLst>
              </a:tr>
              <a:tr h="2020941">
                <a:tc>
                  <a:txBody>
                    <a:bodyPr/>
                    <a:lstStyle/>
                    <a:p>
                      <a:r>
                        <a:rPr kumimoji="0" lang="en-GB" sz="1400" b="0" i="0" u="none" strike="noStrike" kern="1200" baseline="0" dirty="0">
                          <a:solidFill>
                            <a:schemeClr val="dk1"/>
                          </a:solidFill>
                          <a:latin typeface="+mn-lt"/>
                          <a:ea typeface="+mn-ea"/>
                          <a:cs typeface="+mn-cs"/>
                        </a:rPr>
                        <a:t>Individual coursework</a:t>
                      </a:r>
                    </a:p>
                  </a:txBody>
                  <a:tcPr>
                    <a:solidFill>
                      <a:schemeClr val="bg2">
                        <a:lumMod val="90000"/>
                      </a:schemeClr>
                    </a:solidFill>
                  </a:tcPr>
                </a:tc>
                <a:tc>
                  <a:txBody>
                    <a:bodyPr/>
                    <a:lstStyle/>
                    <a:p>
                      <a:r>
                        <a:rPr kumimoji="0" lang="en-GB" sz="1400" b="0" i="0" u="none" strike="noStrike" kern="1200" baseline="0" dirty="0">
                          <a:solidFill>
                            <a:schemeClr val="dk1"/>
                          </a:solidFill>
                          <a:latin typeface="+mn-lt"/>
                          <a:ea typeface="+mn-ea"/>
                          <a:cs typeface="+mn-cs"/>
                        </a:rPr>
                        <a:t>50%</a:t>
                      </a:r>
                    </a:p>
                  </a:txBody>
                  <a:tcPr>
                    <a:solidFill>
                      <a:schemeClr val="bg2">
                        <a:lumMod val="90000"/>
                      </a:schemeClr>
                    </a:solidFill>
                  </a:tcPr>
                </a:tc>
                <a:tc>
                  <a:txBody>
                    <a:bodyPr/>
                    <a:lstStyle/>
                    <a:p>
                      <a:r>
                        <a:rPr kumimoji="0" lang="en-GB" sz="1400" b="0" i="0" u="none" strike="noStrike" kern="1200" baseline="0" dirty="0">
                          <a:solidFill>
                            <a:schemeClr val="dk1"/>
                          </a:solidFill>
                          <a:latin typeface="+mn-lt"/>
                          <a:ea typeface="+mn-ea"/>
                          <a:cs typeface="+mn-cs"/>
                        </a:rPr>
                        <a:t>Individual coursework - assesses the students’ skills in: using statistical packages to organise data that has been collected</a:t>
                      </a:r>
                    </a:p>
                    <a:p>
                      <a:r>
                        <a:rPr kumimoji="0" lang="en-GB" sz="1400" b="0" i="0" u="none" strike="noStrike" kern="1200" baseline="0" dirty="0">
                          <a:solidFill>
                            <a:schemeClr val="dk1"/>
                          </a:solidFill>
                          <a:latin typeface="+mn-lt"/>
                          <a:ea typeface="+mn-ea"/>
                          <a:cs typeface="+mn-cs"/>
                        </a:rPr>
                        <a:t>to address a usability testing research question; selecting appropriate statistical methods to analyse the data; reporting</a:t>
                      </a:r>
                    </a:p>
                    <a:p>
                      <a:r>
                        <a:rPr kumimoji="0" lang="en-GB" sz="1400" b="0" i="0" u="none" strike="noStrike" kern="1200" baseline="0" dirty="0">
                          <a:solidFill>
                            <a:schemeClr val="dk1"/>
                          </a:solidFill>
                          <a:latin typeface="+mn-lt"/>
                          <a:ea typeface="+mn-ea"/>
                          <a:cs typeface="+mn-cs"/>
                        </a:rPr>
                        <a:t>usability testing findings and making recommendations to improve the usability of a digital product. LO4-LO5.</a:t>
                      </a:r>
                    </a:p>
                  </a:txBody>
                  <a:tcPr>
                    <a:solidFill>
                      <a:schemeClr val="bg2">
                        <a:lumMod val="9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baseline="0" dirty="0">
                          <a:solidFill>
                            <a:schemeClr val="dk1"/>
                          </a:solidFill>
                          <a:latin typeface="+mn-lt"/>
                          <a:ea typeface="+mn-ea"/>
                          <a:cs typeface="+mn-cs"/>
                        </a:rPr>
                        <a:t>9th January 2026, 1pm Online</a:t>
                      </a:r>
                    </a:p>
                    <a:p>
                      <a:pPr marL="0" marR="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baseline="0" dirty="0">
                          <a:solidFill>
                            <a:schemeClr val="dk1"/>
                          </a:solidFill>
                          <a:latin typeface="+mn-lt"/>
                          <a:ea typeface="+mn-ea"/>
                          <a:cs typeface="+mn-cs"/>
                        </a:rPr>
                        <a:t>(no viva)</a:t>
                      </a:r>
                    </a:p>
                  </a:txBody>
                  <a:tcPr>
                    <a:solidFill>
                      <a:schemeClr val="bg2">
                        <a:lumMod val="90000"/>
                      </a:schemeClr>
                    </a:solidFill>
                  </a:tcPr>
                </a:tc>
                <a:extLst>
                  <a:ext uri="{0D108BD9-81ED-4DB2-BD59-A6C34878D82A}">
                    <a16:rowId xmlns:a16="http://schemas.microsoft.com/office/drawing/2014/main" val="10002"/>
                  </a:ext>
                </a:extLst>
              </a:tr>
            </a:tbl>
          </a:graphicData>
        </a:graphic>
      </p:graphicFrame>
      <p:sp>
        <p:nvSpPr>
          <p:cNvPr id="10" name="Rectangle 9"/>
          <p:cNvSpPr/>
          <p:nvPr/>
        </p:nvSpPr>
        <p:spPr>
          <a:xfrm>
            <a:off x="2267744" y="359859"/>
            <a:ext cx="8143932" cy="707886"/>
          </a:xfrm>
          <a:prstGeom prst="rect">
            <a:avLst/>
          </a:prstGeom>
        </p:spPr>
        <p:txBody>
          <a:bodyPr wrap="square">
            <a:spAutoFit/>
          </a:bodyPr>
          <a:lstStyle/>
          <a:p>
            <a:r>
              <a:rPr lang="en-GB" sz="2000" dirty="0">
                <a:latin typeface="+mn-lt"/>
              </a:rPr>
              <a:t>Students will not be considered to have passed this module if their mark in either of the above components is less than 40%.</a:t>
            </a:r>
          </a:p>
        </p:txBody>
      </p:sp>
      <p:sp>
        <p:nvSpPr>
          <p:cNvPr id="4" name="Footer Placeholder 3">
            <a:extLst>
              <a:ext uri="{FF2B5EF4-FFF2-40B4-BE49-F238E27FC236}">
                <a16:creationId xmlns:a16="http://schemas.microsoft.com/office/drawing/2014/main" id="{CEF46636-935A-4D30-BB0B-07B139DD77D9}"/>
              </a:ext>
            </a:extLst>
          </p:cNvPr>
          <p:cNvSpPr>
            <a:spLocks noGrp="1"/>
          </p:cNvSpPr>
          <p:nvPr>
            <p:ph type="ftr" sz="quarter" idx="3"/>
          </p:nvPr>
        </p:nvSpPr>
        <p:spPr/>
        <p:txBody>
          <a:bodyPr/>
          <a:lstStyle/>
          <a:p>
            <a:pPr algn="l"/>
            <a:r>
              <a:rPr lang="en-GB" dirty="0"/>
              <a:t>6MMCS009W1 Usability Testing &amp; Evaluation</a:t>
            </a:r>
            <a:endParaRPr lang="en-US" dirty="0"/>
          </a:p>
        </p:txBody>
      </p:sp>
      <p:sp>
        <p:nvSpPr>
          <p:cNvPr id="6" name="Slide Number Placeholder 5">
            <a:extLst>
              <a:ext uri="{FF2B5EF4-FFF2-40B4-BE49-F238E27FC236}">
                <a16:creationId xmlns:a16="http://schemas.microsoft.com/office/drawing/2014/main" id="{ECE9295B-F161-AEB0-DFE1-0558BBCDBE8E}"/>
              </a:ext>
            </a:extLst>
          </p:cNvPr>
          <p:cNvSpPr>
            <a:spLocks noGrp="1"/>
          </p:cNvSpPr>
          <p:nvPr>
            <p:ph type="sldNum" sz="quarter" idx="4"/>
          </p:nvPr>
        </p:nvSpPr>
        <p:spPr/>
        <p:txBody>
          <a:bodyPr/>
          <a:lstStyle/>
          <a:p>
            <a:fld id="{9FD7ECCF-50E7-4327-B945-FA93FF7B2BEF}" type="slidenum">
              <a:rPr lang="en-US" smtClean="0"/>
              <a:pPr/>
              <a:t>8</a:t>
            </a:fld>
            <a:r>
              <a:rPr lang="en-GB"/>
              <a:t>/10</a:t>
            </a:r>
            <a:endParaRPr lang="en-US" dirty="0"/>
          </a:p>
        </p:txBody>
      </p:sp>
      <p:sp>
        <p:nvSpPr>
          <p:cNvPr id="5" name="Date Placeholder 4">
            <a:extLst>
              <a:ext uri="{FF2B5EF4-FFF2-40B4-BE49-F238E27FC236}">
                <a16:creationId xmlns:a16="http://schemas.microsoft.com/office/drawing/2014/main" id="{91571002-F4C9-B880-87E6-70787A16D178}"/>
              </a:ext>
            </a:extLst>
          </p:cNvPr>
          <p:cNvSpPr>
            <a:spLocks noGrp="1"/>
          </p:cNvSpPr>
          <p:nvPr>
            <p:ph type="dt" sz="half" idx="2"/>
          </p:nvPr>
        </p:nvSpPr>
        <p:spPr/>
        <p:txBody>
          <a:bodyPr/>
          <a:lstStyle/>
          <a:p>
            <a:fld id="{891EC971-026B-4318-8417-2D3131BDE5D8}" type="datetime1">
              <a:rPr lang="en-US" smtClean="0"/>
              <a:t>9/22/2025</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Module information</a:t>
            </a:r>
          </a:p>
        </p:txBody>
      </p:sp>
      <p:sp>
        <p:nvSpPr>
          <p:cNvPr id="6" name="Content Placeholder 5"/>
          <p:cNvSpPr>
            <a:spLocks noGrp="1"/>
          </p:cNvSpPr>
          <p:nvPr>
            <p:ph sz="quarter" idx="1"/>
          </p:nvPr>
        </p:nvSpPr>
        <p:spPr/>
        <p:txBody>
          <a:bodyPr/>
          <a:lstStyle/>
          <a:p>
            <a:pPr marL="342900" indent="-342900">
              <a:lnSpc>
                <a:spcPct val="80000"/>
              </a:lnSpc>
            </a:pPr>
            <a:r>
              <a:rPr lang="en-GB" sz="2800" dirty="0"/>
              <a:t>Notes</a:t>
            </a:r>
          </a:p>
          <a:p>
            <a:pPr marL="742950" lvl="1" indent="-285750">
              <a:lnSpc>
                <a:spcPct val="80000"/>
              </a:lnSpc>
            </a:pPr>
            <a:r>
              <a:rPr lang="en-GB" sz="2400" dirty="0"/>
              <a:t>all projections and material accompanying the lectures and the tutorials will be distributed via</a:t>
            </a:r>
            <a:br>
              <a:rPr lang="en-GB" sz="2400" dirty="0"/>
            </a:br>
            <a:r>
              <a:rPr lang="en-GB" sz="2400" b="1" dirty="0">
                <a:solidFill>
                  <a:schemeClr val="hlink"/>
                </a:solidFill>
              </a:rPr>
              <a:t>blackboard https://learning.westminster.ac.uk/ultra/courses/_103122_1/outline</a:t>
            </a:r>
            <a:endParaRPr lang="en-GB" sz="2400" b="1" u="sng" dirty="0">
              <a:solidFill>
                <a:schemeClr val="hlink"/>
              </a:solidFill>
            </a:endParaRPr>
          </a:p>
          <a:p>
            <a:pPr marL="342900" indent="-342900">
              <a:lnSpc>
                <a:spcPct val="80000"/>
              </a:lnSpc>
            </a:pPr>
            <a:r>
              <a:rPr lang="en-GB" sz="2800" dirty="0"/>
              <a:t>Queries</a:t>
            </a:r>
          </a:p>
          <a:p>
            <a:pPr marL="742950" lvl="1" indent="-285750">
              <a:lnSpc>
                <a:spcPct val="80000"/>
              </a:lnSpc>
            </a:pPr>
            <a:r>
              <a:rPr lang="en-GB" sz="2400" dirty="0"/>
              <a:t>should be solved at an early stage</a:t>
            </a:r>
          </a:p>
          <a:p>
            <a:pPr marL="742950" lvl="1" indent="-285750">
              <a:lnSpc>
                <a:spcPct val="80000"/>
              </a:lnSpc>
            </a:pPr>
            <a:r>
              <a:rPr lang="en-GB" sz="2400" dirty="0"/>
              <a:t>if any problems come and see the module leader or your tutor</a:t>
            </a:r>
          </a:p>
          <a:p>
            <a:pPr marL="0" indent="0">
              <a:buNone/>
            </a:pPr>
            <a:endParaRPr lang="en-GB" dirty="0"/>
          </a:p>
        </p:txBody>
      </p:sp>
      <p:sp>
        <p:nvSpPr>
          <p:cNvPr id="4" name="Footer Placeholder 3">
            <a:extLst>
              <a:ext uri="{FF2B5EF4-FFF2-40B4-BE49-F238E27FC236}">
                <a16:creationId xmlns:a16="http://schemas.microsoft.com/office/drawing/2014/main" id="{54111FD7-2AC4-47E1-8C57-2A11D53305D9}"/>
              </a:ext>
            </a:extLst>
          </p:cNvPr>
          <p:cNvSpPr>
            <a:spLocks noGrp="1"/>
          </p:cNvSpPr>
          <p:nvPr>
            <p:ph type="ftr" sz="quarter" idx="3"/>
          </p:nvPr>
        </p:nvSpPr>
        <p:spPr/>
        <p:txBody>
          <a:bodyPr/>
          <a:lstStyle/>
          <a:p>
            <a:pPr algn="l"/>
            <a:r>
              <a:rPr lang="en-GB" dirty="0"/>
              <a:t>6MMCS009W1 Usability Testing &amp; Evaluation</a:t>
            </a:r>
            <a:endParaRPr lang="en-US" dirty="0"/>
          </a:p>
        </p:txBody>
      </p:sp>
      <p:sp>
        <p:nvSpPr>
          <p:cNvPr id="7" name="Slide Number Placeholder 6">
            <a:extLst>
              <a:ext uri="{FF2B5EF4-FFF2-40B4-BE49-F238E27FC236}">
                <a16:creationId xmlns:a16="http://schemas.microsoft.com/office/drawing/2014/main" id="{B3CCC6D2-0D97-7922-23DA-475925F59E4D}"/>
              </a:ext>
            </a:extLst>
          </p:cNvPr>
          <p:cNvSpPr>
            <a:spLocks noGrp="1"/>
          </p:cNvSpPr>
          <p:nvPr>
            <p:ph type="sldNum" sz="quarter" idx="4"/>
          </p:nvPr>
        </p:nvSpPr>
        <p:spPr/>
        <p:txBody>
          <a:bodyPr/>
          <a:lstStyle/>
          <a:p>
            <a:fld id="{9FD7ECCF-50E7-4327-B945-FA93FF7B2BEF}" type="slidenum">
              <a:rPr lang="en-US" smtClean="0"/>
              <a:pPr/>
              <a:t>9</a:t>
            </a:fld>
            <a:r>
              <a:rPr lang="en-GB"/>
              <a:t>/10</a:t>
            </a:r>
            <a:endParaRPr lang="en-US" dirty="0"/>
          </a:p>
        </p:txBody>
      </p:sp>
      <p:sp>
        <p:nvSpPr>
          <p:cNvPr id="5" name="Date Placeholder 4">
            <a:extLst>
              <a:ext uri="{FF2B5EF4-FFF2-40B4-BE49-F238E27FC236}">
                <a16:creationId xmlns:a16="http://schemas.microsoft.com/office/drawing/2014/main" id="{62159493-7A5A-6D84-AACF-D76F2E80AAB4}"/>
              </a:ext>
            </a:extLst>
          </p:cNvPr>
          <p:cNvSpPr>
            <a:spLocks noGrp="1"/>
          </p:cNvSpPr>
          <p:nvPr>
            <p:ph type="dt" sz="half" idx="2"/>
          </p:nvPr>
        </p:nvSpPr>
        <p:spPr/>
        <p:txBody>
          <a:bodyPr/>
          <a:lstStyle/>
          <a:p>
            <a:fld id="{10333102-6702-4049-920F-AF5710BDDA64}" type="datetime1">
              <a:rPr lang="en-US" smtClean="0"/>
              <a:t>9/22/2025</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Reading List  </a:t>
            </a:r>
            <a:r>
              <a:rPr lang="en-GB" sz="2700" dirty="0">
                <a:solidFill>
                  <a:schemeClr val="accent2">
                    <a:lumMod val="75000"/>
                  </a:schemeClr>
                </a:solidFill>
              </a:rPr>
              <a:t>[Check the Reading list on Blackboard]</a:t>
            </a:r>
            <a:endParaRPr lang="en-GB" dirty="0">
              <a:solidFill>
                <a:schemeClr val="accent2">
                  <a:lumMod val="75000"/>
                </a:schemeClr>
              </a:solidFill>
            </a:endParaRPr>
          </a:p>
        </p:txBody>
      </p:sp>
      <p:sp>
        <p:nvSpPr>
          <p:cNvPr id="6" name="Content Placeholder 5"/>
          <p:cNvSpPr>
            <a:spLocks noGrp="1"/>
          </p:cNvSpPr>
          <p:nvPr>
            <p:ph sz="quarter" idx="1"/>
          </p:nvPr>
        </p:nvSpPr>
        <p:spPr/>
        <p:txBody>
          <a:bodyPr>
            <a:normAutofit fontScale="85000" lnSpcReduction="20000"/>
          </a:bodyPr>
          <a:lstStyle/>
          <a:p>
            <a:pPr>
              <a:spcBef>
                <a:spcPts val="600"/>
              </a:spcBef>
              <a:spcAft>
                <a:spcPts val="600"/>
              </a:spcAft>
            </a:pPr>
            <a:r>
              <a:rPr lang="en-GB" sz="2000" dirty="0"/>
              <a:t>Thomas Tullis, William Albert (2022) </a:t>
            </a:r>
            <a:r>
              <a:rPr lang="en-GB" sz="2000" i="1" dirty="0"/>
              <a:t>Measuring the User Experience: Collecting, Analyzing, and Presenting UX Metrics</a:t>
            </a:r>
            <a:r>
              <a:rPr lang="en-GB" sz="2000" dirty="0"/>
              <a:t>, Morgan Kaufmann </a:t>
            </a:r>
            <a:r>
              <a:rPr lang="en-GB" sz="2000" dirty="0">
                <a:solidFill>
                  <a:srgbClr val="FF0000"/>
                </a:solidFill>
              </a:rPr>
              <a:t>[Online resource]</a:t>
            </a:r>
          </a:p>
          <a:p>
            <a:pPr algn="just">
              <a:lnSpc>
                <a:spcPct val="110000"/>
              </a:lnSpc>
              <a:spcBef>
                <a:spcPts val="600"/>
              </a:spcBef>
              <a:spcAft>
                <a:spcPts val="600"/>
              </a:spcAft>
            </a:pPr>
            <a:r>
              <a:rPr lang="en-GB" sz="2000" dirty="0"/>
              <a:t>Carol M. Barnum (2020) </a:t>
            </a:r>
            <a:r>
              <a:rPr lang="en-GB" sz="2000" i="1" dirty="0"/>
              <a:t>Usability testing essentials, Ready, Set... Test!, </a:t>
            </a:r>
            <a:r>
              <a:rPr lang="en-GB" sz="2000" dirty="0"/>
              <a:t>Morgan Kaufmann, </a:t>
            </a:r>
            <a:r>
              <a:rPr lang="en-GB" sz="2000" dirty="0">
                <a:solidFill>
                  <a:srgbClr val="FF0000"/>
                </a:solidFill>
              </a:rPr>
              <a:t>[Online resource]</a:t>
            </a:r>
          </a:p>
          <a:p>
            <a:pPr algn="just">
              <a:lnSpc>
                <a:spcPct val="110000"/>
              </a:lnSpc>
              <a:spcBef>
                <a:spcPts val="600"/>
              </a:spcBef>
              <a:spcAft>
                <a:spcPts val="600"/>
              </a:spcAft>
            </a:pPr>
            <a:r>
              <a:rPr lang="en-GB" sz="2000" dirty="0"/>
              <a:t>Jeffrey Rubin, Dana </a:t>
            </a:r>
            <a:r>
              <a:rPr lang="en-GB" sz="2000" dirty="0" err="1"/>
              <a:t>Chisnell</a:t>
            </a:r>
            <a:r>
              <a:rPr lang="en-GB" sz="2000" dirty="0"/>
              <a:t> (2008) </a:t>
            </a:r>
            <a:r>
              <a:rPr lang="en-GB" sz="2000" i="1" dirty="0"/>
              <a:t>Handbook of Usability Testing: How to Plan, Design, and Conduct Effective Tests</a:t>
            </a:r>
            <a:r>
              <a:rPr lang="en-GB" sz="2000" dirty="0"/>
              <a:t>, Wiley </a:t>
            </a:r>
            <a:r>
              <a:rPr lang="en-GB" sz="2000" dirty="0">
                <a:solidFill>
                  <a:srgbClr val="FF0000"/>
                </a:solidFill>
              </a:rPr>
              <a:t>[Online resource]</a:t>
            </a:r>
          </a:p>
          <a:p>
            <a:pPr algn="just">
              <a:lnSpc>
                <a:spcPct val="110000"/>
              </a:lnSpc>
              <a:spcBef>
                <a:spcPts val="600"/>
              </a:spcBef>
              <a:spcAft>
                <a:spcPts val="600"/>
              </a:spcAft>
            </a:pPr>
            <a:r>
              <a:rPr lang="en-GB" sz="2000" dirty="0" err="1"/>
              <a:t>Dr.</a:t>
            </a:r>
            <a:r>
              <a:rPr lang="en-GB" sz="2000" dirty="0"/>
              <a:t> Jonathan Lazar, Dr. </a:t>
            </a:r>
            <a:r>
              <a:rPr lang="en-GB" sz="2000" dirty="0" err="1"/>
              <a:t>Jinjuan</a:t>
            </a:r>
            <a:r>
              <a:rPr lang="en-GB" sz="2000" dirty="0"/>
              <a:t> Heidi </a:t>
            </a:r>
            <a:r>
              <a:rPr lang="en-GB" sz="2000" dirty="0" err="1"/>
              <a:t>Feng</a:t>
            </a:r>
            <a:r>
              <a:rPr lang="en-GB" sz="2000" dirty="0"/>
              <a:t>, Dr. Harry </a:t>
            </a:r>
            <a:r>
              <a:rPr lang="en-GB" sz="2000" dirty="0" err="1"/>
              <a:t>Hochheiser</a:t>
            </a:r>
            <a:r>
              <a:rPr lang="en-GB" sz="2000" dirty="0"/>
              <a:t> (2017) </a:t>
            </a:r>
            <a:r>
              <a:rPr lang="en-GB" sz="2000" i="1" dirty="0"/>
              <a:t>Research Methods in Human-computer Interaction</a:t>
            </a:r>
            <a:r>
              <a:rPr lang="en-GB" sz="2000" dirty="0"/>
              <a:t>, Wiley.</a:t>
            </a:r>
          </a:p>
          <a:p>
            <a:pPr algn="just">
              <a:lnSpc>
                <a:spcPct val="110000"/>
              </a:lnSpc>
              <a:spcBef>
                <a:spcPts val="600"/>
              </a:spcBef>
              <a:spcAft>
                <a:spcPts val="600"/>
              </a:spcAft>
            </a:pPr>
            <a:r>
              <a:rPr lang="en-GB" sz="2000" dirty="0"/>
              <a:t>Marc </a:t>
            </a:r>
            <a:r>
              <a:rPr lang="en-GB" sz="2000" dirty="0" err="1"/>
              <a:t>Brysbaert</a:t>
            </a:r>
            <a:r>
              <a:rPr lang="en-GB" sz="2000" dirty="0"/>
              <a:t> (2011) </a:t>
            </a:r>
            <a:r>
              <a:rPr lang="en-GB" sz="2000" i="1" dirty="0"/>
              <a:t>Basic statistics for psychologists</a:t>
            </a:r>
            <a:r>
              <a:rPr lang="en-GB" sz="2000" dirty="0"/>
              <a:t>, Basingstoke : Palgrave Macmillan, ISBN9780230275423</a:t>
            </a:r>
          </a:p>
          <a:p>
            <a:pPr>
              <a:spcBef>
                <a:spcPts val="600"/>
              </a:spcBef>
              <a:spcAft>
                <a:spcPts val="600"/>
              </a:spcAft>
            </a:pPr>
            <a:r>
              <a:rPr lang="en-GB" sz="2000" dirty="0"/>
              <a:t>Liam Foster, Ian Diamond &amp; Julie Jefferies (2014) </a:t>
            </a:r>
            <a:r>
              <a:rPr lang="en-GB" sz="2000" i="1" dirty="0"/>
              <a:t>Beginning statistics : an introduction for social scientists</a:t>
            </a:r>
            <a:r>
              <a:rPr lang="en-GB" sz="2000" dirty="0"/>
              <a:t>, SAGE, 1446280705.</a:t>
            </a:r>
          </a:p>
          <a:p>
            <a:pPr algn="just">
              <a:lnSpc>
                <a:spcPct val="110000"/>
              </a:lnSpc>
              <a:spcBef>
                <a:spcPts val="600"/>
              </a:spcBef>
              <a:spcAft>
                <a:spcPts val="600"/>
              </a:spcAft>
            </a:pPr>
            <a:r>
              <a:rPr lang="en-GB" sz="2000" dirty="0"/>
              <a:t>J., </a:t>
            </a:r>
            <a:r>
              <a:rPr lang="en-GB" sz="2000" dirty="0" err="1"/>
              <a:t>Preece</a:t>
            </a:r>
            <a:r>
              <a:rPr lang="en-GB" sz="2000" dirty="0"/>
              <a:t>, Y., Rogers &amp; H., Sharp (2019) </a:t>
            </a:r>
            <a:r>
              <a:rPr lang="en-GB" sz="2000" i="1" dirty="0"/>
              <a:t>Interaction Design, beyond human computer interaction</a:t>
            </a:r>
            <a:r>
              <a:rPr lang="en-GB" sz="2000" dirty="0"/>
              <a:t>, 5th Edition, Wiley </a:t>
            </a:r>
            <a:r>
              <a:rPr lang="en-GB" sz="2000" dirty="0">
                <a:solidFill>
                  <a:srgbClr val="FF0000"/>
                </a:solidFill>
              </a:rPr>
              <a:t>[Online resource]</a:t>
            </a:r>
          </a:p>
          <a:p>
            <a:endParaRPr lang="en-GB" sz="2000" dirty="0"/>
          </a:p>
        </p:txBody>
      </p:sp>
      <p:sp>
        <p:nvSpPr>
          <p:cNvPr id="4" name="Footer Placeholder 3">
            <a:extLst>
              <a:ext uri="{FF2B5EF4-FFF2-40B4-BE49-F238E27FC236}">
                <a16:creationId xmlns:a16="http://schemas.microsoft.com/office/drawing/2014/main" id="{AFEFCDEA-75AB-4D42-A7C5-1EFEF398E9EC}"/>
              </a:ext>
            </a:extLst>
          </p:cNvPr>
          <p:cNvSpPr>
            <a:spLocks noGrp="1"/>
          </p:cNvSpPr>
          <p:nvPr>
            <p:ph type="ftr" sz="quarter" idx="3"/>
          </p:nvPr>
        </p:nvSpPr>
        <p:spPr/>
        <p:txBody>
          <a:bodyPr/>
          <a:lstStyle/>
          <a:p>
            <a:pPr algn="l"/>
            <a:r>
              <a:rPr lang="en-GB" dirty="0"/>
              <a:t>6MMCS009W1 Usability Testing &amp; Evaluation</a:t>
            </a:r>
            <a:endParaRPr lang="en-US" dirty="0"/>
          </a:p>
        </p:txBody>
      </p:sp>
      <p:sp>
        <p:nvSpPr>
          <p:cNvPr id="7" name="Slide Number Placeholder 6">
            <a:extLst>
              <a:ext uri="{FF2B5EF4-FFF2-40B4-BE49-F238E27FC236}">
                <a16:creationId xmlns:a16="http://schemas.microsoft.com/office/drawing/2014/main" id="{245FB3F3-050F-3955-F08C-D662E5284C43}"/>
              </a:ext>
            </a:extLst>
          </p:cNvPr>
          <p:cNvSpPr>
            <a:spLocks noGrp="1"/>
          </p:cNvSpPr>
          <p:nvPr>
            <p:ph type="sldNum" sz="quarter" idx="4"/>
          </p:nvPr>
        </p:nvSpPr>
        <p:spPr/>
        <p:txBody>
          <a:bodyPr/>
          <a:lstStyle/>
          <a:p>
            <a:fld id="{9FD7ECCF-50E7-4327-B945-FA93FF7B2BEF}" type="slidenum">
              <a:rPr lang="en-US" smtClean="0"/>
              <a:pPr/>
              <a:t>10</a:t>
            </a:fld>
            <a:r>
              <a:rPr lang="en-GB"/>
              <a:t>/10</a:t>
            </a:r>
            <a:endParaRPr lang="en-US" dirty="0"/>
          </a:p>
        </p:txBody>
      </p:sp>
      <p:sp>
        <p:nvSpPr>
          <p:cNvPr id="5" name="Date Placeholder 4">
            <a:extLst>
              <a:ext uri="{FF2B5EF4-FFF2-40B4-BE49-F238E27FC236}">
                <a16:creationId xmlns:a16="http://schemas.microsoft.com/office/drawing/2014/main" id="{C78E18C9-C305-18E2-88C4-1118CC5F5018}"/>
              </a:ext>
            </a:extLst>
          </p:cNvPr>
          <p:cNvSpPr>
            <a:spLocks noGrp="1"/>
          </p:cNvSpPr>
          <p:nvPr>
            <p:ph type="dt" sz="half" idx="2"/>
          </p:nvPr>
        </p:nvSpPr>
        <p:spPr/>
        <p:txBody>
          <a:bodyPr/>
          <a:lstStyle/>
          <a:p>
            <a:fld id="{FB92977D-24C3-4211-BAD4-BAE75C4D68F9}" type="datetime1">
              <a:rPr lang="en-US" smtClean="0"/>
              <a:t>9/22/2025</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5724</TotalTime>
  <Words>1078</Words>
  <Application>Microsoft Office PowerPoint</Application>
  <PresentationFormat>On-screen Show (4:3)</PresentationFormat>
  <Paragraphs>105</Paragraphs>
  <Slides>10</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ArialRegular</vt:lpstr>
      <vt:lpstr>Times New Roman</vt:lpstr>
      <vt:lpstr>Tw Cen MT</vt:lpstr>
      <vt:lpstr>Wingdings</vt:lpstr>
      <vt:lpstr>Wingdings 2</vt:lpstr>
      <vt:lpstr>Median</vt:lpstr>
      <vt:lpstr>6MMCS009W1 Usability Testing &amp; Evaluation</vt:lpstr>
      <vt:lpstr>Contacts</vt:lpstr>
      <vt:lpstr>Module schedule</vt:lpstr>
      <vt:lpstr>Module aims</vt:lpstr>
      <vt:lpstr>Learning Outcomes</vt:lpstr>
      <vt:lpstr>Indicative syllabus content</vt:lpstr>
      <vt:lpstr>Module Schedule</vt:lpstr>
      <vt:lpstr>Assessment </vt:lpstr>
      <vt:lpstr>Module information</vt:lpstr>
      <vt:lpstr>Reading List  [Check the Reading list on Blackboard]</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Sahdiya Hussain</cp:lastModifiedBy>
  <cp:revision>591</cp:revision>
  <cp:lastPrinted>1601-01-01T00:00:00Z</cp:lastPrinted>
  <dcterms:created xsi:type="dcterms:W3CDTF">2003-07-23T09:11:55Z</dcterms:created>
  <dcterms:modified xsi:type="dcterms:W3CDTF">2025-09-22T05:09:13Z</dcterms:modified>
</cp:coreProperties>
</file>