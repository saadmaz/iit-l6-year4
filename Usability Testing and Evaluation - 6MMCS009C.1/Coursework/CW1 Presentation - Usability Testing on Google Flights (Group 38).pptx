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Bricolage Grotesque Bold" charset="1" panose="020B0605040402000204"/>
      <p:regular r:id="rId21"/>
    </p:embeddedFont>
    <p:embeddedFont>
      <p:font typeface="Bricolage Grotesque Medium" charset="1" panose="020B0605040402000204"/>
      <p:regular r:id="rId22"/>
    </p:embeddedFont>
    <p:embeddedFont>
      <p:font typeface="Cambria" charset="1" panose="02040503050406030204"/>
      <p:regular r:id="rId23"/>
    </p:embeddedFont>
    <p:embeddedFont>
      <p:font typeface="Bricolage Grotesque" charset="1" panose="020B0605040402000204"/>
      <p:regular r:id="rId24"/>
    </p:embeddedFont>
    <p:embeddedFont>
      <p:font typeface="Cambria Bold" charset="1" panose="02040803050406030204"/>
      <p:regular r:id="rId25"/>
    </p:embeddedFont>
    <p:embeddedFont>
      <p:font typeface="DM Sans Bold" charset="1" panose="000000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19" Target="../media/image18.png" Type="http://schemas.openxmlformats.org/officeDocument/2006/relationships/image"/><Relationship Id="rId2" Target="../media/image1.png" Type="http://schemas.openxmlformats.org/officeDocument/2006/relationships/image"/><Relationship Id="rId20" Target="../media/image19.svg" Type="http://schemas.openxmlformats.org/officeDocument/2006/relationships/image"/><Relationship Id="rId21" Target="../media/image20.png" Type="http://schemas.openxmlformats.org/officeDocument/2006/relationships/image"/><Relationship Id="rId22" Target="../media/image21.svg" Type="http://schemas.openxmlformats.org/officeDocument/2006/relationships/image"/><Relationship Id="rId23" Target="../media/image22.png" Type="http://schemas.openxmlformats.org/officeDocument/2006/relationships/image"/><Relationship Id="rId24" Target="../media/image23.svg" Type="http://schemas.openxmlformats.org/officeDocument/2006/relationships/image"/><Relationship Id="rId25" Target="../media/image24.png" Type="http://schemas.openxmlformats.org/officeDocument/2006/relationships/image"/><Relationship Id="rId26" Target="../media/image25.svg" Type="http://schemas.openxmlformats.org/officeDocument/2006/relationships/image"/><Relationship Id="rId27" Target="../media/image26.png" Type="http://schemas.openxmlformats.org/officeDocument/2006/relationships/image"/><Relationship Id="rId28" Target="../media/image27.svg" Type="http://schemas.openxmlformats.org/officeDocument/2006/relationships/image"/><Relationship Id="rId29" Target="../media/image28.png" Type="http://schemas.openxmlformats.org/officeDocument/2006/relationships/image"/><Relationship Id="rId3" Target="../media/image2.svg" Type="http://schemas.openxmlformats.org/officeDocument/2006/relationships/image"/><Relationship Id="rId30" Target="../media/image29.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svg" Type="http://schemas.openxmlformats.org/officeDocument/2006/relationships/image"/><Relationship Id="rId11" Target="../media/image28.png" Type="http://schemas.openxmlformats.org/officeDocument/2006/relationships/image"/><Relationship Id="rId12" Target="../media/image29.svg" Type="http://schemas.openxmlformats.org/officeDocument/2006/relationships/image"/><Relationship Id="rId2" Target="../media/image30.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 Id="rId9" Target="../media/image20.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11" Target="https://www.google.com/travel/flights" TargetMode="External" Type="http://schemas.openxmlformats.org/officeDocument/2006/relationships/hyperlink"/><Relationship Id="rId12" Target="../media/image1.png" Type="http://schemas.openxmlformats.org/officeDocument/2006/relationships/image"/><Relationship Id="rId13" Target="../media/image2.svg" Type="http://schemas.openxmlformats.org/officeDocument/2006/relationships/image"/><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svg" Type="http://schemas.openxmlformats.org/officeDocument/2006/relationships/image"/><Relationship Id="rId12" Target="../media/image14.png" Type="http://schemas.openxmlformats.org/officeDocument/2006/relationships/image"/><Relationship Id="rId13" Target="../media/image15.svg" Type="http://schemas.openxmlformats.org/officeDocument/2006/relationships/image"/><Relationship Id="rId14" Target="../media/image16.png" Type="http://schemas.openxmlformats.org/officeDocument/2006/relationships/image"/><Relationship Id="rId15" Target="../media/image17.svg" Type="http://schemas.openxmlformats.org/officeDocument/2006/relationships/image"/><Relationship Id="rId16" Target="../media/image18.png" Type="http://schemas.openxmlformats.org/officeDocument/2006/relationships/image"/><Relationship Id="rId17" Target="../media/image19.svg" Type="http://schemas.openxmlformats.org/officeDocument/2006/relationships/image"/><Relationship Id="rId18" Target="../media/image20.png" Type="http://schemas.openxmlformats.org/officeDocument/2006/relationships/image"/><Relationship Id="rId19" Target="../media/image21.svg" Type="http://schemas.openxmlformats.org/officeDocument/2006/relationships/image"/><Relationship Id="rId2" Target="../media/image4.png" Type="http://schemas.openxmlformats.org/officeDocument/2006/relationships/image"/><Relationship Id="rId20" Target="../media/image22.png" Type="http://schemas.openxmlformats.org/officeDocument/2006/relationships/image"/><Relationship Id="rId21" Target="../media/image23.svg" Type="http://schemas.openxmlformats.org/officeDocument/2006/relationships/image"/><Relationship Id="rId22" Target="../media/image24.png" Type="http://schemas.openxmlformats.org/officeDocument/2006/relationships/image"/><Relationship Id="rId23" Target="../media/image25.svg" Type="http://schemas.openxmlformats.org/officeDocument/2006/relationships/image"/><Relationship Id="rId24" Target="../media/image26.png" Type="http://schemas.openxmlformats.org/officeDocument/2006/relationships/image"/><Relationship Id="rId25" Target="../media/image27.svg" Type="http://schemas.openxmlformats.org/officeDocument/2006/relationships/image"/><Relationship Id="rId26" Target="../media/image28.png" Type="http://schemas.openxmlformats.org/officeDocument/2006/relationships/image"/><Relationship Id="rId27" Target="../media/image29.sv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389758" y="7695298"/>
            <a:ext cx="604273" cy="506491"/>
          </a:xfrm>
          <a:custGeom>
            <a:avLst/>
            <a:gdLst/>
            <a:ahLst/>
            <a:cxnLst/>
            <a:rect r="r" b="b" t="t" l="l"/>
            <a:pathLst>
              <a:path h="506491" w="604273">
                <a:moveTo>
                  <a:pt x="0" y="0"/>
                </a:moveTo>
                <a:lnTo>
                  <a:pt x="604273" y="0"/>
                </a:lnTo>
                <a:lnTo>
                  <a:pt x="604273" y="506491"/>
                </a:lnTo>
                <a:lnTo>
                  <a:pt x="0" y="5064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177070" y="1935987"/>
            <a:ext cx="4175021" cy="5612105"/>
            <a:chOff x="0" y="0"/>
            <a:chExt cx="948498" cy="1274980"/>
          </a:xfrm>
        </p:grpSpPr>
        <p:sp>
          <p:nvSpPr>
            <p:cNvPr name="Freeform 4" id="4"/>
            <p:cNvSpPr/>
            <p:nvPr/>
          </p:nvSpPr>
          <p:spPr>
            <a:xfrm flipH="false" flipV="false" rot="0">
              <a:off x="0" y="0"/>
              <a:ext cx="948498" cy="1274980"/>
            </a:xfrm>
            <a:custGeom>
              <a:avLst/>
              <a:gdLst/>
              <a:ahLst/>
              <a:cxnLst/>
              <a:rect r="r" b="b" t="t" l="l"/>
              <a:pathLst>
                <a:path h="1274980" w="948498">
                  <a:moveTo>
                    <a:pt x="185434" y="0"/>
                  </a:moveTo>
                  <a:lnTo>
                    <a:pt x="763064" y="0"/>
                  </a:lnTo>
                  <a:cubicBezTo>
                    <a:pt x="812244" y="0"/>
                    <a:pt x="859410" y="19537"/>
                    <a:pt x="894186" y="54312"/>
                  </a:cubicBezTo>
                  <a:cubicBezTo>
                    <a:pt x="928961" y="89088"/>
                    <a:pt x="948498" y="136254"/>
                    <a:pt x="948498" y="185434"/>
                  </a:cubicBezTo>
                  <a:lnTo>
                    <a:pt x="948498" y="1089546"/>
                  </a:lnTo>
                  <a:cubicBezTo>
                    <a:pt x="948498" y="1138726"/>
                    <a:pt x="928961" y="1185892"/>
                    <a:pt x="894186" y="1220668"/>
                  </a:cubicBezTo>
                  <a:cubicBezTo>
                    <a:pt x="859410" y="1255444"/>
                    <a:pt x="812244" y="1274980"/>
                    <a:pt x="763064" y="1274980"/>
                  </a:cubicBezTo>
                  <a:lnTo>
                    <a:pt x="185434" y="1274980"/>
                  </a:lnTo>
                  <a:cubicBezTo>
                    <a:pt x="136254" y="1274980"/>
                    <a:pt x="89088" y="1255444"/>
                    <a:pt x="54312" y="1220668"/>
                  </a:cubicBezTo>
                  <a:cubicBezTo>
                    <a:pt x="19537" y="1185892"/>
                    <a:pt x="0" y="1138726"/>
                    <a:pt x="0" y="1089546"/>
                  </a:cubicBezTo>
                  <a:lnTo>
                    <a:pt x="0" y="185434"/>
                  </a:lnTo>
                  <a:cubicBezTo>
                    <a:pt x="0" y="136254"/>
                    <a:pt x="19537" y="89088"/>
                    <a:pt x="54312" y="54312"/>
                  </a:cubicBezTo>
                  <a:cubicBezTo>
                    <a:pt x="89088" y="19537"/>
                    <a:pt x="136254" y="0"/>
                    <a:pt x="185434" y="0"/>
                  </a:cubicBezTo>
                  <a:close/>
                </a:path>
              </a:pathLst>
            </a:custGeom>
            <a:blipFill>
              <a:blip r:embed="rId4"/>
              <a:stretch>
                <a:fillRect l="-6532" t="0" r="-95225" b="0"/>
              </a:stretch>
            </a:blipFill>
          </p:spPr>
        </p:sp>
      </p:grpSp>
      <p:sp>
        <p:nvSpPr>
          <p:cNvPr name="TextBox 5" id="5"/>
          <p:cNvSpPr txBox="true"/>
          <p:nvPr/>
        </p:nvSpPr>
        <p:spPr>
          <a:xfrm rot="0">
            <a:off x="1625366" y="2771080"/>
            <a:ext cx="10551704" cy="4406040"/>
          </a:xfrm>
          <a:prstGeom prst="rect">
            <a:avLst/>
          </a:prstGeom>
        </p:spPr>
        <p:txBody>
          <a:bodyPr anchor="t" rtlCol="false" tIns="0" lIns="0" bIns="0" rIns="0">
            <a:spAutoFit/>
          </a:bodyPr>
          <a:lstStyle/>
          <a:p>
            <a:pPr algn="ctr">
              <a:lnSpc>
                <a:spcPts val="11241"/>
              </a:lnSpc>
            </a:pPr>
            <a:r>
              <a:rPr lang="en-US" b="true" sz="12920" spc="-801">
                <a:solidFill>
                  <a:srgbClr val="2394C4"/>
                </a:solidFill>
                <a:latin typeface="Bricolage Grotesque Bold"/>
                <a:ea typeface="Bricolage Grotesque Bold"/>
                <a:cs typeface="Bricolage Grotesque Bold"/>
                <a:sym typeface="Bricolage Grotesque Bold"/>
              </a:rPr>
              <a:t>Usability Testing on </a:t>
            </a:r>
          </a:p>
          <a:p>
            <a:pPr algn="ctr">
              <a:lnSpc>
                <a:spcPts val="11241"/>
              </a:lnSpc>
            </a:pPr>
            <a:r>
              <a:rPr lang="en-US" b="true" sz="12920" spc="-801">
                <a:solidFill>
                  <a:srgbClr val="2394C4"/>
                </a:solidFill>
                <a:latin typeface="Bricolage Grotesque Bold"/>
                <a:ea typeface="Bricolage Grotesque Bold"/>
                <a:cs typeface="Bricolage Grotesque Bold"/>
                <a:sym typeface="Bricolage Grotesque Bold"/>
              </a:rPr>
              <a:t>Google Flights</a:t>
            </a:r>
          </a:p>
        </p:txBody>
      </p:sp>
      <p:sp>
        <p:nvSpPr>
          <p:cNvPr name="TextBox 6" id="6"/>
          <p:cNvSpPr txBox="true"/>
          <p:nvPr/>
        </p:nvSpPr>
        <p:spPr>
          <a:xfrm rot="0">
            <a:off x="6353141" y="7752448"/>
            <a:ext cx="6333073" cy="448848"/>
          </a:xfrm>
          <a:prstGeom prst="rect">
            <a:avLst/>
          </a:prstGeom>
        </p:spPr>
        <p:txBody>
          <a:bodyPr anchor="t" rtlCol="false" tIns="0" lIns="0" bIns="0" rIns="0">
            <a:spAutoFit/>
          </a:bodyPr>
          <a:lstStyle/>
          <a:p>
            <a:pPr algn="l">
              <a:lnSpc>
                <a:spcPts val="3472"/>
              </a:lnSpc>
            </a:pPr>
            <a:r>
              <a:rPr lang="en-US" sz="3339" spc="-133" b="true">
                <a:solidFill>
                  <a:srgbClr val="242424"/>
                </a:solidFill>
                <a:latin typeface="Bricolage Grotesque Bold"/>
                <a:ea typeface="Bricolage Grotesque Bold"/>
                <a:cs typeface="Bricolage Grotesque Bold"/>
                <a:sym typeface="Bricolage Grotesque Bold"/>
              </a:rPr>
              <a:t>Group No 38</a:t>
            </a:r>
          </a:p>
        </p:txBody>
      </p:sp>
      <p:sp>
        <p:nvSpPr>
          <p:cNvPr name="Freeform 7" id="7"/>
          <p:cNvSpPr/>
          <p:nvPr/>
        </p:nvSpPr>
        <p:spPr>
          <a:xfrm flipH="false" flipV="false" rot="0">
            <a:off x="-2329398" y="861489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603070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4215205"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10" id="10"/>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11" id="11"/>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12" id="12"/>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13" id="13"/>
          <p:cNvSpPr/>
          <p:nvPr/>
        </p:nvSpPr>
        <p:spPr>
          <a:xfrm flipH="false" flipV="false" rot="0">
            <a:off x="7409323" y="-27001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Freeform 14" id="14"/>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a:ln cap="sq">
            <a:noFill/>
            <a:prstDash val="solid"/>
            <a:miter/>
          </a:ln>
        </p:spPr>
      </p:sp>
      <p:sp>
        <p:nvSpPr>
          <p:cNvPr name="Freeform 15" id="15"/>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a:ln cap="sq">
            <a:noFill/>
            <a:prstDash val="solid"/>
            <a:miter/>
          </a:ln>
        </p:spPr>
      </p:sp>
      <p:sp>
        <p:nvSpPr>
          <p:cNvPr name="Freeform 16" id="16"/>
          <p:cNvSpPr/>
          <p:nvPr/>
        </p:nvSpPr>
        <p:spPr>
          <a:xfrm flipH="false" flipV="false" rot="0">
            <a:off x="17259300" y="2262342"/>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a:ln cap="sq">
            <a:noFill/>
            <a:prstDash val="solid"/>
            <a:miter/>
          </a:ln>
        </p:spPr>
      </p:sp>
      <p:sp>
        <p:nvSpPr>
          <p:cNvPr name="Freeform 17" id="17"/>
          <p:cNvSpPr/>
          <p:nvPr/>
        </p:nvSpPr>
        <p:spPr>
          <a:xfrm flipH="false" flipV="false" rot="0">
            <a:off x="2570549"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a:ln cap="sq">
            <a:noFill/>
            <a:prstDash val="solid"/>
            <a:miter/>
          </a:ln>
        </p:spPr>
      </p:sp>
      <p:sp>
        <p:nvSpPr>
          <p:cNvPr name="Freeform 18" id="18"/>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a:ln cap="sq">
            <a:noFill/>
            <a:prstDash val="solid"/>
            <a:miter/>
          </a:ln>
        </p:spPr>
      </p:sp>
      <p:sp>
        <p:nvSpPr>
          <p:cNvPr name="Freeform 19" id="19"/>
          <p:cNvSpPr/>
          <p:nvPr/>
        </p:nvSpPr>
        <p:spPr>
          <a:xfrm flipH="false" flipV="false" rot="0">
            <a:off x="16978638" y="-642644"/>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a:ln cap="sq">
            <a:noFill/>
            <a:prstDash val="solid"/>
            <a:miter/>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8707" y="3545470"/>
            <a:ext cx="7878462" cy="0"/>
          </a:xfrm>
          <a:prstGeom prst="line">
            <a:avLst/>
          </a:prstGeom>
          <a:ln cap="flat" w="9525">
            <a:solidFill>
              <a:srgbClr val="242424"/>
            </a:solidFill>
            <a:prstDash val="solid"/>
            <a:headEnd type="none" len="sm" w="sm"/>
            <a:tailEnd type="none" len="sm" w="sm"/>
          </a:ln>
        </p:spPr>
      </p:sp>
      <p:sp>
        <p:nvSpPr>
          <p:cNvPr name="Freeform 3" id="3"/>
          <p:cNvSpPr/>
          <p:nvPr/>
        </p:nvSpPr>
        <p:spPr>
          <a:xfrm flipH="false" flipV="false" rot="0">
            <a:off x="9669218" y="773300"/>
            <a:ext cx="7590082" cy="7590082"/>
          </a:xfrm>
          <a:custGeom>
            <a:avLst/>
            <a:gdLst/>
            <a:ahLst/>
            <a:cxnLst/>
            <a:rect r="r" b="b" t="t" l="l"/>
            <a:pathLst>
              <a:path h="7590082" w="7590082">
                <a:moveTo>
                  <a:pt x="0" y="0"/>
                </a:moveTo>
                <a:lnTo>
                  <a:pt x="7590082" y="0"/>
                </a:lnTo>
                <a:lnTo>
                  <a:pt x="7590082" y="7590082"/>
                </a:lnTo>
                <a:lnTo>
                  <a:pt x="0" y="7590082"/>
                </a:lnTo>
                <a:lnTo>
                  <a:pt x="0" y="0"/>
                </a:lnTo>
                <a:close/>
              </a:path>
            </a:pathLst>
          </a:custGeom>
          <a:blipFill>
            <a:blip r:embed="rId2"/>
            <a:stretch>
              <a:fillRect l="0" t="0" r="0" b="0"/>
            </a:stretch>
          </a:blipFill>
        </p:spPr>
      </p:sp>
      <p:sp>
        <p:nvSpPr>
          <p:cNvPr name="TextBox 4" id="4"/>
          <p:cNvSpPr txBox="true"/>
          <p:nvPr/>
        </p:nvSpPr>
        <p:spPr>
          <a:xfrm rot="0">
            <a:off x="1028700" y="756201"/>
            <a:ext cx="7744546" cy="1426453"/>
          </a:xfrm>
          <a:prstGeom prst="rect">
            <a:avLst/>
          </a:prstGeom>
        </p:spPr>
        <p:txBody>
          <a:bodyPr anchor="t" rtlCol="false" tIns="0" lIns="0" bIns="0" rIns="0">
            <a:spAutoFit/>
          </a:bodyPr>
          <a:lstStyle/>
          <a:p>
            <a:pPr algn="r">
              <a:lnSpc>
                <a:spcPts val="10234"/>
              </a:lnSpc>
            </a:pPr>
            <a:r>
              <a:rPr lang="en-US" b="true" sz="11763" spc="-729">
                <a:solidFill>
                  <a:srgbClr val="2394C4"/>
                </a:solidFill>
                <a:latin typeface="Bricolage Grotesque Medium"/>
                <a:ea typeface="Bricolage Grotesque Medium"/>
                <a:cs typeface="Bricolage Grotesque Medium"/>
                <a:sym typeface="Bricolage Grotesque Medium"/>
              </a:rPr>
              <a:t>Introduction </a:t>
            </a:r>
          </a:p>
        </p:txBody>
      </p:sp>
      <p:sp>
        <p:nvSpPr>
          <p:cNvPr name="TextBox 5" id="5"/>
          <p:cNvSpPr txBox="true"/>
          <p:nvPr/>
        </p:nvSpPr>
        <p:spPr>
          <a:xfrm rot="0">
            <a:off x="864265" y="2630767"/>
            <a:ext cx="9427069" cy="509452"/>
          </a:xfrm>
          <a:prstGeom prst="rect">
            <a:avLst/>
          </a:prstGeom>
        </p:spPr>
        <p:txBody>
          <a:bodyPr anchor="t" rtlCol="false" tIns="0" lIns="0" bIns="0" rIns="0">
            <a:spAutoFit/>
          </a:bodyPr>
          <a:lstStyle/>
          <a:p>
            <a:pPr algn="l">
              <a:lnSpc>
                <a:spcPts val="3849"/>
              </a:lnSpc>
            </a:pPr>
            <a:r>
              <a:rPr lang="en-US" b="true" sz="3701" spc="-148">
                <a:solidFill>
                  <a:srgbClr val="242424"/>
                </a:solidFill>
                <a:latin typeface="Bricolage Grotesque Bold"/>
                <a:ea typeface="Bricolage Grotesque Bold"/>
                <a:cs typeface="Bricolage Grotesque Bold"/>
                <a:sym typeface="Bricolage Grotesque Bold"/>
              </a:rPr>
              <a:t>Usability Metrics tested for Google Flights</a:t>
            </a:r>
          </a:p>
        </p:txBody>
      </p:sp>
      <p:sp>
        <p:nvSpPr>
          <p:cNvPr name="TextBox 6" id="6"/>
          <p:cNvSpPr txBox="true"/>
          <p:nvPr/>
        </p:nvSpPr>
        <p:spPr>
          <a:xfrm rot="0">
            <a:off x="1028700" y="4268370"/>
            <a:ext cx="8512641" cy="3414055"/>
          </a:xfrm>
          <a:prstGeom prst="rect">
            <a:avLst/>
          </a:prstGeom>
        </p:spPr>
        <p:txBody>
          <a:bodyPr anchor="t" rtlCol="false" tIns="0" lIns="0" bIns="0" rIns="0">
            <a:spAutoFit/>
          </a:bodyPr>
          <a:lstStyle/>
          <a:p>
            <a:pPr algn="l">
              <a:lnSpc>
                <a:spcPts val="3846"/>
              </a:lnSpc>
            </a:pPr>
            <a:r>
              <a:rPr lang="en-US" sz="3231">
                <a:solidFill>
                  <a:srgbClr val="000000"/>
                </a:solidFill>
                <a:latin typeface="Cambria"/>
                <a:ea typeface="Cambria"/>
                <a:cs typeface="Cambria"/>
                <a:sym typeface="Cambria"/>
              </a:rPr>
              <a:t>1.Effectiveness - Independent Sample Test</a:t>
            </a:r>
          </a:p>
          <a:p>
            <a:pPr algn="l">
              <a:lnSpc>
                <a:spcPts val="3846"/>
              </a:lnSpc>
            </a:pPr>
          </a:p>
          <a:p>
            <a:pPr algn="l">
              <a:lnSpc>
                <a:spcPts val="3846"/>
              </a:lnSpc>
            </a:pPr>
            <a:r>
              <a:rPr lang="en-US" sz="3231">
                <a:solidFill>
                  <a:srgbClr val="000000"/>
                </a:solidFill>
                <a:latin typeface="Cambria"/>
                <a:ea typeface="Cambria"/>
                <a:cs typeface="Cambria"/>
                <a:sym typeface="Cambria"/>
              </a:rPr>
              <a:t>2.Efficiency - Paired Sample Test</a:t>
            </a:r>
          </a:p>
          <a:p>
            <a:pPr algn="l">
              <a:lnSpc>
                <a:spcPts val="3846"/>
              </a:lnSpc>
            </a:pPr>
          </a:p>
          <a:p>
            <a:pPr algn="l">
              <a:lnSpc>
                <a:spcPts val="3846"/>
              </a:lnSpc>
            </a:pPr>
            <a:r>
              <a:rPr lang="en-US" sz="3231">
                <a:solidFill>
                  <a:srgbClr val="000000"/>
                </a:solidFill>
                <a:latin typeface="Cambria"/>
                <a:ea typeface="Cambria"/>
                <a:cs typeface="Cambria"/>
                <a:sym typeface="Cambria"/>
              </a:rPr>
              <a:t>3.Error Rate - Anova</a:t>
            </a:r>
          </a:p>
          <a:p>
            <a:pPr algn="l">
              <a:lnSpc>
                <a:spcPts val="3846"/>
              </a:lnSpc>
            </a:pPr>
          </a:p>
          <a:p>
            <a:pPr algn="l" marL="0" indent="0" lvl="0">
              <a:lnSpc>
                <a:spcPts val="3846"/>
              </a:lnSpc>
            </a:pPr>
            <a:r>
              <a:rPr lang="en-US" sz="3231">
                <a:solidFill>
                  <a:srgbClr val="000000"/>
                </a:solidFill>
                <a:latin typeface="Cambria"/>
                <a:ea typeface="Cambria"/>
                <a:cs typeface="Cambria"/>
                <a:sym typeface="Cambria"/>
              </a:rPr>
              <a:t>4.Learnability - Pearson Correlation</a:t>
            </a:r>
          </a:p>
        </p:txBody>
      </p:sp>
      <p:sp>
        <p:nvSpPr>
          <p:cNvPr name="Freeform 7" id="7"/>
          <p:cNvSpPr/>
          <p:nvPr/>
        </p:nvSpPr>
        <p:spPr>
          <a:xfrm flipH="false" flipV="false" rot="0">
            <a:off x="-1599312" y="9214398"/>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8" id="8"/>
          <p:cNvSpPr/>
          <p:nvPr/>
        </p:nvSpPr>
        <p:spPr>
          <a:xfrm flipH="false" flipV="false" rot="0">
            <a:off x="12901745" y="8660521"/>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9" id="9"/>
          <p:cNvSpPr/>
          <p:nvPr/>
        </p:nvSpPr>
        <p:spPr>
          <a:xfrm flipH="false" flipV="false" rot="0">
            <a:off x="7103887" y="853861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10" id="10"/>
          <p:cNvSpPr/>
          <p:nvPr/>
        </p:nvSpPr>
        <p:spPr>
          <a:xfrm flipH="false" flipV="false" rot="0">
            <a:off x="3906325" y="8872214"/>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11" id="11"/>
          <p:cNvSpPr/>
          <p:nvPr/>
        </p:nvSpPr>
        <p:spPr>
          <a:xfrm flipH="false" flipV="false" rot="0">
            <a:off x="16735739" y="8660521"/>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99312" y="9214398"/>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4765346" y="8872214"/>
            <a:ext cx="4292424" cy="3870986"/>
          </a:xfrm>
          <a:custGeom>
            <a:avLst/>
            <a:gdLst/>
            <a:ahLst/>
            <a:cxnLst/>
            <a:rect r="r" b="b" t="t" l="l"/>
            <a:pathLst>
              <a:path h="3870986" w="4292424">
                <a:moveTo>
                  <a:pt x="0" y="0"/>
                </a:moveTo>
                <a:lnTo>
                  <a:pt x="4292424" y="0"/>
                </a:lnTo>
                <a:lnTo>
                  <a:pt x="4292424" y="3870987"/>
                </a:lnTo>
                <a:lnTo>
                  <a:pt x="0" y="38709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7103887" y="853861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3906325" y="8872214"/>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823030" y="2081463"/>
            <a:ext cx="16641940" cy="7176837"/>
          </a:xfrm>
          <a:custGeom>
            <a:avLst/>
            <a:gdLst/>
            <a:ahLst/>
            <a:cxnLst/>
            <a:rect r="r" b="b" t="t" l="l"/>
            <a:pathLst>
              <a:path h="7176837" w="16641940">
                <a:moveTo>
                  <a:pt x="0" y="0"/>
                </a:moveTo>
                <a:lnTo>
                  <a:pt x="16641940" y="0"/>
                </a:lnTo>
                <a:lnTo>
                  <a:pt x="16641940" y="7176837"/>
                </a:lnTo>
                <a:lnTo>
                  <a:pt x="0" y="7176837"/>
                </a:lnTo>
                <a:lnTo>
                  <a:pt x="0" y="0"/>
                </a:lnTo>
                <a:close/>
              </a:path>
            </a:pathLst>
          </a:custGeom>
          <a:blipFill>
            <a:blip r:embed="rId10"/>
            <a:stretch>
              <a:fillRect l="0" t="0" r="0" b="0"/>
            </a:stretch>
          </a:blipFill>
        </p:spPr>
      </p:sp>
      <p:sp>
        <p:nvSpPr>
          <p:cNvPr name="TextBox 7" id="7"/>
          <p:cNvSpPr txBox="true"/>
          <p:nvPr/>
        </p:nvSpPr>
        <p:spPr>
          <a:xfrm rot="0">
            <a:off x="823030" y="909694"/>
            <a:ext cx="7100164" cy="1034257"/>
          </a:xfrm>
          <a:prstGeom prst="rect">
            <a:avLst/>
          </a:prstGeom>
        </p:spPr>
        <p:txBody>
          <a:bodyPr anchor="t" rtlCol="false" tIns="0" lIns="0" bIns="0" rIns="0">
            <a:spAutoFit/>
          </a:bodyPr>
          <a:lstStyle/>
          <a:p>
            <a:pPr algn="l">
              <a:lnSpc>
                <a:spcPts val="7431"/>
              </a:lnSpc>
            </a:pPr>
            <a:r>
              <a:rPr lang="en-US" sz="8541" spc="-529" b="true">
                <a:solidFill>
                  <a:srgbClr val="2394C4"/>
                </a:solidFill>
                <a:latin typeface="Bricolage Grotesque Medium"/>
                <a:ea typeface="Bricolage Grotesque Medium"/>
                <a:cs typeface="Bricolage Grotesque Medium"/>
                <a:sym typeface="Bricolage Grotesque Medium"/>
              </a:rPr>
              <a:t>Google Flights</a:t>
            </a:r>
          </a:p>
        </p:txBody>
      </p:sp>
      <p:sp>
        <p:nvSpPr>
          <p:cNvPr name="TextBox 8" id="8"/>
          <p:cNvSpPr txBox="true"/>
          <p:nvPr/>
        </p:nvSpPr>
        <p:spPr>
          <a:xfrm rot="0">
            <a:off x="8886959" y="1076325"/>
            <a:ext cx="7394730" cy="425735"/>
          </a:xfrm>
          <a:prstGeom prst="rect">
            <a:avLst/>
          </a:prstGeom>
        </p:spPr>
        <p:txBody>
          <a:bodyPr anchor="t" rtlCol="false" tIns="0" lIns="0" bIns="0" rIns="0">
            <a:spAutoFit/>
          </a:bodyPr>
          <a:lstStyle/>
          <a:p>
            <a:pPr algn="l">
              <a:lnSpc>
                <a:spcPts val="3264"/>
              </a:lnSpc>
            </a:pPr>
            <a:r>
              <a:rPr lang="en-US" sz="3139" spc="-125" u="sng">
                <a:solidFill>
                  <a:srgbClr val="2394C4"/>
                </a:solidFill>
                <a:latin typeface="Bricolage Grotesque"/>
                <a:ea typeface="Bricolage Grotesque"/>
                <a:cs typeface="Bricolage Grotesque"/>
                <a:sym typeface="Bricolage Grotesque"/>
                <a:hlinkClick r:id="rId11" tooltip="https://www.google.com/travel/flights"/>
              </a:rPr>
              <a:t>https://www.google.com/travel/flig</a:t>
            </a:r>
            <a:r>
              <a:rPr lang="en-US" sz="3139" spc="-125" u="sng">
                <a:solidFill>
                  <a:srgbClr val="2394C4"/>
                </a:solidFill>
                <a:latin typeface="Bricolage Grotesque"/>
                <a:ea typeface="Bricolage Grotesque"/>
                <a:cs typeface="Bricolage Grotesque"/>
                <a:sym typeface="Bricolage Grotesque"/>
              </a:rPr>
              <a:t>hts</a:t>
            </a:r>
          </a:p>
        </p:txBody>
      </p:sp>
      <p:sp>
        <p:nvSpPr>
          <p:cNvPr name="Freeform 9" id="9"/>
          <p:cNvSpPr/>
          <p:nvPr/>
        </p:nvSpPr>
        <p:spPr>
          <a:xfrm flipH="false" flipV="false" rot="0">
            <a:off x="7531870" y="835847"/>
            <a:ext cx="1091947" cy="915250"/>
          </a:xfrm>
          <a:custGeom>
            <a:avLst/>
            <a:gdLst/>
            <a:ahLst/>
            <a:cxnLst/>
            <a:rect r="r" b="b" t="t" l="l"/>
            <a:pathLst>
              <a:path h="915250" w="1091947">
                <a:moveTo>
                  <a:pt x="0" y="0"/>
                </a:moveTo>
                <a:lnTo>
                  <a:pt x="1091947" y="0"/>
                </a:lnTo>
                <a:lnTo>
                  <a:pt x="1091947" y="915250"/>
                </a:lnTo>
                <a:lnTo>
                  <a:pt x="0" y="91525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4108" y="715451"/>
            <a:ext cx="15594433" cy="1345964"/>
          </a:xfrm>
          <a:prstGeom prst="rect">
            <a:avLst/>
          </a:prstGeom>
        </p:spPr>
        <p:txBody>
          <a:bodyPr anchor="t" rtlCol="false" tIns="0" lIns="0" bIns="0" rIns="0">
            <a:spAutoFit/>
          </a:bodyPr>
          <a:lstStyle/>
          <a:p>
            <a:pPr algn="r">
              <a:lnSpc>
                <a:spcPts val="9749"/>
              </a:lnSpc>
            </a:pPr>
            <a:r>
              <a:rPr lang="en-US" b="true" sz="11206" spc="-694">
                <a:solidFill>
                  <a:srgbClr val="242424"/>
                </a:solidFill>
                <a:latin typeface="Bricolage Grotesque Medium"/>
                <a:ea typeface="Bricolage Grotesque Medium"/>
                <a:cs typeface="Bricolage Grotesque Medium"/>
                <a:sym typeface="Bricolage Grotesque Medium"/>
              </a:rPr>
              <a:t>Independent Sample Test</a:t>
            </a:r>
          </a:p>
        </p:txBody>
      </p:sp>
      <p:sp>
        <p:nvSpPr>
          <p:cNvPr name="TextBox 3" id="3"/>
          <p:cNvSpPr txBox="true"/>
          <p:nvPr/>
        </p:nvSpPr>
        <p:spPr>
          <a:xfrm rot="0">
            <a:off x="491559" y="2128090"/>
            <a:ext cx="3414766" cy="626671"/>
          </a:xfrm>
          <a:prstGeom prst="rect">
            <a:avLst/>
          </a:prstGeom>
        </p:spPr>
        <p:txBody>
          <a:bodyPr anchor="t" rtlCol="false" tIns="0" lIns="0" bIns="0" rIns="0">
            <a:spAutoFit/>
          </a:bodyPr>
          <a:lstStyle/>
          <a:p>
            <a:pPr algn="r">
              <a:lnSpc>
                <a:spcPts val="4773"/>
              </a:lnSpc>
            </a:pPr>
            <a:r>
              <a:rPr lang="en-US" sz="4590" spc="-183">
                <a:solidFill>
                  <a:srgbClr val="242424"/>
                </a:solidFill>
                <a:latin typeface="Bricolage Grotesque"/>
                <a:ea typeface="Bricolage Grotesque"/>
                <a:cs typeface="Bricolage Grotesque"/>
                <a:sym typeface="Bricolage Grotesque"/>
              </a:rPr>
              <a:t>Effectiveness</a:t>
            </a:r>
          </a:p>
        </p:txBody>
      </p:sp>
      <p:sp>
        <p:nvSpPr>
          <p:cNvPr name="Freeform 4" id="4"/>
          <p:cNvSpPr/>
          <p:nvPr/>
        </p:nvSpPr>
        <p:spPr>
          <a:xfrm flipH="false" flipV="false" rot="0">
            <a:off x="-1599312" y="9214398"/>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12901745" y="9214398"/>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0">
            <a:off x="7103887" y="9214398"/>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0">
            <a:off x="3300636" y="9258300"/>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false" flipV="false" rot="0">
            <a:off x="16735739" y="8660521"/>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9" id="9"/>
          <p:cNvSpPr txBox="true"/>
          <p:nvPr/>
        </p:nvSpPr>
        <p:spPr>
          <a:xfrm rot="0">
            <a:off x="491559" y="2688086"/>
            <a:ext cx="17166066" cy="6679566"/>
          </a:xfrm>
          <a:prstGeom prst="rect">
            <a:avLst/>
          </a:prstGeom>
        </p:spPr>
        <p:txBody>
          <a:bodyPr anchor="t" rtlCol="false" tIns="0" lIns="0" bIns="0" rIns="0">
            <a:spAutoFit/>
          </a:bodyPr>
          <a:lstStyle/>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Research Question : </a:t>
            </a:r>
            <a:r>
              <a:rPr lang="en-US" sz="2899" spc="-179">
                <a:solidFill>
                  <a:srgbClr val="242424"/>
                </a:solidFill>
                <a:latin typeface="Cambria"/>
                <a:ea typeface="Cambria"/>
                <a:cs typeface="Cambria"/>
                <a:sym typeface="Cambria"/>
              </a:rPr>
              <a:t>Is there a significant difference in the Task C</a:t>
            </a:r>
            <a:r>
              <a:rPr lang="en-US" sz="2899" spc="-179">
                <a:solidFill>
                  <a:srgbClr val="242424"/>
                </a:solidFill>
                <a:latin typeface="Cambria"/>
                <a:ea typeface="Cambria"/>
                <a:cs typeface="Cambria"/>
                <a:sym typeface="Cambria"/>
              </a:rPr>
              <a:t>ompletion Success Rate for finding a mutli-city itinerary between users with prior knowledge of Google Flights and users with no prior knowledge?</a:t>
            </a:r>
          </a:p>
          <a:p>
            <a:pPr algn="just">
              <a:lnSpc>
                <a:spcPts val="4059"/>
              </a:lnSpc>
            </a:pPr>
          </a:p>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Null Hypothesis :</a:t>
            </a:r>
            <a:r>
              <a:rPr lang="en-US" sz="2899" spc="-179">
                <a:solidFill>
                  <a:srgbClr val="242424"/>
                </a:solidFill>
                <a:latin typeface="Cambria"/>
                <a:ea typeface="Cambria"/>
                <a:cs typeface="Cambria"/>
                <a:sym typeface="Cambria"/>
              </a:rPr>
              <a:t> There is no significant difference in the mean Task Completion Success Rate (μ) for the multi-city search between users with and without prior knowledge of Google Flights.</a:t>
            </a:r>
          </a:p>
          <a:p>
            <a:pPr algn="just">
              <a:lnSpc>
                <a:spcPts val="4059"/>
              </a:lnSpc>
            </a:pPr>
          </a:p>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Alternative Hypothesis :</a:t>
            </a:r>
            <a:r>
              <a:rPr lang="en-US" sz="2899" spc="-179">
                <a:solidFill>
                  <a:srgbClr val="242424"/>
                </a:solidFill>
                <a:latin typeface="Cambria"/>
                <a:ea typeface="Cambria"/>
                <a:cs typeface="Cambria"/>
                <a:sym typeface="Cambria"/>
              </a:rPr>
              <a:t> The mean Task Completion Success Rate (μ₁) for users with prior knowledge will be significantly higher than the mean Task Completion Success Rate (μ₂) for users with no prior knowledge.</a:t>
            </a:r>
          </a:p>
          <a:p>
            <a:pPr algn="just">
              <a:lnSpc>
                <a:spcPts val="4059"/>
              </a:lnSpc>
            </a:pPr>
          </a:p>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Independant Variable : </a:t>
            </a:r>
            <a:r>
              <a:rPr lang="en-US" sz="2899" spc="-179">
                <a:solidFill>
                  <a:srgbClr val="242424"/>
                </a:solidFill>
                <a:latin typeface="Cambria"/>
                <a:ea typeface="Cambria"/>
                <a:cs typeface="Cambria"/>
                <a:sym typeface="Cambria"/>
              </a:rPr>
              <a:t>  Prior Knowledge (a categorical variable with two levels: ‘Yes’ or ‘No’)</a:t>
            </a:r>
          </a:p>
          <a:p>
            <a:pPr algn="just">
              <a:lnSpc>
                <a:spcPts val="4059"/>
              </a:lnSpc>
            </a:pPr>
          </a:p>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Dependent Variable : </a:t>
            </a:r>
            <a:r>
              <a:rPr lang="en-US" sz="2899" spc="-179">
                <a:solidFill>
                  <a:srgbClr val="242424"/>
                </a:solidFill>
                <a:latin typeface="Cambria"/>
                <a:ea typeface="Cambria"/>
                <a:cs typeface="Cambria"/>
                <a:sym typeface="Cambria"/>
              </a:rPr>
              <a:t> Task Completion Success Rate (a binary variable:1 =Success, 0 =Failure)</a:t>
            </a:r>
          </a:p>
          <a:p>
            <a:pPr algn="just">
              <a:lnSpc>
                <a:spcPts val="405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4108" y="715451"/>
            <a:ext cx="15594433" cy="1345964"/>
          </a:xfrm>
          <a:prstGeom prst="rect">
            <a:avLst/>
          </a:prstGeom>
        </p:spPr>
        <p:txBody>
          <a:bodyPr anchor="t" rtlCol="false" tIns="0" lIns="0" bIns="0" rIns="0">
            <a:spAutoFit/>
          </a:bodyPr>
          <a:lstStyle/>
          <a:p>
            <a:pPr algn="r">
              <a:lnSpc>
                <a:spcPts val="9749"/>
              </a:lnSpc>
            </a:pPr>
            <a:r>
              <a:rPr lang="en-US" b="true" sz="11206" spc="-694">
                <a:solidFill>
                  <a:srgbClr val="242424"/>
                </a:solidFill>
                <a:latin typeface="Bricolage Grotesque Medium"/>
                <a:ea typeface="Bricolage Grotesque Medium"/>
                <a:cs typeface="Bricolage Grotesque Medium"/>
                <a:sym typeface="Bricolage Grotesque Medium"/>
              </a:rPr>
              <a:t>Independent Sample Test</a:t>
            </a:r>
          </a:p>
        </p:txBody>
      </p:sp>
      <p:sp>
        <p:nvSpPr>
          <p:cNvPr name="TextBox 3" id="3"/>
          <p:cNvSpPr txBox="true"/>
          <p:nvPr/>
        </p:nvSpPr>
        <p:spPr>
          <a:xfrm rot="0">
            <a:off x="491559" y="2128090"/>
            <a:ext cx="3414766" cy="626671"/>
          </a:xfrm>
          <a:prstGeom prst="rect">
            <a:avLst/>
          </a:prstGeom>
        </p:spPr>
        <p:txBody>
          <a:bodyPr anchor="t" rtlCol="false" tIns="0" lIns="0" bIns="0" rIns="0">
            <a:spAutoFit/>
          </a:bodyPr>
          <a:lstStyle/>
          <a:p>
            <a:pPr algn="r">
              <a:lnSpc>
                <a:spcPts val="4773"/>
              </a:lnSpc>
            </a:pPr>
            <a:r>
              <a:rPr lang="en-US" sz="4590" spc="-183">
                <a:solidFill>
                  <a:srgbClr val="242424"/>
                </a:solidFill>
                <a:latin typeface="Bricolage Grotesque"/>
                <a:ea typeface="Bricolage Grotesque"/>
                <a:cs typeface="Bricolage Grotesque"/>
                <a:sym typeface="Bricolage Grotesque"/>
              </a:rPr>
              <a:t>Effectiveness</a:t>
            </a:r>
          </a:p>
        </p:txBody>
      </p:sp>
      <p:sp>
        <p:nvSpPr>
          <p:cNvPr name="Freeform 4" id="4"/>
          <p:cNvSpPr/>
          <p:nvPr/>
        </p:nvSpPr>
        <p:spPr>
          <a:xfrm flipH="false" flipV="false" rot="0">
            <a:off x="-1599312" y="9214398"/>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12901745" y="8660521"/>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0">
            <a:off x="7103887" y="853861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0">
            <a:off x="3906325" y="8872214"/>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false" flipV="false" rot="0">
            <a:off x="16735739" y="8660521"/>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9" id="9"/>
          <p:cNvSpPr txBox="true"/>
          <p:nvPr/>
        </p:nvSpPr>
        <p:spPr>
          <a:xfrm rot="0">
            <a:off x="491559" y="3045092"/>
            <a:ext cx="17166066" cy="4622166"/>
          </a:xfrm>
          <a:prstGeom prst="rect">
            <a:avLst/>
          </a:prstGeom>
        </p:spPr>
        <p:txBody>
          <a:bodyPr anchor="t" rtlCol="false" tIns="0" lIns="0" bIns="0" rIns="0">
            <a:spAutoFit/>
          </a:bodyPr>
          <a:lstStyle/>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Experimental Design : </a:t>
            </a:r>
            <a:r>
              <a:rPr lang="en-US" sz="2899" spc="-179">
                <a:solidFill>
                  <a:srgbClr val="242424"/>
                </a:solidFill>
                <a:latin typeface="Cambria"/>
                <a:ea typeface="Cambria"/>
                <a:cs typeface="Cambria"/>
                <a:sym typeface="Cambria"/>
              </a:rPr>
              <a:t> </a:t>
            </a:r>
            <a:r>
              <a:rPr lang="en-US" sz="2899" spc="-179">
                <a:solidFill>
                  <a:srgbClr val="242424"/>
                </a:solidFill>
                <a:latin typeface="Cambria"/>
                <a:ea typeface="Cambria"/>
                <a:cs typeface="Cambria"/>
                <a:sym typeface="Cambria"/>
              </a:rPr>
              <a:t>Between-Subjects Design (Independent Measure)</a:t>
            </a:r>
          </a:p>
          <a:p>
            <a:pPr algn="just">
              <a:lnSpc>
                <a:spcPts val="4059"/>
              </a:lnSpc>
            </a:pPr>
          </a:p>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Procedure Type :</a:t>
            </a:r>
            <a:r>
              <a:rPr lang="en-US" sz="2899" spc="-179">
                <a:solidFill>
                  <a:srgbClr val="242424"/>
                </a:solidFill>
                <a:latin typeface="Cambria"/>
                <a:ea typeface="Cambria"/>
                <a:cs typeface="Cambria"/>
                <a:sym typeface="Cambria"/>
              </a:rPr>
              <a:t>  In-Person Moderated Procedure</a:t>
            </a:r>
          </a:p>
          <a:p>
            <a:pPr algn="just">
              <a:lnSpc>
                <a:spcPts val="4059"/>
              </a:lnSpc>
            </a:pPr>
          </a:p>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Justification :</a:t>
            </a:r>
            <a:r>
              <a:rPr lang="en-US" sz="2899" spc="-179">
                <a:solidFill>
                  <a:srgbClr val="242424"/>
                </a:solidFill>
                <a:latin typeface="Cambria"/>
                <a:ea typeface="Cambria"/>
                <a:cs typeface="Cambria"/>
                <a:sym typeface="Cambria"/>
              </a:rPr>
              <a:t>  In-person moderated setup provides the highest level of data integrity for this experiment. By conducting the test in a controlled lab, environmental variables are reduced.  </a:t>
            </a:r>
          </a:p>
          <a:p>
            <a:pPr algn="just">
              <a:lnSpc>
                <a:spcPts val="4059"/>
              </a:lnSpc>
            </a:pPr>
          </a:p>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Test Material :  </a:t>
            </a:r>
            <a:r>
              <a:rPr lang="en-US" sz="2899" spc="-179">
                <a:solidFill>
                  <a:srgbClr val="242424"/>
                </a:solidFill>
                <a:latin typeface="Cambria"/>
                <a:ea typeface="Cambria"/>
                <a:cs typeface="Cambria"/>
                <a:sym typeface="Cambria"/>
              </a:rPr>
              <a:t>The pre-test survey contains the key questions and Post-Test Survey Question includes the success/failure question.In-person moderated setup provides the highest level of data integrity for this experiment.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99312" y="9214398"/>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2901745" y="8660521"/>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7103887" y="853861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3906325" y="8872214"/>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6735739" y="8660521"/>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7" id="7"/>
          <p:cNvSpPr txBox="true"/>
          <p:nvPr/>
        </p:nvSpPr>
        <p:spPr>
          <a:xfrm rot="0">
            <a:off x="278603" y="2578734"/>
            <a:ext cx="17730794" cy="6679566"/>
          </a:xfrm>
          <a:prstGeom prst="rect">
            <a:avLst/>
          </a:prstGeom>
        </p:spPr>
        <p:txBody>
          <a:bodyPr anchor="t" rtlCol="false" tIns="0" lIns="0" bIns="0" rIns="0">
            <a:spAutoFit/>
          </a:bodyPr>
          <a:lstStyle/>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Research Question:</a:t>
            </a:r>
            <a:r>
              <a:rPr lang="en-US" sz="2899" spc="-179">
                <a:solidFill>
                  <a:srgbClr val="242424"/>
                </a:solidFill>
                <a:latin typeface="Cambria"/>
                <a:ea typeface="Cambria"/>
                <a:cs typeface="Cambria"/>
                <a:sym typeface="Cambria"/>
              </a:rPr>
              <a:t> How does the average time taken by users to select a flight itinerary that meets complex criteria (</a:t>
            </a:r>
            <a:r>
              <a:rPr lang="en-US" sz="2899" spc="-179">
                <a:solidFill>
                  <a:srgbClr val="242424"/>
                </a:solidFill>
                <a:latin typeface="Cambria"/>
                <a:ea typeface="Cambria"/>
                <a:cs typeface="Cambria"/>
                <a:sym typeface="Cambria"/>
              </a:rPr>
              <a:t>e.g., maximum one-stop, specific time of the day, cheapest option) differ when utilizing Google Flights' advanced filtering panel compared to relying solely on analyzing the linear search results list?</a:t>
            </a:r>
          </a:p>
          <a:p>
            <a:pPr algn="just">
              <a:lnSpc>
                <a:spcPts val="4059"/>
              </a:lnSpc>
            </a:pPr>
          </a:p>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Null Hypothesis : </a:t>
            </a:r>
            <a:r>
              <a:rPr lang="en-US" sz="2899" spc="-179">
                <a:solidFill>
                  <a:srgbClr val="242424"/>
                </a:solidFill>
                <a:latin typeface="Cambria"/>
                <a:ea typeface="Cambria"/>
                <a:cs typeface="Cambria"/>
                <a:sym typeface="Cambria"/>
              </a:rPr>
              <a:t>The study aims to determine if there is a significant difference in the average time required for users to successfully identify and select a flight itinerary that meets complex, predefined criteria when they use the advanced filtering panel on Google Flights versus when they rely on manual scanning and basic filtering of the linear search results.</a:t>
            </a:r>
          </a:p>
          <a:p>
            <a:pPr algn="just">
              <a:lnSpc>
                <a:spcPts val="4059"/>
              </a:lnSpc>
            </a:pPr>
          </a:p>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Alternative Hypothesis : </a:t>
            </a:r>
            <a:r>
              <a:rPr lang="en-US" sz="2899" spc="-179">
                <a:solidFill>
                  <a:srgbClr val="242424"/>
                </a:solidFill>
                <a:latin typeface="Cambria"/>
                <a:ea typeface="Cambria"/>
                <a:cs typeface="Cambria"/>
                <a:sym typeface="Cambria"/>
              </a:rPr>
              <a:t>The average amount of time required to select a complex flight itinerary differs significantly when users utilize the advanced filtering panel compared to when they rely on the linear search results list alone.</a:t>
            </a:r>
          </a:p>
          <a:p>
            <a:pPr algn="just">
              <a:lnSpc>
                <a:spcPts val="4059"/>
              </a:lnSpc>
            </a:pPr>
          </a:p>
          <a:p>
            <a:pPr algn="just">
              <a:lnSpc>
                <a:spcPts val="4059"/>
              </a:lnSpc>
            </a:pPr>
          </a:p>
          <a:p>
            <a:pPr algn="just">
              <a:lnSpc>
                <a:spcPts val="4059"/>
              </a:lnSpc>
            </a:pPr>
          </a:p>
        </p:txBody>
      </p:sp>
      <p:sp>
        <p:nvSpPr>
          <p:cNvPr name="TextBox 8" id="8"/>
          <p:cNvSpPr txBox="true"/>
          <p:nvPr/>
        </p:nvSpPr>
        <p:spPr>
          <a:xfrm rot="0">
            <a:off x="407500" y="531930"/>
            <a:ext cx="15594433" cy="1345964"/>
          </a:xfrm>
          <a:prstGeom prst="rect">
            <a:avLst/>
          </a:prstGeom>
        </p:spPr>
        <p:txBody>
          <a:bodyPr anchor="t" rtlCol="false" tIns="0" lIns="0" bIns="0" rIns="0">
            <a:spAutoFit/>
          </a:bodyPr>
          <a:lstStyle/>
          <a:p>
            <a:pPr algn="just">
              <a:lnSpc>
                <a:spcPts val="9749"/>
              </a:lnSpc>
            </a:pPr>
            <a:r>
              <a:rPr lang="en-US" b="true" sz="11206" spc="-694">
                <a:solidFill>
                  <a:srgbClr val="242424"/>
                </a:solidFill>
                <a:latin typeface="Bricolage Grotesque Medium"/>
                <a:ea typeface="Bricolage Grotesque Medium"/>
                <a:cs typeface="Bricolage Grotesque Medium"/>
                <a:sym typeface="Bricolage Grotesque Medium"/>
              </a:rPr>
              <a:t>Paired Sample Test</a:t>
            </a:r>
          </a:p>
        </p:txBody>
      </p:sp>
      <p:sp>
        <p:nvSpPr>
          <p:cNvPr name="TextBox 9" id="9"/>
          <p:cNvSpPr txBox="true"/>
          <p:nvPr/>
        </p:nvSpPr>
        <p:spPr>
          <a:xfrm rot="0">
            <a:off x="407500" y="1597897"/>
            <a:ext cx="2690476" cy="626671"/>
          </a:xfrm>
          <a:prstGeom prst="rect">
            <a:avLst/>
          </a:prstGeom>
        </p:spPr>
        <p:txBody>
          <a:bodyPr anchor="t" rtlCol="false" tIns="0" lIns="0" bIns="0" rIns="0">
            <a:spAutoFit/>
          </a:bodyPr>
          <a:lstStyle/>
          <a:p>
            <a:pPr algn="r">
              <a:lnSpc>
                <a:spcPts val="4773"/>
              </a:lnSpc>
            </a:pPr>
            <a:r>
              <a:rPr lang="en-US" sz="4590" spc="-183">
                <a:solidFill>
                  <a:srgbClr val="242424"/>
                </a:solidFill>
                <a:latin typeface="Bricolage Grotesque"/>
                <a:ea typeface="Bricolage Grotesque"/>
                <a:cs typeface="Bricolage Grotesque"/>
                <a:sym typeface="Bricolage Grotesque"/>
              </a:rPr>
              <a:t>Efficiency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99312" y="9214398"/>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2901745" y="8660521"/>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7103887" y="853861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3906325" y="8872214"/>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6735739" y="8660521"/>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7" id="7"/>
          <p:cNvSpPr txBox="true"/>
          <p:nvPr/>
        </p:nvSpPr>
        <p:spPr>
          <a:xfrm rot="0">
            <a:off x="0" y="3049182"/>
            <a:ext cx="17730794" cy="6165216"/>
          </a:xfrm>
          <a:prstGeom prst="rect">
            <a:avLst/>
          </a:prstGeom>
        </p:spPr>
        <p:txBody>
          <a:bodyPr anchor="t" rtlCol="false" tIns="0" lIns="0" bIns="0" rIns="0">
            <a:spAutoFit/>
          </a:bodyPr>
          <a:lstStyle/>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Independent Variable - </a:t>
            </a:r>
            <a:r>
              <a:rPr lang="en-US" sz="2899" spc="-179">
                <a:solidFill>
                  <a:srgbClr val="242424"/>
                </a:solidFill>
                <a:latin typeface="Cambria"/>
                <a:ea typeface="Cambria"/>
                <a:cs typeface="Cambria"/>
                <a:sym typeface="Cambria"/>
              </a:rPr>
              <a:t>Method of Itinerary Selection</a:t>
            </a:r>
          </a:p>
          <a:p>
            <a:pPr algn="just">
              <a:lnSpc>
                <a:spcPts val="4059"/>
              </a:lnSpc>
            </a:pPr>
          </a:p>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Dependent Variable-</a:t>
            </a:r>
            <a:r>
              <a:rPr lang="en-US" sz="2899" spc="-179">
                <a:solidFill>
                  <a:srgbClr val="242424"/>
                </a:solidFill>
                <a:latin typeface="Cambria"/>
                <a:ea typeface="Cambria"/>
                <a:cs typeface="Cambria"/>
                <a:sym typeface="Cambria"/>
              </a:rPr>
              <a:t> Time taken (in seconds/minutes) for the user to successfully select a flight itinerary that meets all complex criteria.</a:t>
            </a:r>
          </a:p>
          <a:p>
            <a:pPr algn="just">
              <a:lnSpc>
                <a:spcPts val="4059"/>
              </a:lnSpc>
            </a:pPr>
          </a:p>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Experimental Design :  </a:t>
            </a:r>
            <a:r>
              <a:rPr lang="en-US" sz="2899" spc="-179">
                <a:solidFill>
                  <a:srgbClr val="242424"/>
                </a:solidFill>
                <a:latin typeface="Cambria"/>
                <a:ea typeface="Cambria"/>
                <a:cs typeface="Cambria"/>
                <a:sym typeface="Cambria"/>
              </a:rPr>
              <a:t>Within-Subjects Design</a:t>
            </a:r>
          </a:p>
          <a:p>
            <a:pPr algn="just">
              <a:lnSpc>
                <a:spcPts val="4059"/>
              </a:lnSpc>
            </a:pPr>
          </a:p>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Procedure Type : </a:t>
            </a:r>
            <a:r>
              <a:rPr lang="en-US" sz="2899" spc="-179">
                <a:solidFill>
                  <a:srgbClr val="242424"/>
                </a:solidFill>
                <a:latin typeface="Cambria"/>
                <a:ea typeface="Cambria"/>
                <a:cs typeface="Cambria"/>
                <a:sym typeface="Cambria"/>
              </a:rPr>
              <a:t>Inperson Moderated testing</a:t>
            </a:r>
          </a:p>
          <a:p>
            <a:pPr algn="just">
              <a:lnSpc>
                <a:spcPts val="4059"/>
              </a:lnSpc>
            </a:pPr>
          </a:p>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Test Material : </a:t>
            </a:r>
            <a:r>
              <a:rPr lang="en-US" sz="2899" spc="-179">
                <a:solidFill>
                  <a:srgbClr val="242424"/>
                </a:solidFill>
                <a:latin typeface="Cambria"/>
                <a:ea typeface="Cambria"/>
                <a:cs typeface="Cambria"/>
                <a:sym typeface="Cambria"/>
              </a:rPr>
              <a:t> Structured instruction and The Pre-Test Questionnaire Form </a:t>
            </a:r>
          </a:p>
          <a:p>
            <a:pPr algn="just">
              <a:lnSpc>
                <a:spcPts val="4059"/>
              </a:lnSpc>
            </a:pPr>
          </a:p>
          <a:p>
            <a:pPr algn="just">
              <a:lnSpc>
                <a:spcPts val="4059"/>
              </a:lnSpc>
            </a:pPr>
          </a:p>
        </p:txBody>
      </p:sp>
      <p:sp>
        <p:nvSpPr>
          <p:cNvPr name="TextBox 8" id="8"/>
          <p:cNvSpPr txBox="true"/>
          <p:nvPr/>
        </p:nvSpPr>
        <p:spPr>
          <a:xfrm rot="0">
            <a:off x="407500" y="531930"/>
            <a:ext cx="15594433" cy="1345964"/>
          </a:xfrm>
          <a:prstGeom prst="rect">
            <a:avLst/>
          </a:prstGeom>
        </p:spPr>
        <p:txBody>
          <a:bodyPr anchor="t" rtlCol="false" tIns="0" lIns="0" bIns="0" rIns="0">
            <a:spAutoFit/>
          </a:bodyPr>
          <a:lstStyle/>
          <a:p>
            <a:pPr algn="just">
              <a:lnSpc>
                <a:spcPts val="9749"/>
              </a:lnSpc>
            </a:pPr>
            <a:r>
              <a:rPr lang="en-US" b="true" sz="11206" spc="-694">
                <a:solidFill>
                  <a:srgbClr val="242424"/>
                </a:solidFill>
                <a:latin typeface="Bricolage Grotesque Medium"/>
                <a:ea typeface="Bricolage Grotesque Medium"/>
                <a:cs typeface="Bricolage Grotesque Medium"/>
                <a:sym typeface="Bricolage Grotesque Medium"/>
              </a:rPr>
              <a:t>Paired Sample Test</a:t>
            </a:r>
          </a:p>
        </p:txBody>
      </p:sp>
      <p:sp>
        <p:nvSpPr>
          <p:cNvPr name="TextBox 9" id="9"/>
          <p:cNvSpPr txBox="true"/>
          <p:nvPr/>
        </p:nvSpPr>
        <p:spPr>
          <a:xfrm rot="0">
            <a:off x="407500" y="1944570"/>
            <a:ext cx="2690476" cy="626671"/>
          </a:xfrm>
          <a:prstGeom prst="rect">
            <a:avLst/>
          </a:prstGeom>
        </p:spPr>
        <p:txBody>
          <a:bodyPr anchor="t" rtlCol="false" tIns="0" lIns="0" bIns="0" rIns="0">
            <a:spAutoFit/>
          </a:bodyPr>
          <a:lstStyle/>
          <a:p>
            <a:pPr algn="r">
              <a:lnSpc>
                <a:spcPts val="4773"/>
              </a:lnSpc>
            </a:pPr>
            <a:r>
              <a:rPr lang="en-US" sz="4590" spc="-183">
                <a:solidFill>
                  <a:srgbClr val="242424"/>
                </a:solidFill>
                <a:latin typeface="Bricolage Grotesque"/>
                <a:ea typeface="Bricolage Grotesque"/>
                <a:cs typeface="Bricolage Grotesque"/>
                <a:sym typeface="Bricolage Grotesque"/>
              </a:rPr>
              <a:t>Efficiency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39638" y="314325"/>
            <a:ext cx="14301667" cy="1243269"/>
          </a:xfrm>
          <a:prstGeom prst="rect">
            <a:avLst/>
          </a:prstGeom>
        </p:spPr>
        <p:txBody>
          <a:bodyPr anchor="t" rtlCol="false" tIns="0" lIns="0" bIns="0" rIns="0">
            <a:spAutoFit/>
          </a:bodyPr>
          <a:lstStyle/>
          <a:p>
            <a:pPr algn="just">
              <a:lnSpc>
                <a:spcPts val="8941"/>
              </a:lnSpc>
            </a:pPr>
            <a:r>
              <a:rPr lang="en-US" b="true" sz="10277" spc="-637">
                <a:solidFill>
                  <a:srgbClr val="242424"/>
                </a:solidFill>
                <a:latin typeface="Bricolage Grotesque Medium"/>
                <a:ea typeface="Bricolage Grotesque Medium"/>
                <a:cs typeface="Bricolage Grotesque Medium"/>
                <a:sym typeface="Bricolage Grotesque Medium"/>
              </a:rPr>
              <a:t>Anova</a:t>
            </a:r>
          </a:p>
        </p:txBody>
      </p:sp>
      <p:sp>
        <p:nvSpPr>
          <p:cNvPr name="TextBox 3" id="3"/>
          <p:cNvSpPr txBox="true"/>
          <p:nvPr/>
        </p:nvSpPr>
        <p:spPr>
          <a:xfrm rot="0">
            <a:off x="339638" y="1605219"/>
            <a:ext cx="2134823" cy="511807"/>
          </a:xfrm>
          <a:prstGeom prst="rect">
            <a:avLst/>
          </a:prstGeom>
        </p:spPr>
        <p:txBody>
          <a:bodyPr anchor="t" rtlCol="false" tIns="0" lIns="0" bIns="0" rIns="0">
            <a:spAutoFit/>
          </a:bodyPr>
          <a:lstStyle/>
          <a:p>
            <a:pPr algn="r">
              <a:lnSpc>
                <a:spcPts val="3851"/>
              </a:lnSpc>
            </a:pPr>
            <a:r>
              <a:rPr lang="en-US" sz="3703" spc="-148">
                <a:solidFill>
                  <a:srgbClr val="242424"/>
                </a:solidFill>
                <a:latin typeface="Bricolage Grotesque"/>
                <a:ea typeface="Bricolage Grotesque"/>
                <a:cs typeface="Bricolage Grotesque"/>
                <a:sym typeface="Bricolage Grotesque"/>
              </a:rPr>
              <a:t>Error Rate</a:t>
            </a:r>
          </a:p>
        </p:txBody>
      </p:sp>
      <p:sp>
        <p:nvSpPr>
          <p:cNvPr name="Freeform 4" id="4"/>
          <p:cNvSpPr/>
          <p:nvPr/>
        </p:nvSpPr>
        <p:spPr>
          <a:xfrm flipH="false" flipV="false" rot="0">
            <a:off x="-1599312" y="9214398"/>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12901745" y="8660521"/>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0">
            <a:off x="7103887" y="853861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0">
            <a:off x="3906325" y="8872214"/>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false" flipV="false" rot="0">
            <a:off x="16735739" y="8660521"/>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9" id="9"/>
          <p:cNvSpPr txBox="true"/>
          <p:nvPr/>
        </p:nvSpPr>
        <p:spPr>
          <a:xfrm rot="0">
            <a:off x="0" y="2192649"/>
            <a:ext cx="17730794" cy="6165216"/>
          </a:xfrm>
          <a:prstGeom prst="rect">
            <a:avLst/>
          </a:prstGeom>
        </p:spPr>
        <p:txBody>
          <a:bodyPr anchor="t" rtlCol="false" tIns="0" lIns="0" bIns="0" rIns="0">
            <a:spAutoFit/>
          </a:bodyPr>
          <a:lstStyle/>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Research Question:</a:t>
            </a:r>
            <a:r>
              <a:rPr lang="en-US" sz="2899" spc="-179">
                <a:solidFill>
                  <a:srgbClr val="242424"/>
                </a:solidFill>
                <a:latin typeface="Cambria"/>
                <a:ea typeface="Cambria"/>
                <a:cs typeface="Cambria"/>
                <a:sym typeface="Cambria"/>
              </a:rPr>
              <a:t> Do users with different levels of flight-booking experience (n</a:t>
            </a:r>
            <a:r>
              <a:rPr lang="en-US" sz="2899" spc="-179">
                <a:solidFill>
                  <a:srgbClr val="242424"/>
                </a:solidFill>
                <a:latin typeface="Cambria"/>
                <a:ea typeface="Cambria"/>
                <a:cs typeface="Cambria"/>
                <a:sym typeface="Cambria"/>
              </a:rPr>
              <a:t>ovice, intermediate, and expert) differ significantly in the number of errors they make when completing a flight-search task on Google Flights?</a:t>
            </a:r>
          </a:p>
          <a:p>
            <a:pPr algn="just">
              <a:lnSpc>
                <a:spcPts val="4059"/>
              </a:lnSpc>
            </a:pPr>
          </a:p>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Null Hypothesis : </a:t>
            </a:r>
            <a:r>
              <a:rPr lang="en-US" sz="2899" spc="-179">
                <a:solidFill>
                  <a:srgbClr val="242424"/>
                </a:solidFill>
                <a:latin typeface="Cambria"/>
                <a:ea typeface="Cambria"/>
                <a:cs typeface="Cambria"/>
                <a:sym typeface="Cambria"/>
              </a:rPr>
              <a:t>There is no significant difference in mean error rate among novice, intermediate, and expert users on Google Flights.</a:t>
            </a:r>
          </a:p>
          <a:p>
            <a:pPr algn="just">
              <a:lnSpc>
                <a:spcPts val="4059"/>
              </a:lnSpc>
            </a:pPr>
          </a:p>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Alternative Hypothesis : </a:t>
            </a:r>
            <a:r>
              <a:rPr lang="en-US" sz="2899" spc="-179">
                <a:solidFill>
                  <a:srgbClr val="242424"/>
                </a:solidFill>
                <a:latin typeface="Cambria"/>
                <a:ea typeface="Cambria"/>
                <a:cs typeface="Cambria"/>
                <a:sym typeface="Cambria"/>
              </a:rPr>
              <a:t>There is a significant difference in mean error rate between at least two of the experience groups</a:t>
            </a:r>
          </a:p>
          <a:p>
            <a:pPr algn="just">
              <a:lnSpc>
                <a:spcPts val="4059"/>
              </a:lnSpc>
            </a:pPr>
          </a:p>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Independent Variable - </a:t>
            </a:r>
            <a:r>
              <a:rPr lang="en-US" sz="2899" spc="-179">
                <a:solidFill>
                  <a:srgbClr val="242424"/>
                </a:solidFill>
                <a:latin typeface="Cambria"/>
                <a:ea typeface="Cambria"/>
                <a:cs typeface="Cambria"/>
                <a:sym typeface="Cambria"/>
              </a:rPr>
              <a:t> User experience level (Novice, Intermediate, Expert)</a:t>
            </a:r>
          </a:p>
          <a:p>
            <a:pPr algn="just">
              <a:lnSpc>
                <a:spcPts val="4059"/>
              </a:lnSpc>
            </a:pPr>
          </a:p>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Dependent Variable- </a:t>
            </a:r>
            <a:r>
              <a:rPr lang="en-US" sz="2899" spc="-179">
                <a:solidFill>
                  <a:srgbClr val="242424"/>
                </a:solidFill>
                <a:latin typeface="Cambria"/>
                <a:ea typeface="Cambria"/>
                <a:cs typeface="Cambria"/>
                <a:sym typeface="Cambria"/>
              </a:rPr>
              <a:t>Error Count (total number of errors recorded using a structured error checklist.)</a:t>
            </a:r>
          </a:p>
          <a:p>
            <a:pPr algn="just">
              <a:lnSpc>
                <a:spcPts val="405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99312" y="9214398"/>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2901745" y="8660521"/>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7103887" y="853861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3906325" y="8872214"/>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6735739" y="8660521"/>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7" id="7"/>
          <p:cNvSpPr txBox="true"/>
          <p:nvPr/>
        </p:nvSpPr>
        <p:spPr>
          <a:xfrm rot="0">
            <a:off x="358249" y="2887748"/>
            <a:ext cx="17232721" cy="5650866"/>
          </a:xfrm>
          <a:prstGeom prst="rect">
            <a:avLst/>
          </a:prstGeom>
        </p:spPr>
        <p:txBody>
          <a:bodyPr anchor="t" rtlCol="false" tIns="0" lIns="0" bIns="0" rIns="0">
            <a:spAutoFit/>
          </a:bodyPr>
          <a:lstStyle/>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Experimental Design :  </a:t>
            </a:r>
            <a:r>
              <a:rPr lang="en-US" sz="2899" spc="-179">
                <a:solidFill>
                  <a:srgbClr val="242424"/>
                </a:solidFill>
                <a:latin typeface="Cambria"/>
                <a:ea typeface="Cambria"/>
                <a:cs typeface="Cambria"/>
                <a:sym typeface="Cambria"/>
              </a:rPr>
              <a:t>Between-Subject Design </a:t>
            </a:r>
          </a:p>
          <a:p>
            <a:pPr algn="just">
              <a:lnSpc>
                <a:spcPts val="4059"/>
              </a:lnSpc>
            </a:pPr>
          </a:p>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Procedure Type </a:t>
            </a:r>
            <a:r>
              <a:rPr lang="en-US" b="true" sz="2899" spc="-179">
                <a:solidFill>
                  <a:srgbClr val="242424"/>
                </a:solidFill>
                <a:latin typeface="Cambria Bold"/>
                <a:ea typeface="Cambria Bold"/>
                <a:cs typeface="Cambria Bold"/>
                <a:sym typeface="Cambria Bold"/>
              </a:rPr>
              <a:t>:  </a:t>
            </a:r>
            <a:r>
              <a:rPr lang="en-US" sz="2899" spc="-179">
                <a:solidFill>
                  <a:srgbClr val="242424"/>
                </a:solidFill>
                <a:latin typeface="Cambria"/>
                <a:ea typeface="Cambria"/>
                <a:cs typeface="Cambria"/>
                <a:sym typeface="Cambria"/>
              </a:rPr>
              <a:t>Inperson Moderated testing</a:t>
            </a:r>
          </a:p>
          <a:p>
            <a:pPr algn="just">
              <a:lnSpc>
                <a:spcPts val="4059"/>
              </a:lnSpc>
            </a:pPr>
          </a:p>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Test Material : </a:t>
            </a:r>
            <a:r>
              <a:rPr lang="en-US" sz="2899" spc="-179">
                <a:solidFill>
                  <a:srgbClr val="242424"/>
                </a:solidFill>
                <a:latin typeface="Cambria"/>
                <a:ea typeface="Cambria"/>
                <a:cs typeface="Cambria"/>
                <a:sym typeface="Cambria"/>
              </a:rPr>
              <a:t> </a:t>
            </a:r>
          </a:p>
          <a:p>
            <a:pPr algn="just">
              <a:lnSpc>
                <a:spcPts val="4059"/>
              </a:lnSpc>
            </a:pPr>
            <a:r>
              <a:rPr lang="en-US" sz="2899" spc="-179">
                <a:solidFill>
                  <a:srgbClr val="242424"/>
                </a:solidFill>
                <a:latin typeface="Cambria"/>
                <a:ea typeface="Cambria"/>
                <a:cs typeface="Cambria"/>
                <a:sym typeface="Cambria"/>
              </a:rPr>
              <a:t>         </a:t>
            </a:r>
            <a:r>
              <a:rPr lang="en-US" sz="2899" spc="-179">
                <a:solidFill>
                  <a:srgbClr val="242424"/>
                </a:solidFill>
                <a:latin typeface="Cambria"/>
                <a:ea typeface="Cambria"/>
                <a:cs typeface="Cambria"/>
                <a:sym typeface="Cambria"/>
              </a:rPr>
              <a:t>Structured task instruction sheet.</a:t>
            </a:r>
          </a:p>
          <a:p>
            <a:pPr algn="just">
              <a:lnSpc>
                <a:spcPts val="4059"/>
              </a:lnSpc>
            </a:pPr>
            <a:r>
              <a:rPr lang="en-US" sz="2899" spc="-179">
                <a:solidFill>
                  <a:srgbClr val="242424"/>
                </a:solidFill>
                <a:latin typeface="Cambria"/>
                <a:ea typeface="Cambria"/>
                <a:cs typeface="Cambria"/>
                <a:sym typeface="Cambria"/>
              </a:rPr>
              <a:t>         Pre-task survey.</a:t>
            </a:r>
          </a:p>
          <a:p>
            <a:pPr algn="just">
              <a:lnSpc>
                <a:spcPts val="4059"/>
              </a:lnSpc>
            </a:pPr>
            <a:r>
              <a:rPr lang="en-US" sz="2899" spc="-179">
                <a:solidFill>
                  <a:srgbClr val="242424"/>
                </a:solidFill>
                <a:latin typeface="Cambria"/>
                <a:ea typeface="Cambria"/>
                <a:cs typeface="Cambria"/>
                <a:sym typeface="Cambria"/>
              </a:rPr>
              <a:t>         Error checklist used during observation.</a:t>
            </a:r>
          </a:p>
          <a:p>
            <a:pPr algn="just">
              <a:lnSpc>
                <a:spcPts val="4059"/>
              </a:lnSpc>
            </a:pPr>
            <a:r>
              <a:rPr lang="en-US" sz="2899" spc="-179">
                <a:solidFill>
                  <a:srgbClr val="242424"/>
                </a:solidFill>
                <a:latin typeface="Cambria"/>
                <a:ea typeface="Cambria"/>
                <a:cs typeface="Cambria"/>
                <a:sym typeface="Cambria"/>
              </a:rPr>
              <a:t>         Post-task questionnaire.</a:t>
            </a:r>
          </a:p>
          <a:p>
            <a:pPr algn="just">
              <a:lnSpc>
                <a:spcPts val="4059"/>
              </a:lnSpc>
            </a:pPr>
          </a:p>
          <a:p>
            <a:pPr algn="just">
              <a:lnSpc>
                <a:spcPts val="4059"/>
              </a:lnSpc>
            </a:pPr>
          </a:p>
        </p:txBody>
      </p:sp>
      <p:sp>
        <p:nvSpPr>
          <p:cNvPr name="TextBox 8" id="8"/>
          <p:cNvSpPr txBox="true"/>
          <p:nvPr/>
        </p:nvSpPr>
        <p:spPr>
          <a:xfrm rot="0">
            <a:off x="1028700" y="585510"/>
            <a:ext cx="15594433" cy="1345964"/>
          </a:xfrm>
          <a:prstGeom prst="rect">
            <a:avLst/>
          </a:prstGeom>
        </p:spPr>
        <p:txBody>
          <a:bodyPr anchor="t" rtlCol="false" tIns="0" lIns="0" bIns="0" rIns="0">
            <a:spAutoFit/>
          </a:bodyPr>
          <a:lstStyle/>
          <a:p>
            <a:pPr algn="just">
              <a:lnSpc>
                <a:spcPts val="9749"/>
              </a:lnSpc>
            </a:pPr>
            <a:r>
              <a:rPr lang="en-US" b="true" sz="11206" spc="-694">
                <a:solidFill>
                  <a:srgbClr val="242424"/>
                </a:solidFill>
                <a:latin typeface="Bricolage Grotesque Medium"/>
                <a:ea typeface="Bricolage Grotesque Medium"/>
                <a:cs typeface="Bricolage Grotesque Medium"/>
                <a:sym typeface="Bricolage Grotesque Medium"/>
              </a:rPr>
              <a:t>Anova</a:t>
            </a:r>
          </a:p>
        </p:txBody>
      </p:sp>
      <p:sp>
        <p:nvSpPr>
          <p:cNvPr name="TextBox 9" id="9"/>
          <p:cNvSpPr txBox="true"/>
          <p:nvPr/>
        </p:nvSpPr>
        <p:spPr>
          <a:xfrm rot="0">
            <a:off x="1028700" y="1998150"/>
            <a:ext cx="2645847" cy="626671"/>
          </a:xfrm>
          <a:prstGeom prst="rect">
            <a:avLst/>
          </a:prstGeom>
        </p:spPr>
        <p:txBody>
          <a:bodyPr anchor="t" rtlCol="false" tIns="0" lIns="0" bIns="0" rIns="0">
            <a:spAutoFit/>
          </a:bodyPr>
          <a:lstStyle/>
          <a:p>
            <a:pPr algn="r">
              <a:lnSpc>
                <a:spcPts val="4773"/>
              </a:lnSpc>
            </a:pPr>
            <a:r>
              <a:rPr lang="en-US" sz="4590" spc="-183">
                <a:solidFill>
                  <a:srgbClr val="242424"/>
                </a:solidFill>
                <a:latin typeface="Bricolage Grotesque"/>
                <a:ea typeface="Bricolage Grotesque"/>
                <a:cs typeface="Bricolage Grotesque"/>
                <a:sym typeface="Bricolage Grotesque"/>
              </a:rPr>
              <a:t>Error Rate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91559" y="623389"/>
            <a:ext cx="13753223" cy="1193063"/>
          </a:xfrm>
          <a:prstGeom prst="rect">
            <a:avLst/>
          </a:prstGeom>
        </p:spPr>
        <p:txBody>
          <a:bodyPr anchor="t" rtlCol="false" tIns="0" lIns="0" bIns="0" rIns="0">
            <a:spAutoFit/>
          </a:bodyPr>
          <a:lstStyle/>
          <a:p>
            <a:pPr algn="just">
              <a:lnSpc>
                <a:spcPts val="8598"/>
              </a:lnSpc>
            </a:pPr>
            <a:r>
              <a:rPr lang="en-US" b="true" sz="9883" spc="-612">
                <a:solidFill>
                  <a:srgbClr val="242424"/>
                </a:solidFill>
                <a:latin typeface="Bricolage Grotesque Medium"/>
                <a:ea typeface="Bricolage Grotesque Medium"/>
                <a:cs typeface="Bricolage Grotesque Medium"/>
                <a:sym typeface="Bricolage Grotesque Medium"/>
              </a:rPr>
              <a:t>Pearson Correlation</a:t>
            </a:r>
          </a:p>
        </p:txBody>
      </p:sp>
      <p:sp>
        <p:nvSpPr>
          <p:cNvPr name="Freeform 3" id="3"/>
          <p:cNvSpPr/>
          <p:nvPr/>
        </p:nvSpPr>
        <p:spPr>
          <a:xfrm flipH="false" flipV="false" rot="0">
            <a:off x="-1599312" y="9214398"/>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12901745" y="8660521"/>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0">
            <a:off x="7408687" y="8740277"/>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3755881" y="9289044"/>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0">
            <a:off x="16735739" y="8660521"/>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8" id="8"/>
          <p:cNvSpPr txBox="true"/>
          <p:nvPr/>
        </p:nvSpPr>
        <p:spPr>
          <a:xfrm rot="0">
            <a:off x="224938" y="2746153"/>
            <a:ext cx="17232721" cy="5650866"/>
          </a:xfrm>
          <a:prstGeom prst="rect">
            <a:avLst/>
          </a:prstGeom>
        </p:spPr>
        <p:txBody>
          <a:bodyPr anchor="t" rtlCol="false" tIns="0" lIns="0" bIns="0" rIns="0">
            <a:spAutoFit/>
          </a:bodyPr>
          <a:lstStyle/>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Research Question :</a:t>
            </a:r>
            <a:r>
              <a:rPr lang="en-US" sz="2899" spc="-179">
                <a:solidFill>
                  <a:srgbClr val="242424"/>
                </a:solidFill>
                <a:latin typeface="Cambria"/>
                <a:ea typeface="Cambria"/>
                <a:cs typeface="Cambria"/>
                <a:sym typeface="Cambria"/>
              </a:rPr>
              <a:t> Is there a relationship between the reduction in task completion time from a first attempt to a second attempt at applying advanced filters on Google Flights and the user's post-test confidence rating in using those filters?</a:t>
            </a:r>
          </a:p>
          <a:p>
            <a:pPr algn="just">
              <a:lnSpc>
                <a:spcPts val="4059"/>
              </a:lnSpc>
            </a:pPr>
          </a:p>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Null Hypothesis :  </a:t>
            </a:r>
            <a:r>
              <a:rPr lang="en-US" sz="2899" spc="-179">
                <a:solidFill>
                  <a:srgbClr val="242424"/>
                </a:solidFill>
                <a:latin typeface="Cambria"/>
                <a:ea typeface="Cambria"/>
                <a:cs typeface="Cambria"/>
                <a:sym typeface="Cambria"/>
              </a:rPr>
              <a:t>There is no significant correlation (ρ=0) .</a:t>
            </a:r>
          </a:p>
          <a:p>
            <a:pPr algn="just">
              <a:lnSpc>
                <a:spcPts val="4059"/>
              </a:lnSpc>
            </a:pPr>
          </a:p>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Alternative Hypothesis : </a:t>
            </a:r>
            <a:r>
              <a:rPr lang="en-US" sz="2899" spc="-179">
                <a:solidFill>
                  <a:srgbClr val="242424"/>
                </a:solidFill>
                <a:latin typeface="Cambria"/>
                <a:ea typeface="Cambria"/>
                <a:cs typeface="Cambria"/>
                <a:sym typeface="Cambria"/>
              </a:rPr>
              <a:t>There is a significant correlation (ρ ≠ 0) between the reduction in task completion time and the user's post-test confidence rating in using advanced filters on Google Flights.</a:t>
            </a:r>
          </a:p>
          <a:p>
            <a:pPr algn="just">
              <a:lnSpc>
                <a:spcPts val="4059"/>
              </a:lnSpc>
            </a:pPr>
          </a:p>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Dependent Variable : </a:t>
            </a:r>
            <a:r>
              <a:rPr lang="en-US" sz="2899" spc="-179">
                <a:solidFill>
                  <a:srgbClr val="242424"/>
                </a:solidFill>
                <a:latin typeface="Cambria"/>
                <a:ea typeface="Cambria"/>
                <a:cs typeface="Cambria"/>
                <a:sym typeface="Cambria"/>
              </a:rPr>
              <a:t>The user’s post task confidence rating in using advanced filters.</a:t>
            </a:r>
          </a:p>
          <a:p>
            <a:pPr algn="just">
              <a:lnSpc>
                <a:spcPts val="4059"/>
              </a:lnSpc>
            </a:pPr>
          </a:p>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Independent Variable : </a:t>
            </a:r>
            <a:r>
              <a:rPr lang="en-US" sz="2899" spc="-179">
                <a:solidFill>
                  <a:srgbClr val="242424"/>
                </a:solidFill>
                <a:latin typeface="Cambria"/>
                <a:ea typeface="Cambria"/>
                <a:cs typeface="Cambria"/>
                <a:sym typeface="Cambria"/>
              </a:rPr>
              <a:t>Time Reduction Score</a:t>
            </a:r>
          </a:p>
        </p:txBody>
      </p:sp>
      <p:sp>
        <p:nvSpPr>
          <p:cNvPr name="TextBox 9" id="9"/>
          <p:cNvSpPr txBox="true"/>
          <p:nvPr/>
        </p:nvSpPr>
        <p:spPr>
          <a:xfrm rot="0">
            <a:off x="491559" y="1883127"/>
            <a:ext cx="4290011" cy="626671"/>
          </a:xfrm>
          <a:prstGeom prst="rect">
            <a:avLst/>
          </a:prstGeom>
        </p:spPr>
        <p:txBody>
          <a:bodyPr anchor="t" rtlCol="false" tIns="0" lIns="0" bIns="0" rIns="0">
            <a:spAutoFit/>
          </a:bodyPr>
          <a:lstStyle/>
          <a:p>
            <a:pPr algn="just">
              <a:lnSpc>
                <a:spcPts val="4773"/>
              </a:lnSpc>
            </a:pPr>
            <a:r>
              <a:rPr lang="en-US" sz="4590" spc="-183">
                <a:solidFill>
                  <a:srgbClr val="242424"/>
                </a:solidFill>
                <a:latin typeface="Bricolage Grotesque"/>
                <a:ea typeface="Bricolage Grotesque"/>
                <a:cs typeface="Bricolage Grotesque"/>
                <a:sym typeface="Bricolage Grotesque"/>
              </a:rPr>
              <a:t>Learnability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58249" y="352425"/>
            <a:ext cx="15594433" cy="1345964"/>
          </a:xfrm>
          <a:prstGeom prst="rect">
            <a:avLst/>
          </a:prstGeom>
        </p:spPr>
        <p:txBody>
          <a:bodyPr anchor="t" rtlCol="false" tIns="0" lIns="0" bIns="0" rIns="0">
            <a:spAutoFit/>
          </a:bodyPr>
          <a:lstStyle/>
          <a:p>
            <a:pPr algn="just">
              <a:lnSpc>
                <a:spcPts val="9749"/>
              </a:lnSpc>
            </a:pPr>
            <a:r>
              <a:rPr lang="en-US" b="true" sz="11206" spc="-694">
                <a:solidFill>
                  <a:srgbClr val="242424"/>
                </a:solidFill>
                <a:latin typeface="Bricolage Grotesque Medium"/>
                <a:ea typeface="Bricolage Grotesque Medium"/>
                <a:cs typeface="Bricolage Grotesque Medium"/>
                <a:sym typeface="Bricolage Grotesque Medium"/>
              </a:rPr>
              <a:t>Pearson Correlation</a:t>
            </a:r>
          </a:p>
        </p:txBody>
      </p:sp>
      <p:sp>
        <p:nvSpPr>
          <p:cNvPr name="Freeform 3" id="3"/>
          <p:cNvSpPr/>
          <p:nvPr/>
        </p:nvSpPr>
        <p:spPr>
          <a:xfrm flipH="false" flipV="false" rot="0">
            <a:off x="-1599312" y="9214398"/>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12901745" y="8660521"/>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0">
            <a:off x="7103887" y="853861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3906325" y="8872214"/>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0">
            <a:off x="16735739" y="8660521"/>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8" id="8"/>
          <p:cNvSpPr txBox="true"/>
          <p:nvPr/>
        </p:nvSpPr>
        <p:spPr>
          <a:xfrm rot="0">
            <a:off x="358249" y="2887748"/>
            <a:ext cx="17232721" cy="4622166"/>
          </a:xfrm>
          <a:prstGeom prst="rect">
            <a:avLst/>
          </a:prstGeom>
        </p:spPr>
        <p:txBody>
          <a:bodyPr anchor="t" rtlCol="false" tIns="0" lIns="0" bIns="0" rIns="0">
            <a:spAutoFit/>
          </a:bodyPr>
          <a:lstStyle/>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Experimental Design :  </a:t>
            </a:r>
            <a:r>
              <a:rPr lang="en-US" sz="2899" spc="-179">
                <a:solidFill>
                  <a:srgbClr val="242424"/>
                </a:solidFill>
                <a:latin typeface="Cambria"/>
                <a:ea typeface="Cambria"/>
                <a:cs typeface="Cambria"/>
                <a:sym typeface="Cambria"/>
              </a:rPr>
              <a:t>Within-Subject Design </a:t>
            </a:r>
          </a:p>
          <a:p>
            <a:pPr algn="just">
              <a:lnSpc>
                <a:spcPts val="4059"/>
              </a:lnSpc>
            </a:pPr>
          </a:p>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Procedure Type </a:t>
            </a:r>
            <a:r>
              <a:rPr lang="en-US" b="true" sz="2899" spc="-179">
                <a:solidFill>
                  <a:srgbClr val="242424"/>
                </a:solidFill>
                <a:latin typeface="Cambria Bold"/>
                <a:ea typeface="Cambria Bold"/>
                <a:cs typeface="Cambria Bold"/>
                <a:sym typeface="Cambria Bold"/>
              </a:rPr>
              <a:t>:  </a:t>
            </a:r>
            <a:r>
              <a:rPr lang="en-US" sz="2899" spc="-179">
                <a:solidFill>
                  <a:srgbClr val="242424"/>
                </a:solidFill>
                <a:latin typeface="Cambria"/>
                <a:ea typeface="Cambria"/>
                <a:cs typeface="Cambria"/>
                <a:sym typeface="Cambria"/>
              </a:rPr>
              <a:t>Moderated Remote testing</a:t>
            </a:r>
          </a:p>
          <a:p>
            <a:pPr algn="just">
              <a:lnSpc>
                <a:spcPts val="4059"/>
              </a:lnSpc>
            </a:pPr>
          </a:p>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Justification :</a:t>
            </a:r>
            <a:r>
              <a:rPr lang="en-US" sz="2899" spc="-179">
                <a:solidFill>
                  <a:srgbClr val="242424"/>
                </a:solidFill>
                <a:latin typeface="Cambria"/>
                <a:ea typeface="Cambria"/>
                <a:cs typeface="Cambria"/>
                <a:sym typeface="Cambria"/>
              </a:rPr>
              <a:t> The session is guided to ensure the tutorial is delivered consistently during both attempts. Conducting the test remotely enhances participant convenience and helps recruit a larger, more diverse group of users</a:t>
            </a:r>
          </a:p>
          <a:p>
            <a:pPr algn="just">
              <a:lnSpc>
                <a:spcPts val="4059"/>
              </a:lnSpc>
            </a:pPr>
          </a:p>
          <a:p>
            <a:pPr algn="just" marL="626102" indent="-313051" lvl="1">
              <a:lnSpc>
                <a:spcPts val="4059"/>
              </a:lnSpc>
              <a:buFont typeface="Arial"/>
              <a:buChar char="•"/>
            </a:pPr>
            <a:r>
              <a:rPr lang="en-US" b="true" sz="2899" spc="-179">
                <a:solidFill>
                  <a:srgbClr val="242424"/>
                </a:solidFill>
                <a:latin typeface="Cambria Bold"/>
                <a:ea typeface="Cambria Bold"/>
                <a:cs typeface="Cambria Bold"/>
                <a:sym typeface="Cambria Bold"/>
              </a:rPr>
              <a:t>Test Material : </a:t>
            </a:r>
            <a:r>
              <a:rPr lang="en-US" sz="2899" spc="-179">
                <a:solidFill>
                  <a:srgbClr val="242424"/>
                </a:solidFill>
                <a:latin typeface="Cambria"/>
                <a:ea typeface="Cambria"/>
                <a:cs typeface="Cambria"/>
                <a:sym typeface="Cambria"/>
              </a:rPr>
              <a:t> A Structured task instruction for the participant and a post-task questionnaire to gather participant rating</a:t>
            </a:r>
          </a:p>
          <a:p>
            <a:pPr algn="just">
              <a:lnSpc>
                <a:spcPts val="4059"/>
              </a:lnSpc>
            </a:pPr>
          </a:p>
        </p:txBody>
      </p:sp>
      <p:sp>
        <p:nvSpPr>
          <p:cNvPr name="TextBox 9" id="9"/>
          <p:cNvSpPr txBox="true"/>
          <p:nvPr/>
        </p:nvSpPr>
        <p:spPr>
          <a:xfrm rot="0">
            <a:off x="491559" y="1765064"/>
            <a:ext cx="4290011" cy="626671"/>
          </a:xfrm>
          <a:prstGeom prst="rect">
            <a:avLst/>
          </a:prstGeom>
        </p:spPr>
        <p:txBody>
          <a:bodyPr anchor="t" rtlCol="false" tIns="0" lIns="0" bIns="0" rIns="0">
            <a:spAutoFit/>
          </a:bodyPr>
          <a:lstStyle/>
          <a:p>
            <a:pPr algn="just">
              <a:lnSpc>
                <a:spcPts val="4773"/>
              </a:lnSpc>
            </a:pPr>
            <a:r>
              <a:rPr lang="en-US" sz="4590" spc="-183">
                <a:solidFill>
                  <a:srgbClr val="242424"/>
                </a:solidFill>
                <a:latin typeface="Bricolage Grotesque"/>
                <a:ea typeface="Bricolage Grotesque"/>
                <a:cs typeface="Bricolage Grotesque"/>
                <a:sym typeface="Bricolage Grotesque"/>
              </a:rPr>
              <a:t>Learnability</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TextBox 2" id="2"/>
          <p:cNvSpPr txBox="true"/>
          <p:nvPr/>
        </p:nvSpPr>
        <p:spPr>
          <a:xfrm rot="0">
            <a:off x="438465" y="535305"/>
            <a:ext cx="16446228" cy="1177290"/>
          </a:xfrm>
          <a:prstGeom prst="rect">
            <a:avLst/>
          </a:prstGeom>
        </p:spPr>
        <p:txBody>
          <a:bodyPr anchor="t" rtlCol="false" tIns="0" lIns="0" bIns="0" rIns="0">
            <a:spAutoFit/>
          </a:bodyPr>
          <a:lstStyle/>
          <a:p>
            <a:pPr algn="l">
              <a:lnSpc>
                <a:spcPts val="8730"/>
              </a:lnSpc>
            </a:pPr>
            <a:r>
              <a:rPr lang="en-US" sz="9000" b="true">
                <a:solidFill>
                  <a:srgbClr val="000000"/>
                </a:solidFill>
                <a:latin typeface="DM Sans Bold"/>
                <a:ea typeface="DM Sans Bold"/>
                <a:cs typeface="DM Sans Bold"/>
                <a:sym typeface="DM Sans Bold"/>
              </a:rPr>
              <a:t>Data Collection and Tools</a:t>
            </a:r>
          </a:p>
        </p:txBody>
      </p:sp>
      <p:sp>
        <p:nvSpPr>
          <p:cNvPr name="TextBox 3" id="3"/>
          <p:cNvSpPr txBox="true"/>
          <p:nvPr/>
        </p:nvSpPr>
        <p:spPr>
          <a:xfrm rot="0">
            <a:off x="5865022" y="2646535"/>
            <a:ext cx="11594243" cy="5693958"/>
          </a:xfrm>
          <a:prstGeom prst="rect">
            <a:avLst/>
          </a:prstGeom>
        </p:spPr>
        <p:txBody>
          <a:bodyPr anchor="t" rtlCol="false" tIns="0" lIns="0" bIns="0" rIns="0">
            <a:spAutoFit/>
          </a:bodyPr>
          <a:lstStyle/>
          <a:p>
            <a:pPr algn="l">
              <a:lnSpc>
                <a:spcPts val="4325"/>
              </a:lnSpc>
            </a:pPr>
            <a:r>
              <a:rPr lang="en-US" b="true" sz="4159" spc="-166">
                <a:solidFill>
                  <a:srgbClr val="242424"/>
                </a:solidFill>
                <a:latin typeface="Cambria Bold"/>
                <a:ea typeface="Cambria Bold"/>
                <a:cs typeface="Cambria Bold"/>
                <a:sym typeface="Cambria Bold"/>
              </a:rPr>
              <a:t>Data Collection :</a:t>
            </a:r>
          </a:p>
          <a:p>
            <a:pPr algn="l">
              <a:lnSpc>
                <a:spcPts val="6363"/>
              </a:lnSpc>
            </a:pPr>
            <a:r>
              <a:rPr lang="en-US" b="true" sz="4159" spc="-166">
                <a:solidFill>
                  <a:srgbClr val="242424"/>
                </a:solidFill>
                <a:latin typeface="Cambria Bold"/>
                <a:ea typeface="Cambria Bold"/>
                <a:cs typeface="Cambria Bold"/>
                <a:sym typeface="Cambria Bold"/>
              </a:rPr>
              <a:t>         </a:t>
            </a:r>
            <a:r>
              <a:rPr lang="en-US" sz="4159" spc="-166">
                <a:solidFill>
                  <a:srgbClr val="242424"/>
                </a:solidFill>
                <a:latin typeface="Cambria"/>
                <a:ea typeface="Cambria"/>
                <a:cs typeface="Cambria"/>
                <a:sym typeface="Cambria"/>
              </a:rPr>
              <a:t>Google Forms to get survey from participants.</a:t>
            </a:r>
          </a:p>
          <a:p>
            <a:pPr algn="l">
              <a:lnSpc>
                <a:spcPts val="4325"/>
              </a:lnSpc>
            </a:pPr>
          </a:p>
          <a:p>
            <a:pPr algn="l">
              <a:lnSpc>
                <a:spcPts val="4325"/>
              </a:lnSpc>
            </a:pPr>
            <a:r>
              <a:rPr lang="en-US" sz="4159" spc="-166" b="true">
                <a:solidFill>
                  <a:srgbClr val="242424"/>
                </a:solidFill>
                <a:latin typeface="Cambria Bold"/>
                <a:ea typeface="Cambria Bold"/>
                <a:cs typeface="Cambria Bold"/>
                <a:sym typeface="Cambria Bold"/>
              </a:rPr>
              <a:t>Tools :</a:t>
            </a:r>
          </a:p>
          <a:p>
            <a:pPr algn="l" marL="897953" indent="-448977" lvl="1">
              <a:lnSpc>
                <a:spcPts val="6737"/>
              </a:lnSpc>
              <a:buAutoNum type="arabicPeriod" startAt="1"/>
            </a:pPr>
            <a:r>
              <a:rPr lang="en-US" sz="4159" spc="-166">
                <a:solidFill>
                  <a:srgbClr val="242424"/>
                </a:solidFill>
                <a:latin typeface="Cambria"/>
                <a:ea typeface="Cambria"/>
                <a:cs typeface="Cambria"/>
                <a:sym typeface="Cambria"/>
              </a:rPr>
              <a:t>Google Sheets: Filter surveys, View Survey Results </a:t>
            </a:r>
            <a:r>
              <a:rPr lang="en-US" sz="4159" spc="-166">
                <a:solidFill>
                  <a:srgbClr val="242424"/>
                </a:solidFill>
                <a:latin typeface="Cambria"/>
                <a:ea typeface="Cambria"/>
                <a:cs typeface="Cambria"/>
                <a:sym typeface="Cambria"/>
              </a:rPr>
              <a:t>and Calculations.</a:t>
            </a:r>
          </a:p>
          <a:p>
            <a:pPr algn="l" marL="897953" indent="-448977" lvl="1">
              <a:lnSpc>
                <a:spcPts val="6737"/>
              </a:lnSpc>
              <a:buAutoNum type="arabicPeriod" startAt="1"/>
            </a:pPr>
            <a:r>
              <a:rPr lang="en-US" sz="4159" spc="-166">
                <a:solidFill>
                  <a:srgbClr val="242424"/>
                </a:solidFill>
                <a:latin typeface="Cambria"/>
                <a:ea typeface="Cambria"/>
                <a:cs typeface="Cambria"/>
                <a:sym typeface="Cambria"/>
              </a:rPr>
              <a:t>Google Slides: To make presentation slides.</a:t>
            </a:r>
          </a:p>
          <a:p>
            <a:pPr algn="l" marL="897953" indent="-448977" lvl="1">
              <a:lnSpc>
                <a:spcPts val="6737"/>
              </a:lnSpc>
              <a:buAutoNum type="arabicPeriod" startAt="1"/>
            </a:pPr>
            <a:r>
              <a:rPr lang="en-US" sz="4159" spc="-166">
                <a:solidFill>
                  <a:srgbClr val="242424"/>
                </a:solidFill>
                <a:latin typeface="Cambria"/>
                <a:ea typeface="Cambria"/>
                <a:cs typeface="Cambria"/>
                <a:sym typeface="Cambria"/>
              </a:rPr>
              <a:t>Go</a:t>
            </a:r>
            <a:r>
              <a:rPr lang="en-US" sz="4159" spc="-166">
                <a:solidFill>
                  <a:srgbClr val="242424"/>
                </a:solidFill>
                <a:latin typeface="Cambria"/>
                <a:ea typeface="Cambria"/>
                <a:cs typeface="Cambria"/>
                <a:sym typeface="Cambria"/>
              </a:rPr>
              <a:t>ogle Docs: To make and align Test Report</a:t>
            </a:r>
          </a:p>
        </p:txBody>
      </p:sp>
      <p:sp>
        <p:nvSpPr>
          <p:cNvPr name="Freeform 4" id="4"/>
          <p:cNvSpPr/>
          <p:nvPr/>
        </p:nvSpPr>
        <p:spPr>
          <a:xfrm flipH="false" flipV="false" rot="-5282649">
            <a:off x="150940" y="4369644"/>
            <a:ext cx="6438476" cy="2197130"/>
          </a:xfrm>
          <a:custGeom>
            <a:avLst/>
            <a:gdLst/>
            <a:ahLst/>
            <a:cxnLst/>
            <a:rect r="r" b="b" t="t" l="l"/>
            <a:pathLst>
              <a:path h="2197130" w="6438476">
                <a:moveTo>
                  <a:pt x="0" y="0"/>
                </a:moveTo>
                <a:lnTo>
                  <a:pt x="6438476" y="0"/>
                </a:lnTo>
                <a:lnTo>
                  <a:pt x="6438476" y="2197130"/>
                </a:lnTo>
                <a:lnTo>
                  <a:pt x="0" y="21971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723271" y="3055145"/>
            <a:ext cx="4690747" cy="5285348"/>
          </a:xfrm>
          <a:custGeom>
            <a:avLst/>
            <a:gdLst/>
            <a:ahLst/>
            <a:cxnLst/>
            <a:rect r="r" b="b" t="t" l="l"/>
            <a:pathLst>
              <a:path h="5285348" w="4690747">
                <a:moveTo>
                  <a:pt x="0" y="0"/>
                </a:moveTo>
                <a:lnTo>
                  <a:pt x="4690747" y="0"/>
                </a:lnTo>
                <a:lnTo>
                  <a:pt x="4690747" y="5285348"/>
                </a:lnTo>
                <a:lnTo>
                  <a:pt x="0" y="52853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12646556" y="3582539"/>
            <a:ext cx="2484393" cy="2507186"/>
          </a:xfrm>
          <a:custGeom>
            <a:avLst/>
            <a:gdLst/>
            <a:ahLst/>
            <a:cxnLst/>
            <a:rect r="r" b="b" t="t" l="l"/>
            <a:pathLst>
              <a:path h="2507186" w="2484393">
                <a:moveTo>
                  <a:pt x="0" y="0"/>
                </a:moveTo>
                <a:lnTo>
                  <a:pt x="2484393" y="0"/>
                </a:lnTo>
                <a:lnTo>
                  <a:pt x="2484393" y="2507186"/>
                </a:lnTo>
                <a:lnTo>
                  <a:pt x="0" y="25071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3053055" y="4286078"/>
            <a:ext cx="3760764" cy="4121385"/>
          </a:xfrm>
          <a:custGeom>
            <a:avLst/>
            <a:gdLst/>
            <a:ahLst/>
            <a:cxnLst/>
            <a:rect r="r" b="b" t="t" l="l"/>
            <a:pathLst>
              <a:path h="4121385" w="3760764">
                <a:moveTo>
                  <a:pt x="0" y="0"/>
                </a:moveTo>
                <a:lnTo>
                  <a:pt x="3760763" y="0"/>
                </a:lnTo>
                <a:lnTo>
                  <a:pt x="3760763" y="4121384"/>
                </a:lnTo>
                <a:lnTo>
                  <a:pt x="0" y="41213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438465" y="535305"/>
            <a:ext cx="13202335" cy="1177290"/>
          </a:xfrm>
          <a:prstGeom prst="rect">
            <a:avLst/>
          </a:prstGeom>
        </p:spPr>
        <p:txBody>
          <a:bodyPr anchor="t" rtlCol="false" tIns="0" lIns="0" bIns="0" rIns="0">
            <a:spAutoFit/>
          </a:bodyPr>
          <a:lstStyle/>
          <a:p>
            <a:pPr algn="l">
              <a:lnSpc>
                <a:spcPts val="8730"/>
              </a:lnSpc>
            </a:pPr>
            <a:r>
              <a:rPr lang="en-US" sz="9000" b="true">
                <a:solidFill>
                  <a:srgbClr val="000000"/>
                </a:solidFill>
                <a:latin typeface="DM Sans Bold"/>
                <a:ea typeface="DM Sans Bold"/>
                <a:cs typeface="DM Sans Bold"/>
                <a:sym typeface="DM Sans Bold"/>
              </a:rPr>
              <a:t>Participant and Ethics</a:t>
            </a:r>
          </a:p>
        </p:txBody>
      </p:sp>
      <p:sp>
        <p:nvSpPr>
          <p:cNvPr name="TextBox 5" id="5"/>
          <p:cNvSpPr txBox="true"/>
          <p:nvPr/>
        </p:nvSpPr>
        <p:spPr>
          <a:xfrm rot="0">
            <a:off x="238499" y="2722298"/>
            <a:ext cx="12408057" cy="6530167"/>
          </a:xfrm>
          <a:prstGeom prst="rect">
            <a:avLst/>
          </a:prstGeom>
        </p:spPr>
        <p:txBody>
          <a:bodyPr anchor="t" rtlCol="false" tIns="0" lIns="0" bIns="0" rIns="0">
            <a:spAutoFit/>
          </a:bodyPr>
          <a:lstStyle/>
          <a:p>
            <a:pPr algn="l" marL="969711" indent="-484855" lvl="1">
              <a:lnSpc>
                <a:spcPts val="4671"/>
              </a:lnSpc>
              <a:buFont typeface="Arial"/>
              <a:buChar char="•"/>
            </a:pPr>
            <a:r>
              <a:rPr lang="en-US" b="true" sz="4491" spc="-179">
                <a:solidFill>
                  <a:srgbClr val="242424"/>
                </a:solidFill>
                <a:latin typeface="Cambria Bold"/>
                <a:ea typeface="Cambria Bold"/>
                <a:cs typeface="Cambria Bold"/>
                <a:sym typeface="Cambria Bold"/>
              </a:rPr>
              <a:t>Participants</a:t>
            </a:r>
            <a:r>
              <a:rPr lang="en-US" sz="4491" spc="-179">
                <a:solidFill>
                  <a:srgbClr val="242424"/>
                </a:solidFill>
                <a:latin typeface="Cambria"/>
                <a:ea typeface="Cambria"/>
                <a:cs typeface="Cambria"/>
                <a:sym typeface="Cambria"/>
              </a:rPr>
              <a:t>: Individuals above 18 years old were recruited through social media and email </a:t>
            </a:r>
            <a:r>
              <a:rPr lang="en-US" sz="4491" spc="-179">
                <a:solidFill>
                  <a:srgbClr val="242424"/>
                </a:solidFill>
                <a:latin typeface="Cambria"/>
                <a:ea typeface="Cambria"/>
                <a:cs typeface="Cambria"/>
                <a:sym typeface="Cambria"/>
              </a:rPr>
              <a:t>distribution for the survey.</a:t>
            </a:r>
          </a:p>
          <a:p>
            <a:pPr algn="l">
              <a:lnSpc>
                <a:spcPts val="4671"/>
              </a:lnSpc>
            </a:pPr>
          </a:p>
          <a:p>
            <a:pPr algn="l" marL="969711" indent="-484855" lvl="1">
              <a:lnSpc>
                <a:spcPts val="4671"/>
              </a:lnSpc>
              <a:buFont typeface="Arial"/>
              <a:buChar char="•"/>
            </a:pPr>
            <a:r>
              <a:rPr lang="en-US" b="true" sz="4491" spc="-179">
                <a:solidFill>
                  <a:srgbClr val="242424"/>
                </a:solidFill>
                <a:latin typeface="Cambria Bold"/>
                <a:ea typeface="Cambria Bold"/>
                <a:cs typeface="Cambria Bold"/>
                <a:sym typeface="Cambria Bold"/>
              </a:rPr>
              <a:t>Recruitment Method:</a:t>
            </a:r>
            <a:r>
              <a:rPr lang="en-US" sz="4491" spc="-179">
                <a:solidFill>
                  <a:srgbClr val="242424"/>
                </a:solidFill>
                <a:latin typeface="Cambria"/>
                <a:ea typeface="Cambria"/>
                <a:cs typeface="Cambria"/>
                <a:sym typeface="Cambria"/>
              </a:rPr>
              <a:t> Participation was voluntary and involved random selection to ensure diversity </a:t>
            </a:r>
            <a:r>
              <a:rPr lang="en-US" sz="4491" spc="-179">
                <a:solidFill>
                  <a:srgbClr val="242424"/>
                </a:solidFill>
                <a:latin typeface="Cambria"/>
                <a:ea typeface="Cambria"/>
                <a:cs typeface="Cambria"/>
                <a:sym typeface="Cambria"/>
              </a:rPr>
              <a:t>in responses.</a:t>
            </a:r>
          </a:p>
          <a:p>
            <a:pPr algn="l">
              <a:lnSpc>
                <a:spcPts val="4671"/>
              </a:lnSpc>
            </a:pPr>
          </a:p>
          <a:p>
            <a:pPr algn="l" marL="969711" indent="-484855" lvl="1">
              <a:lnSpc>
                <a:spcPts val="4671"/>
              </a:lnSpc>
              <a:buFont typeface="Arial"/>
              <a:buChar char="•"/>
            </a:pPr>
            <a:r>
              <a:rPr lang="en-US" b="true" sz="4491" spc="-179">
                <a:solidFill>
                  <a:srgbClr val="242424"/>
                </a:solidFill>
                <a:latin typeface="Cambria Bold"/>
                <a:ea typeface="Cambria Bold"/>
                <a:cs typeface="Cambria Bold"/>
                <a:sym typeface="Cambria Bold"/>
              </a:rPr>
              <a:t>Ethical Compliance:</a:t>
            </a:r>
            <a:r>
              <a:rPr lang="en-US" sz="4491" spc="-179">
                <a:solidFill>
                  <a:srgbClr val="242424"/>
                </a:solidFill>
                <a:latin typeface="Cambria"/>
                <a:ea typeface="Cambria"/>
                <a:cs typeface="Cambria"/>
                <a:sym typeface="Cambria"/>
              </a:rPr>
              <a:t> All actions adhered strictly to the approved ethical form, with no deviations or </a:t>
            </a:r>
            <a:r>
              <a:rPr lang="en-US" sz="4491" spc="-179">
                <a:solidFill>
                  <a:srgbClr val="242424"/>
                </a:solidFill>
                <a:latin typeface="Cambria"/>
                <a:ea typeface="Cambria"/>
                <a:cs typeface="Cambria"/>
                <a:sym typeface="Cambria"/>
              </a:rPr>
              <a:t>violations of outlined guidelines.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77124" y="615901"/>
            <a:ext cx="7095083" cy="1331125"/>
          </a:xfrm>
          <a:prstGeom prst="rect">
            <a:avLst/>
          </a:prstGeom>
        </p:spPr>
        <p:txBody>
          <a:bodyPr anchor="t" rtlCol="false" tIns="0" lIns="0" bIns="0" rIns="0">
            <a:spAutoFit/>
          </a:bodyPr>
          <a:lstStyle/>
          <a:p>
            <a:pPr algn="l">
              <a:lnSpc>
                <a:spcPts val="9523"/>
              </a:lnSpc>
            </a:pPr>
            <a:r>
              <a:rPr lang="en-US" sz="10947" spc="-678" b="true">
                <a:solidFill>
                  <a:srgbClr val="2394C4"/>
                </a:solidFill>
                <a:latin typeface="Bricolage Grotesque Medium"/>
                <a:ea typeface="Bricolage Grotesque Medium"/>
                <a:cs typeface="Bricolage Grotesque Medium"/>
                <a:sym typeface="Bricolage Grotesque Medium"/>
              </a:rPr>
              <a:t>Conclusion</a:t>
            </a:r>
          </a:p>
        </p:txBody>
      </p:sp>
      <p:sp>
        <p:nvSpPr>
          <p:cNvPr name="TextBox 3" id="3"/>
          <p:cNvSpPr txBox="true"/>
          <p:nvPr/>
        </p:nvSpPr>
        <p:spPr>
          <a:xfrm rot="0">
            <a:off x="338685" y="2151193"/>
            <a:ext cx="15803103" cy="7415540"/>
          </a:xfrm>
          <a:prstGeom prst="rect">
            <a:avLst/>
          </a:prstGeom>
        </p:spPr>
        <p:txBody>
          <a:bodyPr anchor="t" rtlCol="false" tIns="0" lIns="0" bIns="0" rIns="0">
            <a:spAutoFit/>
          </a:bodyPr>
          <a:lstStyle/>
          <a:p>
            <a:pPr algn="l" marL="674338" indent="-337169" lvl="1">
              <a:lnSpc>
                <a:spcPts val="4216"/>
              </a:lnSpc>
              <a:buFont typeface="Arial"/>
              <a:buChar char="•"/>
            </a:pPr>
            <a:r>
              <a:rPr lang="en-US" sz="3123">
                <a:solidFill>
                  <a:srgbClr val="242424"/>
                </a:solidFill>
                <a:latin typeface="Cambria"/>
                <a:ea typeface="Cambria"/>
                <a:cs typeface="Cambria"/>
                <a:sym typeface="Cambria"/>
              </a:rPr>
              <a:t>Conducted comprehensive usability evaluation of Google Flights with 20 student participants</a:t>
            </a:r>
          </a:p>
          <a:p>
            <a:pPr algn="l" marL="674338" indent="-337169" lvl="1">
              <a:lnSpc>
                <a:spcPts val="4216"/>
              </a:lnSpc>
              <a:buFont typeface="Arial"/>
              <a:buChar char="•"/>
            </a:pPr>
            <a:r>
              <a:rPr lang="en-US" sz="3123">
                <a:solidFill>
                  <a:srgbClr val="242424"/>
                </a:solidFill>
                <a:latin typeface="Cambria"/>
                <a:ea typeface="Cambria"/>
                <a:cs typeface="Cambria"/>
                <a:sym typeface="Cambria"/>
              </a:rPr>
              <a:t>Measured effectiveness, efficiency, error rate, and learnability using four statistical techniques</a:t>
            </a:r>
          </a:p>
          <a:p>
            <a:pPr algn="l" marL="674338" indent="-337169" lvl="1">
              <a:lnSpc>
                <a:spcPts val="4216"/>
              </a:lnSpc>
              <a:buFont typeface="Arial"/>
              <a:buChar char="•"/>
            </a:pPr>
            <a:r>
              <a:rPr lang="en-US" sz="3123">
                <a:solidFill>
                  <a:srgbClr val="242424"/>
                </a:solidFill>
                <a:latin typeface="Cambria"/>
                <a:ea typeface="Cambria"/>
                <a:cs typeface="Cambria"/>
                <a:sym typeface="Cambria"/>
              </a:rPr>
              <a:t>Employed both within-subjects and between-subjects designs for comparative insights</a:t>
            </a:r>
          </a:p>
          <a:p>
            <a:pPr algn="l" marL="674338" indent="-337169" lvl="1">
              <a:lnSpc>
                <a:spcPts val="4216"/>
              </a:lnSpc>
              <a:buFont typeface="Arial"/>
              <a:buChar char="•"/>
            </a:pPr>
            <a:r>
              <a:rPr lang="en-US" sz="3123">
                <a:solidFill>
                  <a:srgbClr val="242424"/>
                </a:solidFill>
                <a:latin typeface="Cambria"/>
                <a:ea typeface="Cambria"/>
                <a:cs typeface="Cambria"/>
                <a:sym typeface="Cambria"/>
              </a:rPr>
              <a:t>Used standardized testing materials: Task Instructions, Consent Forms, Pre- and Post-Test Questionnaires</a:t>
            </a:r>
          </a:p>
          <a:p>
            <a:pPr algn="l" marL="674338" indent="-337169" lvl="1">
              <a:lnSpc>
                <a:spcPts val="4216"/>
              </a:lnSpc>
              <a:buFont typeface="Arial"/>
              <a:buChar char="•"/>
            </a:pPr>
            <a:r>
              <a:rPr lang="en-US" sz="3123">
                <a:solidFill>
                  <a:srgbClr val="242424"/>
                </a:solidFill>
                <a:latin typeface="Cambria"/>
                <a:ea typeface="Cambria"/>
                <a:cs typeface="Cambria"/>
                <a:sym typeface="Cambria"/>
              </a:rPr>
              <a:t>Maintained controlled environment to ensure data consistency and ethical compliance</a:t>
            </a:r>
          </a:p>
          <a:p>
            <a:pPr algn="l" marL="674338" indent="-337169" lvl="1">
              <a:lnSpc>
                <a:spcPts val="4216"/>
              </a:lnSpc>
              <a:buFont typeface="Arial"/>
              <a:buChar char="•"/>
            </a:pPr>
            <a:r>
              <a:rPr lang="en-US" sz="3123">
                <a:solidFill>
                  <a:srgbClr val="242424"/>
                </a:solidFill>
                <a:latin typeface="Cambria"/>
                <a:ea typeface="Cambria"/>
                <a:cs typeface="Cambria"/>
                <a:sym typeface="Cambria"/>
              </a:rPr>
              <a:t>Analyzed data using Independent-Sample Tests, Paired-Sample Tests, ANOVA, and Pearson Correlation</a:t>
            </a:r>
          </a:p>
          <a:p>
            <a:pPr algn="l" marL="674338" indent="-337169" lvl="1">
              <a:lnSpc>
                <a:spcPts val="4216"/>
              </a:lnSpc>
              <a:buFont typeface="Arial"/>
              <a:buChar char="•"/>
            </a:pPr>
            <a:r>
              <a:rPr lang="en-US" sz="3123">
                <a:solidFill>
                  <a:srgbClr val="242424"/>
                </a:solidFill>
                <a:latin typeface="Cambria"/>
                <a:ea typeface="Cambria"/>
                <a:cs typeface="Cambria"/>
                <a:sym typeface="Cambria"/>
              </a:rPr>
              <a:t>Statistical results guided acceptance or rejection of hypotheses</a:t>
            </a:r>
          </a:p>
          <a:p>
            <a:pPr algn="l" marL="674338" indent="-337169" lvl="1">
              <a:lnSpc>
                <a:spcPts val="4216"/>
              </a:lnSpc>
              <a:buFont typeface="Arial"/>
              <a:buChar char="•"/>
            </a:pPr>
            <a:r>
              <a:rPr lang="en-US" sz="3123">
                <a:solidFill>
                  <a:srgbClr val="242424"/>
                </a:solidFill>
                <a:latin typeface="Cambria"/>
                <a:ea typeface="Cambria"/>
                <a:cs typeface="Cambria"/>
                <a:sym typeface="Cambria"/>
              </a:rPr>
              <a:t>Findings highlight areas for improving complex features like multi-city search and advanced filters</a:t>
            </a:r>
          </a:p>
          <a:p>
            <a:pPr algn="l">
              <a:lnSpc>
                <a:spcPts val="4216"/>
              </a:lnSpc>
            </a:pPr>
          </a:p>
        </p:txBody>
      </p:sp>
      <p:sp>
        <p:nvSpPr>
          <p:cNvPr name="Freeform 4" id="4"/>
          <p:cNvSpPr/>
          <p:nvPr/>
        </p:nvSpPr>
        <p:spPr>
          <a:xfrm flipH="false" flipV="false" rot="0">
            <a:off x="16141788" y="6830105"/>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14781360" y="-142198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861489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03070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215205"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09323" y="-27001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0">
            <a:off x="17259300" y="2262342"/>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0">
            <a:off x="2570549"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3" id="13"/>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4" id="14"/>
          <p:cNvSpPr/>
          <p:nvPr/>
        </p:nvSpPr>
        <p:spPr>
          <a:xfrm flipH="false" flipV="false" rot="0">
            <a:off x="16978638" y="-642644"/>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TextBox 15" id="15"/>
          <p:cNvSpPr txBox="true"/>
          <p:nvPr/>
        </p:nvSpPr>
        <p:spPr>
          <a:xfrm rot="0">
            <a:off x="3482409" y="4163231"/>
            <a:ext cx="11813242" cy="2199875"/>
          </a:xfrm>
          <a:prstGeom prst="rect">
            <a:avLst/>
          </a:prstGeom>
        </p:spPr>
        <p:txBody>
          <a:bodyPr anchor="t" rtlCol="false" tIns="0" lIns="0" bIns="0" rIns="0">
            <a:spAutoFit/>
          </a:bodyPr>
          <a:lstStyle/>
          <a:p>
            <a:pPr algn="l">
              <a:lnSpc>
                <a:spcPts val="15857"/>
              </a:lnSpc>
            </a:pPr>
            <a:r>
              <a:rPr lang="en-US" sz="18226" spc="-1130" b="true">
                <a:solidFill>
                  <a:srgbClr val="2394C4"/>
                </a:solidFill>
                <a:latin typeface="Bricolage Grotesque Medium"/>
                <a:ea typeface="Bricolage Grotesque Medium"/>
                <a:cs typeface="Bricolage Grotesque Medium"/>
                <a:sym typeface="Bricolage Grotesque Medium"/>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DAG5ilLsrRI</dc:identifier>
  <dcterms:modified xsi:type="dcterms:W3CDTF">2011-08-01T06:04:30Z</dcterms:modified>
  <cp:revision>1</cp:revision>
  <dc:title>UT Final Presentation</dc:title>
</cp:coreProperties>
</file>