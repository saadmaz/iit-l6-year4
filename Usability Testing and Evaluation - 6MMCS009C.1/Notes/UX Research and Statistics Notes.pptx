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 Light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D490B4-FC8A-48C3-8B9F-BAE6469F3EBC}">
  <a:tblStyle styleId="{E7D490B4-FC8A-48C3-8B9F-BAE6469F3E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Light-bold.fntdata"/><Relationship Id="rId22" Type="http://schemas.openxmlformats.org/officeDocument/2006/relationships/font" Target="fonts/DMSansLight-boldItalic.fntdata"/><Relationship Id="rId21" Type="http://schemas.openxmlformats.org/officeDocument/2006/relationships/font" Target="fonts/DMSansLight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Ligh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420415" y="2632769"/>
            <a:ext cx="935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UX Research &amp; Statistics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886075" y="3737669"/>
            <a:ext cx="641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1CAA0"/>
                </a:solidFill>
                <a:latin typeface="DM Sans Light"/>
                <a:ea typeface="DM Sans Light"/>
                <a:cs typeface="DM Sans Light"/>
                <a:sym typeface="DM Sans Light"/>
              </a:rPr>
              <a:t>Comprehensive Study Notes &amp; Fundamentals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2815530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685823" y="3158430"/>
            <a:ext cx="282035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Usability Fundamentals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4343400" y="3623220"/>
            <a:ext cx="350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Definitions, Process, and Core Concepts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7890"/>
            <a:ext cx="3492549" cy="3444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07890"/>
            <a:ext cx="3492549" cy="3444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07890"/>
            <a:ext cx="3492549" cy="34441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692622" y="3493740"/>
            <a:ext cx="125015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UI vs. UX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866775" y="414709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UI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is how the product looks. </a:t>
            </a: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UX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is how it feels. They work together to create the overall experience.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475922" y="3493740"/>
            <a:ext cx="124015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Usability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645074" y="414709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extent to which a product ensures effectiveness, efficiency, and satisfaction for the user. It is a measure of quality.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644145" y="3493740"/>
            <a:ext cx="246030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Utility + Usability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423374" y="414709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Utility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provides the features users need. Combined with </a:t>
            </a: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Usability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, it makes a product truly </a:t>
            </a: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Useful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9100" y="27603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7603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5699" y="27603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Core Definitions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2498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2263080"/>
            <a:ext cx="516255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1333500" y="227260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Plan: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Define goals, recruiting criteria, and scripts.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333500" y="281553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Recruit: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Find representative users.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333500" y="335845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Prepare: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Set up the environment and materials.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333500" y="390138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Test: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Facilitate the session (Moderated or Unmoderated).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333500" y="474910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Analyze: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Review data for insights and metrics.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333500" y="529203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Report: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Share findings to drive design improvements.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Usability Testing Process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27260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81553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35845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90138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74910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529203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17"/>
          <p:cNvGraphicFramePr/>
          <p:nvPr/>
        </p:nvGraphicFramePr>
        <p:xfrm>
          <a:off x="571500" y="26393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{E7D490B4-FC8A-48C3-8B9F-BAE6469F3EBC}</a:tableStyleId>
              </a:tblPr>
              <a:tblGrid>
                <a:gridCol w="2259650"/>
                <a:gridCol w="1913025"/>
                <a:gridCol w="6876300"/>
              </a:tblGrid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50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CAA0"/>
                    </a:solidFill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Effectiveness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 the user complete the task? (Success/Fail)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Efficiency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How much effort/time does it take? (Time on Task)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Satisfaction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How comfortable is the user? (Likert Scale)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Learnability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Growth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 to proficiency over multiple trials.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" name="Google Shape;134;p17"/>
          <p:cNvSpPr/>
          <p:nvPr/>
        </p:nvSpPr>
        <p:spPr>
          <a:xfrm>
            <a:off x="571500" y="3815655"/>
            <a:ext cx="225965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831157" y="3815655"/>
            <a:ext cx="191303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744194" y="3815655"/>
            <a:ext cx="68763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4415730"/>
            <a:ext cx="225965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831157" y="4415730"/>
            <a:ext cx="191303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744194" y="4415730"/>
            <a:ext cx="68763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71500" y="5015805"/>
            <a:ext cx="225965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831157" y="5015805"/>
            <a:ext cx="191303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744194" y="5015805"/>
            <a:ext cx="68763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Key Usability Metrics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5619750" y="2815530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005863" y="3158430"/>
            <a:ext cx="218027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Methods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286250" y="362322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Types of Research &amp; Experimental Design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07890"/>
            <a:ext cx="3492549" cy="3444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407890"/>
            <a:ext cx="3492549" cy="3444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407890"/>
            <a:ext cx="3492549" cy="34441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1532602" y="3493740"/>
            <a:ext cx="157019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Descriptive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66775" y="414709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Observing and concluding that "X is happening". Good for initial understanding.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385911" y="3493740"/>
            <a:ext cx="142017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Relational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645074" y="414709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Finding connections between variables. "X is related to Y". Carries more weight than descriptive.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924180" y="3493740"/>
            <a:ext cx="19002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Experimental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423374" y="414709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Establishing cause and effect. "X is responsible for Y". Involves manipulating Independent Variables.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0525" y="276031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825" y="276031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4274" y="276031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71500" y="571500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Types of Research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/>
        </p:nvSpPr>
        <p:spPr>
          <a:xfrm>
            <a:off x="762000" y="762000"/>
            <a:ext cx="48006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Experimental Design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11956" l="0" r="0" t="0"/>
          <a:stretch/>
        </p:blipFill>
        <p:spPr>
          <a:xfrm>
            <a:off x="5973775" y="0"/>
            <a:ext cx="6218226" cy="60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762000" y="2422921"/>
            <a:ext cx="4800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Between-Subjects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762000" y="307627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Each participant is exposed to only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one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condition. Simpler logistics but requires more users to handle variability.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62000" y="4381202"/>
            <a:ext cx="4800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Within-Subjects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62000" y="503455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Each participant is exposed to </a:t>
            </a: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multiple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conditions. Each user serves as their own control, reducing variability. Ideally requires fewer users.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5619750" y="2815530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900850" y="3158430"/>
            <a:ext cx="239029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Statistics &amp; Analysis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4319587" y="3623220"/>
            <a:ext cx="3552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Variables, Distributions, and Hypotheses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73460"/>
            <a:ext cx="5238750" cy="4313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73460"/>
            <a:ext cx="5238750" cy="431303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962025" y="2898427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Qualitative (Non-Numeric)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6772275" y="2898427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Quantitative (Numeric)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1724025" y="3513683"/>
            <a:ext cx="3695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Nominal: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Unordered categories (e.g., Gender, Race).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1724025" y="4361408"/>
            <a:ext cx="3695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Ordinal: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Ordered categories (e.g., Education Level, Rankings).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7534275" y="3513683"/>
            <a:ext cx="3695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Interval: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Values with no absolute zero (e.g., Likert Scale, Temp in Celsius).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7534275" y="4361408"/>
            <a:ext cx="3695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Ratio: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Values with an absolute zero (e.g., Time on Task, Error Count).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571500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Statistical Variable Hierarchy</a:t>
            </a:r>
            <a:endParaRPr/>
          </a:p>
        </p:txBody>
      </p:sp>
      <p:pic>
        <p:nvPicPr>
          <p:cNvPr descr="image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5" y="35136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5" y="436140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3275" y="351368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3275" y="4361408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2498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85902"/>
            <a:ext cx="5238750" cy="89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571500" y="308580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Normal Distribution</a:t>
            </a:r>
            <a:r>
              <a:rPr b="0" i="0" lang="en-US" sz="15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(Bell Curve) is defined by the Mean (central tendency) and Standard Deviation (spread).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4968329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Standard Deviation measures how dispersed the data is from the mean.</a:t>
            </a:r>
            <a:endParaRPr/>
          </a:p>
        </p:txBody>
      </p:sp>
      <p:pic>
        <p:nvPicPr>
          <p:cNvPr descr="image.png" id="210" name="Google Shape;21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9850" y="2263080"/>
            <a:ext cx="5162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6915" y="4076402"/>
            <a:ext cx="1927770" cy="5109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571500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Normal Distribution &amp; Variability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952500" y="281553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Null Hypothesis (H0):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The default position. Assumes no relationship or difference exists (e.g., "Design A is same as Design B").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952500" y="366325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Alternative Hypothesis (Ha):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The statement we are testing for. Assumes a difference exists (e.g., "Design A is faster than Design B").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952500" y="451098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p-value: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The probability of observing the results if the Null Hypothesis were true. A low p-value (&lt; 0.05) rejects the Null.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952500" y="505390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Difference vs Correlation: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Testing for group differences (t-test) vs. relationships between variables (Pearson correlation).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71500" y="571500"/>
            <a:ext cx="116014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Hypotheses</a:t>
            </a:r>
            <a:endParaRPr/>
          </a:p>
        </p:txBody>
      </p:sp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1553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66325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1098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05390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