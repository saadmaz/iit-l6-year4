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B4DD45-ADAE-4E03-A4DC-BCD3D04973F5}">
  <a:tblStyle styleId="{ACB4DD45-ADAE-4E03-A4DC-BCD3D04973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11" Type="http://schemas.openxmlformats.org/officeDocument/2006/relationships/image" Target="../media/image3.png"/><Relationship Id="rId10" Type="http://schemas.openxmlformats.org/officeDocument/2006/relationships/image" Target="../media/image5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140446"/>
            <a:ext cx="11201400" cy="1718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Transforming the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150" u="none" cap="none" strike="noStrike">
                <a:solidFill>
                  <a:srgbClr val="D22027"/>
                </a:solidFill>
                <a:latin typeface="Poppins"/>
                <a:ea typeface="Poppins"/>
                <a:cs typeface="Poppins"/>
                <a:sym typeface="Poppins"/>
              </a:rPr>
              <a:t>Future</a:t>
            </a:r>
            <a:r>
              <a:rPr b="1" i="0" lang="en-US" sz="615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of Tech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00125" y="4049017"/>
            <a:ext cx="73818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Strategic Outlook &amp; SWOT Analysis of the Informatics Institute of Technology (IIT) Sri Lanka.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PREPARED BY STRATEGY TEAM | 2026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62000" y="4049017"/>
            <a:ext cx="47625" cy="1600200"/>
          </a:xfrm>
          <a:prstGeom prst="rect">
            <a:avLst/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048375" y="571500"/>
            <a:ext cx="95250" cy="1568946"/>
          </a:xfrm>
          <a:prstGeom prst="rect">
            <a:avLst/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19750" y="6239767"/>
            <a:ext cx="1905000" cy="522982"/>
          </a:xfrm>
          <a:prstGeom prst="roundRect">
            <a:avLst>
              <a:gd fmla="val 50000" name="adj"/>
            </a:avLst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24050"/>
            <a:ext cx="5214937" cy="2062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924050"/>
            <a:ext cx="5214937" cy="2062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24337"/>
            <a:ext cx="5214937" cy="2062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4224337"/>
            <a:ext cx="5214937" cy="2062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29076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438275" y="2257425"/>
            <a:ext cx="14201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STRENGTHS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52525" y="273129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47775" y="2733675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Industry Integration: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Mandatory 1-year internship (3rd Year).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30503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247775" y="3052762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35-Year Legacy: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First private IT institute in Sri Lanka.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33694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247775" y="3371850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Global Value: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Degrees identical to UK-based awards.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337" y="22907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919912" y="2257425"/>
            <a:ext cx="161020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WEAKNESSES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605587" y="273129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00837" y="2733675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Physical Infrastructure: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Limited urban campus footprint.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05587" y="30503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00837" y="3052762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Bureaucracy: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Rigid admin processes reported by students.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05587" y="33694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00837" y="3371850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External Dependency: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Curriculum tied to UK timelines.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5910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1400175" y="4557712"/>
            <a:ext cx="19002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152525" y="50315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247775" y="5033962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Niche Fields: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Expansion into AI, Cyber, &amp; Data Science.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152525" y="53506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247775" y="5353050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Regional Hub: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Attracting South Asian international students.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152525" y="56697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247775" y="5672137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B2B Upskilling: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Expanding corporate training via PDU.</a:t>
            </a:r>
            <a:endParaRPr/>
          </a:p>
        </p:txBody>
      </p:sp>
      <p:pic>
        <p:nvPicPr>
          <p:cNvPr descr="image.png" id="123" name="Google Shape;12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10337" y="45910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6919912" y="4557712"/>
            <a:ext cx="10801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THREATS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605587" y="50315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700837" y="5033962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Hyper Competition: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Rise of new foreign-affiliated institutes.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605587" y="53506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700837" y="5353050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Economic Flux: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Tuition fees sensitive to exchange rates.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605587" y="56697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700837" y="5672137"/>
            <a:ext cx="44338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Brain Drain:</a:t>
            </a:r>
            <a:r>
              <a:rPr b="0" i="0" lang="en-US" sz="12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Migration of top faculty and student talent.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6048375" y="571500"/>
            <a:ext cx="95250" cy="123825"/>
          </a:xfrm>
          <a:prstGeom prst="rect">
            <a:avLst/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762000" y="695325"/>
            <a:ext cx="112014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22027"/>
                </a:solidFill>
                <a:latin typeface="Poppins"/>
                <a:ea typeface="Poppins"/>
                <a:cs typeface="Poppins"/>
                <a:sym typeface="Poppins"/>
              </a:rPr>
              <a:t>SWOT ANALYSIS BREAKDOWN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762000" y="1524000"/>
            <a:ext cx="1066800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5"/>
          <p:cNvGraphicFramePr/>
          <p:nvPr/>
        </p:nvGraphicFramePr>
        <p:xfrm>
          <a:off x="762000" y="2571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{ACB4DD45-ADAE-4E03-A4DC-BCD3D04973F5}</a:tableStyleId>
              </a:tblPr>
              <a:tblGrid>
                <a:gridCol w="5329225"/>
                <a:gridCol w="5329225"/>
              </a:tblGrid>
              <a:tr h="123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STRENGTHS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20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WEAKNESSES (W)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 STRATEGY Use strong industry links to co-develop cutting-edge </a:t>
                      </a: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&amp; Data Labs</a:t>
                      </a: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with corporate giants like Virtusa and WSO2.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 STRATEGY Transition to </a:t>
                      </a: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Hybrid Learning Models</a:t>
                      </a: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and virtual labs to bypass physical campus space constraints.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 STRATEGY Utilize the 35-year </a:t>
                      </a: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Brand Equity</a:t>
                      </a: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and massive alumni network to defend market share against new entrants.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WT STRATEGY Diversify revenue streams through </a:t>
                      </a: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Micro-credentials</a:t>
                      </a: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(PDU) to reduce reliance on long-term degree fees.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5"/>
          <p:cNvSpPr/>
          <p:nvPr/>
        </p:nvSpPr>
        <p:spPr>
          <a:xfrm>
            <a:off x="6048375" y="571500"/>
            <a:ext cx="95250" cy="771525"/>
          </a:xfrm>
          <a:prstGeom prst="rect">
            <a:avLst/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62000" y="1343025"/>
            <a:ext cx="112014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22027"/>
                </a:solidFill>
                <a:latin typeface="Poppins"/>
                <a:ea typeface="Poppins"/>
                <a:cs typeface="Poppins"/>
                <a:sym typeface="Poppins"/>
              </a:rPr>
              <a:t>STRATEGIC SWOT MATRIX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762000" y="2171700"/>
            <a:ext cx="1066800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62000" y="2295525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Bridging the Skills Gap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62000" y="2571750"/>
            <a:ext cx="50482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IIT’s unique "Industry-First" approach remains its most potent competitive advantage in a landscape shifting towards Artificial Intelligence and automation.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62000" y="3500437"/>
            <a:ext cx="50482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As we look toward 2026, the focus shifts from traditional teaching to becoming a </a:t>
            </a: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Hub of Innovation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—blending research with real-world application.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5534025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22027"/>
                </a:solidFill>
                <a:latin typeface="Lato"/>
                <a:ea typeface="Lato"/>
                <a:cs typeface="Lato"/>
                <a:sym typeface="Lato"/>
              </a:rPr>
              <a:t>Thank You.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04875" y="4600575"/>
            <a:ext cx="1028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22027"/>
                </a:solidFill>
                <a:latin typeface="Lato"/>
                <a:ea typeface="Lato"/>
                <a:cs typeface="Lato"/>
                <a:sym typeface="Lato"/>
              </a:rPr>
              <a:t>99%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Employability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762000" y="4600575"/>
            <a:ext cx="28575" cy="552450"/>
          </a:xfrm>
          <a:prstGeom prst="rect">
            <a:avLst/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2362200" y="4600575"/>
            <a:ext cx="10858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22027"/>
                </a:solidFill>
                <a:latin typeface="Lato"/>
                <a:ea typeface="Lato"/>
                <a:cs typeface="Lato"/>
                <a:sym typeface="Lato"/>
              </a:rPr>
              <a:t>5,000+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Global Alumni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2219325" y="4600575"/>
            <a:ext cx="28575" cy="552450"/>
          </a:xfrm>
          <a:prstGeom prst="rect">
            <a:avLst/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00250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/>
          <p:nvPr/>
        </p:nvSpPr>
        <p:spPr>
          <a:xfrm>
            <a:off x="6048375" y="571500"/>
            <a:ext cx="95250" cy="200025"/>
          </a:xfrm>
          <a:prstGeom prst="rect">
            <a:avLst/>
          </a:prstGeom>
          <a:solidFill>
            <a:srgbClr val="D22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762000" y="771525"/>
            <a:ext cx="112014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22027"/>
                </a:solidFill>
                <a:latin typeface="Poppins"/>
                <a:ea typeface="Poppins"/>
                <a:cs typeface="Poppins"/>
                <a:sym typeface="Poppins"/>
              </a:rPr>
              <a:t>CONCLUSION &amp; FUTURE VISION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62000" y="1600200"/>
            <a:ext cx="1066800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052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857375" y="3719512"/>
            <a:ext cx="9572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https://static.vecteezy.com/system/resources/previews/050/771/707/large_2x/happy-graduates-celebrating-success-at-university-graduation-ceremony-with-diplomas-photo.jpg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857375" y="4138612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571500"/>
            <a:ext cx="112014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22027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762000" y="1400175"/>
            <a:ext cx="1066800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