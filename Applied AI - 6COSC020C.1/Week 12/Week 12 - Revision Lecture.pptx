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8" r:id="rId3"/>
    <p:sldId id="269" r:id="rId4"/>
    <p:sldId id="270" r:id="rId5"/>
    <p:sldId id="271" r:id="rId6"/>
    <p:sldId id="272" r:id="rId7"/>
    <p:sldId id="273" r:id="rId8"/>
    <p:sldId id="274" r:id="rId9"/>
    <p:sldId id="275" r:id="rId10"/>
    <p:sldId id="276" r:id="rId11"/>
    <p:sldId id="277" r:id="rId12"/>
    <p:sldId id="278" r:id="rId13"/>
    <p:sldId id="279" r:id="rId14"/>
    <p:sldId id="280" r:id="rId15"/>
    <p:sldId id="281" r:id="rId16"/>
    <p:sldId id="282" r:id="rId17"/>
    <p:sldId id="283" r:id="rId18"/>
    <p:sldId id="284" r:id="rId19"/>
    <p:sldId id="285" r:id="rId20"/>
    <p:sldId id="286" r:id="rId21"/>
    <p:sldId id="287" r:id="rId22"/>
    <p:sldId id="288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4613E-EC96-2EAF-933F-78085F04593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4A43586-7358-CDDE-E7A7-D9276ED688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D4EE7C-7DF0-4F8E-0F4B-D197072CCD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7411-2FAE-4CA8-AD12-10B7946EFF3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64F2E-3DCF-CBBC-5A02-45CC5EBC4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C09227-12D2-8A4D-C39A-A48687F61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4109D-CAE7-457F-84B1-15E2F4FB9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5463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459341-6764-051B-A46F-C10B01FAA6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02BF6D8-D533-3E6F-8553-7A1B26F691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D1A4EA-DF67-5CCE-64B5-5BB778ACE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7411-2FAE-4CA8-AD12-10B7946EFF3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0CE40C-E553-0E9B-2433-01DAF79C9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D9B12BC-21B8-E466-D847-A3BD1570C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4109D-CAE7-457F-84B1-15E2F4FB9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465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9975E-C73A-F9D7-5CDA-68D0E9FEE9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C9F73B-8B57-CEF8-E009-C5E9BDA16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8A7987-1E97-BE9F-6F86-CDC89B333F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7411-2FAE-4CA8-AD12-10B7946EFF3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C25CD-8186-360B-DC25-307D1C7833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289708-CCF7-F2AE-97D2-B0B504352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4109D-CAE7-457F-84B1-15E2F4FB9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446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984380-F083-A752-AEB1-65A680F9F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C41CDF-303B-8072-7548-4DDE3AFB3B2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989515-F6F5-DC66-4C45-43464472A6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7B24C24-366C-DF75-C3FF-967DD09A89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7411-2FAE-4CA8-AD12-10B7946EFF3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57ECA4-4776-DF59-19A5-5755D5145E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CD3E68E-6821-F86B-9FD0-2171B67ADD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4109D-CAE7-457F-84B1-15E2F4FB9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251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0E400-D892-6EE0-9DA5-DBB7B10B81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BEF6AB-6237-9560-838A-54411AADD0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0B3B8-CB61-48FF-6B40-63542A8E7A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A464118-F5DE-0F27-4DE3-A2FCCEDE91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95CF37C-BD30-8461-9316-F1DEE1EDF5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BC7B528-059D-C506-6559-7551EB9DAD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7411-2FAE-4CA8-AD12-10B7946EFF3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8F6C38B-4B98-B6DB-686C-CCB72098F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AA73FBB-0FCD-CC94-6BB1-1CD147E3F6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4109D-CAE7-457F-84B1-15E2F4FB9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2408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03ACBD-2B64-EBFF-F740-6A4C9DD39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76C612-F74C-EDED-2EC0-8542EC41CA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7411-2FAE-4CA8-AD12-10B7946EFF3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2C1F21-5401-B56B-1B41-51E80C9951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D0BB04-5A7A-CF73-00C8-515DD101B3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4109D-CAE7-457F-84B1-15E2F4FB9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89073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BBCECEE-4704-0F5E-A48A-187BE2F5C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7411-2FAE-4CA8-AD12-10B7946EFF3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9C09783-CB32-CAF1-F6B3-2EFF2E80B4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251BE73-C7EE-172B-CF4E-0BE9FFDE89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4109D-CAE7-457F-84B1-15E2F4FB9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02331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460E0-E6D1-0FF6-E358-156B77B78C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71BF79-FB61-C413-07D5-B794A806A7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C1A72DC-9B0D-4C2D-F4B1-C997982942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60D23A-49E0-8D65-AC25-BBDAA5DEA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7411-2FAE-4CA8-AD12-10B7946EFF3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97882AA-0BF9-2080-73A5-57A9F64F71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0039CE-0FFF-7067-FB26-A6E2E9393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4109D-CAE7-457F-84B1-15E2F4FB9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23674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14EFB4-F2A5-551A-C947-437F12D387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2C2A22F-941A-8F6C-0262-1FC8F6A1D0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909F05-0D01-5512-CB0C-635E4EB8B0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4E1F53-2880-9368-9198-473DE601E9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7411-2FAE-4CA8-AD12-10B7946EFF3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2DCA83-AE30-5491-CFED-7457595A1F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0B9DC4-A196-7B98-2C1D-7A45B6C33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4109D-CAE7-457F-84B1-15E2F4FB9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3428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C07BD-F8D3-6859-8AA6-D6EE865D8C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E78ADC-5FC0-72A9-DFCF-0E8DB1CA15C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983839-8CC8-6A90-ACC2-D0F3E6090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7411-2FAE-4CA8-AD12-10B7946EFF3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D6AB10-B810-E0B6-7D46-AFF20E21B7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53893C-5EEE-E50C-F709-9E75041137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4109D-CAE7-457F-84B1-15E2F4FB9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20945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2E87521-41BB-1BB9-141D-0FD7E9B063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695E17-756F-7EE0-642E-DB92E7B2FC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CE118F-ED71-008C-5788-15D28BBE0D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7411-2FAE-4CA8-AD12-10B7946EFF3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4305D0-7CE7-E80C-34B7-FBE6F43CF2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36117A-9E20-B536-D79A-5588A2CEF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C4109D-CAE7-457F-84B1-15E2F4FB9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83788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7F40DCB-087C-53B9-BED4-A33E683C95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C5387-ADC2-2C3D-7738-5EC2FFFAFC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65F048-967F-07EB-12BC-BA02DE3E240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8D37411-2FAE-4CA8-AD12-10B7946EFF36}" type="datetimeFigureOut">
              <a:rPr lang="en-US" smtClean="0"/>
              <a:t>12/2/2025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F3094F-3D5B-5CFA-5689-AEA67F83C3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51DF84-0B8D-A5BC-2357-E98D1ACE37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C4109D-CAE7-457F-84B1-15E2F4FB94F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6578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AF44B4-76C8-237E-6476-05F1487767C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Revision Questions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F19AF-E420-5860-20E5-855975FD27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Applied AI – 2025/26</a:t>
            </a:r>
          </a:p>
        </p:txBody>
      </p:sp>
    </p:spTree>
    <p:extLst>
      <p:ext uri="{BB962C8B-B14F-4D97-AF65-F5344CB8AC3E}">
        <p14:creationId xmlns:p14="http://schemas.microsoft.com/office/powerpoint/2010/main" val="36078765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C0C9AB-6867-4E1E-FD87-BD6E5ACF2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18C15-DF04-00BA-0D2C-FF8CA2A291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2D6D4F-86A6-387F-8E4E-A5B50F18CB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Question 1</a:t>
            </a:r>
          </a:p>
          <a:p>
            <a:pPr marL="0" indent="0">
              <a:buNone/>
            </a:pPr>
            <a:r>
              <a:rPr lang="en-US" dirty="0"/>
              <a:t>The AI winter refers to a period of increased funding and heightened interest in artificial intelligence research.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True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False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9956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25E648-945A-FFD4-7B94-6711B846E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BAE969-D984-35FC-218F-F55B6551DB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BCC18D-C29F-47B4-4D58-5784740E70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Question 2</a:t>
            </a:r>
          </a:p>
          <a:p>
            <a:pPr marL="0" indent="0">
              <a:buNone/>
            </a:pPr>
            <a:r>
              <a:rPr lang="en-US" dirty="0"/>
              <a:t>Alpha-beta pruning reduces the number of nodes evaluated in the minimax algorithm without affecting the final result.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True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False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016670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BAFC140-DEAB-5FBE-4940-041C84B851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688C49-EEA2-FCC0-EA1A-53317BF67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042488-9D66-C70F-4261-9EF83703A9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Question 3</a:t>
            </a:r>
          </a:p>
          <a:p>
            <a:pPr marL="0" indent="0">
              <a:buNone/>
            </a:pPr>
            <a:r>
              <a:rPr lang="en-US" dirty="0"/>
              <a:t>In computer vision, image segmentation involves dividing an image into meaningful segments for easier analysis.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True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False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14079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7AEA08-5D4F-16B5-3E73-FA8DDE1E8D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93B30B-5719-4856-D678-2C98917BE6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906781-255E-5A90-CBA8-F7B5B12294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Question 4</a:t>
            </a:r>
          </a:p>
          <a:p>
            <a:pPr marL="0" indent="0">
              <a:buNone/>
            </a:pPr>
            <a:r>
              <a:rPr lang="en-US" dirty="0"/>
              <a:t>The first-order logic expression ∀x ∃y (Friend(y, x)) translates to "Everyone has a friend.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True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False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8267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D697D8-F648-F786-A6E4-9E16463444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412D97-5CE9-4592-CAD5-DCD75A190B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A4067-1E23-F18E-68DE-0E41A2D282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Question 5</a:t>
            </a:r>
          </a:p>
          <a:p>
            <a:pPr marL="0" indent="0">
              <a:buNone/>
            </a:pPr>
            <a:r>
              <a:rPr lang="en-US" dirty="0"/>
              <a:t>The purpose of adding a RELU activation function in a CNN is to reduce the spatial dimensions (height and width) of the input feature maps.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True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False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B4E7F43-B0AD-A18C-DDE4-7C983587E0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458" y="4588197"/>
            <a:ext cx="4753638" cy="146705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A8744AF-C264-96C9-465A-D6679DFAFD86}"/>
              </a:ext>
            </a:extLst>
          </p:cNvPr>
          <p:cNvSpPr txBox="1"/>
          <p:nvPr/>
        </p:nvSpPr>
        <p:spPr>
          <a:xfrm>
            <a:off x="716918" y="6422147"/>
            <a:ext cx="970527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https://www.geeksforgeeks.org/deep-learning/relu-activation-function-in-deep-learning/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D9F7369-73E0-AC97-02EC-6998CD00F2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0456" y="3198674"/>
            <a:ext cx="3771796" cy="24632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76364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E2B33F-917C-D9EB-2968-AF48E72EB2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36FA00-0DBA-C7A8-027A-3F514FB679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1FDA83-57EA-848F-DF9B-64348BBCA6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Question 6</a:t>
            </a:r>
          </a:p>
          <a:p>
            <a:pPr marL="0" indent="0">
              <a:buNone/>
            </a:pPr>
            <a:r>
              <a:rPr lang="en-US" dirty="0"/>
              <a:t>Large Language Models like GPT-4 are trained using supervised learning on labeled datasets.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True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False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15094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92C202-B792-84D5-F093-96BD52BECA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BB61B0-89BF-BC3A-F76E-F1A1E5AC1F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89453D-478A-DC5C-5FCE-13BB7D731B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Question 7</a:t>
            </a:r>
          </a:p>
          <a:p>
            <a:pPr marL="0" indent="0">
              <a:buNone/>
            </a:pPr>
            <a:r>
              <a:rPr lang="en-US" dirty="0"/>
              <a:t>A simple reflex agent cannot form world models through its interactions in the environment.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True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False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36453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8154DA-86E1-5785-E0FF-827863556D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BA31C6-3716-AE97-C7B7-41760F181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846DA7-852B-6469-350E-F71CE0A47B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Question 8</a:t>
            </a:r>
          </a:p>
          <a:p>
            <a:pPr marL="0" indent="0">
              <a:buNone/>
            </a:pPr>
            <a:r>
              <a:rPr lang="en-US" dirty="0"/>
              <a:t>A simple reflex agent cannot form world models through its interactions in the environment.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True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False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66841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0545313-E7A5-2BEC-1984-C838A93859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2B3C2F-C262-112D-B47C-A08F9DE6BE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991980-12C2-CD9F-09CA-94E226520AF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Question 9</a:t>
            </a:r>
          </a:p>
          <a:p>
            <a:pPr marL="0" indent="0">
              <a:buNone/>
            </a:pPr>
            <a:r>
              <a:rPr lang="en-US" dirty="0"/>
              <a:t>The minimax algorithm is only applicable to two-player, zero-sum games.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True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False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67245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BDDD62-2B8A-D959-D50A-220D0E7BE3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07D8A9-D9C8-76E9-C6D2-93B2AA5985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6CB6D2-1CD4-829B-E6F6-3243B78F36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Question 10</a:t>
            </a:r>
          </a:p>
          <a:p>
            <a:pPr marL="0" indent="0">
              <a:buNone/>
            </a:pPr>
            <a:r>
              <a:rPr lang="en-US" dirty="0" err="1"/>
              <a:t>Depth_first_search</a:t>
            </a:r>
            <a:r>
              <a:rPr lang="en-US" dirty="0"/>
              <a:t> implements stack operation(LIFO) for the purpose of searching the states?      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True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False</a:t>
            </a:r>
          </a:p>
          <a:p>
            <a:pPr marL="0" indent="0"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11081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C245C5-1DD5-EA0A-A680-FE7960FA2D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C4466F-889C-6384-C035-E46245B3E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5C4835-90E1-AF53-BD95-EF43DCA769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Question 10</a:t>
            </a:r>
          </a:p>
          <a:p>
            <a:pPr marL="0" indent="0">
              <a:buNone/>
            </a:pPr>
            <a:r>
              <a:rPr lang="en-US" dirty="0"/>
              <a:t>Depth First Search &gt; LIFO Put Sucessors at the Front &gt; </a:t>
            </a:r>
            <a:r>
              <a:rPr lang="en-US" b="1" dirty="0"/>
              <a:t>Stack</a:t>
            </a:r>
          </a:p>
          <a:p>
            <a:pPr marL="0" indent="0">
              <a:buNone/>
            </a:pPr>
            <a:r>
              <a:rPr lang="en-US" dirty="0"/>
              <a:t>Breath First Search &gt; FIFO Put Sucessors at the End &gt; </a:t>
            </a:r>
            <a:r>
              <a:rPr lang="en-US" b="1" dirty="0"/>
              <a:t>Queue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523C6B-B363-99AA-FCBE-A8E5A53AA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871" y="3588755"/>
            <a:ext cx="4748656" cy="29041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79744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7F152-B095-C8F9-DD89-6088048B78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891C3-533E-73E8-7CFA-B502DF38B3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571" y="484749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Question 11</a:t>
            </a:r>
          </a:p>
          <a:p>
            <a:pPr marL="0" indent="0">
              <a:buNone/>
            </a:pPr>
            <a:r>
              <a:rPr lang="en-US" dirty="0"/>
              <a:t>Given b stands for branching factor, and d stands for depth. Which of the following search algorithms have complexity Time: O( b</a:t>
            </a:r>
            <a:r>
              <a:rPr lang="en-US" baseline="30000" dirty="0"/>
              <a:t>d</a:t>
            </a:r>
            <a:r>
              <a:rPr lang="en-US" dirty="0"/>
              <a:t>) </a:t>
            </a:r>
            <a:r>
              <a:rPr lang="en-US" dirty="0" err="1"/>
              <a:t>Space:O</a:t>
            </a:r>
            <a:r>
              <a:rPr lang="en-US" dirty="0"/>
              <a:t>( bd)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Depth First search and Iterative Deepening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Breadth first search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Breadth first search and Depth first search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None, all search algorithms are exponential in time and space complexity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F5B0145-EB57-CEA7-78C5-E72718287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71" y="4836087"/>
            <a:ext cx="8038681" cy="1855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2474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54268-A36D-1BEC-3455-7F2B3E2F59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733EE-21FE-E050-B712-6B305B6484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571" y="484749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Question 12</a:t>
            </a:r>
          </a:p>
          <a:p>
            <a:pPr marL="0" indent="0">
              <a:buNone/>
            </a:pPr>
            <a:r>
              <a:rPr lang="en-US" dirty="0"/>
              <a:t>In GANs, the Generator's performance is improved based on feedback from: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Predefined heuristics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User interactions and inputs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An external labeled dataset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The Discriminator</a:t>
            </a:r>
          </a:p>
        </p:txBody>
      </p:sp>
    </p:spTree>
    <p:extLst>
      <p:ext uri="{BB962C8B-B14F-4D97-AF65-F5344CB8AC3E}">
        <p14:creationId xmlns:p14="http://schemas.microsoft.com/office/powerpoint/2010/main" val="12209179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5BCD48-11E0-53F2-A8B1-AB104174C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A78C57-1AB9-5135-EA71-C4AC0A77C7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571" y="484749"/>
            <a:ext cx="10515600" cy="4351338"/>
          </a:xfrm>
        </p:spPr>
        <p:txBody>
          <a:bodyPr>
            <a:normAutofit fontScale="92500"/>
          </a:bodyPr>
          <a:lstStyle/>
          <a:p>
            <a:pPr marL="0" indent="0">
              <a:buNone/>
            </a:pPr>
            <a:r>
              <a:rPr lang="en-US" b="1" dirty="0"/>
              <a:t>Question 13</a:t>
            </a:r>
          </a:p>
          <a:p>
            <a:pPr marL="0" indent="0">
              <a:buNone/>
            </a:pPr>
            <a:r>
              <a:rPr lang="en-US" dirty="0"/>
              <a:t>Which of the following statements about the k-means algorithm is TRUE?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The initial placement of centroids can affect the final clustering outcome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The number of clusters k does not need to be specified beforehand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K-means always finds the global optimum clustering solution.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K-means can naturally handle categorical data without preprocessing.</a:t>
            </a:r>
          </a:p>
        </p:txBody>
      </p:sp>
    </p:spTree>
    <p:extLst>
      <p:ext uri="{BB962C8B-B14F-4D97-AF65-F5344CB8AC3E}">
        <p14:creationId xmlns:p14="http://schemas.microsoft.com/office/powerpoint/2010/main" val="25998405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098480-A66A-B011-06E2-58F10E46A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3EC5B-9CAB-C17D-9B35-FFD72551CB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571" y="484749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Question 14</a:t>
            </a:r>
          </a:p>
          <a:p>
            <a:pPr marL="0" indent="0">
              <a:buNone/>
            </a:pPr>
            <a:r>
              <a:rPr lang="en-US" dirty="0"/>
              <a:t>In Linear Regression, the 'line of best fit' is determined by minimizing: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The correlation coefficient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mean squared error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The cross-validation error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The binary cross-entropy</a:t>
            </a:r>
          </a:p>
        </p:txBody>
      </p:sp>
    </p:spTree>
    <p:extLst>
      <p:ext uri="{BB962C8B-B14F-4D97-AF65-F5344CB8AC3E}">
        <p14:creationId xmlns:p14="http://schemas.microsoft.com/office/powerpoint/2010/main" val="137897008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EA0EC6-D174-8DEA-4D45-C61165236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CA533-56ED-95C9-46E3-FB72D39310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571" y="484749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Question 15</a:t>
            </a:r>
          </a:p>
          <a:p>
            <a:pPr marL="0" indent="0">
              <a:buNone/>
            </a:pPr>
            <a:r>
              <a:rPr lang="en-US" dirty="0"/>
              <a:t>If a neural network has an input layer with 10 neurons, one hidden layer with 30 neurons, and an output layer with 5 neurons, how many weights are there in the network (assuming full connectivity between layers)?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45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1500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300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450</a:t>
            </a:r>
          </a:p>
        </p:txBody>
      </p:sp>
    </p:spTree>
    <p:extLst>
      <p:ext uri="{BB962C8B-B14F-4D97-AF65-F5344CB8AC3E}">
        <p14:creationId xmlns:p14="http://schemas.microsoft.com/office/powerpoint/2010/main" val="313918641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CDAF30-1698-14F3-93D7-798DDEB7DA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A8D0CA-5161-615B-B9EB-3C3FE5EF99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571" y="484748"/>
            <a:ext cx="10515600" cy="5984877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b="1" dirty="0"/>
              <a:t>Question 16</a:t>
            </a:r>
          </a:p>
          <a:p>
            <a:pPr marL="0" indent="0">
              <a:buNone/>
            </a:pPr>
            <a:r>
              <a:rPr lang="en-US" dirty="0"/>
              <a:t>Consider the following diagram where A is the start node and G is the goal node. The edges show the actual distance from each node to the next.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You are tasked to create an admissible heuristic for the A* algorithm. If h(A), h(B) and h(C) are the estimated cost to reach goal G from A, B and C respectively, which of the following h-values for A, B and C are admissible?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pt-BR" dirty="0"/>
              <a:t>h(A) = 2, h(B) = 2, h(C) = 7</a:t>
            </a:r>
          </a:p>
          <a:p>
            <a:pPr marL="514350" indent="-514350">
              <a:buFont typeface="+mj-lt"/>
              <a:buAutoNum type="alphaUcPeriod"/>
            </a:pPr>
            <a:r>
              <a:rPr lang="pt-BR" dirty="0"/>
              <a:t>h(A) = 6, h(B) = 4, h(C) = 3</a:t>
            </a:r>
          </a:p>
          <a:p>
            <a:pPr marL="514350" indent="-514350">
              <a:buFont typeface="+mj-lt"/>
              <a:buAutoNum type="alphaUcPeriod"/>
            </a:pPr>
            <a:r>
              <a:rPr lang="pt-BR" dirty="0"/>
              <a:t>h(A) = 7, h(B) = 2, h(C) = 5</a:t>
            </a:r>
          </a:p>
          <a:p>
            <a:pPr marL="514350" indent="-514350">
              <a:buFont typeface="+mj-lt"/>
              <a:buAutoNum type="alphaUcPeriod"/>
            </a:pPr>
            <a:r>
              <a:rPr lang="pt-BR" dirty="0"/>
              <a:t>h(A) = 4, h(B) = 4, h(C) = 5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9E5495B-748E-9320-704A-6FC353E7BEF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1948" y="3061017"/>
            <a:ext cx="2953162" cy="280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78510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33783B-C7C8-577B-0D69-ACBB72189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4C6191-1E6D-3A93-AE46-C00C9588655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571" y="484748"/>
            <a:ext cx="10515600" cy="5984877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Question 17</a:t>
            </a:r>
          </a:p>
          <a:p>
            <a:pPr marL="0" indent="0">
              <a:buNone/>
            </a:pPr>
            <a:r>
              <a:rPr lang="en-US" dirty="0"/>
              <a:t>The CNF (Clausal) form of  A-&gt;(B ^C) is</a:t>
            </a:r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7282544-3238-9D54-06E1-BDC7978F4E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7571" y="1826292"/>
            <a:ext cx="5849166" cy="2200582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8EF9E4B-252A-6F71-5F55-A9393745543C}"/>
                  </a:ext>
                </a:extLst>
              </p:cNvPr>
              <p:cNvSpPr txBox="1"/>
              <p:nvPr/>
            </p:nvSpPr>
            <p:spPr>
              <a:xfrm>
                <a:off x="7343860" y="1641626"/>
                <a:ext cx="3776424" cy="92333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en-US" i="1" dirty="0">
                    <a:latin typeface="Cambria Math" panose="02040503050406030204" pitchFamily="18" charset="0"/>
                  </a:rPr>
                  <a:t>Implication replacement Rule</a:t>
                </a:r>
              </a:p>
              <a:p>
                <a:endParaRPr lang="en-US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r>
                  <a:rPr lang="en-US" dirty="0"/>
                  <a:t>with </a:t>
                </a:r>
                <a14:m>
                  <m:oMath xmlns:m="http://schemas.openxmlformats.org/officeDocument/2006/math">
                    <m:r>
                      <a:rPr lang="en-US">
                        <a:latin typeface="Cambria Math" panose="02040503050406030204" pitchFamily="18" charset="0"/>
                      </a:rPr>
                      <m:t>¬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US" i="0">
                        <a:latin typeface="Cambria Math" panose="02040503050406030204" pitchFamily="18" charset="0"/>
                      </a:rPr>
                      <m:t>∨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𝑄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98EF9E4B-252A-6F71-5F55-A93937455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3860" y="1641626"/>
                <a:ext cx="3776424" cy="923330"/>
              </a:xfrm>
              <a:prstGeom prst="rect">
                <a:avLst/>
              </a:prstGeom>
              <a:blipFill>
                <a:blip r:embed="rId3"/>
                <a:stretch>
                  <a:fillRect l="-1454" t="-3947" b="-986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TextBox 7">
            <a:extLst>
              <a:ext uri="{FF2B5EF4-FFF2-40B4-BE49-F238E27FC236}">
                <a16:creationId xmlns:a16="http://schemas.microsoft.com/office/drawing/2014/main" id="{451FA211-3E61-1790-AB61-B68BB9EA1FF0}"/>
              </a:ext>
            </a:extLst>
          </p:cNvPr>
          <p:cNvSpPr txBox="1"/>
          <p:nvPr/>
        </p:nvSpPr>
        <p:spPr>
          <a:xfrm>
            <a:off x="7343860" y="3160030"/>
            <a:ext cx="3776424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Given</a:t>
            </a:r>
          </a:p>
          <a:p>
            <a:r>
              <a:rPr lang="en-US" dirty="0"/>
              <a:t>A→(B∧C)</a:t>
            </a:r>
          </a:p>
          <a:p>
            <a:endParaRPr lang="en-US" dirty="0"/>
          </a:p>
          <a:p>
            <a:r>
              <a:rPr lang="en-US" dirty="0"/>
              <a:t>Remove Implication</a:t>
            </a:r>
          </a:p>
          <a:p>
            <a:r>
              <a:rPr lang="en-US" dirty="0"/>
              <a:t>¬A∨(B∧C)</a:t>
            </a:r>
          </a:p>
          <a:p>
            <a:endParaRPr lang="en-US" dirty="0"/>
          </a:p>
          <a:p>
            <a:r>
              <a:rPr lang="en-US" dirty="0"/>
              <a:t>Expand</a:t>
            </a:r>
          </a:p>
          <a:p>
            <a:r>
              <a:rPr lang="en-US" dirty="0"/>
              <a:t>(¬A∨B)∧(¬A∨C) </a:t>
            </a:r>
          </a:p>
          <a:p>
            <a:endParaRPr lang="en-US" dirty="0"/>
          </a:p>
          <a:p>
            <a:r>
              <a:rPr lang="en-US" dirty="0">
                <a:sym typeface="Wingdings" panose="05000000000000000000" pitchFamily="2" charset="2"/>
              </a:rPr>
              <a:t> This is the CNF Form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665849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78B9F-58A6-64C3-C396-7690BDCEF4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A0F788-7CDF-2E25-E267-95527D59BF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571" y="484749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Question 19</a:t>
            </a:r>
          </a:p>
          <a:p>
            <a:pPr marL="0" indent="0">
              <a:buNone/>
            </a:pPr>
            <a:r>
              <a:rPr lang="en-US" dirty="0"/>
              <a:t>In the following game tree, assuming the top node is a maximizing node and the red triangles are minimizing nodes, identify the optimal path that would be chosen by the Minimax algorithm.</a:t>
            </a:r>
          </a:p>
          <a:p>
            <a:pPr marL="0" indent="0">
              <a:buNone/>
            </a:pPr>
            <a:endParaRPr lang="en-US" dirty="0"/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a-e-f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a-b-c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h-l-n</a:t>
            </a:r>
          </a:p>
          <a:p>
            <a:pPr marL="514350" indent="-514350">
              <a:buFont typeface="+mj-lt"/>
              <a:buAutoNum type="alphaUcPeriod"/>
            </a:pPr>
            <a:r>
              <a:rPr lang="en-US" dirty="0"/>
              <a:t>h-</a:t>
            </a:r>
            <a:r>
              <a:rPr lang="en-US" dirty="0" err="1"/>
              <a:t>i</a:t>
            </a:r>
            <a:r>
              <a:rPr lang="en-US" dirty="0"/>
              <a:t>-j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6AD7B7-66FA-8E5C-E6E9-13764EDC3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9096" y="2319527"/>
            <a:ext cx="5578323" cy="33988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12543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31DD9-EB98-3292-CAC4-B8D23CF2CD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EA37EA-1C03-D12D-CDB8-CD093460297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571" y="484749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Question 20</a:t>
            </a:r>
          </a:p>
          <a:p>
            <a:pPr marL="0" indent="0">
              <a:buNone/>
            </a:pPr>
            <a:r>
              <a:rPr lang="en-US" dirty="0"/>
              <a:t>Which option below is the result of 2x2 Average-Pooling on the following feature map ?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9F14764-E18F-160C-078A-4917780D4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1872" y="1914313"/>
            <a:ext cx="3077004" cy="302937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C5505EB-4E03-A9DB-052E-B727840D33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7571" y="2038771"/>
            <a:ext cx="3924848" cy="433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6455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40B808-7B41-F784-7F5C-62FCD46D3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2C3FC-4A7C-5370-A839-1939C61288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07571" y="484749"/>
            <a:ext cx="1051560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b="1" dirty="0"/>
              <a:t>Question 21</a:t>
            </a:r>
          </a:p>
          <a:p>
            <a:pPr marL="0" indent="0">
              <a:buNone/>
            </a:pPr>
            <a:r>
              <a:rPr lang="en-US" dirty="0"/>
              <a:t>Which of the filters, when applied to the given image using the convolution operation, will result in the provided feature map? Assume a stride of 1 and no padding.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B31703-3381-FD95-750A-41088DED2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3309" y="2391026"/>
            <a:ext cx="6525536" cy="301984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97AA72A-09E3-B65C-BDB9-F43F10FFFD3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5478" y="2250830"/>
            <a:ext cx="2188047" cy="4247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73992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811</Words>
  <Application>Microsoft Office PowerPoint</Application>
  <PresentationFormat>Widescreen</PresentationFormat>
  <Paragraphs>127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Aptos</vt:lpstr>
      <vt:lpstr>Aptos Display</vt:lpstr>
      <vt:lpstr>Arial</vt:lpstr>
      <vt:lpstr>Cambria Math</vt:lpstr>
      <vt:lpstr>Wingdings</vt:lpstr>
      <vt:lpstr>Office Theme</vt:lpstr>
      <vt:lpstr>Revision Questions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Aloka Fernando</dc:creator>
  <cp:lastModifiedBy>Aloka Fernando</cp:lastModifiedBy>
  <cp:revision>2</cp:revision>
  <dcterms:created xsi:type="dcterms:W3CDTF">2025-12-02T01:31:17Z</dcterms:created>
  <dcterms:modified xsi:type="dcterms:W3CDTF">2025-12-02T02:58:42Z</dcterms:modified>
</cp:coreProperties>
</file>