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42"/>
  </p:notesMasterIdLst>
  <p:handoutMasterIdLst>
    <p:handoutMasterId r:id="rId43"/>
  </p:handoutMasterIdLst>
  <p:sldIdLst>
    <p:sldId id="443" r:id="rId2"/>
    <p:sldId id="499" r:id="rId3"/>
    <p:sldId id="500" r:id="rId4"/>
    <p:sldId id="502" r:id="rId5"/>
    <p:sldId id="445" r:id="rId6"/>
    <p:sldId id="446" r:id="rId7"/>
    <p:sldId id="504" r:id="rId8"/>
    <p:sldId id="506" r:id="rId9"/>
    <p:sldId id="384" r:id="rId10"/>
    <p:sldId id="505" r:id="rId11"/>
    <p:sldId id="507" r:id="rId12"/>
    <p:sldId id="518" r:id="rId13"/>
    <p:sldId id="512" r:id="rId14"/>
    <p:sldId id="547" r:id="rId15"/>
    <p:sldId id="508" r:id="rId16"/>
    <p:sldId id="546" r:id="rId17"/>
    <p:sldId id="523" r:id="rId18"/>
    <p:sldId id="522" r:id="rId19"/>
    <p:sldId id="524" r:id="rId20"/>
    <p:sldId id="525" r:id="rId21"/>
    <p:sldId id="526" r:id="rId22"/>
    <p:sldId id="549" r:id="rId23"/>
    <p:sldId id="530" r:id="rId24"/>
    <p:sldId id="532" r:id="rId25"/>
    <p:sldId id="533" r:id="rId26"/>
    <p:sldId id="552" r:id="rId27"/>
    <p:sldId id="551" r:id="rId28"/>
    <p:sldId id="535" r:id="rId29"/>
    <p:sldId id="550" r:id="rId30"/>
    <p:sldId id="536" r:id="rId31"/>
    <p:sldId id="537" r:id="rId32"/>
    <p:sldId id="538" r:id="rId33"/>
    <p:sldId id="539" r:id="rId34"/>
    <p:sldId id="541" r:id="rId35"/>
    <p:sldId id="543" r:id="rId36"/>
    <p:sldId id="544" r:id="rId37"/>
    <p:sldId id="542" r:id="rId38"/>
    <p:sldId id="329" r:id="rId39"/>
    <p:sldId id="498" r:id="rId40"/>
    <p:sldId id="358" r:id="rId41"/>
  </p:sldIdLst>
  <p:sldSz cx="9144000" cy="6858000" type="screen4x3"/>
  <p:notesSz cx="6858000" cy="9144000"/>
  <p:embeddedFontLst>
    <p:embeddedFont>
      <p:font typeface="Abadi" panose="020B0604020104020204" pitchFamily="34" charset="0"/>
      <p:regular r:id="rId44"/>
    </p:embeddedFont>
    <p:embeddedFont>
      <p:font typeface="Arial Narrow" panose="020B0606020202030204" pitchFamily="34" charset="0"/>
      <p:regular r:id="rId45"/>
      <p:bold r:id="rId46"/>
      <p:italic r:id="rId47"/>
      <p:boldItalic r:id="rId48"/>
    </p:embeddedFont>
    <p:embeddedFont>
      <p:font typeface="Bradley Hand ITC" panose="03070402050302030203" pitchFamily="66" charset="0"/>
      <p:regular r:id="rId49"/>
    </p:embeddedFont>
    <p:embeddedFont>
      <p:font typeface="Noto serif" panose="02020600060500020200" pitchFamily="18" charset="0"/>
      <p:regular r:id="rId50"/>
      <p:bold r:id="rId51"/>
      <p:italic r:id="rId52"/>
      <p:boldItalic r:id="rId53"/>
    </p:embeddedFont>
    <p:embeddedFont>
      <p:font typeface="Tw Cen MT" panose="020B0602020104020603" pitchFamily="34" charset="0"/>
      <p:regular r:id="rId54"/>
      <p:bold r:id="rId55"/>
      <p:italic r:id="rId56"/>
      <p:boldItalic r:id="rId57"/>
    </p:embeddedFont>
    <p:embeddedFont>
      <p:font typeface="Wingdings 2" panose="05020102010507070707" pitchFamily="18" charset="2"/>
      <p:regular r:id="rId58"/>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F4F4"/>
    <a:srgbClr val="C9CDB3"/>
    <a:srgbClr val="FF9021"/>
    <a:srgbClr val="00CC00"/>
    <a:srgbClr val="33CCFF"/>
    <a:srgbClr val="611A96"/>
    <a:srgbClr val="66FFFF"/>
    <a:srgbClr val="5EC2B6"/>
    <a:srgbClr val="FF0000"/>
    <a:srgbClr val="FED4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8CE1BA-735E-425E-ACC4-21B3AA2AC4A1}" v="172" dt="2024-09-23T20:56:32.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5" autoAdjust="0"/>
    <p:restoredTop sz="86178" autoAdjust="0"/>
  </p:normalViewPr>
  <p:slideViewPr>
    <p:cSldViewPr>
      <p:cViewPr varScale="1">
        <p:scale>
          <a:sx n="117" d="100"/>
          <a:sy n="117" d="100"/>
        </p:scale>
        <p:origin x="989" y="67"/>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font" Target="fonts/font5.fntdata"/><Relationship Id="rId56" Type="http://schemas.openxmlformats.org/officeDocument/2006/relationships/font" Target="fonts/font13.fntdata"/><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AA8CE1BA-735E-425E-ACC4-21B3AA2AC4A1}"/>
    <pc:docChg chg="undo custSel addSld delSld modSld sldOrd modMainMaster">
      <pc:chgData name="Daphne Economou" userId="d065a339-36cf-4937-af08-41751becbd81" providerId="ADAL" clId="{AA8CE1BA-735E-425E-ACC4-21B3AA2AC4A1}" dt="2024-09-23T20:55:48.930" v="1264" actId="20577"/>
      <pc:docMkLst>
        <pc:docMk/>
      </pc:docMkLst>
      <pc:sldChg chg="addSp modSp mod modAnim">
        <pc:chgData name="Daphne Economou" userId="d065a339-36cf-4937-af08-41751becbd81" providerId="ADAL" clId="{AA8CE1BA-735E-425E-ACC4-21B3AA2AC4A1}" dt="2024-09-23T10:26:26.535" v="591"/>
        <pc:sldMkLst>
          <pc:docMk/>
          <pc:sldMk cId="0" sldId="384"/>
        </pc:sldMkLst>
        <pc:spChg chg="add mod">
          <ac:chgData name="Daphne Economou" userId="d065a339-36cf-4937-af08-41751becbd81" providerId="ADAL" clId="{AA8CE1BA-735E-425E-ACC4-21B3AA2AC4A1}" dt="2024-09-23T10:16:09.049" v="476" actId="1076"/>
          <ac:spMkLst>
            <pc:docMk/>
            <pc:sldMk cId="0" sldId="384"/>
            <ac:spMk id="3" creationId="{A14B087C-FB75-5743-890C-BBC43F31989B}"/>
          </ac:spMkLst>
        </pc:spChg>
        <pc:spChg chg="add mod">
          <ac:chgData name="Daphne Economou" userId="d065a339-36cf-4937-af08-41751becbd81" providerId="ADAL" clId="{AA8CE1BA-735E-425E-ACC4-21B3AA2AC4A1}" dt="2024-09-23T10:16:04.961" v="475" actId="1076"/>
          <ac:spMkLst>
            <pc:docMk/>
            <pc:sldMk cId="0" sldId="384"/>
            <ac:spMk id="4" creationId="{97EA6C7C-8C2B-E10C-2951-F760D69DB58E}"/>
          </ac:spMkLst>
        </pc:spChg>
        <pc:spChg chg="mod">
          <ac:chgData name="Daphne Economou" userId="d065a339-36cf-4937-af08-41751becbd81" providerId="ADAL" clId="{AA8CE1BA-735E-425E-ACC4-21B3AA2AC4A1}" dt="2024-09-23T10:16:32.878" v="479" actId="14100"/>
          <ac:spMkLst>
            <pc:docMk/>
            <pc:sldMk cId="0" sldId="384"/>
            <ac:spMk id="10" creationId="{F76D095B-9B0E-A909-E60B-D20FF08E2D5D}"/>
          </ac:spMkLst>
        </pc:spChg>
      </pc:sldChg>
      <pc:sldChg chg="addSp modSp mod modAnim">
        <pc:chgData name="Daphne Economou" userId="d065a339-36cf-4937-af08-41751becbd81" providerId="ADAL" clId="{AA8CE1BA-735E-425E-ACC4-21B3AA2AC4A1}" dt="2024-09-23T10:12:09.781" v="434"/>
        <pc:sldMkLst>
          <pc:docMk/>
          <pc:sldMk cId="0" sldId="445"/>
        </pc:sldMkLst>
        <pc:spChg chg="mod">
          <ac:chgData name="Daphne Economou" userId="d065a339-36cf-4937-af08-41751becbd81" providerId="ADAL" clId="{AA8CE1BA-735E-425E-ACC4-21B3AA2AC4A1}" dt="2024-09-23T08:41:38.340" v="30" actId="20577"/>
          <ac:spMkLst>
            <pc:docMk/>
            <pc:sldMk cId="0" sldId="445"/>
            <ac:spMk id="3" creationId="{00000000-0000-0000-0000-000000000000}"/>
          </ac:spMkLst>
        </pc:spChg>
        <pc:spChg chg="mod">
          <ac:chgData name="Daphne Economou" userId="d065a339-36cf-4937-af08-41751becbd81" providerId="ADAL" clId="{AA8CE1BA-735E-425E-ACC4-21B3AA2AC4A1}" dt="2024-09-23T10:06:22.174" v="405" actId="164"/>
          <ac:spMkLst>
            <pc:docMk/>
            <pc:sldMk cId="0" sldId="445"/>
            <ac:spMk id="8" creationId="{00000000-0000-0000-0000-000000000000}"/>
          </ac:spMkLst>
        </pc:spChg>
        <pc:spChg chg="mod">
          <ac:chgData name="Daphne Economou" userId="d065a339-36cf-4937-af08-41751becbd81" providerId="ADAL" clId="{AA8CE1BA-735E-425E-ACC4-21B3AA2AC4A1}" dt="2024-09-23T10:06:22.174" v="405" actId="164"/>
          <ac:spMkLst>
            <pc:docMk/>
            <pc:sldMk cId="0" sldId="445"/>
            <ac:spMk id="9" creationId="{00000000-0000-0000-0000-000000000000}"/>
          </ac:spMkLst>
        </pc:spChg>
        <pc:spChg chg="mod">
          <ac:chgData name="Daphne Economou" userId="d065a339-36cf-4937-af08-41751becbd81" providerId="ADAL" clId="{AA8CE1BA-735E-425E-ACC4-21B3AA2AC4A1}" dt="2024-09-23T10:06:22.174" v="405" actId="164"/>
          <ac:spMkLst>
            <pc:docMk/>
            <pc:sldMk cId="0" sldId="445"/>
            <ac:spMk id="10" creationId="{00000000-0000-0000-0000-000000000000}"/>
          </ac:spMkLst>
        </pc:spChg>
        <pc:spChg chg="mod">
          <ac:chgData name="Daphne Economou" userId="d065a339-36cf-4937-af08-41751becbd81" providerId="ADAL" clId="{AA8CE1BA-735E-425E-ACC4-21B3AA2AC4A1}" dt="2024-09-23T10:06:22.174" v="405" actId="164"/>
          <ac:spMkLst>
            <pc:docMk/>
            <pc:sldMk cId="0" sldId="445"/>
            <ac:spMk id="11" creationId="{00000000-0000-0000-0000-000000000000}"/>
          </ac:spMkLst>
        </pc:spChg>
        <pc:spChg chg="add mod">
          <ac:chgData name="Daphne Economou" userId="d065a339-36cf-4937-af08-41751becbd81" providerId="ADAL" clId="{AA8CE1BA-735E-425E-ACC4-21B3AA2AC4A1}" dt="2024-09-23T10:09:28.065" v="425" actId="1076"/>
          <ac:spMkLst>
            <pc:docMk/>
            <pc:sldMk cId="0" sldId="445"/>
            <ac:spMk id="13" creationId="{5E9698E1-9A15-CDB1-1CC1-067505E114C8}"/>
          </ac:spMkLst>
        </pc:spChg>
        <pc:grpChg chg="add mod">
          <ac:chgData name="Daphne Economou" userId="d065a339-36cf-4937-af08-41751becbd81" providerId="ADAL" clId="{AA8CE1BA-735E-425E-ACC4-21B3AA2AC4A1}" dt="2024-09-23T10:06:15.228" v="404" actId="164"/>
          <ac:grpSpMkLst>
            <pc:docMk/>
            <pc:sldMk cId="0" sldId="445"/>
            <ac:grpSpMk id="4" creationId="{D63860BC-DEF3-5D1D-4A77-6E9230D49E41}"/>
          </ac:grpSpMkLst>
        </pc:grpChg>
        <pc:grpChg chg="add mod">
          <ac:chgData name="Daphne Economou" userId="d065a339-36cf-4937-af08-41751becbd81" providerId="ADAL" clId="{AA8CE1BA-735E-425E-ACC4-21B3AA2AC4A1}" dt="2024-09-23T10:06:39.215" v="409" actId="1076"/>
          <ac:grpSpMkLst>
            <pc:docMk/>
            <pc:sldMk cId="0" sldId="445"/>
            <ac:grpSpMk id="5" creationId="{E609421C-C412-D61B-178D-BE8CB019848D}"/>
          </ac:grpSpMkLst>
        </pc:grpChg>
        <pc:graphicFrameChg chg="mod">
          <ac:chgData name="Daphne Economou" userId="d065a339-36cf-4937-af08-41751becbd81" providerId="ADAL" clId="{AA8CE1BA-735E-425E-ACC4-21B3AA2AC4A1}" dt="2024-09-23T10:06:34.617" v="408" actId="1076"/>
          <ac:graphicFrameMkLst>
            <pc:docMk/>
            <pc:sldMk cId="0" sldId="445"/>
            <ac:graphicFrameMk id="7" creationId="{00000000-0000-0000-0000-000000000000}"/>
          </ac:graphicFrameMkLst>
        </pc:graphicFrameChg>
      </pc:sldChg>
      <pc:sldChg chg="addSp delSp modSp mod modAnim">
        <pc:chgData name="Daphne Economou" userId="d065a339-36cf-4937-af08-41751becbd81" providerId="ADAL" clId="{AA8CE1BA-735E-425E-ACC4-21B3AA2AC4A1}" dt="2024-09-23T10:09:00.611" v="421" actId="1076"/>
        <pc:sldMkLst>
          <pc:docMk/>
          <pc:sldMk cId="2653138055" sldId="500"/>
        </pc:sldMkLst>
        <pc:spChg chg="mod">
          <ac:chgData name="Daphne Economou" userId="d065a339-36cf-4937-af08-41751becbd81" providerId="ADAL" clId="{AA8CE1BA-735E-425E-ACC4-21B3AA2AC4A1}" dt="2024-09-23T08:39:59.844" v="27" actId="14100"/>
          <ac:spMkLst>
            <pc:docMk/>
            <pc:sldMk cId="2653138055" sldId="500"/>
            <ac:spMk id="3" creationId="{49A15DB1-F423-2557-8EF4-A4AA3DF8F4F5}"/>
          </ac:spMkLst>
        </pc:spChg>
        <pc:spChg chg="mod">
          <ac:chgData name="Daphne Economou" userId="d065a339-36cf-4937-af08-41751becbd81" providerId="ADAL" clId="{AA8CE1BA-735E-425E-ACC4-21B3AA2AC4A1}" dt="2024-09-23T08:39:04.515" v="20" actId="1076"/>
          <ac:spMkLst>
            <pc:docMk/>
            <pc:sldMk cId="2653138055" sldId="500"/>
            <ac:spMk id="6" creationId="{17E89EF0-17D9-71DD-A0FF-7C12DF9E03C1}"/>
          </ac:spMkLst>
        </pc:spChg>
        <pc:graphicFrameChg chg="mod">
          <ac:chgData name="Daphne Economou" userId="d065a339-36cf-4937-af08-41751becbd81" providerId="ADAL" clId="{AA8CE1BA-735E-425E-ACC4-21B3AA2AC4A1}" dt="2024-09-23T10:09:00.611" v="421" actId="1076"/>
          <ac:graphicFrameMkLst>
            <pc:docMk/>
            <pc:sldMk cId="2653138055" sldId="500"/>
            <ac:graphicFrameMk id="7" creationId="{A3A20EEF-00B6-B6C6-3AAF-FFDA506EE7FD}"/>
          </ac:graphicFrameMkLst>
        </pc:graphicFrameChg>
        <pc:cxnChg chg="add del">
          <ac:chgData name="Daphne Economou" userId="d065a339-36cf-4937-af08-41751becbd81" providerId="ADAL" clId="{AA8CE1BA-735E-425E-ACC4-21B3AA2AC4A1}" dt="2024-09-23T08:39:44.945" v="24" actId="478"/>
          <ac:cxnSpMkLst>
            <pc:docMk/>
            <pc:sldMk cId="2653138055" sldId="500"/>
            <ac:cxnSpMk id="9" creationId="{BC4F9A2E-E688-35C3-E3D0-445D1A75D1AE}"/>
          </ac:cxnSpMkLst>
        </pc:cxnChg>
      </pc:sldChg>
      <pc:sldChg chg="addSp delSp mod">
        <pc:chgData name="Daphne Economou" userId="d065a339-36cf-4937-af08-41751becbd81" providerId="ADAL" clId="{AA8CE1BA-735E-425E-ACC4-21B3AA2AC4A1}" dt="2024-09-23T08:44:39.972" v="61" actId="9405"/>
        <pc:sldMkLst>
          <pc:docMk/>
          <pc:sldMk cId="2136777718" sldId="504"/>
        </pc:sldMkLst>
        <pc:inkChg chg="add del">
          <ac:chgData name="Daphne Economou" userId="d065a339-36cf-4937-af08-41751becbd81" providerId="ADAL" clId="{AA8CE1BA-735E-425E-ACC4-21B3AA2AC4A1}" dt="2024-09-23T08:43:12.665" v="32" actId="9405"/>
          <ac:inkMkLst>
            <pc:docMk/>
            <pc:sldMk cId="2136777718" sldId="504"/>
            <ac:inkMk id="6" creationId="{055C2B44-0D7C-5B3B-644B-05356D2696F6}"/>
          </ac:inkMkLst>
        </pc:inkChg>
        <pc:inkChg chg="add del">
          <ac:chgData name="Daphne Economou" userId="d065a339-36cf-4937-af08-41751becbd81" providerId="ADAL" clId="{AA8CE1BA-735E-425E-ACC4-21B3AA2AC4A1}" dt="2024-09-23T08:43:36.996" v="38" actId="9405"/>
          <ac:inkMkLst>
            <pc:docMk/>
            <pc:sldMk cId="2136777718" sldId="504"/>
            <ac:inkMk id="8" creationId="{7CF05973-B29C-4116-26B4-AC61FCDC4546}"/>
          </ac:inkMkLst>
        </pc:inkChg>
        <pc:inkChg chg="add del">
          <ac:chgData name="Daphne Economou" userId="d065a339-36cf-4937-af08-41751becbd81" providerId="ADAL" clId="{AA8CE1BA-735E-425E-ACC4-21B3AA2AC4A1}" dt="2024-09-23T08:43:36.664" v="37" actId="9405"/>
          <ac:inkMkLst>
            <pc:docMk/>
            <pc:sldMk cId="2136777718" sldId="504"/>
            <ac:inkMk id="9" creationId="{7BF080E9-4468-4BFC-34B2-B47C8AE55BFC}"/>
          </ac:inkMkLst>
        </pc:inkChg>
        <pc:inkChg chg="add del">
          <ac:chgData name="Daphne Economou" userId="d065a339-36cf-4937-af08-41751becbd81" providerId="ADAL" clId="{AA8CE1BA-735E-425E-ACC4-21B3AA2AC4A1}" dt="2024-09-23T08:43:36.294" v="36" actId="9405"/>
          <ac:inkMkLst>
            <pc:docMk/>
            <pc:sldMk cId="2136777718" sldId="504"/>
            <ac:inkMk id="10" creationId="{67B679D1-3066-731E-D3F2-2DA04B23CC8D}"/>
          </ac:inkMkLst>
        </pc:inkChg>
        <pc:inkChg chg="add del">
          <ac:chgData name="Daphne Economou" userId="d065a339-36cf-4937-af08-41751becbd81" providerId="ADAL" clId="{AA8CE1BA-735E-425E-ACC4-21B3AA2AC4A1}" dt="2024-09-23T08:44:19.539" v="52" actId="478"/>
          <ac:inkMkLst>
            <pc:docMk/>
            <pc:sldMk cId="2136777718" sldId="504"/>
            <ac:inkMk id="11" creationId="{B08AD61B-388C-C15A-362B-1940E963D7DF}"/>
          </ac:inkMkLst>
        </pc:inkChg>
        <pc:inkChg chg="add del">
          <ac:chgData name="Daphne Economou" userId="d065a339-36cf-4937-af08-41751becbd81" providerId="ADAL" clId="{AA8CE1BA-735E-425E-ACC4-21B3AA2AC4A1}" dt="2024-09-23T08:44:17.974" v="50" actId="478"/>
          <ac:inkMkLst>
            <pc:docMk/>
            <pc:sldMk cId="2136777718" sldId="504"/>
            <ac:inkMk id="12" creationId="{609F681B-DE57-9C87-C712-1655FBD1F895}"/>
          </ac:inkMkLst>
        </pc:inkChg>
        <pc:inkChg chg="add del">
          <ac:chgData name="Daphne Economou" userId="d065a339-36cf-4937-af08-41751becbd81" providerId="ADAL" clId="{AA8CE1BA-735E-425E-ACC4-21B3AA2AC4A1}" dt="2024-09-23T08:44:17.539" v="49" actId="478"/>
          <ac:inkMkLst>
            <pc:docMk/>
            <pc:sldMk cId="2136777718" sldId="504"/>
            <ac:inkMk id="13" creationId="{45F5AC22-F37B-0C95-B788-841C22064B41}"/>
          </ac:inkMkLst>
        </pc:inkChg>
        <pc:inkChg chg="add del">
          <ac:chgData name="Daphne Economou" userId="d065a339-36cf-4937-af08-41751becbd81" providerId="ADAL" clId="{AA8CE1BA-735E-425E-ACC4-21B3AA2AC4A1}" dt="2024-09-23T08:44:15.289" v="46" actId="478"/>
          <ac:inkMkLst>
            <pc:docMk/>
            <pc:sldMk cId="2136777718" sldId="504"/>
            <ac:inkMk id="14" creationId="{AB7ADCF5-739C-E1E4-38B3-997739E34658}"/>
          </ac:inkMkLst>
        </pc:inkChg>
        <pc:inkChg chg="add del">
          <ac:chgData name="Daphne Economou" userId="d065a339-36cf-4937-af08-41751becbd81" providerId="ADAL" clId="{AA8CE1BA-735E-425E-ACC4-21B3AA2AC4A1}" dt="2024-09-23T08:44:18.615" v="51" actId="478"/>
          <ac:inkMkLst>
            <pc:docMk/>
            <pc:sldMk cId="2136777718" sldId="504"/>
            <ac:inkMk id="15" creationId="{7EFFBDFA-A4BC-E4E0-7F7E-B9FF679BD744}"/>
          </ac:inkMkLst>
        </pc:inkChg>
        <pc:inkChg chg="add del">
          <ac:chgData name="Daphne Economou" userId="d065a339-36cf-4937-af08-41751becbd81" providerId="ADAL" clId="{AA8CE1BA-735E-425E-ACC4-21B3AA2AC4A1}" dt="2024-09-23T08:44:16.786" v="48" actId="478"/>
          <ac:inkMkLst>
            <pc:docMk/>
            <pc:sldMk cId="2136777718" sldId="504"/>
            <ac:inkMk id="16" creationId="{B5B19C88-03AC-17CB-E24E-DB45D281E607}"/>
          </ac:inkMkLst>
        </pc:inkChg>
        <pc:inkChg chg="add del">
          <ac:chgData name="Daphne Economou" userId="d065a339-36cf-4937-af08-41751becbd81" providerId="ADAL" clId="{AA8CE1BA-735E-425E-ACC4-21B3AA2AC4A1}" dt="2024-09-23T08:44:15.962" v="47" actId="478"/>
          <ac:inkMkLst>
            <pc:docMk/>
            <pc:sldMk cId="2136777718" sldId="504"/>
            <ac:inkMk id="17" creationId="{84960BEF-09C8-DDE4-DC82-02BAE8DCA9E0}"/>
          </ac:inkMkLst>
        </pc:inkChg>
        <pc:inkChg chg="add del">
          <ac:chgData name="Daphne Economou" userId="d065a339-36cf-4937-af08-41751becbd81" providerId="ADAL" clId="{AA8CE1BA-735E-425E-ACC4-21B3AA2AC4A1}" dt="2024-09-23T08:44:25.454" v="54" actId="9405"/>
          <ac:inkMkLst>
            <pc:docMk/>
            <pc:sldMk cId="2136777718" sldId="504"/>
            <ac:inkMk id="18" creationId="{7B888865-82B9-C23B-97D8-4DDD62691D1F}"/>
          </ac:inkMkLst>
        </pc:inkChg>
        <pc:inkChg chg="add">
          <ac:chgData name="Daphne Economou" userId="d065a339-36cf-4937-af08-41751becbd81" providerId="ADAL" clId="{AA8CE1BA-735E-425E-ACC4-21B3AA2AC4A1}" dt="2024-09-23T08:44:27.173" v="55" actId="9405"/>
          <ac:inkMkLst>
            <pc:docMk/>
            <pc:sldMk cId="2136777718" sldId="504"/>
            <ac:inkMk id="19" creationId="{44591E82-4A62-9681-8225-99E245333EC5}"/>
          </ac:inkMkLst>
        </pc:inkChg>
        <pc:inkChg chg="add del">
          <ac:chgData name="Daphne Economou" userId="d065a339-36cf-4937-af08-41751becbd81" providerId="ADAL" clId="{AA8CE1BA-735E-425E-ACC4-21B3AA2AC4A1}" dt="2024-09-23T08:44:35.646" v="59" actId="9405"/>
          <ac:inkMkLst>
            <pc:docMk/>
            <pc:sldMk cId="2136777718" sldId="504"/>
            <ac:inkMk id="20" creationId="{21EB4030-2B3F-DDF4-F3B1-50735CD6E24A}"/>
          </ac:inkMkLst>
        </pc:inkChg>
        <pc:inkChg chg="add del">
          <ac:chgData name="Daphne Economou" userId="d065a339-36cf-4937-af08-41751becbd81" providerId="ADAL" clId="{AA8CE1BA-735E-425E-ACC4-21B3AA2AC4A1}" dt="2024-09-23T08:44:35.245" v="58" actId="9405"/>
          <ac:inkMkLst>
            <pc:docMk/>
            <pc:sldMk cId="2136777718" sldId="504"/>
            <ac:inkMk id="21" creationId="{6E006C05-7244-8AD3-726D-C824A3E3537A}"/>
          </ac:inkMkLst>
        </pc:inkChg>
        <pc:inkChg chg="add">
          <ac:chgData name="Daphne Economou" userId="d065a339-36cf-4937-af08-41751becbd81" providerId="ADAL" clId="{AA8CE1BA-735E-425E-ACC4-21B3AA2AC4A1}" dt="2024-09-23T08:44:38.268" v="60" actId="9405"/>
          <ac:inkMkLst>
            <pc:docMk/>
            <pc:sldMk cId="2136777718" sldId="504"/>
            <ac:inkMk id="22" creationId="{774D98D1-F23E-0516-4FF4-66A49AF7B448}"/>
          </ac:inkMkLst>
        </pc:inkChg>
        <pc:inkChg chg="add">
          <ac:chgData name="Daphne Economou" userId="d065a339-36cf-4937-af08-41751becbd81" providerId="ADAL" clId="{AA8CE1BA-735E-425E-ACC4-21B3AA2AC4A1}" dt="2024-09-23T08:44:39.972" v="61" actId="9405"/>
          <ac:inkMkLst>
            <pc:docMk/>
            <pc:sldMk cId="2136777718" sldId="504"/>
            <ac:inkMk id="23" creationId="{EDD55119-22EE-2F0E-61E7-5B4F67C2A492}"/>
          </ac:inkMkLst>
        </pc:inkChg>
      </pc:sldChg>
      <pc:sldChg chg="addSp modSp mod ord modAnim">
        <pc:chgData name="Daphne Economou" userId="d065a339-36cf-4937-af08-41751becbd81" providerId="ADAL" clId="{AA8CE1BA-735E-425E-ACC4-21B3AA2AC4A1}" dt="2024-09-23T10:29:06.030" v="613"/>
        <pc:sldMkLst>
          <pc:docMk/>
          <pc:sldMk cId="2451821490" sldId="505"/>
        </pc:sldMkLst>
        <pc:spChg chg="add mod">
          <ac:chgData name="Daphne Economou" userId="d065a339-36cf-4937-af08-41751becbd81" providerId="ADAL" clId="{AA8CE1BA-735E-425E-ACC4-21B3AA2AC4A1}" dt="2024-09-23T10:26:59.469" v="594" actId="1076"/>
          <ac:spMkLst>
            <pc:docMk/>
            <pc:sldMk cId="2451821490" sldId="505"/>
            <ac:spMk id="6" creationId="{104BD6F2-953E-0167-AA00-AF068B275E0C}"/>
          </ac:spMkLst>
        </pc:spChg>
        <pc:picChg chg="mod">
          <ac:chgData name="Daphne Economou" userId="d065a339-36cf-4937-af08-41751becbd81" providerId="ADAL" clId="{AA8CE1BA-735E-425E-ACC4-21B3AA2AC4A1}" dt="2024-09-23T10:28:52.836" v="610" actId="1076"/>
          <ac:picMkLst>
            <pc:docMk/>
            <pc:sldMk cId="2451821490" sldId="505"/>
            <ac:picMk id="7" creationId="{FB12A956-DF75-DFAD-F1C7-A34010705782}"/>
          </ac:picMkLst>
        </pc:picChg>
      </pc:sldChg>
      <pc:sldChg chg="addSp delSp modSp mod">
        <pc:chgData name="Daphne Economou" userId="d065a339-36cf-4937-af08-41751becbd81" providerId="ADAL" clId="{AA8CE1BA-735E-425E-ACC4-21B3AA2AC4A1}" dt="2024-09-23T18:40:08.846" v="798" actId="962"/>
        <pc:sldMkLst>
          <pc:docMk/>
          <pc:sldMk cId="2327315181" sldId="507"/>
        </pc:sldMkLst>
        <pc:spChg chg="mod">
          <ac:chgData name="Daphne Economou" userId="d065a339-36cf-4937-af08-41751becbd81" providerId="ADAL" clId="{AA8CE1BA-735E-425E-ACC4-21B3AA2AC4A1}" dt="2024-09-23T10:23:45.986" v="569" actId="20577"/>
          <ac:spMkLst>
            <pc:docMk/>
            <pc:sldMk cId="2327315181" sldId="507"/>
            <ac:spMk id="3" creationId="{40BD956A-67DD-57F0-90A9-0E0B6F1CEE5B}"/>
          </ac:spMkLst>
        </pc:spChg>
        <pc:grpChg chg="mod">
          <ac:chgData name="Daphne Economou" userId="d065a339-36cf-4937-af08-41751becbd81" providerId="ADAL" clId="{AA8CE1BA-735E-425E-ACC4-21B3AA2AC4A1}" dt="2024-09-23T10:18:21.303" v="517"/>
          <ac:grpSpMkLst>
            <pc:docMk/>
            <pc:sldMk cId="2327315181" sldId="507"/>
            <ac:grpSpMk id="8" creationId="{6EEDA52C-98E7-2977-028A-AC254E721A3B}"/>
          </ac:grpSpMkLst>
        </pc:grpChg>
        <pc:grpChg chg="mod">
          <ac:chgData name="Daphne Economou" userId="d065a339-36cf-4937-af08-41751becbd81" providerId="ADAL" clId="{AA8CE1BA-735E-425E-ACC4-21B3AA2AC4A1}" dt="2024-09-23T10:18:20.501" v="514"/>
          <ac:grpSpMkLst>
            <pc:docMk/>
            <pc:sldMk cId="2327315181" sldId="507"/>
            <ac:grpSpMk id="11" creationId="{23B6B63D-75BD-6B02-4989-5EDCCC9D9602}"/>
          </ac:grpSpMkLst>
        </pc:grpChg>
        <pc:grpChg chg="mod">
          <ac:chgData name="Daphne Economou" userId="d065a339-36cf-4937-af08-41751becbd81" providerId="ADAL" clId="{AA8CE1BA-735E-425E-ACC4-21B3AA2AC4A1}" dt="2024-09-23T10:23:55.380" v="573" actId="1076"/>
          <ac:grpSpMkLst>
            <pc:docMk/>
            <pc:sldMk cId="2327315181" sldId="507"/>
            <ac:grpSpMk id="15" creationId="{8F6ED55F-382B-599F-AB32-AA48F4A25ACC}"/>
          </ac:grpSpMkLst>
        </pc:grpChg>
        <pc:grpChg chg="del mod">
          <ac:chgData name="Daphne Economou" userId="d065a339-36cf-4937-af08-41751becbd81" providerId="ADAL" clId="{AA8CE1BA-735E-425E-ACC4-21B3AA2AC4A1}" dt="2024-09-23T10:23:53.060" v="572" actId="478"/>
          <ac:grpSpMkLst>
            <pc:docMk/>
            <pc:sldMk cId="2327315181" sldId="507"/>
            <ac:grpSpMk id="18" creationId="{4850D7F1-B95E-8C58-D14A-091CD760EE8E}"/>
          </ac:grpSpMkLst>
        </pc:grpChg>
        <pc:grpChg chg="mod">
          <ac:chgData name="Daphne Economou" userId="d065a339-36cf-4937-af08-41751becbd81" providerId="ADAL" clId="{AA8CE1BA-735E-425E-ACC4-21B3AA2AC4A1}" dt="2024-09-23T10:24:17.001" v="580"/>
          <ac:grpSpMkLst>
            <pc:docMk/>
            <pc:sldMk cId="2327315181" sldId="507"/>
            <ac:grpSpMk id="31" creationId="{639CAA98-28C8-66E4-B9EC-AD384BC081C9}"/>
          </ac:grpSpMkLst>
        </pc:grpChg>
        <pc:grpChg chg="mod">
          <ac:chgData name="Daphne Economou" userId="d065a339-36cf-4937-af08-41751becbd81" providerId="ADAL" clId="{AA8CE1BA-735E-425E-ACC4-21B3AA2AC4A1}" dt="2024-09-23T10:24:22.142" v="584"/>
          <ac:grpSpMkLst>
            <pc:docMk/>
            <pc:sldMk cId="2327315181" sldId="507"/>
            <ac:grpSpMk id="34" creationId="{E96274F5-2C4F-7575-828F-BCE4EE9D0A23}"/>
          </ac:grpSpMkLst>
        </pc:grpChg>
        <pc:picChg chg="add mod">
          <ac:chgData name="Daphne Economou" userId="d065a339-36cf-4937-af08-41751becbd81" providerId="ADAL" clId="{AA8CE1BA-735E-425E-ACC4-21B3AA2AC4A1}" dt="2024-09-23T18:39:54.133" v="742" actId="962"/>
          <ac:picMkLst>
            <pc:docMk/>
            <pc:sldMk cId="2327315181" sldId="507"/>
            <ac:picMk id="22" creationId="{E57A528C-5F46-A093-D66B-D0D00D3DD4F4}"/>
          </ac:picMkLst>
        </pc:picChg>
        <pc:picChg chg="add mod">
          <ac:chgData name="Daphne Economou" userId="d065a339-36cf-4937-af08-41751becbd81" providerId="ADAL" clId="{AA8CE1BA-735E-425E-ACC4-21B3AA2AC4A1}" dt="2024-09-23T18:40:00.881" v="768" actId="962"/>
          <ac:picMkLst>
            <pc:docMk/>
            <pc:sldMk cId="2327315181" sldId="507"/>
            <ac:picMk id="24" creationId="{2B47607D-9A7C-4FE0-50EB-B4EA6960070F}"/>
          </ac:picMkLst>
        </pc:picChg>
        <pc:picChg chg="add mod">
          <ac:chgData name="Daphne Economou" userId="d065a339-36cf-4937-af08-41751becbd81" providerId="ADAL" clId="{AA8CE1BA-735E-425E-ACC4-21B3AA2AC4A1}" dt="2024-09-23T18:40:05.780" v="790" actId="962"/>
          <ac:picMkLst>
            <pc:docMk/>
            <pc:sldMk cId="2327315181" sldId="507"/>
            <ac:picMk id="26" creationId="{41831B75-AD27-2298-8D5A-6B4675C82803}"/>
          </ac:picMkLst>
        </pc:picChg>
        <pc:picChg chg="add mod">
          <ac:chgData name="Daphne Economou" userId="d065a339-36cf-4937-af08-41751becbd81" providerId="ADAL" clId="{AA8CE1BA-735E-425E-ACC4-21B3AA2AC4A1}" dt="2024-09-23T18:40:08.846" v="798" actId="962"/>
          <ac:picMkLst>
            <pc:docMk/>
            <pc:sldMk cId="2327315181" sldId="507"/>
            <ac:picMk id="28" creationId="{B3AB01D4-451D-D090-A4F3-B2C9BB935117}"/>
          </ac:picMkLst>
        </pc:picChg>
        <pc:inkChg chg="add del mod">
          <ac:chgData name="Daphne Economou" userId="d065a339-36cf-4937-af08-41751becbd81" providerId="ADAL" clId="{AA8CE1BA-735E-425E-ACC4-21B3AA2AC4A1}" dt="2024-09-23T10:18:21.786" v="518" actId="9405"/>
          <ac:inkMkLst>
            <pc:docMk/>
            <pc:sldMk cId="2327315181" sldId="507"/>
            <ac:inkMk id="6" creationId="{8FBF005A-30C7-63C2-AEC6-8C55AD4135BB}"/>
          </ac:inkMkLst>
        </pc:inkChg>
        <pc:inkChg chg="add del mod">
          <ac:chgData name="Daphne Economou" userId="d065a339-36cf-4937-af08-41751becbd81" providerId="ADAL" clId="{AA8CE1BA-735E-425E-ACC4-21B3AA2AC4A1}" dt="2024-09-23T10:18:21.303" v="517"/>
          <ac:inkMkLst>
            <pc:docMk/>
            <pc:sldMk cId="2327315181" sldId="507"/>
            <ac:inkMk id="7" creationId="{6669C5A4-A9D3-E3FC-486F-C19327249A4E}"/>
          </ac:inkMkLst>
        </pc:inkChg>
        <pc:inkChg chg="add del mod">
          <ac:chgData name="Daphne Economou" userId="d065a339-36cf-4937-af08-41751becbd81" providerId="ADAL" clId="{AA8CE1BA-735E-425E-ACC4-21B3AA2AC4A1}" dt="2024-09-23T10:18:20.847" v="515" actId="9405"/>
          <ac:inkMkLst>
            <pc:docMk/>
            <pc:sldMk cId="2327315181" sldId="507"/>
            <ac:inkMk id="9" creationId="{5E121F53-C77F-E504-538F-1234046575CC}"/>
          </ac:inkMkLst>
        </pc:inkChg>
        <pc:inkChg chg="add del mod">
          <ac:chgData name="Daphne Economou" userId="d065a339-36cf-4937-af08-41751becbd81" providerId="ADAL" clId="{AA8CE1BA-735E-425E-ACC4-21B3AA2AC4A1}" dt="2024-09-23T10:18:20.501" v="514"/>
          <ac:inkMkLst>
            <pc:docMk/>
            <pc:sldMk cId="2327315181" sldId="507"/>
            <ac:inkMk id="10" creationId="{FC2D9F12-5F34-7BEB-C594-7CA506C45690}"/>
          </ac:inkMkLst>
        </pc:inkChg>
        <pc:inkChg chg="add del">
          <ac:chgData name="Daphne Economou" userId="d065a339-36cf-4937-af08-41751becbd81" providerId="ADAL" clId="{AA8CE1BA-735E-425E-ACC4-21B3AA2AC4A1}" dt="2024-09-23T10:18:33.803" v="520" actId="9405"/>
          <ac:inkMkLst>
            <pc:docMk/>
            <pc:sldMk cId="2327315181" sldId="507"/>
            <ac:inkMk id="12" creationId="{7C472114-652F-BFA6-0B2B-06B05474E7AC}"/>
          </ac:inkMkLst>
        </pc:inkChg>
        <pc:inkChg chg="add mod">
          <ac:chgData name="Daphne Economou" userId="d065a339-36cf-4937-af08-41751becbd81" providerId="ADAL" clId="{AA8CE1BA-735E-425E-ACC4-21B3AA2AC4A1}" dt="2024-09-23T10:18:41.220" v="523"/>
          <ac:inkMkLst>
            <pc:docMk/>
            <pc:sldMk cId="2327315181" sldId="507"/>
            <ac:inkMk id="13" creationId="{F0F76A5A-F2AB-64C2-CB27-B46CC391B668}"/>
          </ac:inkMkLst>
        </pc:inkChg>
        <pc:inkChg chg="add mod">
          <ac:chgData name="Daphne Economou" userId="d065a339-36cf-4937-af08-41751becbd81" providerId="ADAL" clId="{AA8CE1BA-735E-425E-ACC4-21B3AA2AC4A1}" dt="2024-09-23T10:18:41.220" v="523"/>
          <ac:inkMkLst>
            <pc:docMk/>
            <pc:sldMk cId="2327315181" sldId="507"/>
            <ac:inkMk id="14" creationId="{F9D291A7-C0C9-CBDD-EF2E-BC0DAD8679D1}"/>
          </ac:inkMkLst>
        </pc:inkChg>
        <pc:inkChg chg="add mod">
          <ac:chgData name="Daphne Economou" userId="d065a339-36cf-4937-af08-41751becbd81" providerId="ADAL" clId="{AA8CE1BA-735E-425E-ACC4-21B3AA2AC4A1}" dt="2024-09-23T10:18:43.943" v="526"/>
          <ac:inkMkLst>
            <pc:docMk/>
            <pc:sldMk cId="2327315181" sldId="507"/>
            <ac:inkMk id="16" creationId="{65415C93-BF9F-EE20-315C-D5004D3D3567}"/>
          </ac:inkMkLst>
        </pc:inkChg>
        <pc:inkChg chg="add mod">
          <ac:chgData name="Daphne Economou" userId="d065a339-36cf-4937-af08-41751becbd81" providerId="ADAL" clId="{AA8CE1BA-735E-425E-ACC4-21B3AA2AC4A1}" dt="2024-09-23T10:18:43.943" v="526"/>
          <ac:inkMkLst>
            <pc:docMk/>
            <pc:sldMk cId="2327315181" sldId="507"/>
            <ac:inkMk id="17" creationId="{5377BD4D-E72F-1D28-3C1A-1B24B8A5B202}"/>
          </ac:inkMkLst>
        </pc:inkChg>
        <pc:inkChg chg="add del">
          <ac:chgData name="Daphne Economou" userId="d065a339-36cf-4937-af08-41751becbd81" providerId="ADAL" clId="{AA8CE1BA-735E-425E-ACC4-21B3AA2AC4A1}" dt="2024-09-23T10:18:49.100" v="530" actId="9405"/>
          <ac:inkMkLst>
            <pc:docMk/>
            <pc:sldMk cId="2327315181" sldId="507"/>
            <ac:inkMk id="19" creationId="{2A7264D2-D110-7A79-6CD5-6DA841B82FA3}"/>
          </ac:inkMkLst>
        </pc:inkChg>
        <pc:inkChg chg="add del">
          <ac:chgData name="Daphne Economou" userId="d065a339-36cf-4937-af08-41751becbd81" providerId="ADAL" clId="{AA8CE1BA-735E-425E-ACC4-21B3AA2AC4A1}" dt="2024-09-23T10:18:48.460" v="529" actId="9405"/>
          <ac:inkMkLst>
            <pc:docMk/>
            <pc:sldMk cId="2327315181" sldId="507"/>
            <ac:inkMk id="20" creationId="{863CF032-EA2A-EB48-3B39-A3D39ABA675E}"/>
          </ac:inkMkLst>
        </pc:inkChg>
        <pc:inkChg chg="add del mod">
          <ac:chgData name="Daphne Economou" userId="d065a339-36cf-4937-af08-41751becbd81" providerId="ADAL" clId="{AA8CE1BA-735E-425E-ACC4-21B3AA2AC4A1}" dt="2024-09-23T10:24:17.333" v="581" actId="9405"/>
          <ac:inkMkLst>
            <pc:docMk/>
            <pc:sldMk cId="2327315181" sldId="507"/>
            <ac:inkMk id="29" creationId="{A46185F2-A3FA-3D1D-4C23-6A35D54BA78E}"/>
          </ac:inkMkLst>
        </pc:inkChg>
        <pc:inkChg chg="add del mod">
          <ac:chgData name="Daphne Economou" userId="d065a339-36cf-4937-af08-41751becbd81" providerId="ADAL" clId="{AA8CE1BA-735E-425E-ACC4-21B3AA2AC4A1}" dt="2024-09-23T10:24:17.001" v="580"/>
          <ac:inkMkLst>
            <pc:docMk/>
            <pc:sldMk cId="2327315181" sldId="507"/>
            <ac:inkMk id="30" creationId="{F6592704-7F0C-7F4E-E43D-3E1591986CE0}"/>
          </ac:inkMkLst>
        </pc:inkChg>
        <pc:inkChg chg="add mod">
          <ac:chgData name="Daphne Economou" userId="d065a339-36cf-4937-af08-41751becbd81" providerId="ADAL" clId="{AA8CE1BA-735E-425E-ACC4-21B3AA2AC4A1}" dt="2024-09-23T10:24:22.142" v="584"/>
          <ac:inkMkLst>
            <pc:docMk/>
            <pc:sldMk cId="2327315181" sldId="507"/>
            <ac:inkMk id="32" creationId="{B9ECBCC2-ED62-3D17-9301-716BE293825A}"/>
          </ac:inkMkLst>
        </pc:inkChg>
        <pc:inkChg chg="add mod">
          <ac:chgData name="Daphne Economou" userId="d065a339-36cf-4937-af08-41751becbd81" providerId="ADAL" clId="{AA8CE1BA-735E-425E-ACC4-21B3AA2AC4A1}" dt="2024-09-23T10:24:22.142" v="584"/>
          <ac:inkMkLst>
            <pc:docMk/>
            <pc:sldMk cId="2327315181" sldId="507"/>
            <ac:inkMk id="33" creationId="{D62C2F4D-DA49-7AAD-0626-531602C33B27}"/>
          </ac:inkMkLst>
        </pc:inkChg>
      </pc:sldChg>
      <pc:sldChg chg="addSp delSp modSp mod">
        <pc:chgData name="Daphne Economou" userId="d065a339-36cf-4937-af08-41751becbd81" providerId="ADAL" clId="{AA8CE1BA-735E-425E-ACC4-21B3AA2AC4A1}" dt="2024-09-23T20:49:02.580" v="1235"/>
        <pc:sldMkLst>
          <pc:docMk/>
          <pc:sldMk cId="4067521836" sldId="522"/>
        </pc:sldMkLst>
        <pc:spChg chg="add del">
          <ac:chgData name="Daphne Economou" userId="d065a339-36cf-4937-af08-41751becbd81" providerId="ADAL" clId="{AA8CE1BA-735E-425E-ACC4-21B3AA2AC4A1}" dt="2024-09-23T10:36:21.234" v="694" actId="478"/>
          <ac:spMkLst>
            <pc:docMk/>
            <pc:sldMk cId="4067521836" sldId="522"/>
            <ac:spMk id="4" creationId="{B65B7A31-B72C-3700-3A36-09C4A3649618}"/>
          </ac:spMkLst>
        </pc:spChg>
        <pc:spChg chg="mod">
          <ac:chgData name="Daphne Economou" userId="d065a339-36cf-4937-af08-41751becbd81" providerId="ADAL" clId="{AA8CE1BA-735E-425E-ACC4-21B3AA2AC4A1}" dt="2024-09-23T10:36:56.262" v="704" actId="1076"/>
          <ac:spMkLst>
            <pc:docMk/>
            <pc:sldMk cId="4067521836" sldId="522"/>
            <ac:spMk id="5" creationId="{963212B6-B9A7-2DAB-8CA0-F5434C912232}"/>
          </ac:spMkLst>
        </pc:spChg>
        <pc:spChg chg="add del mod">
          <ac:chgData name="Daphne Economou" userId="d065a339-36cf-4937-af08-41751becbd81" providerId="ADAL" clId="{AA8CE1BA-735E-425E-ACC4-21B3AA2AC4A1}" dt="2024-09-23T10:36:56.262" v="704" actId="1076"/>
          <ac:spMkLst>
            <pc:docMk/>
            <pc:sldMk cId="4067521836" sldId="522"/>
            <ac:spMk id="11" creationId="{054C78CF-42C2-DD8E-596B-CB7E2936E489}"/>
          </ac:spMkLst>
        </pc:spChg>
        <pc:spChg chg="add del mod">
          <ac:chgData name="Daphne Economou" userId="d065a339-36cf-4937-af08-41751becbd81" providerId="ADAL" clId="{AA8CE1BA-735E-425E-ACC4-21B3AA2AC4A1}" dt="2024-09-23T10:36:56.262" v="704" actId="1076"/>
          <ac:spMkLst>
            <pc:docMk/>
            <pc:sldMk cId="4067521836" sldId="522"/>
            <ac:spMk id="12" creationId="{414AD375-637A-36E8-EAF1-94285D47D296}"/>
          </ac:spMkLst>
        </pc:spChg>
        <pc:spChg chg="add del mod">
          <ac:chgData name="Daphne Economou" userId="d065a339-36cf-4937-af08-41751becbd81" providerId="ADAL" clId="{AA8CE1BA-735E-425E-ACC4-21B3AA2AC4A1}" dt="2024-09-23T10:36:56.262" v="704" actId="1076"/>
          <ac:spMkLst>
            <pc:docMk/>
            <pc:sldMk cId="4067521836" sldId="522"/>
            <ac:spMk id="13" creationId="{DFDB9659-E7DB-5E0F-BA66-35A048A0BAF6}"/>
          </ac:spMkLst>
        </pc:spChg>
        <pc:spChg chg="mod">
          <ac:chgData name="Daphne Economou" userId="d065a339-36cf-4937-af08-41751becbd81" providerId="ADAL" clId="{AA8CE1BA-735E-425E-ACC4-21B3AA2AC4A1}" dt="2024-09-23T10:36:56.262" v="704" actId="1076"/>
          <ac:spMkLst>
            <pc:docMk/>
            <pc:sldMk cId="4067521836" sldId="522"/>
            <ac:spMk id="17" creationId="{0FED5868-338D-B78E-5B7D-5750191E56C9}"/>
          </ac:spMkLst>
        </pc:spChg>
        <pc:graphicFrameChg chg="mod">
          <ac:chgData name="Daphne Economou" userId="d065a339-36cf-4937-af08-41751becbd81" providerId="ADAL" clId="{AA8CE1BA-735E-425E-ACC4-21B3AA2AC4A1}" dt="2024-09-23T20:49:02.580" v="1235"/>
          <ac:graphicFrameMkLst>
            <pc:docMk/>
            <pc:sldMk cId="4067521836" sldId="522"/>
            <ac:graphicFrameMk id="10" creationId="{B80FA27F-8AFC-E907-3C16-E8D8B54A9806}"/>
          </ac:graphicFrameMkLst>
        </pc:graphicFrameChg>
        <pc:picChg chg="mod">
          <ac:chgData name="Daphne Economou" userId="d065a339-36cf-4937-af08-41751becbd81" providerId="ADAL" clId="{AA8CE1BA-735E-425E-ACC4-21B3AA2AC4A1}" dt="2024-09-23T10:36:56.262" v="704" actId="1076"/>
          <ac:picMkLst>
            <pc:docMk/>
            <pc:sldMk cId="4067521836" sldId="522"/>
            <ac:picMk id="9" creationId="{8C36EEAD-47C5-1A92-96C4-80C5A4610C2B}"/>
          </ac:picMkLst>
        </pc:picChg>
        <pc:picChg chg="mod">
          <ac:chgData name="Daphne Economou" userId="d065a339-36cf-4937-af08-41751becbd81" providerId="ADAL" clId="{AA8CE1BA-735E-425E-ACC4-21B3AA2AC4A1}" dt="2024-09-23T10:36:56.262" v="704" actId="1076"/>
          <ac:picMkLst>
            <pc:docMk/>
            <pc:sldMk cId="4067521836" sldId="522"/>
            <ac:picMk id="15" creationId="{7C4957CD-FA65-F029-AB95-86E1E2D33207}"/>
          </ac:picMkLst>
        </pc:picChg>
        <pc:picChg chg="mod">
          <ac:chgData name="Daphne Economou" userId="d065a339-36cf-4937-af08-41751becbd81" providerId="ADAL" clId="{AA8CE1BA-735E-425E-ACC4-21B3AA2AC4A1}" dt="2024-09-23T10:36:56.262" v="704" actId="1076"/>
          <ac:picMkLst>
            <pc:docMk/>
            <pc:sldMk cId="4067521836" sldId="522"/>
            <ac:picMk id="18" creationId="{F139844C-7E3E-902B-853F-D71CB5719E26}"/>
          </ac:picMkLst>
        </pc:picChg>
      </pc:sldChg>
      <pc:sldChg chg="modSp mod">
        <pc:chgData name="Daphne Economou" userId="d065a339-36cf-4937-af08-41751becbd81" providerId="ADAL" clId="{AA8CE1BA-735E-425E-ACC4-21B3AA2AC4A1}" dt="2024-09-23T10:34:27.244" v="690" actId="27636"/>
        <pc:sldMkLst>
          <pc:docMk/>
          <pc:sldMk cId="483566611" sldId="523"/>
        </pc:sldMkLst>
        <pc:spChg chg="mod">
          <ac:chgData name="Daphne Economou" userId="d065a339-36cf-4937-af08-41751becbd81" providerId="ADAL" clId="{AA8CE1BA-735E-425E-ACC4-21B3AA2AC4A1}" dt="2024-09-23T10:34:27.244" v="690" actId="27636"/>
          <ac:spMkLst>
            <pc:docMk/>
            <pc:sldMk cId="483566611" sldId="523"/>
            <ac:spMk id="3" creationId="{2BE05D69-DB85-EE03-F1CB-D67BC2597F1D}"/>
          </ac:spMkLst>
        </pc:spChg>
      </pc:sldChg>
      <pc:sldChg chg="addSp modSp mod">
        <pc:chgData name="Daphne Economou" userId="d065a339-36cf-4937-af08-41751becbd81" providerId="ADAL" clId="{AA8CE1BA-735E-425E-ACC4-21B3AA2AC4A1}" dt="2024-09-23T20:35:31.601" v="995" actId="1440"/>
        <pc:sldMkLst>
          <pc:docMk/>
          <pc:sldMk cId="1948013484" sldId="532"/>
        </pc:sldMkLst>
        <pc:spChg chg="mod">
          <ac:chgData name="Daphne Economou" userId="d065a339-36cf-4937-af08-41751becbd81" providerId="ADAL" clId="{AA8CE1BA-735E-425E-ACC4-21B3AA2AC4A1}" dt="2024-09-23T20:34:48.902" v="934" actId="14100"/>
          <ac:spMkLst>
            <pc:docMk/>
            <pc:sldMk cId="1948013484" sldId="532"/>
            <ac:spMk id="3" creationId="{6CB6AAA9-DE08-D530-D36B-CF4A2C1679F2}"/>
          </ac:spMkLst>
        </pc:spChg>
        <pc:picChg chg="add mod">
          <ac:chgData name="Daphne Economou" userId="d065a339-36cf-4937-af08-41751becbd81" providerId="ADAL" clId="{AA8CE1BA-735E-425E-ACC4-21B3AA2AC4A1}" dt="2024-09-23T20:35:29.977" v="994" actId="1440"/>
          <ac:picMkLst>
            <pc:docMk/>
            <pc:sldMk cId="1948013484" sldId="532"/>
            <ac:picMk id="9" creationId="{3F5AE190-975B-2798-D1AD-2DBA11ACD078}"/>
          </ac:picMkLst>
        </pc:picChg>
        <pc:picChg chg="add mod">
          <ac:chgData name="Daphne Economou" userId="d065a339-36cf-4937-af08-41751becbd81" providerId="ADAL" clId="{AA8CE1BA-735E-425E-ACC4-21B3AA2AC4A1}" dt="2024-09-23T20:35:31.601" v="995" actId="1440"/>
          <ac:picMkLst>
            <pc:docMk/>
            <pc:sldMk cId="1948013484" sldId="532"/>
            <ac:picMk id="11" creationId="{236AECCE-EEA6-3423-FA3B-4809C712C5B3}"/>
          </ac:picMkLst>
        </pc:picChg>
      </pc:sldChg>
      <pc:sldChg chg="addSp delSp modSp mod modClrScheme modAnim chgLayout">
        <pc:chgData name="Daphne Economou" userId="d065a339-36cf-4937-af08-41751becbd81" providerId="ADAL" clId="{AA8CE1BA-735E-425E-ACC4-21B3AA2AC4A1}" dt="2024-09-23T20:46:05.582" v="1218" actId="14100"/>
        <pc:sldMkLst>
          <pc:docMk/>
          <pc:sldMk cId="3237742001" sldId="533"/>
        </pc:sldMkLst>
        <pc:spChg chg="mod ord">
          <ac:chgData name="Daphne Economou" userId="d065a339-36cf-4937-af08-41751becbd81" providerId="ADAL" clId="{AA8CE1BA-735E-425E-ACC4-21B3AA2AC4A1}" dt="2024-09-23T20:42:31.363" v="1162" actId="1076"/>
          <ac:spMkLst>
            <pc:docMk/>
            <pc:sldMk cId="3237742001" sldId="533"/>
            <ac:spMk id="2" creationId="{E1C54DA1-9319-A9FE-1931-D8D6A84D7E58}"/>
          </ac:spMkLst>
        </pc:spChg>
        <pc:spChg chg="mod ord">
          <ac:chgData name="Daphne Economou" userId="d065a339-36cf-4937-af08-41751becbd81" providerId="ADAL" clId="{AA8CE1BA-735E-425E-ACC4-21B3AA2AC4A1}" dt="2024-09-23T20:46:05.582" v="1218" actId="14100"/>
          <ac:spMkLst>
            <pc:docMk/>
            <pc:sldMk cId="3237742001" sldId="533"/>
            <ac:spMk id="3" creationId="{6CB6AAA9-DE08-D530-D36B-CF4A2C1679F2}"/>
          </ac:spMkLst>
        </pc:spChg>
        <pc:spChg chg="mod ord">
          <ac:chgData name="Daphne Economou" userId="d065a339-36cf-4937-af08-41751becbd81" providerId="ADAL" clId="{AA8CE1BA-735E-425E-ACC4-21B3AA2AC4A1}" dt="2024-09-23T20:40:55.935" v="1111" actId="700"/>
          <ac:spMkLst>
            <pc:docMk/>
            <pc:sldMk cId="3237742001" sldId="533"/>
            <ac:spMk id="7" creationId="{1DF0880E-67D0-DFA1-F4C3-78F2B2131DD2}"/>
          </ac:spMkLst>
        </pc:spChg>
        <pc:spChg chg="mod ord">
          <ac:chgData name="Daphne Economou" userId="d065a339-36cf-4937-af08-41751becbd81" providerId="ADAL" clId="{AA8CE1BA-735E-425E-ACC4-21B3AA2AC4A1}" dt="2024-09-23T20:40:55.935" v="1111" actId="700"/>
          <ac:spMkLst>
            <pc:docMk/>
            <pc:sldMk cId="3237742001" sldId="533"/>
            <ac:spMk id="8" creationId="{2D5DCAAB-A78C-2AF1-FE60-60AB6A261F4D}"/>
          </ac:spMkLst>
        </pc:spChg>
        <pc:spChg chg="add mod ord">
          <ac:chgData name="Daphne Economou" userId="d065a339-36cf-4937-af08-41751becbd81" providerId="ADAL" clId="{AA8CE1BA-735E-425E-ACC4-21B3AA2AC4A1}" dt="2024-09-23T20:42:12.552" v="1146" actId="20577"/>
          <ac:spMkLst>
            <pc:docMk/>
            <pc:sldMk cId="3237742001" sldId="533"/>
            <ac:spMk id="14" creationId="{7036F72E-3688-353E-A494-29CFC854A3F2}"/>
          </ac:spMkLst>
        </pc:spChg>
        <pc:spChg chg="add mod ord">
          <ac:chgData name="Daphne Economou" userId="d065a339-36cf-4937-af08-41751becbd81" providerId="ADAL" clId="{AA8CE1BA-735E-425E-ACC4-21B3AA2AC4A1}" dt="2024-09-23T20:42:41.107" v="1166" actId="121"/>
          <ac:spMkLst>
            <pc:docMk/>
            <pc:sldMk cId="3237742001" sldId="533"/>
            <ac:spMk id="15" creationId="{7A27F0DB-FDE6-9C02-CF62-021C5AE8FEB5}"/>
          </ac:spMkLst>
        </pc:spChg>
        <pc:spChg chg="add mod ord">
          <ac:chgData name="Daphne Economou" userId="d065a339-36cf-4937-af08-41751becbd81" providerId="ADAL" clId="{AA8CE1BA-735E-425E-ACC4-21B3AA2AC4A1}" dt="2024-09-23T20:46:05.582" v="1218" actId="14100"/>
          <ac:spMkLst>
            <pc:docMk/>
            <pc:sldMk cId="3237742001" sldId="533"/>
            <ac:spMk id="16" creationId="{ED2E2708-1C3B-2805-D975-E6953662FC4C}"/>
          </ac:spMkLst>
        </pc:spChg>
        <pc:picChg chg="mod">
          <ac:chgData name="Daphne Economou" userId="d065a339-36cf-4937-af08-41751becbd81" providerId="ADAL" clId="{AA8CE1BA-735E-425E-ACC4-21B3AA2AC4A1}" dt="2024-09-23T20:45:06.605" v="1211" actId="1076"/>
          <ac:picMkLst>
            <pc:docMk/>
            <pc:sldMk cId="3237742001" sldId="533"/>
            <ac:picMk id="6" creationId="{81459514-1006-4B3E-5116-B3666BDC6C8E}"/>
          </ac:picMkLst>
        </pc:picChg>
        <pc:picChg chg="add del mod">
          <ac:chgData name="Daphne Economou" userId="d065a339-36cf-4937-af08-41751becbd81" providerId="ADAL" clId="{AA8CE1BA-735E-425E-ACC4-21B3AA2AC4A1}" dt="2024-09-23T20:38:08.948" v="1003" actId="478"/>
          <ac:picMkLst>
            <pc:docMk/>
            <pc:sldMk cId="3237742001" sldId="533"/>
            <ac:picMk id="9" creationId="{A41B4EFD-4DD9-19F3-120B-A05CE5A9EEF4}"/>
          </ac:picMkLst>
        </pc:picChg>
        <pc:picChg chg="add mod">
          <ac:chgData name="Daphne Economou" userId="d065a339-36cf-4937-af08-41751becbd81" providerId="ADAL" clId="{AA8CE1BA-735E-425E-ACC4-21B3AA2AC4A1}" dt="2024-09-23T20:46:02.792" v="1217" actId="1076"/>
          <ac:picMkLst>
            <pc:docMk/>
            <pc:sldMk cId="3237742001" sldId="533"/>
            <ac:picMk id="11" creationId="{F7F32954-0BBB-B08C-34A7-D38164CB175F}"/>
          </ac:picMkLst>
        </pc:picChg>
        <pc:picChg chg="add mod">
          <ac:chgData name="Daphne Economou" userId="d065a339-36cf-4937-af08-41751becbd81" providerId="ADAL" clId="{AA8CE1BA-735E-425E-ACC4-21B3AA2AC4A1}" dt="2024-09-23T20:45:20.591" v="1212" actId="1076"/>
          <ac:picMkLst>
            <pc:docMk/>
            <pc:sldMk cId="3237742001" sldId="533"/>
            <ac:picMk id="13" creationId="{FA34261E-1985-E1A0-BF01-E14046C8489A}"/>
          </ac:picMkLst>
        </pc:picChg>
      </pc:sldChg>
      <pc:sldChg chg="del">
        <pc:chgData name="Daphne Economou" userId="d065a339-36cf-4937-af08-41751becbd81" providerId="ADAL" clId="{AA8CE1BA-735E-425E-ACC4-21B3AA2AC4A1}" dt="2024-09-23T20:48:04.819" v="1233" actId="47"/>
        <pc:sldMkLst>
          <pc:docMk/>
          <pc:sldMk cId="4140527202" sldId="534"/>
        </pc:sldMkLst>
      </pc:sldChg>
      <pc:sldChg chg="addSp modSp mod">
        <pc:chgData name="Daphne Economou" userId="d065a339-36cf-4937-af08-41751becbd81" providerId="ADAL" clId="{AA8CE1BA-735E-425E-ACC4-21B3AA2AC4A1}" dt="2024-09-23T20:31:33.874" v="925" actId="1076"/>
        <pc:sldMkLst>
          <pc:docMk/>
          <pc:sldMk cId="1249287683" sldId="536"/>
        </pc:sldMkLst>
        <pc:spChg chg="mod">
          <ac:chgData name="Daphne Economou" userId="d065a339-36cf-4937-af08-41751becbd81" providerId="ADAL" clId="{AA8CE1BA-735E-425E-ACC4-21B3AA2AC4A1}" dt="2024-09-23T20:31:07.602" v="917" actId="1076"/>
          <ac:spMkLst>
            <pc:docMk/>
            <pc:sldMk cId="1249287683" sldId="536"/>
            <ac:spMk id="14" creationId="{B78FE8AD-5AD5-2D0D-13C9-34D78C0D43FA}"/>
          </ac:spMkLst>
        </pc:spChg>
        <pc:picChg chg="mod">
          <ac:chgData name="Daphne Economou" userId="d065a339-36cf-4937-af08-41751becbd81" providerId="ADAL" clId="{AA8CE1BA-735E-425E-ACC4-21B3AA2AC4A1}" dt="2024-09-23T20:31:32.052" v="924" actId="1076"/>
          <ac:picMkLst>
            <pc:docMk/>
            <pc:sldMk cId="1249287683" sldId="536"/>
            <ac:picMk id="4" creationId="{8B2E5A3D-3A6A-57BA-0613-7154009955DC}"/>
          </ac:picMkLst>
        </pc:picChg>
        <pc:picChg chg="add mod">
          <ac:chgData name="Daphne Economou" userId="d065a339-36cf-4937-af08-41751becbd81" providerId="ADAL" clId="{AA8CE1BA-735E-425E-ACC4-21B3AA2AC4A1}" dt="2024-09-23T20:31:33.874" v="925" actId="1076"/>
          <ac:picMkLst>
            <pc:docMk/>
            <pc:sldMk cId="1249287683" sldId="536"/>
            <ac:picMk id="5" creationId="{07B3A76E-B31F-948E-EF05-EE7F034C65B3}"/>
          </ac:picMkLst>
        </pc:picChg>
      </pc:sldChg>
      <pc:sldChg chg="modSp mod">
        <pc:chgData name="Daphne Economou" userId="d065a339-36cf-4937-af08-41751becbd81" providerId="ADAL" clId="{AA8CE1BA-735E-425E-ACC4-21B3AA2AC4A1}" dt="2024-09-23T20:49:47.956" v="1237" actId="948"/>
        <pc:sldMkLst>
          <pc:docMk/>
          <pc:sldMk cId="3059398196" sldId="543"/>
        </pc:sldMkLst>
        <pc:spChg chg="mod">
          <ac:chgData name="Daphne Economou" userId="d065a339-36cf-4937-af08-41751becbd81" providerId="ADAL" clId="{AA8CE1BA-735E-425E-ACC4-21B3AA2AC4A1}" dt="2024-09-23T20:49:47.956" v="1237" actId="948"/>
          <ac:spMkLst>
            <pc:docMk/>
            <pc:sldMk cId="3059398196" sldId="543"/>
            <ac:spMk id="3" creationId="{0C86352C-9393-C2E2-0A02-87C5FB7FFC7C}"/>
          </ac:spMkLst>
        </pc:spChg>
      </pc:sldChg>
      <pc:sldChg chg="modSp mod">
        <pc:chgData name="Daphne Economou" userId="d065a339-36cf-4937-af08-41751becbd81" providerId="ADAL" clId="{AA8CE1BA-735E-425E-ACC4-21B3AA2AC4A1}" dt="2024-09-23T20:49:57.798" v="1240" actId="404"/>
        <pc:sldMkLst>
          <pc:docMk/>
          <pc:sldMk cId="1626096056" sldId="544"/>
        </pc:sldMkLst>
        <pc:spChg chg="mod">
          <ac:chgData name="Daphne Economou" userId="d065a339-36cf-4937-af08-41751becbd81" providerId="ADAL" clId="{AA8CE1BA-735E-425E-ACC4-21B3AA2AC4A1}" dt="2024-09-23T20:49:57.798" v="1240" actId="404"/>
          <ac:spMkLst>
            <pc:docMk/>
            <pc:sldMk cId="1626096056" sldId="544"/>
            <ac:spMk id="3" creationId="{0C86352C-9393-C2E2-0A02-87C5FB7FFC7C}"/>
          </ac:spMkLst>
        </pc:spChg>
      </pc:sldChg>
      <pc:sldChg chg="del">
        <pc:chgData name="Daphne Economou" userId="d065a339-36cf-4937-af08-41751becbd81" providerId="ADAL" clId="{AA8CE1BA-735E-425E-ACC4-21B3AA2AC4A1}" dt="2024-09-23T10:35:25.696" v="691" actId="47"/>
        <pc:sldMkLst>
          <pc:docMk/>
          <pc:sldMk cId="4281215447" sldId="545"/>
        </pc:sldMkLst>
      </pc:sldChg>
      <pc:sldChg chg="modSp mod">
        <pc:chgData name="Daphne Economou" userId="d065a339-36cf-4937-af08-41751becbd81" providerId="ADAL" clId="{AA8CE1BA-735E-425E-ACC4-21B3AA2AC4A1}" dt="2024-09-23T09:18:56.796" v="392" actId="313"/>
        <pc:sldMkLst>
          <pc:docMk/>
          <pc:sldMk cId="2598871732" sldId="546"/>
        </pc:sldMkLst>
        <pc:spChg chg="mod">
          <ac:chgData name="Daphne Economou" userId="d065a339-36cf-4937-af08-41751becbd81" providerId="ADAL" clId="{AA8CE1BA-735E-425E-ACC4-21B3AA2AC4A1}" dt="2024-09-23T09:18:56.796" v="392" actId="313"/>
          <ac:spMkLst>
            <pc:docMk/>
            <pc:sldMk cId="2598871732" sldId="546"/>
            <ac:spMk id="37" creationId="{745D6F24-EB2D-40E1-4B70-B86F8570F55A}"/>
          </ac:spMkLst>
        </pc:spChg>
      </pc:sldChg>
      <pc:sldChg chg="addSp delSp modSp mod modAnim">
        <pc:chgData name="Daphne Economou" userId="d065a339-36cf-4937-af08-41751becbd81" providerId="ADAL" clId="{AA8CE1BA-735E-425E-ACC4-21B3AA2AC4A1}" dt="2024-09-23T09:19:41.317" v="397" actId="207"/>
        <pc:sldMkLst>
          <pc:docMk/>
          <pc:sldMk cId="3750455176" sldId="547"/>
        </pc:sldMkLst>
        <pc:spChg chg="add mod">
          <ac:chgData name="Daphne Economou" userId="d065a339-36cf-4937-af08-41751becbd81" providerId="ADAL" clId="{AA8CE1BA-735E-425E-ACC4-21B3AA2AC4A1}" dt="2024-09-23T09:19:41.317" v="397" actId="207"/>
          <ac:spMkLst>
            <pc:docMk/>
            <pc:sldMk cId="3750455176" sldId="547"/>
            <ac:spMk id="4" creationId="{D02DFCF5-E06D-A104-5E60-E4E24D1B339F}"/>
          </ac:spMkLst>
        </pc:spChg>
        <pc:spChg chg="add mod">
          <ac:chgData name="Daphne Economou" userId="d065a339-36cf-4937-af08-41751becbd81" providerId="ADAL" clId="{AA8CE1BA-735E-425E-ACC4-21B3AA2AC4A1}" dt="2024-09-23T09:19:41.317" v="397" actId="207"/>
          <ac:spMkLst>
            <pc:docMk/>
            <pc:sldMk cId="3750455176" sldId="547"/>
            <ac:spMk id="5" creationId="{3314C7C5-B94A-7545-0B31-8F062D3ED805}"/>
          </ac:spMkLst>
        </pc:spChg>
        <pc:spChg chg="add mod">
          <ac:chgData name="Daphne Economou" userId="d065a339-36cf-4937-af08-41751becbd81" providerId="ADAL" clId="{AA8CE1BA-735E-425E-ACC4-21B3AA2AC4A1}" dt="2024-09-23T09:19:41.317" v="397" actId="207"/>
          <ac:spMkLst>
            <pc:docMk/>
            <pc:sldMk cId="3750455176" sldId="547"/>
            <ac:spMk id="7" creationId="{D305FA51-2015-7DA3-940F-8EBD0D66AC80}"/>
          </ac:spMkLst>
        </pc:spChg>
        <pc:spChg chg="add del mod">
          <ac:chgData name="Daphne Economou" userId="d065a339-36cf-4937-af08-41751becbd81" providerId="ADAL" clId="{AA8CE1BA-735E-425E-ACC4-21B3AA2AC4A1}" dt="2024-09-23T08:53:54.821" v="156" actId="478"/>
          <ac:spMkLst>
            <pc:docMk/>
            <pc:sldMk cId="3750455176" sldId="547"/>
            <ac:spMk id="8" creationId="{CABD0BB7-271A-F231-75E5-E2917C57EF63}"/>
          </ac:spMkLst>
        </pc:spChg>
        <pc:spChg chg="mod">
          <ac:chgData name="Daphne Economou" userId="d065a339-36cf-4937-af08-41751becbd81" providerId="ADAL" clId="{AA8CE1BA-735E-425E-ACC4-21B3AA2AC4A1}" dt="2024-09-23T08:58:11.211" v="260" actId="164"/>
          <ac:spMkLst>
            <pc:docMk/>
            <pc:sldMk cId="3750455176" sldId="547"/>
            <ac:spMk id="18" creationId="{DC476618-2208-8074-E50A-88E12A3B6446}"/>
          </ac:spMkLst>
        </pc:spChg>
        <pc:spChg chg="add mod">
          <ac:chgData name="Daphne Economou" userId="d065a339-36cf-4937-af08-41751becbd81" providerId="ADAL" clId="{AA8CE1BA-735E-425E-ACC4-21B3AA2AC4A1}" dt="2024-09-23T09:19:10.950" v="393" actId="20577"/>
          <ac:spMkLst>
            <pc:docMk/>
            <pc:sldMk cId="3750455176" sldId="547"/>
            <ac:spMk id="22" creationId="{3EBFF440-A3E5-D6CC-3C1A-B0179AA6DDFB}"/>
          </ac:spMkLst>
        </pc:spChg>
        <pc:spChg chg="add mod">
          <ac:chgData name="Daphne Economou" userId="d065a339-36cf-4937-af08-41751becbd81" providerId="ADAL" clId="{AA8CE1BA-735E-425E-ACC4-21B3AA2AC4A1}" dt="2024-09-23T08:58:11.211" v="260" actId="164"/>
          <ac:spMkLst>
            <pc:docMk/>
            <pc:sldMk cId="3750455176" sldId="547"/>
            <ac:spMk id="23" creationId="{AD870FD6-3FFC-DB71-4DF0-8969E8C6FFC0}"/>
          </ac:spMkLst>
        </pc:spChg>
        <pc:spChg chg="add mod">
          <ac:chgData name="Daphne Economou" userId="d065a339-36cf-4937-af08-41751becbd81" providerId="ADAL" clId="{AA8CE1BA-735E-425E-ACC4-21B3AA2AC4A1}" dt="2024-09-23T08:58:11.211" v="260" actId="164"/>
          <ac:spMkLst>
            <pc:docMk/>
            <pc:sldMk cId="3750455176" sldId="547"/>
            <ac:spMk id="24" creationId="{B25097FC-94A1-68B7-5E67-4AE58FCC089C}"/>
          </ac:spMkLst>
        </pc:spChg>
        <pc:spChg chg="add mod">
          <ac:chgData name="Daphne Economou" userId="d065a339-36cf-4937-af08-41751becbd81" providerId="ADAL" clId="{AA8CE1BA-735E-425E-ACC4-21B3AA2AC4A1}" dt="2024-09-23T08:58:11.211" v="260" actId="164"/>
          <ac:spMkLst>
            <pc:docMk/>
            <pc:sldMk cId="3750455176" sldId="547"/>
            <ac:spMk id="25" creationId="{29F89098-9CBE-F181-6E69-42338CCE2733}"/>
          </ac:spMkLst>
        </pc:spChg>
        <pc:spChg chg="add mod ord">
          <ac:chgData name="Daphne Economou" userId="d065a339-36cf-4937-af08-41751becbd81" providerId="ADAL" clId="{AA8CE1BA-735E-425E-ACC4-21B3AA2AC4A1}" dt="2024-09-23T09:08:19.879" v="388" actId="14100"/>
          <ac:spMkLst>
            <pc:docMk/>
            <pc:sldMk cId="3750455176" sldId="547"/>
            <ac:spMk id="26" creationId="{77E22234-0965-A778-AF1F-30A3B8FCFD3A}"/>
          </ac:spMkLst>
        </pc:spChg>
        <pc:spChg chg="add mod">
          <ac:chgData name="Daphne Economou" userId="d065a339-36cf-4937-af08-41751becbd81" providerId="ADAL" clId="{AA8CE1BA-735E-425E-ACC4-21B3AA2AC4A1}" dt="2024-09-23T09:19:41.317" v="397" actId="207"/>
          <ac:spMkLst>
            <pc:docMk/>
            <pc:sldMk cId="3750455176" sldId="547"/>
            <ac:spMk id="28" creationId="{F98B918B-CBD2-81F0-9E4C-A4C1B9199189}"/>
          </ac:spMkLst>
        </pc:spChg>
        <pc:grpChg chg="add mod">
          <ac:chgData name="Daphne Economou" userId="d065a339-36cf-4937-af08-41751becbd81" providerId="ADAL" clId="{AA8CE1BA-735E-425E-ACC4-21B3AA2AC4A1}" dt="2024-09-23T09:01:35.530" v="327" actId="1076"/>
          <ac:grpSpMkLst>
            <pc:docMk/>
            <pc:sldMk cId="3750455176" sldId="547"/>
            <ac:grpSpMk id="27" creationId="{B4710B01-73EB-77BF-AB74-B66D6C1175EE}"/>
          </ac:grpSpMkLst>
        </pc:grpChg>
        <pc:grpChg chg="mod">
          <ac:chgData name="Daphne Economou" userId="d065a339-36cf-4937-af08-41751becbd81" providerId="ADAL" clId="{AA8CE1BA-735E-425E-ACC4-21B3AA2AC4A1}" dt="2024-09-23T09:03:52.199" v="343"/>
          <ac:grpSpMkLst>
            <pc:docMk/>
            <pc:sldMk cId="3750455176" sldId="547"/>
            <ac:grpSpMk id="31" creationId="{B19426EF-0F0D-6DF7-959D-1D1E00E5A1EF}"/>
          </ac:grpSpMkLst>
        </pc:grpChg>
        <pc:grpChg chg="mod">
          <ac:chgData name="Daphne Economou" userId="d065a339-36cf-4937-af08-41751becbd81" providerId="ADAL" clId="{AA8CE1BA-735E-425E-ACC4-21B3AA2AC4A1}" dt="2024-09-23T09:19:16.395" v="394" actId="1076"/>
          <ac:grpSpMkLst>
            <pc:docMk/>
            <pc:sldMk cId="3750455176" sldId="547"/>
            <ac:grpSpMk id="37" creationId="{68412E4E-E795-D3AE-7037-E12A21F94E6A}"/>
          </ac:grpSpMkLst>
        </pc:grpChg>
        <pc:grpChg chg="mod">
          <ac:chgData name="Daphne Economou" userId="d065a339-36cf-4937-af08-41751becbd81" providerId="ADAL" clId="{AA8CE1BA-735E-425E-ACC4-21B3AA2AC4A1}" dt="2024-09-23T09:05:09.976" v="356"/>
          <ac:grpSpMkLst>
            <pc:docMk/>
            <pc:sldMk cId="3750455176" sldId="547"/>
            <ac:grpSpMk id="40" creationId="{1EC4D363-CC08-79E0-F1B5-384342C72DE8}"/>
          </ac:grpSpMkLst>
        </pc:grpChg>
        <pc:grpChg chg="mod">
          <ac:chgData name="Daphne Economou" userId="d065a339-36cf-4937-af08-41751becbd81" providerId="ADAL" clId="{AA8CE1BA-735E-425E-ACC4-21B3AA2AC4A1}" dt="2024-09-23T09:05:13.939" v="359"/>
          <ac:grpSpMkLst>
            <pc:docMk/>
            <pc:sldMk cId="3750455176" sldId="547"/>
            <ac:grpSpMk id="43" creationId="{9FC9BF19-A837-7CFD-799D-1E3763979E93}"/>
          </ac:grpSpMkLst>
        </pc:grpChg>
        <pc:grpChg chg="mod">
          <ac:chgData name="Daphne Economou" userId="d065a339-36cf-4937-af08-41751becbd81" providerId="ADAL" clId="{AA8CE1BA-735E-425E-ACC4-21B3AA2AC4A1}" dt="2024-09-23T09:05:16.908" v="364"/>
          <ac:grpSpMkLst>
            <pc:docMk/>
            <pc:sldMk cId="3750455176" sldId="547"/>
            <ac:grpSpMk id="46" creationId="{753EBC2A-8AAF-F2A4-6C2B-2B6EE0A0881D}"/>
          </ac:grpSpMkLst>
        </pc:grpChg>
        <pc:grpChg chg="add mod">
          <ac:chgData name="Daphne Economou" userId="d065a339-36cf-4937-af08-41751becbd81" providerId="ADAL" clId="{AA8CE1BA-735E-425E-ACC4-21B3AA2AC4A1}" dt="2024-09-23T09:07:12.266" v="384" actId="164"/>
          <ac:grpSpMkLst>
            <pc:docMk/>
            <pc:sldMk cId="3750455176" sldId="547"/>
            <ac:grpSpMk id="48" creationId="{D9E31008-582D-6E08-1288-39C21AE12C76}"/>
          </ac:grpSpMkLst>
        </pc:grpChg>
        <pc:picChg chg="del mod">
          <ac:chgData name="Daphne Economou" userId="d065a339-36cf-4937-af08-41751becbd81" providerId="ADAL" clId="{AA8CE1BA-735E-425E-ACC4-21B3AA2AC4A1}" dt="2024-09-23T08:53:54.019" v="155" actId="478"/>
          <ac:picMkLst>
            <pc:docMk/>
            <pc:sldMk cId="3750455176" sldId="547"/>
            <ac:picMk id="11" creationId="{A130D49F-4C27-D85A-5EA6-F47EBA1D5C34}"/>
          </ac:picMkLst>
        </pc:picChg>
        <pc:inkChg chg="add del mod">
          <ac:chgData name="Daphne Economou" userId="d065a339-36cf-4937-af08-41751becbd81" providerId="ADAL" clId="{AA8CE1BA-735E-425E-ACC4-21B3AA2AC4A1}" dt="2024-09-23T09:03:52.575" v="344" actId="9405"/>
          <ac:inkMkLst>
            <pc:docMk/>
            <pc:sldMk cId="3750455176" sldId="547"/>
            <ac:inkMk id="29" creationId="{1BA960A2-D8FA-35B2-A48E-8EB810104100}"/>
          </ac:inkMkLst>
        </pc:inkChg>
        <pc:inkChg chg="add del mod">
          <ac:chgData name="Daphne Economou" userId="d065a339-36cf-4937-af08-41751becbd81" providerId="ADAL" clId="{AA8CE1BA-735E-425E-ACC4-21B3AA2AC4A1}" dt="2024-09-23T09:03:52.199" v="343"/>
          <ac:inkMkLst>
            <pc:docMk/>
            <pc:sldMk cId="3750455176" sldId="547"/>
            <ac:inkMk id="30" creationId="{9D2F3637-8707-7D36-E142-AE3986D4FDC3}"/>
          </ac:inkMkLst>
        </pc:inkChg>
        <pc:inkChg chg="add del">
          <ac:chgData name="Daphne Economou" userId="d065a339-36cf-4937-af08-41751becbd81" providerId="ADAL" clId="{AA8CE1BA-735E-425E-ACC4-21B3AA2AC4A1}" dt="2024-09-23T09:04:07.552" v="346" actId="9405"/>
          <ac:inkMkLst>
            <pc:docMk/>
            <pc:sldMk cId="3750455176" sldId="547"/>
            <ac:inkMk id="32" creationId="{EF021963-C44C-67F9-CB3C-0A16074388D6}"/>
          </ac:inkMkLst>
        </pc:inkChg>
        <pc:inkChg chg="add del">
          <ac:chgData name="Daphne Economou" userId="d065a339-36cf-4937-af08-41751becbd81" providerId="ADAL" clId="{AA8CE1BA-735E-425E-ACC4-21B3AA2AC4A1}" dt="2024-09-23T09:04:37.622" v="348" actId="9405"/>
          <ac:inkMkLst>
            <pc:docMk/>
            <pc:sldMk cId="3750455176" sldId="547"/>
            <ac:inkMk id="33" creationId="{D744E0AC-3EFE-C64F-5679-7147DCE8B90E}"/>
          </ac:inkMkLst>
        </pc:inkChg>
        <pc:inkChg chg="add del">
          <ac:chgData name="Daphne Economou" userId="d065a339-36cf-4937-af08-41751becbd81" providerId="ADAL" clId="{AA8CE1BA-735E-425E-ACC4-21B3AA2AC4A1}" dt="2024-09-23T09:04:45.574" v="350" actId="9405"/>
          <ac:inkMkLst>
            <pc:docMk/>
            <pc:sldMk cId="3750455176" sldId="547"/>
            <ac:inkMk id="34" creationId="{65CE8A16-061B-3E20-CB7B-E5EE961A8D27}"/>
          </ac:inkMkLst>
        </pc:inkChg>
        <pc:inkChg chg="add mod">
          <ac:chgData name="Daphne Economou" userId="d065a339-36cf-4937-af08-41751becbd81" providerId="ADAL" clId="{AA8CE1BA-735E-425E-ACC4-21B3AA2AC4A1}" dt="2024-09-23T09:05:06.263" v="353"/>
          <ac:inkMkLst>
            <pc:docMk/>
            <pc:sldMk cId="3750455176" sldId="547"/>
            <ac:inkMk id="35" creationId="{49977A91-AFE8-D6C6-1378-2EB7FE5796C1}"/>
          </ac:inkMkLst>
        </pc:inkChg>
        <pc:inkChg chg="add mod">
          <ac:chgData name="Daphne Economou" userId="d065a339-36cf-4937-af08-41751becbd81" providerId="ADAL" clId="{AA8CE1BA-735E-425E-ACC4-21B3AA2AC4A1}" dt="2024-09-23T09:05:06.263" v="353"/>
          <ac:inkMkLst>
            <pc:docMk/>
            <pc:sldMk cId="3750455176" sldId="547"/>
            <ac:inkMk id="36" creationId="{EB25D953-32D7-E619-CD26-CF503734BBA3}"/>
          </ac:inkMkLst>
        </pc:inkChg>
        <pc:inkChg chg="add mod">
          <ac:chgData name="Daphne Economou" userId="d065a339-36cf-4937-af08-41751becbd81" providerId="ADAL" clId="{AA8CE1BA-735E-425E-ACC4-21B3AA2AC4A1}" dt="2024-09-23T09:05:09.976" v="356"/>
          <ac:inkMkLst>
            <pc:docMk/>
            <pc:sldMk cId="3750455176" sldId="547"/>
            <ac:inkMk id="38" creationId="{D921C4CF-BD11-44E3-74A6-78D306E10CF5}"/>
          </ac:inkMkLst>
        </pc:inkChg>
        <pc:inkChg chg="add mod">
          <ac:chgData name="Daphne Economou" userId="d065a339-36cf-4937-af08-41751becbd81" providerId="ADAL" clId="{AA8CE1BA-735E-425E-ACC4-21B3AA2AC4A1}" dt="2024-09-23T09:05:09.976" v="356"/>
          <ac:inkMkLst>
            <pc:docMk/>
            <pc:sldMk cId="3750455176" sldId="547"/>
            <ac:inkMk id="39" creationId="{016851E6-0C40-FEEA-8C38-4B21AA316D44}"/>
          </ac:inkMkLst>
        </pc:inkChg>
        <pc:inkChg chg="add mod">
          <ac:chgData name="Daphne Economou" userId="d065a339-36cf-4937-af08-41751becbd81" providerId="ADAL" clId="{AA8CE1BA-735E-425E-ACC4-21B3AA2AC4A1}" dt="2024-09-23T09:05:13.939" v="359"/>
          <ac:inkMkLst>
            <pc:docMk/>
            <pc:sldMk cId="3750455176" sldId="547"/>
            <ac:inkMk id="41" creationId="{C4E8B725-5737-D91B-8A60-55E6C227A03F}"/>
          </ac:inkMkLst>
        </pc:inkChg>
        <pc:inkChg chg="add mod">
          <ac:chgData name="Daphne Economou" userId="d065a339-36cf-4937-af08-41751becbd81" providerId="ADAL" clId="{AA8CE1BA-735E-425E-ACC4-21B3AA2AC4A1}" dt="2024-09-23T09:05:13.939" v="359"/>
          <ac:inkMkLst>
            <pc:docMk/>
            <pc:sldMk cId="3750455176" sldId="547"/>
            <ac:inkMk id="42" creationId="{515C4C48-09C7-95E5-3296-210959582169}"/>
          </ac:inkMkLst>
        </pc:inkChg>
        <pc:inkChg chg="add mod">
          <ac:chgData name="Daphne Economou" userId="d065a339-36cf-4937-af08-41751becbd81" providerId="ADAL" clId="{AA8CE1BA-735E-425E-ACC4-21B3AA2AC4A1}" dt="2024-09-23T09:07:12.266" v="384" actId="164"/>
          <ac:inkMkLst>
            <pc:docMk/>
            <pc:sldMk cId="3750455176" sldId="547"/>
            <ac:inkMk id="44" creationId="{45783DDF-F77B-49DD-1C50-3613615D039F}"/>
          </ac:inkMkLst>
        </pc:inkChg>
        <pc:inkChg chg="add del mod">
          <ac:chgData name="Daphne Economou" userId="d065a339-36cf-4937-af08-41751becbd81" providerId="ADAL" clId="{AA8CE1BA-735E-425E-ACC4-21B3AA2AC4A1}" dt="2024-09-23T09:05:16.908" v="364"/>
          <ac:inkMkLst>
            <pc:docMk/>
            <pc:sldMk cId="3750455176" sldId="547"/>
            <ac:inkMk id="45" creationId="{803DA1DD-7D21-08B8-DA64-2FE4420858F7}"/>
          </ac:inkMkLst>
        </pc:inkChg>
        <pc:inkChg chg="add mod">
          <ac:chgData name="Daphne Economou" userId="d065a339-36cf-4937-af08-41751becbd81" providerId="ADAL" clId="{AA8CE1BA-735E-425E-ACC4-21B3AA2AC4A1}" dt="2024-09-23T09:07:12.266" v="384" actId="164"/>
          <ac:inkMkLst>
            <pc:docMk/>
            <pc:sldMk cId="3750455176" sldId="547"/>
            <ac:inkMk id="47" creationId="{DDA8AACB-705E-E08E-283B-9941C278B61E}"/>
          </ac:inkMkLst>
        </pc:inkChg>
        <pc:cxnChg chg="add mod">
          <ac:chgData name="Daphne Economou" userId="d065a339-36cf-4937-af08-41751becbd81" providerId="ADAL" clId="{AA8CE1BA-735E-425E-ACC4-21B3AA2AC4A1}" dt="2024-09-23T09:08:26.847" v="389" actId="14100"/>
          <ac:cxnSpMkLst>
            <pc:docMk/>
            <pc:sldMk cId="3750455176" sldId="547"/>
            <ac:cxnSpMk id="13" creationId="{AA66A3C1-FC67-CF4B-229E-D21B9B90CDF7}"/>
          </ac:cxnSpMkLst>
        </pc:cxnChg>
        <pc:cxnChg chg="add mod">
          <ac:chgData name="Daphne Economou" userId="d065a339-36cf-4937-af08-41751becbd81" providerId="ADAL" clId="{AA8CE1BA-735E-425E-ACC4-21B3AA2AC4A1}" dt="2024-09-23T09:08:37.574" v="390" actId="14100"/>
          <ac:cxnSpMkLst>
            <pc:docMk/>
            <pc:sldMk cId="3750455176" sldId="547"/>
            <ac:cxnSpMk id="14" creationId="{11E21687-5529-B0E1-755C-5829E7AAF28D}"/>
          </ac:cxnSpMkLst>
        </pc:cxnChg>
        <pc:cxnChg chg="add mod">
          <ac:chgData name="Daphne Economou" userId="d065a339-36cf-4937-af08-41751becbd81" providerId="ADAL" clId="{AA8CE1BA-735E-425E-ACC4-21B3AA2AC4A1}" dt="2024-09-23T08:58:11.211" v="260" actId="164"/>
          <ac:cxnSpMkLst>
            <pc:docMk/>
            <pc:sldMk cId="3750455176" sldId="547"/>
            <ac:cxnSpMk id="17" creationId="{A64E0359-AC53-CA3F-C9D9-8357280F3E27}"/>
          </ac:cxnSpMkLst>
        </pc:cxnChg>
        <pc:cxnChg chg="add mod">
          <ac:chgData name="Daphne Economou" userId="d065a339-36cf-4937-af08-41751becbd81" providerId="ADAL" clId="{AA8CE1BA-735E-425E-ACC4-21B3AA2AC4A1}" dt="2024-09-23T08:58:11.211" v="260" actId="164"/>
          <ac:cxnSpMkLst>
            <pc:docMk/>
            <pc:sldMk cId="3750455176" sldId="547"/>
            <ac:cxnSpMk id="19" creationId="{1CCC6650-0C27-EB62-027C-11E7A078B8B6}"/>
          </ac:cxnSpMkLst>
        </pc:cxnChg>
      </pc:sldChg>
      <pc:sldChg chg="del">
        <pc:chgData name="Daphne Economou" userId="d065a339-36cf-4937-af08-41751becbd81" providerId="ADAL" clId="{AA8CE1BA-735E-425E-ACC4-21B3AA2AC4A1}" dt="2024-09-23T09:09:41.128" v="391" actId="47"/>
        <pc:sldMkLst>
          <pc:docMk/>
          <pc:sldMk cId="983392531" sldId="548"/>
        </pc:sldMkLst>
      </pc:sldChg>
      <pc:sldChg chg="modSp mod">
        <pc:chgData name="Daphne Economou" userId="d065a339-36cf-4937-af08-41751becbd81" providerId="ADAL" clId="{AA8CE1BA-735E-425E-ACC4-21B3AA2AC4A1}" dt="2024-09-23T20:36:37.436" v="998" actId="1035"/>
        <pc:sldMkLst>
          <pc:docMk/>
          <pc:sldMk cId="3680376142" sldId="549"/>
        </pc:sldMkLst>
        <pc:spChg chg="mod">
          <ac:chgData name="Daphne Economou" userId="d065a339-36cf-4937-af08-41751becbd81" providerId="ADAL" clId="{AA8CE1BA-735E-425E-ACC4-21B3AA2AC4A1}" dt="2024-09-23T20:36:37.436" v="998" actId="1035"/>
          <ac:spMkLst>
            <pc:docMk/>
            <pc:sldMk cId="3680376142" sldId="549"/>
            <ac:spMk id="2" creationId="{BC9FF8DB-6CBB-A525-EAF0-4E38F6B516C4}"/>
          </ac:spMkLst>
        </pc:spChg>
      </pc:sldChg>
      <pc:sldChg chg="addSp delSp modSp new mod ord setBg modNotesTx">
        <pc:chgData name="Daphne Economou" userId="d065a339-36cf-4937-af08-41751becbd81" providerId="ADAL" clId="{AA8CE1BA-735E-425E-ACC4-21B3AA2AC4A1}" dt="2024-09-23T20:48:02.757" v="1232"/>
        <pc:sldMkLst>
          <pc:docMk/>
          <pc:sldMk cId="135949576" sldId="550"/>
        </pc:sldMkLst>
        <pc:spChg chg="mod">
          <ac:chgData name="Daphne Economou" userId="d065a339-36cf-4937-af08-41751becbd81" providerId="ADAL" clId="{AA8CE1BA-735E-425E-ACC4-21B3AA2AC4A1}" dt="2024-09-23T19:17:01.593" v="911" actId="6549"/>
          <ac:spMkLst>
            <pc:docMk/>
            <pc:sldMk cId="135949576" sldId="550"/>
            <ac:spMk id="2" creationId="{3D909CEF-97A7-4987-13E4-74FA76E14EC7}"/>
          </ac:spMkLst>
        </pc:spChg>
        <pc:spChg chg="del">
          <ac:chgData name="Daphne Economou" userId="d065a339-36cf-4937-af08-41751becbd81" providerId="ADAL" clId="{AA8CE1BA-735E-425E-ACC4-21B3AA2AC4A1}" dt="2024-09-23T19:07:49.503" v="807" actId="3680"/>
          <ac:spMkLst>
            <pc:docMk/>
            <pc:sldMk cId="135949576" sldId="550"/>
            <ac:spMk id="3" creationId="{BC483256-58E1-075C-9C28-2BCF8A1340ED}"/>
          </ac:spMkLst>
        </pc:spChg>
        <pc:graphicFrameChg chg="add mod ord modGraphic">
          <ac:chgData name="Daphne Economou" userId="d065a339-36cf-4937-af08-41751becbd81" providerId="ADAL" clId="{AA8CE1BA-735E-425E-ACC4-21B3AA2AC4A1}" dt="2024-09-23T19:11:49.795" v="855" actId="207"/>
          <ac:graphicFrameMkLst>
            <pc:docMk/>
            <pc:sldMk cId="135949576" sldId="550"/>
            <ac:graphicFrameMk id="6" creationId="{7D126FC0-19F9-ADED-E954-8C37D0742900}"/>
          </ac:graphicFrameMkLst>
        </pc:graphicFrameChg>
        <pc:picChg chg="add mod">
          <ac:chgData name="Daphne Economou" userId="d065a339-36cf-4937-af08-41751becbd81" providerId="ADAL" clId="{AA8CE1BA-735E-425E-ACC4-21B3AA2AC4A1}" dt="2024-09-23T19:16:52.306" v="907" actId="1076"/>
          <ac:picMkLst>
            <pc:docMk/>
            <pc:sldMk cId="135949576" sldId="550"/>
            <ac:picMk id="7" creationId="{B83C8A89-B0F9-6D19-EE5D-39AA15402411}"/>
          </ac:picMkLst>
        </pc:picChg>
      </pc:sldChg>
      <pc:sldChg chg="addSp delSp modSp new mod setBg">
        <pc:chgData name="Daphne Economou" userId="d065a339-36cf-4937-af08-41751becbd81" providerId="ADAL" clId="{AA8CE1BA-735E-425E-ACC4-21B3AA2AC4A1}" dt="2024-09-23T20:47:00.867" v="1229" actId="948"/>
        <pc:sldMkLst>
          <pc:docMk/>
          <pc:sldMk cId="1358559862" sldId="551"/>
        </pc:sldMkLst>
        <pc:spChg chg="mod">
          <ac:chgData name="Daphne Economou" userId="d065a339-36cf-4937-af08-41751becbd81" providerId="ADAL" clId="{AA8CE1BA-735E-425E-ACC4-21B3AA2AC4A1}" dt="2024-09-23T19:14:09.487" v="880" actId="1076"/>
          <ac:spMkLst>
            <pc:docMk/>
            <pc:sldMk cId="1358559862" sldId="551"/>
            <ac:spMk id="2" creationId="{54BFF807-615C-58BD-FB0E-1C70283F5895}"/>
          </ac:spMkLst>
        </pc:spChg>
        <pc:spChg chg="add del mod">
          <ac:chgData name="Daphne Economou" userId="d065a339-36cf-4937-af08-41751becbd81" providerId="ADAL" clId="{AA8CE1BA-735E-425E-ACC4-21B3AA2AC4A1}" dt="2024-09-23T20:47:00.867" v="1229" actId="948"/>
          <ac:spMkLst>
            <pc:docMk/>
            <pc:sldMk cId="1358559862" sldId="551"/>
            <ac:spMk id="3" creationId="{6A82C6C0-73AE-6D81-3622-6B3C0F062A3E}"/>
          </ac:spMkLst>
        </pc:spChg>
        <pc:spChg chg="add mod">
          <ac:chgData name="Daphne Economou" userId="d065a339-36cf-4937-af08-41751becbd81" providerId="ADAL" clId="{AA8CE1BA-735E-425E-ACC4-21B3AA2AC4A1}" dt="2024-09-23T19:13:33.670" v="867"/>
          <ac:spMkLst>
            <pc:docMk/>
            <pc:sldMk cId="1358559862" sldId="551"/>
            <ac:spMk id="6" creationId="{425021DD-3746-D236-089D-9B9E1A73D93A}"/>
          </ac:spMkLst>
        </pc:spChg>
        <pc:picChg chg="add mod">
          <ac:chgData name="Daphne Economou" userId="d065a339-36cf-4937-af08-41751becbd81" providerId="ADAL" clId="{AA8CE1BA-735E-425E-ACC4-21B3AA2AC4A1}" dt="2024-09-23T19:16:40.887" v="904"/>
          <ac:picMkLst>
            <pc:docMk/>
            <pc:sldMk cId="1358559862" sldId="551"/>
            <ac:picMk id="7" creationId="{64468388-642C-634D-48E2-D68FA4A8B87C}"/>
          </ac:picMkLst>
        </pc:picChg>
      </pc:sldChg>
      <pc:sldChg chg="addSp modSp add mod ord setBg">
        <pc:chgData name="Daphne Economou" userId="d065a339-36cf-4937-af08-41751becbd81" providerId="ADAL" clId="{AA8CE1BA-735E-425E-ACC4-21B3AA2AC4A1}" dt="2024-09-23T20:46:47.306" v="1225" actId="948"/>
        <pc:sldMkLst>
          <pc:docMk/>
          <pc:sldMk cId="1454263634" sldId="552"/>
        </pc:sldMkLst>
        <pc:spChg chg="mod">
          <ac:chgData name="Daphne Economou" userId="d065a339-36cf-4937-af08-41751becbd81" providerId="ADAL" clId="{AA8CE1BA-735E-425E-ACC4-21B3AA2AC4A1}" dt="2024-09-23T19:14:30.495" v="885" actId="20577"/>
          <ac:spMkLst>
            <pc:docMk/>
            <pc:sldMk cId="1454263634" sldId="552"/>
            <ac:spMk id="2" creationId="{54BFF807-615C-58BD-FB0E-1C70283F5895}"/>
          </ac:spMkLst>
        </pc:spChg>
        <pc:spChg chg="mod">
          <ac:chgData name="Daphne Economou" userId="d065a339-36cf-4937-af08-41751becbd81" providerId="ADAL" clId="{AA8CE1BA-735E-425E-ACC4-21B3AA2AC4A1}" dt="2024-09-23T20:46:47.306" v="1225" actId="948"/>
          <ac:spMkLst>
            <pc:docMk/>
            <pc:sldMk cId="1454263634" sldId="552"/>
            <ac:spMk id="3" creationId="{6A82C6C0-73AE-6D81-3622-6B3C0F062A3E}"/>
          </ac:spMkLst>
        </pc:spChg>
        <pc:picChg chg="add mod">
          <ac:chgData name="Daphne Economou" userId="d065a339-36cf-4937-af08-41751becbd81" providerId="ADAL" clId="{AA8CE1BA-735E-425E-ACC4-21B3AA2AC4A1}" dt="2024-09-23T19:16:39.147" v="903"/>
          <ac:picMkLst>
            <pc:docMk/>
            <pc:sldMk cId="1454263634" sldId="552"/>
            <ac:picMk id="6" creationId="{EF7F5085-4E50-3A33-F98C-A0EC77F6269A}"/>
          </ac:picMkLst>
        </pc:picChg>
      </pc:sldChg>
      <pc:sldChg chg="new del">
        <pc:chgData name="Daphne Economou" userId="d065a339-36cf-4937-af08-41751becbd81" providerId="ADAL" clId="{AA8CE1BA-735E-425E-ACC4-21B3AA2AC4A1}" dt="2024-09-23T19:17:28.506" v="913" actId="2696"/>
        <pc:sldMkLst>
          <pc:docMk/>
          <pc:sldMk cId="1259650675" sldId="553"/>
        </pc:sldMkLst>
      </pc:sldChg>
      <pc:sldMasterChg chg="modSp mod modSldLayout">
        <pc:chgData name="Daphne Economou" userId="d065a339-36cf-4937-af08-41751becbd81" providerId="ADAL" clId="{AA8CE1BA-735E-425E-ACC4-21B3AA2AC4A1}" dt="2024-09-23T20:55:48.930" v="1264" actId="20577"/>
        <pc:sldMasterMkLst>
          <pc:docMk/>
          <pc:sldMasterMk cId="0" sldId="2147483768"/>
        </pc:sldMasterMkLst>
        <pc:spChg chg="mod">
          <ac:chgData name="Daphne Economou" userId="d065a339-36cf-4937-af08-41751becbd81" providerId="ADAL" clId="{AA8CE1BA-735E-425E-ACC4-21B3AA2AC4A1}" dt="2024-09-23T20:55:05.599" v="1242" actId="20577"/>
          <ac:spMkLst>
            <pc:docMk/>
            <pc:sldMasterMk cId="0" sldId="2147483768"/>
            <ac:spMk id="23" creationId="{00000000-0000-0000-0000-000000000000}"/>
          </ac:spMkLst>
        </pc:spChg>
        <pc:sldLayoutChg chg="modSp mod">
          <pc:chgData name="Daphne Economou" userId="d065a339-36cf-4937-af08-41751becbd81" providerId="ADAL" clId="{AA8CE1BA-735E-425E-ACC4-21B3AA2AC4A1}" dt="2024-09-23T20:55:08.916" v="1244" actId="20577"/>
          <pc:sldLayoutMkLst>
            <pc:docMk/>
            <pc:sldMasterMk cId="0" sldId="2147483768"/>
            <pc:sldLayoutMk cId="0" sldId="2147483769"/>
          </pc:sldLayoutMkLst>
          <pc:spChg chg="mod">
            <ac:chgData name="Daphne Economou" userId="d065a339-36cf-4937-af08-41751becbd81" providerId="ADAL" clId="{AA8CE1BA-735E-425E-ACC4-21B3AA2AC4A1}" dt="2024-09-23T20:55:08.916" v="1244"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AA8CE1BA-735E-425E-ACC4-21B3AA2AC4A1}" dt="2024-09-23T20:55:12.403" v="1246" actId="20577"/>
          <pc:sldLayoutMkLst>
            <pc:docMk/>
            <pc:sldMasterMk cId="0" sldId="2147483768"/>
            <pc:sldLayoutMk cId="0" sldId="2147483770"/>
          </pc:sldLayoutMkLst>
          <pc:spChg chg="mod">
            <ac:chgData name="Daphne Economou" userId="d065a339-36cf-4937-af08-41751becbd81" providerId="ADAL" clId="{AA8CE1BA-735E-425E-ACC4-21B3AA2AC4A1}" dt="2024-09-23T20:55:12.403" v="1246"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AA8CE1BA-735E-425E-ACC4-21B3AA2AC4A1}" dt="2024-09-23T20:55:15.652" v="1248" actId="20577"/>
          <pc:sldLayoutMkLst>
            <pc:docMk/>
            <pc:sldMasterMk cId="0" sldId="2147483768"/>
            <pc:sldLayoutMk cId="0" sldId="2147483771"/>
          </pc:sldLayoutMkLst>
          <pc:spChg chg="mod">
            <ac:chgData name="Daphne Economou" userId="d065a339-36cf-4937-af08-41751becbd81" providerId="ADAL" clId="{AA8CE1BA-735E-425E-ACC4-21B3AA2AC4A1}" dt="2024-09-23T20:55:15.652" v="1248"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AA8CE1BA-735E-425E-ACC4-21B3AA2AC4A1}" dt="2024-09-23T20:55:19.192" v="1250" actId="20577"/>
          <pc:sldLayoutMkLst>
            <pc:docMk/>
            <pc:sldMasterMk cId="0" sldId="2147483768"/>
            <pc:sldLayoutMk cId="0" sldId="2147483772"/>
          </pc:sldLayoutMkLst>
          <pc:spChg chg="mod">
            <ac:chgData name="Daphne Economou" userId="d065a339-36cf-4937-af08-41751becbd81" providerId="ADAL" clId="{AA8CE1BA-735E-425E-ACC4-21B3AA2AC4A1}" dt="2024-09-23T20:55:19.192" v="1250"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AA8CE1BA-735E-425E-ACC4-21B3AA2AC4A1}" dt="2024-09-23T20:55:23.029" v="1252" actId="20577"/>
          <pc:sldLayoutMkLst>
            <pc:docMk/>
            <pc:sldMasterMk cId="0" sldId="2147483768"/>
            <pc:sldLayoutMk cId="0" sldId="2147483773"/>
          </pc:sldLayoutMkLst>
          <pc:spChg chg="mod">
            <ac:chgData name="Daphne Economou" userId="d065a339-36cf-4937-af08-41751becbd81" providerId="ADAL" clId="{AA8CE1BA-735E-425E-ACC4-21B3AA2AC4A1}" dt="2024-09-23T20:55:23.029" v="1252"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AA8CE1BA-735E-425E-ACC4-21B3AA2AC4A1}" dt="2024-09-23T20:55:26.681" v="1254" actId="20577"/>
          <pc:sldLayoutMkLst>
            <pc:docMk/>
            <pc:sldMasterMk cId="0" sldId="2147483768"/>
            <pc:sldLayoutMk cId="0" sldId="2147483774"/>
          </pc:sldLayoutMkLst>
          <pc:spChg chg="mod">
            <ac:chgData name="Daphne Economou" userId="d065a339-36cf-4937-af08-41751becbd81" providerId="ADAL" clId="{AA8CE1BA-735E-425E-ACC4-21B3AA2AC4A1}" dt="2024-09-23T20:55:26.681" v="1254"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AA8CE1BA-735E-425E-ACC4-21B3AA2AC4A1}" dt="2024-09-23T20:55:30.938" v="1256" actId="20577"/>
          <pc:sldLayoutMkLst>
            <pc:docMk/>
            <pc:sldMasterMk cId="0" sldId="2147483768"/>
            <pc:sldLayoutMk cId="0" sldId="2147483775"/>
          </pc:sldLayoutMkLst>
          <pc:spChg chg="mod">
            <ac:chgData name="Daphne Economou" userId="d065a339-36cf-4937-af08-41751becbd81" providerId="ADAL" clId="{AA8CE1BA-735E-425E-ACC4-21B3AA2AC4A1}" dt="2024-09-23T20:55:30.938" v="1256"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AA8CE1BA-735E-425E-ACC4-21B3AA2AC4A1}" dt="2024-09-23T20:55:34.976" v="1258" actId="20577"/>
          <pc:sldLayoutMkLst>
            <pc:docMk/>
            <pc:sldMasterMk cId="0" sldId="2147483768"/>
            <pc:sldLayoutMk cId="0" sldId="2147483776"/>
          </pc:sldLayoutMkLst>
          <pc:spChg chg="mod">
            <ac:chgData name="Daphne Economou" userId="d065a339-36cf-4937-af08-41751becbd81" providerId="ADAL" clId="{AA8CE1BA-735E-425E-ACC4-21B3AA2AC4A1}" dt="2024-09-23T20:55:34.976" v="1258"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AA8CE1BA-735E-425E-ACC4-21B3AA2AC4A1}" dt="2024-09-23T20:55:40.029" v="1260" actId="20577"/>
          <pc:sldLayoutMkLst>
            <pc:docMk/>
            <pc:sldMasterMk cId="0" sldId="2147483768"/>
            <pc:sldLayoutMk cId="0" sldId="2147483777"/>
          </pc:sldLayoutMkLst>
          <pc:spChg chg="mod">
            <ac:chgData name="Daphne Economou" userId="d065a339-36cf-4937-af08-41751becbd81" providerId="ADAL" clId="{AA8CE1BA-735E-425E-ACC4-21B3AA2AC4A1}" dt="2024-09-23T20:55:40.029" v="1260"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AA8CE1BA-735E-425E-ACC4-21B3AA2AC4A1}" dt="2024-09-23T20:55:44.175" v="1262" actId="20577"/>
          <pc:sldLayoutMkLst>
            <pc:docMk/>
            <pc:sldMasterMk cId="0" sldId="2147483768"/>
            <pc:sldLayoutMk cId="0" sldId="2147483778"/>
          </pc:sldLayoutMkLst>
          <pc:spChg chg="mod">
            <ac:chgData name="Daphne Economou" userId="d065a339-36cf-4937-af08-41751becbd81" providerId="ADAL" clId="{AA8CE1BA-735E-425E-ACC4-21B3AA2AC4A1}" dt="2024-09-23T20:55:44.175" v="1262"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AA8CE1BA-735E-425E-ACC4-21B3AA2AC4A1}" dt="2024-09-23T20:55:48.930" v="1264" actId="20577"/>
          <pc:sldLayoutMkLst>
            <pc:docMk/>
            <pc:sldMasterMk cId="0" sldId="2147483768"/>
            <pc:sldLayoutMk cId="0" sldId="2147483779"/>
          </pc:sldLayoutMkLst>
          <pc:spChg chg="mod">
            <ac:chgData name="Daphne Economou" userId="d065a339-36cf-4937-af08-41751becbd81" providerId="ADAL" clId="{AA8CE1BA-735E-425E-ACC4-21B3AA2AC4A1}" dt="2024-09-23T20:55:48.930" v="1264" actId="20577"/>
            <ac:spMkLst>
              <pc:docMk/>
              <pc:sldMasterMk cId="0" sldId="2147483768"/>
              <pc:sldLayoutMk cId="0" sldId="2147483779"/>
              <ac:spMk id="6" creationId="{00000000-0000-0000-0000-000000000000}"/>
            </ac:spMkLst>
          </pc:spChg>
        </pc:sldLayoutChg>
      </pc:sldMasterChg>
    </pc:docChg>
  </pc:docChgLst>
  <pc:docChgLst>
    <pc:chgData name="Daphne Economou" userId="d065a339-36cf-4937-af08-41751becbd81" providerId="ADAL" clId="{6372EA27-DDC9-43F9-B4E9-6C915F1D7FF1}"/>
    <pc:docChg chg="modSld">
      <pc:chgData name="Daphne Economou" userId="d065a339-36cf-4937-af08-41751becbd81" providerId="ADAL" clId="{6372EA27-DDC9-43F9-B4E9-6C915F1D7FF1}" dt="2023-10-20T19:22:11.416" v="212" actId="962"/>
      <pc:docMkLst>
        <pc:docMk/>
      </pc:docMkLst>
      <pc:sldChg chg="modSp mod">
        <pc:chgData name="Daphne Economou" userId="d065a339-36cf-4937-af08-41751becbd81" providerId="ADAL" clId="{6372EA27-DDC9-43F9-B4E9-6C915F1D7FF1}" dt="2023-10-20T19:20:53.764" v="186" actId="962"/>
        <pc:sldMkLst>
          <pc:docMk/>
          <pc:sldMk cId="0" sldId="384"/>
        </pc:sldMkLst>
        <pc:picChg chg="mod">
          <ac:chgData name="Daphne Economou" userId="d065a339-36cf-4937-af08-41751becbd81" providerId="ADAL" clId="{6372EA27-DDC9-43F9-B4E9-6C915F1D7FF1}" dt="2023-10-20T19:20:53.764" v="186" actId="962"/>
          <ac:picMkLst>
            <pc:docMk/>
            <pc:sldMk cId="0" sldId="384"/>
            <ac:picMk id="8" creationId="{6554F6DD-BABF-ABCE-6E86-70801CE1FE82}"/>
          </ac:picMkLst>
        </pc:picChg>
      </pc:sldChg>
      <pc:sldChg chg="modSp mod">
        <pc:chgData name="Daphne Economou" userId="d065a339-36cf-4937-af08-41751becbd81" providerId="ADAL" clId="{6372EA27-DDC9-43F9-B4E9-6C915F1D7FF1}" dt="2023-10-20T19:18:18.401" v="65" actId="962"/>
        <pc:sldMkLst>
          <pc:docMk/>
          <pc:sldMk cId="937723836" sldId="502"/>
        </pc:sldMkLst>
        <pc:picChg chg="mod">
          <ac:chgData name="Daphne Economou" userId="d065a339-36cf-4937-af08-41751becbd81" providerId="ADAL" clId="{6372EA27-DDC9-43F9-B4E9-6C915F1D7FF1}" dt="2023-10-20T19:18:18.401" v="65" actId="962"/>
          <ac:picMkLst>
            <pc:docMk/>
            <pc:sldMk cId="937723836" sldId="502"/>
            <ac:picMk id="7" creationId="{AE2A68A9-9CC7-92C8-C1FC-7464FDE0EDAD}"/>
          </ac:picMkLst>
        </pc:picChg>
      </pc:sldChg>
      <pc:sldChg chg="modSp mod">
        <pc:chgData name="Daphne Economou" userId="d065a339-36cf-4937-af08-41751becbd81" providerId="ADAL" clId="{6372EA27-DDC9-43F9-B4E9-6C915F1D7FF1}" dt="2023-10-20T19:18:38.077" v="67" actId="962"/>
        <pc:sldMkLst>
          <pc:docMk/>
          <pc:sldMk cId="2136777718" sldId="504"/>
        </pc:sldMkLst>
        <pc:picChg chg="mod">
          <ac:chgData name="Daphne Economou" userId="d065a339-36cf-4937-af08-41751becbd81" providerId="ADAL" clId="{6372EA27-DDC9-43F9-B4E9-6C915F1D7FF1}" dt="2023-10-20T19:18:38.077" v="67" actId="962"/>
          <ac:picMkLst>
            <pc:docMk/>
            <pc:sldMk cId="2136777718" sldId="504"/>
            <ac:picMk id="7" creationId="{0B571D1D-F9B9-2E59-A521-8EEC37D9ADB9}"/>
          </ac:picMkLst>
        </pc:picChg>
      </pc:sldChg>
      <pc:sldChg chg="modSp mod">
        <pc:chgData name="Daphne Economou" userId="d065a339-36cf-4937-af08-41751becbd81" providerId="ADAL" clId="{6372EA27-DDC9-43F9-B4E9-6C915F1D7FF1}" dt="2023-10-20T19:18:55.329" v="71" actId="962"/>
        <pc:sldMkLst>
          <pc:docMk/>
          <pc:sldMk cId="2451821490" sldId="505"/>
        </pc:sldMkLst>
        <pc:picChg chg="mod">
          <ac:chgData name="Daphne Economou" userId="d065a339-36cf-4937-af08-41751becbd81" providerId="ADAL" clId="{6372EA27-DDC9-43F9-B4E9-6C915F1D7FF1}" dt="2023-10-20T19:18:55.329" v="71" actId="962"/>
          <ac:picMkLst>
            <pc:docMk/>
            <pc:sldMk cId="2451821490" sldId="505"/>
            <ac:picMk id="7" creationId="{FB12A956-DF75-DFAD-F1C7-A34010705782}"/>
          </ac:picMkLst>
        </pc:picChg>
      </pc:sldChg>
      <pc:sldChg chg="modSp mod">
        <pc:chgData name="Daphne Economou" userId="d065a339-36cf-4937-af08-41751becbd81" providerId="ADAL" clId="{6372EA27-DDC9-43F9-B4E9-6C915F1D7FF1}" dt="2023-10-20T19:21:00.164" v="188" actId="962"/>
        <pc:sldMkLst>
          <pc:docMk/>
          <pc:sldMk cId="4167637269" sldId="508"/>
        </pc:sldMkLst>
        <pc:picChg chg="mod">
          <ac:chgData name="Daphne Economou" userId="d065a339-36cf-4937-af08-41751becbd81" providerId="ADAL" clId="{6372EA27-DDC9-43F9-B4E9-6C915F1D7FF1}" dt="2023-10-20T19:21:00.164" v="188" actId="962"/>
          <ac:picMkLst>
            <pc:docMk/>
            <pc:sldMk cId="4167637269" sldId="508"/>
            <ac:picMk id="6" creationId="{81459514-1006-4B3E-5116-B3666BDC6C8E}"/>
          </ac:picMkLst>
        </pc:picChg>
      </pc:sldChg>
      <pc:sldChg chg="modSp mod">
        <pc:chgData name="Daphne Economou" userId="d065a339-36cf-4937-af08-41751becbd81" providerId="ADAL" clId="{6372EA27-DDC9-43F9-B4E9-6C915F1D7FF1}" dt="2023-10-20T19:18:58.200" v="73" actId="962"/>
        <pc:sldMkLst>
          <pc:docMk/>
          <pc:sldMk cId="3039138819" sldId="512"/>
        </pc:sldMkLst>
        <pc:picChg chg="mod">
          <ac:chgData name="Daphne Economou" userId="d065a339-36cf-4937-af08-41751becbd81" providerId="ADAL" clId="{6372EA27-DDC9-43F9-B4E9-6C915F1D7FF1}" dt="2023-10-20T19:18:58.200" v="73" actId="962"/>
          <ac:picMkLst>
            <pc:docMk/>
            <pc:sldMk cId="3039138819" sldId="512"/>
            <ac:picMk id="7" creationId="{10D9AD69-1B25-BB35-6BC5-67AB3D31709F}"/>
          </ac:picMkLst>
        </pc:picChg>
      </pc:sldChg>
      <pc:sldChg chg="modSp mod">
        <pc:chgData name="Daphne Economou" userId="d065a339-36cf-4937-af08-41751becbd81" providerId="ADAL" clId="{6372EA27-DDC9-43F9-B4E9-6C915F1D7FF1}" dt="2023-10-20T19:18:47.469" v="69" actId="962"/>
        <pc:sldMkLst>
          <pc:docMk/>
          <pc:sldMk cId="79881363" sldId="518"/>
        </pc:sldMkLst>
        <pc:picChg chg="mod">
          <ac:chgData name="Daphne Economou" userId="d065a339-36cf-4937-af08-41751becbd81" providerId="ADAL" clId="{6372EA27-DDC9-43F9-B4E9-6C915F1D7FF1}" dt="2023-10-20T19:18:47.469" v="69" actId="962"/>
          <ac:picMkLst>
            <pc:docMk/>
            <pc:sldMk cId="79881363" sldId="518"/>
            <ac:picMk id="12" creationId="{1EA73E1E-5744-2952-F2B0-BF14D8CF80E9}"/>
          </ac:picMkLst>
        </pc:picChg>
      </pc:sldChg>
      <pc:sldChg chg="modSp mod">
        <pc:chgData name="Daphne Economou" userId="d065a339-36cf-4937-af08-41751becbd81" providerId="ADAL" clId="{6372EA27-DDC9-43F9-B4E9-6C915F1D7FF1}" dt="2023-10-20T19:21:12.872" v="192" actId="962"/>
        <pc:sldMkLst>
          <pc:docMk/>
          <pc:sldMk cId="2811918015" sldId="524"/>
        </pc:sldMkLst>
        <pc:picChg chg="mod">
          <ac:chgData name="Daphne Economou" userId="d065a339-36cf-4937-af08-41751becbd81" providerId="ADAL" clId="{6372EA27-DDC9-43F9-B4E9-6C915F1D7FF1}" dt="2023-10-20T19:21:12.872" v="192" actId="962"/>
          <ac:picMkLst>
            <pc:docMk/>
            <pc:sldMk cId="2811918015" sldId="524"/>
            <ac:picMk id="16" creationId="{6391F72F-84B0-3B52-5450-A665FFEEF8A1}"/>
          </ac:picMkLst>
        </pc:picChg>
      </pc:sldChg>
      <pc:sldChg chg="modSp mod">
        <pc:chgData name="Daphne Economou" userId="d065a339-36cf-4937-af08-41751becbd81" providerId="ADAL" clId="{6372EA27-DDC9-43F9-B4E9-6C915F1D7FF1}" dt="2023-10-20T19:21:10.209" v="191" actId="962"/>
        <pc:sldMkLst>
          <pc:docMk/>
          <pc:sldMk cId="1072505172" sldId="525"/>
        </pc:sldMkLst>
        <pc:picChg chg="mod">
          <ac:chgData name="Daphne Economou" userId="d065a339-36cf-4937-af08-41751becbd81" providerId="ADAL" clId="{6372EA27-DDC9-43F9-B4E9-6C915F1D7FF1}" dt="2023-10-20T19:21:10.209" v="191" actId="962"/>
          <ac:picMkLst>
            <pc:docMk/>
            <pc:sldMk cId="1072505172" sldId="525"/>
            <ac:picMk id="5" creationId="{1F758593-A132-D25B-2B06-F5151DDEF9F0}"/>
          </ac:picMkLst>
        </pc:picChg>
      </pc:sldChg>
      <pc:sldChg chg="modSp mod">
        <pc:chgData name="Daphne Economou" userId="d065a339-36cf-4937-af08-41751becbd81" providerId="ADAL" clId="{6372EA27-DDC9-43F9-B4E9-6C915F1D7FF1}" dt="2023-10-20T19:21:19.271" v="193" actId="962"/>
        <pc:sldMkLst>
          <pc:docMk/>
          <pc:sldMk cId="1529321020" sldId="526"/>
        </pc:sldMkLst>
        <pc:picChg chg="mod">
          <ac:chgData name="Daphne Economou" userId="d065a339-36cf-4937-af08-41751becbd81" providerId="ADAL" clId="{6372EA27-DDC9-43F9-B4E9-6C915F1D7FF1}" dt="2023-10-20T19:21:19.271" v="193" actId="962"/>
          <ac:picMkLst>
            <pc:docMk/>
            <pc:sldMk cId="1529321020" sldId="526"/>
            <ac:picMk id="4" creationId="{A7815DC5-F546-A5A0-BC62-52BD808B78B4}"/>
          </ac:picMkLst>
        </pc:picChg>
      </pc:sldChg>
      <pc:sldChg chg="modSp mod">
        <pc:chgData name="Daphne Economou" userId="d065a339-36cf-4937-af08-41751becbd81" providerId="ADAL" clId="{6372EA27-DDC9-43F9-B4E9-6C915F1D7FF1}" dt="2023-10-20T19:21:26.650" v="195" actId="962"/>
        <pc:sldMkLst>
          <pc:docMk/>
          <pc:sldMk cId="1535468692" sldId="530"/>
        </pc:sldMkLst>
        <pc:picChg chg="mod">
          <ac:chgData name="Daphne Economou" userId="d065a339-36cf-4937-af08-41751becbd81" providerId="ADAL" clId="{6372EA27-DDC9-43F9-B4E9-6C915F1D7FF1}" dt="2023-10-20T19:21:26.650" v="195" actId="962"/>
          <ac:picMkLst>
            <pc:docMk/>
            <pc:sldMk cId="1535468692" sldId="530"/>
            <ac:picMk id="4" creationId="{17F45560-519B-0302-620B-247CB4ADDF1A}"/>
          </ac:picMkLst>
        </pc:picChg>
      </pc:sldChg>
      <pc:sldChg chg="modSp mod">
        <pc:chgData name="Daphne Economou" userId="d065a339-36cf-4937-af08-41751becbd81" providerId="ADAL" clId="{6372EA27-DDC9-43F9-B4E9-6C915F1D7FF1}" dt="2023-10-20T19:21:31.529" v="198" actId="962"/>
        <pc:sldMkLst>
          <pc:docMk/>
          <pc:sldMk cId="1948013484" sldId="532"/>
        </pc:sldMkLst>
        <pc:picChg chg="mod">
          <ac:chgData name="Daphne Economou" userId="d065a339-36cf-4937-af08-41751becbd81" providerId="ADAL" clId="{6372EA27-DDC9-43F9-B4E9-6C915F1D7FF1}" dt="2023-10-20T19:21:30.026" v="196" actId="962"/>
          <ac:picMkLst>
            <pc:docMk/>
            <pc:sldMk cId="1948013484" sldId="532"/>
            <ac:picMk id="5" creationId="{1C067600-0FED-749A-16ED-3B6459DCF7BE}"/>
          </ac:picMkLst>
        </pc:picChg>
        <pc:picChg chg="mod">
          <ac:chgData name="Daphne Economou" userId="d065a339-36cf-4937-af08-41751becbd81" providerId="ADAL" clId="{6372EA27-DDC9-43F9-B4E9-6C915F1D7FF1}" dt="2023-10-20T19:21:31.529" v="198" actId="962"/>
          <ac:picMkLst>
            <pc:docMk/>
            <pc:sldMk cId="1948013484" sldId="532"/>
            <ac:picMk id="6" creationId="{81459514-1006-4B3E-5116-B3666BDC6C8E}"/>
          </ac:picMkLst>
        </pc:picChg>
      </pc:sldChg>
      <pc:sldChg chg="modSp mod">
        <pc:chgData name="Daphne Economou" userId="d065a339-36cf-4937-af08-41751becbd81" providerId="ADAL" clId="{6372EA27-DDC9-43F9-B4E9-6C915F1D7FF1}" dt="2023-10-20T19:21:36.632" v="201" actId="962"/>
        <pc:sldMkLst>
          <pc:docMk/>
          <pc:sldMk cId="3237742001" sldId="533"/>
        </pc:sldMkLst>
        <pc:picChg chg="mod">
          <ac:chgData name="Daphne Economou" userId="d065a339-36cf-4937-af08-41751becbd81" providerId="ADAL" clId="{6372EA27-DDC9-43F9-B4E9-6C915F1D7FF1}" dt="2023-10-20T19:21:35.139" v="199" actId="962"/>
          <ac:picMkLst>
            <pc:docMk/>
            <pc:sldMk cId="3237742001" sldId="533"/>
            <ac:picMk id="5" creationId="{06034524-35F2-BB83-8AE0-D09ED847D249}"/>
          </ac:picMkLst>
        </pc:picChg>
        <pc:picChg chg="mod">
          <ac:chgData name="Daphne Economou" userId="d065a339-36cf-4937-af08-41751becbd81" providerId="ADAL" clId="{6372EA27-DDC9-43F9-B4E9-6C915F1D7FF1}" dt="2023-10-20T19:21:36.632" v="201" actId="962"/>
          <ac:picMkLst>
            <pc:docMk/>
            <pc:sldMk cId="3237742001" sldId="533"/>
            <ac:picMk id="6" creationId="{81459514-1006-4B3E-5116-B3666BDC6C8E}"/>
          </ac:picMkLst>
        </pc:picChg>
      </pc:sldChg>
      <pc:sldChg chg="modSp mod">
        <pc:chgData name="Daphne Economou" userId="d065a339-36cf-4937-af08-41751becbd81" providerId="ADAL" clId="{6372EA27-DDC9-43F9-B4E9-6C915F1D7FF1}" dt="2023-10-20T19:21:44.250" v="203" actId="962"/>
        <pc:sldMkLst>
          <pc:docMk/>
          <pc:sldMk cId="4140527202" sldId="534"/>
        </pc:sldMkLst>
        <pc:picChg chg="mod">
          <ac:chgData name="Daphne Economou" userId="d065a339-36cf-4937-af08-41751becbd81" providerId="ADAL" clId="{6372EA27-DDC9-43F9-B4E9-6C915F1D7FF1}" dt="2023-10-20T19:21:44.250" v="203" actId="962"/>
          <ac:picMkLst>
            <pc:docMk/>
            <pc:sldMk cId="4140527202" sldId="534"/>
            <ac:picMk id="4" creationId="{B2218523-BA5F-D5AA-2ECF-85B716034FA8}"/>
          </ac:picMkLst>
        </pc:picChg>
      </pc:sldChg>
      <pc:sldChg chg="modSp mod">
        <pc:chgData name="Daphne Economou" userId="d065a339-36cf-4937-af08-41751becbd81" providerId="ADAL" clId="{6372EA27-DDC9-43F9-B4E9-6C915F1D7FF1}" dt="2023-10-20T19:21:41.416" v="202" actId="962"/>
        <pc:sldMkLst>
          <pc:docMk/>
          <pc:sldMk cId="427789491" sldId="535"/>
        </pc:sldMkLst>
        <pc:picChg chg="mod">
          <ac:chgData name="Daphne Economou" userId="d065a339-36cf-4937-af08-41751becbd81" providerId="ADAL" clId="{6372EA27-DDC9-43F9-B4E9-6C915F1D7FF1}" dt="2023-10-20T19:21:41.416" v="202" actId="962"/>
          <ac:picMkLst>
            <pc:docMk/>
            <pc:sldMk cId="427789491" sldId="535"/>
            <ac:picMk id="2" creationId="{D4FB2375-FC3F-ECE5-4994-AB2F58CB1D9B}"/>
          </ac:picMkLst>
        </pc:picChg>
      </pc:sldChg>
      <pc:sldChg chg="modSp mod">
        <pc:chgData name="Daphne Economou" userId="d065a339-36cf-4937-af08-41751becbd81" providerId="ADAL" clId="{6372EA27-DDC9-43F9-B4E9-6C915F1D7FF1}" dt="2023-10-20T19:21:47.409" v="204" actId="962"/>
        <pc:sldMkLst>
          <pc:docMk/>
          <pc:sldMk cId="1249287683" sldId="536"/>
        </pc:sldMkLst>
        <pc:picChg chg="mod">
          <ac:chgData name="Daphne Economou" userId="d065a339-36cf-4937-af08-41751becbd81" providerId="ADAL" clId="{6372EA27-DDC9-43F9-B4E9-6C915F1D7FF1}" dt="2023-10-20T19:21:47.409" v="204" actId="962"/>
          <ac:picMkLst>
            <pc:docMk/>
            <pc:sldMk cId="1249287683" sldId="536"/>
            <ac:picMk id="4" creationId="{8B2E5A3D-3A6A-57BA-0613-7154009955DC}"/>
          </ac:picMkLst>
        </pc:picChg>
      </pc:sldChg>
      <pc:sldChg chg="modSp mod">
        <pc:chgData name="Daphne Economou" userId="d065a339-36cf-4937-af08-41751becbd81" providerId="ADAL" clId="{6372EA27-DDC9-43F9-B4E9-6C915F1D7FF1}" dt="2023-10-20T19:21:51.339" v="205" actId="962"/>
        <pc:sldMkLst>
          <pc:docMk/>
          <pc:sldMk cId="2884850475" sldId="537"/>
        </pc:sldMkLst>
        <pc:picChg chg="mod">
          <ac:chgData name="Daphne Economou" userId="d065a339-36cf-4937-af08-41751becbd81" providerId="ADAL" clId="{6372EA27-DDC9-43F9-B4E9-6C915F1D7FF1}" dt="2023-10-20T19:21:51.339" v="205" actId="962"/>
          <ac:picMkLst>
            <pc:docMk/>
            <pc:sldMk cId="2884850475" sldId="537"/>
            <ac:picMk id="4" creationId="{ECDCC71F-7C94-69ED-606A-8930BB46B1AC}"/>
          </ac:picMkLst>
        </pc:picChg>
        <pc:picChg chg="mod">
          <ac:chgData name="Daphne Economou" userId="d065a339-36cf-4937-af08-41751becbd81" providerId="ADAL" clId="{6372EA27-DDC9-43F9-B4E9-6C915F1D7FF1}" dt="2023-10-20T19:19:54.814" v="133" actId="962"/>
          <ac:picMkLst>
            <pc:docMk/>
            <pc:sldMk cId="2884850475" sldId="537"/>
            <ac:picMk id="11" creationId="{7D3FF555-3ED7-DC64-BF16-7A1729D58AFB}"/>
          </ac:picMkLst>
        </pc:picChg>
        <pc:picChg chg="mod">
          <ac:chgData name="Daphne Economou" userId="d065a339-36cf-4937-af08-41751becbd81" providerId="ADAL" clId="{6372EA27-DDC9-43F9-B4E9-6C915F1D7FF1}" dt="2023-10-20T19:19:45.690" v="85" actId="962"/>
          <ac:picMkLst>
            <pc:docMk/>
            <pc:sldMk cId="2884850475" sldId="537"/>
            <ac:picMk id="13" creationId="{ADCB6178-3D1D-A4AE-AC4E-97549EA68E2E}"/>
          </ac:picMkLst>
        </pc:picChg>
      </pc:sldChg>
      <pc:sldChg chg="modSp mod">
        <pc:chgData name="Daphne Economou" userId="d065a339-36cf-4937-af08-41751becbd81" providerId="ADAL" clId="{6372EA27-DDC9-43F9-B4E9-6C915F1D7FF1}" dt="2023-10-20T19:21:55.171" v="206" actId="962"/>
        <pc:sldMkLst>
          <pc:docMk/>
          <pc:sldMk cId="1526275156" sldId="538"/>
        </pc:sldMkLst>
        <pc:picChg chg="mod">
          <ac:chgData name="Daphne Economou" userId="d065a339-36cf-4937-af08-41751becbd81" providerId="ADAL" clId="{6372EA27-DDC9-43F9-B4E9-6C915F1D7FF1}" dt="2023-10-20T19:21:55.171" v="206" actId="962"/>
          <ac:picMkLst>
            <pc:docMk/>
            <pc:sldMk cId="1526275156" sldId="538"/>
            <ac:picMk id="4" creationId="{7D703C29-DB6B-9BF6-3903-D07356F8945D}"/>
          </ac:picMkLst>
        </pc:picChg>
        <pc:picChg chg="mod">
          <ac:chgData name="Daphne Economou" userId="d065a339-36cf-4937-af08-41751becbd81" providerId="ADAL" clId="{6372EA27-DDC9-43F9-B4E9-6C915F1D7FF1}" dt="2023-10-20T19:20:01.823" v="135" actId="962"/>
          <ac:picMkLst>
            <pc:docMk/>
            <pc:sldMk cId="1526275156" sldId="538"/>
            <ac:picMk id="9" creationId="{FFA2E80F-FA8E-D7FE-CB29-E1D68E0191AD}"/>
          </ac:picMkLst>
        </pc:picChg>
      </pc:sldChg>
      <pc:sldChg chg="modSp mod">
        <pc:chgData name="Daphne Economou" userId="d065a339-36cf-4937-af08-41751becbd81" providerId="ADAL" clId="{6372EA27-DDC9-43F9-B4E9-6C915F1D7FF1}" dt="2023-10-20T19:21:58.563" v="207" actId="962"/>
        <pc:sldMkLst>
          <pc:docMk/>
          <pc:sldMk cId="2265659737" sldId="539"/>
        </pc:sldMkLst>
        <pc:picChg chg="mod">
          <ac:chgData name="Daphne Economou" userId="d065a339-36cf-4937-af08-41751becbd81" providerId="ADAL" clId="{6372EA27-DDC9-43F9-B4E9-6C915F1D7FF1}" dt="2023-10-20T19:21:58.563" v="207" actId="962"/>
          <ac:picMkLst>
            <pc:docMk/>
            <pc:sldMk cId="2265659737" sldId="539"/>
            <ac:picMk id="4" creationId="{37726361-8E07-FE16-9401-B28947E81CB9}"/>
          </ac:picMkLst>
        </pc:picChg>
        <pc:picChg chg="mod">
          <ac:chgData name="Daphne Economou" userId="d065a339-36cf-4937-af08-41751becbd81" providerId="ADAL" clId="{6372EA27-DDC9-43F9-B4E9-6C915F1D7FF1}" dt="2023-10-20T19:20:10.273" v="137" actId="962"/>
          <ac:picMkLst>
            <pc:docMk/>
            <pc:sldMk cId="2265659737" sldId="539"/>
            <ac:picMk id="7" creationId="{FAE609C6-F938-A098-FDD6-E08E747F2ED4}"/>
          </ac:picMkLst>
        </pc:picChg>
      </pc:sldChg>
      <pc:sldChg chg="modSp mod">
        <pc:chgData name="Daphne Economou" userId="d065a339-36cf-4937-af08-41751becbd81" providerId="ADAL" clId="{6372EA27-DDC9-43F9-B4E9-6C915F1D7FF1}" dt="2023-10-20T19:22:02.468" v="209" actId="962"/>
        <pc:sldMkLst>
          <pc:docMk/>
          <pc:sldMk cId="3675959273" sldId="541"/>
        </pc:sldMkLst>
        <pc:picChg chg="mod">
          <ac:chgData name="Daphne Economou" userId="d065a339-36cf-4937-af08-41751becbd81" providerId="ADAL" clId="{6372EA27-DDC9-43F9-B4E9-6C915F1D7FF1}" dt="2023-10-20T19:20:28.843" v="140" actId="962"/>
          <ac:picMkLst>
            <pc:docMk/>
            <pc:sldMk cId="3675959273" sldId="541"/>
            <ac:picMk id="4" creationId="{6BCB2A48-EDFB-4861-6D63-9F88BF5022F9}"/>
          </ac:picMkLst>
        </pc:picChg>
        <pc:picChg chg="mod">
          <ac:chgData name="Daphne Economou" userId="d065a339-36cf-4937-af08-41751becbd81" providerId="ADAL" clId="{6372EA27-DDC9-43F9-B4E9-6C915F1D7FF1}" dt="2023-10-20T19:22:02.468" v="209" actId="962"/>
          <ac:picMkLst>
            <pc:docMk/>
            <pc:sldMk cId="3675959273" sldId="541"/>
            <ac:picMk id="6" creationId="{D415F4D3-E871-5FA6-23D9-DF7F4261B2A7}"/>
          </ac:picMkLst>
        </pc:picChg>
        <pc:picChg chg="mod">
          <ac:chgData name="Daphne Economou" userId="d065a339-36cf-4937-af08-41751becbd81" providerId="ADAL" clId="{6372EA27-DDC9-43F9-B4E9-6C915F1D7FF1}" dt="2023-10-20T19:20:26.167" v="139" actId="962"/>
          <ac:picMkLst>
            <pc:docMk/>
            <pc:sldMk cId="3675959273" sldId="541"/>
            <ac:picMk id="7" creationId="{086F0E8C-AE1F-3F2A-DCAD-3DD08D20C536}"/>
          </ac:picMkLst>
        </pc:picChg>
      </pc:sldChg>
      <pc:sldChg chg="modSp mod">
        <pc:chgData name="Daphne Economou" userId="d065a339-36cf-4937-af08-41751becbd81" providerId="ADAL" clId="{6372EA27-DDC9-43F9-B4E9-6C915F1D7FF1}" dt="2023-10-20T19:22:11.416" v="212" actId="962"/>
        <pc:sldMkLst>
          <pc:docMk/>
          <pc:sldMk cId="2155816806" sldId="542"/>
        </pc:sldMkLst>
        <pc:picChg chg="mod">
          <ac:chgData name="Daphne Economou" userId="d065a339-36cf-4937-af08-41751becbd81" providerId="ADAL" clId="{6372EA27-DDC9-43F9-B4E9-6C915F1D7FF1}" dt="2023-10-20T19:22:11.416" v="212" actId="962"/>
          <ac:picMkLst>
            <pc:docMk/>
            <pc:sldMk cId="2155816806" sldId="542"/>
            <ac:picMk id="4" creationId="{3F33171A-922B-0B96-DC7B-2185876F5515}"/>
          </ac:picMkLst>
        </pc:picChg>
      </pc:sldChg>
      <pc:sldChg chg="modSp mod">
        <pc:chgData name="Daphne Economou" userId="d065a339-36cf-4937-af08-41751becbd81" providerId="ADAL" clId="{6372EA27-DDC9-43F9-B4E9-6C915F1D7FF1}" dt="2023-10-20T19:22:05.655" v="210" actId="962"/>
        <pc:sldMkLst>
          <pc:docMk/>
          <pc:sldMk cId="3059398196" sldId="543"/>
        </pc:sldMkLst>
        <pc:picChg chg="mod">
          <ac:chgData name="Daphne Economou" userId="d065a339-36cf-4937-af08-41751becbd81" providerId="ADAL" clId="{6372EA27-DDC9-43F9-B4E9-6C915F1D7FF1}" dt="2023-10-20T19:22:05.655" v="210" actId="962"/>
          <ac:picMkLst>
            <pc:docMk/>
            <pc:sldMk cId="3059398196" sldId="543"/>
            <ac:picMk id="4" creationId="{F18F2BE6-C7E2-536B-53F6-A3213119942C}"/>
          </ac:picMkLst>
        </pc:picChg>
      </pc:sldChg>
      <pc:sldChg chg="modSp mod">
        <pc:chgData name="Daphne Economou" userId="d065a339-36cf-4937-af08-41751becbd81" providerId="ADAL" clId="{6372EA27-DDC9-43F9-B4E9-6C915F1D7FF1}" dt="2023-10-20T19:22:08.935" v="211" actId="962"/>
        <pc:sldMkLst>
          <pc:docMk/>
          <pc:sldMk cId="1626096056" sldId="544"/>
        </pc:sldMkLst>
        <pc:picChg chg="mod">
          <ac:chgData name="Daphne Economou" userId="d065a339-36cf-4937-af08-41751becbd81" providerId="ADAL" clId="{6372EA27-DDC9-43F9-B4E9-6C915F1D7FF1}" dt="2023-10-20T19:22:08.935" v="211" actId="962"/>
          <ac:picMkLst>
            <pc:docMk/>
            <pc:sldMk cId="1626096056" sldId="544"/>
            <ac:picMk id="4" creationId="{9CED9F86-0658-714E-DCDD-027D9B3A4C84}"/>
          </ac:picMkLst>
        </pc:picChg>
        <pc:picChg chg="mod">
          <ac:chgData name="Daphne Economou" userId="d065a339-36cf-4937-af08-41751becbd81" providerId="ADAL" clId="{6372EA27-DDC9-43F9-B4E9-6C915F1D7FF1}" dt="2023-10-20T19:20:38.447" v="142" actId="962"/>
          <ac:picMkLst>
            <pc:docMk/>
            <pc:sldMk cId="1626096056" sldId="544"/>
            <ac:picMk id="7" creationId="{A8507D84-40A9-56B5-1ED9-84F5A6779A17}"/>
          </ac:picMkLst>
        </pc:picChg>
        <pc:picChg chg="mod">
          <ac:chgData name="Daphne Economou" userId="d065a339-36cf-4937-af08-41751becbd81" providerId="ADAL" clId="{6372EA27-DDC9-43F9-B4E9-6C915F1D7FF1}" dt="2023-10-20T19:20:41.580" v="156" actId="962"/>
          <ac:picMkLst>
            <pc:docMk/>
            <pc:sldMk cId="1626096056" sldId="544"/>
            <ac:picMk id="9" creationId="{327ADCCF-89A0-A66A-0162-8FBBD6010F83}"/>
          </ac:picMkLst>
        </pc:picChg>
      </pc:sldChg>
      <pc:sldChg chg="modSp">
        <pc:chgData name="Daphne Economou" userId="d065a339-36cf-4937-af08-41751becbd81" providerId="ADAL" clId="{6372EA27-DDC9-43F9-B4E9-6C915F1D7FF1}" dt="2023-10-20T19:19:24.120" v="81" actId="962"/>
        <pc:sldMkLst>
          <pc:docMk/>
          <pc:sldMk cId="4281215447" sldId="545"/>
        </pc:sldMkLst>
        <pc:graphicFrameChg chg="mod">
          <ac:chgData name="Daphne Economou" userId="d065a339-36cf-4937-af08-41751becbd81" providerId="ADAL" clId="{6372EA27-DDC9-43F9-B4E9-6C915F1D7FF1}" dt="2023-10-20T19:19:24.120" v="81" actId="962"/>
          <ac:graphicFrameMkLst>
            <pc:docMk/>
            <pc:sldMk cId="4281215447" sldId="545"/>
            <ac:graphicFrameMk id="6" creationId="{A1AEE7A1-7427-2B0F-1B1A-286686DB07F3}"/>
          </ac:graphicFrameMkLst>
        </pc:graphicFrameChg>
      </pc:sldChg>
      <pc:sldChg chg="modSp mod">
        <pc:chgData name="Daphne Economou" userId="d065a339-36cf-4937-af08-41751becbd81" providerId="ADAL" clId="{6372EA27-DDC9-43F9-B4E9-6C915F1D7FF1}" dt="2023-10-20T19:19:05.995" v="75" actId="962"/>
        <pc:sldMkLst>
          <pc:docMk/>
          <pc:sldMk cId="3750455176" sldId="547"/>
        </pc:sldMkLst>
        <pc:picChg chg="mod">
          <ac:chgData name="Daphne Economou" userId="d065a339-36cf-4937-af08-41751becbd81" providerId="ADAL" clId="{6372EA27-DDC9-43F9-B4E9-6C915F1D7FF1}" dt="2023-10-20T19:19:05.995" v="75" actId="962"/>
          <ac:picMkLst>
            <pc:docMk/>
            <pc:sldMk cId="3750455176" sldId="547"/>
            <ac:picMk id="11" creationId="{A130D49F-4C27-D85A-5EA6-F47EBA1D5C34}"/>
          </ac:picMkLst>
        </pc:picChg>
      </pc:sldChg>
      <pc:sldChg chg="modSp mod">
        <pc:chgData name="Daphne Economou" userId="d065a339-36cf-4937-af08-41751becbd81" providerId="ADAL" clId="{6372EA27-DDC9-43F9-B4E9-6C915F1D7FF1}" dt="2023-10-20T19:19:11.635" v="77" actId="962"/>
        <pc:sldMkLst>
          <pc:docMk/>
          <pc:sldMk cId="983392531" sldId="548"/>
        </pc:sldMkLst>
        <pc:picChg chg="mod">
          <ac:chgData name="Daphne Economou" userId="d065a339-36cf-4937-af08-41751becbd81" providerId="ADAL" clId="{6372EA27-DDC9-43F9-B4E9-6C915F1D7FF1}" dt="2023-10-20T19:19:11.635" v="77" actId="962"/>
          <ac:picMkLst>
            <pc:docMk/>
            <pc:sldMk cId="983392531" sldId="548"/>
            <ac:picMk id="9" creationId="{0E59DF30-3B88-FDA8-C61C-71EAC5F0ECEF}"/>
          </ac:picMkLst>
        </pc:picChg>
      </pc:sldChg>
      <pc:sldChg chg="modSp mod">
        <pc:chgData name="Daphne Economou" userId="d065a339-36cf-4937-af08-41751becbd81" providerId="ADAL" clId="{6372EA27-DDC9-43F9-B4E9-6C915F1D7FF1}" dt="2023-10-20T19:21:23.650" v="194" actId="962"/>
        <pc:sldMkLst>
          <pc:docMk/>
          <pc:sldMk cId="3680376142" sldId="549"/>
        </pc:sldMkLst>
        <pc:picChg chg="mod">
          <ac:chgData name="Daphne Economou" userId="d065a339-36cf-4937-af08-41751becbd81" providerId="ADAL" clId="{6372EA27-DDC9-43F9-B4E9-6C915F1D7FF1}" dt="2023-10-20T19:19:33.433" v="83" actId="962"/>
          <ac:picMkLst>
            <pc:docMk/>
            <pc:sldMk cId="3680376142" sldId="549"/>
            <ac:picMk id="7" creationId="{12FEE73D-EB06-CA30-37F7-7BFA30073A9A}"/>
          </ac:picMkLst>
        </pc:picChg>
        <pc:picChg chg="mod">
          <ac:chgData name="Daphne Economou" userId="d065a339-36cf-4937-af08-41751becbd81" providerId="ADAL" clId="{6372EA27-DDC9-43F9-B4E9-6C915F1D7FF1}" dt="2023-10-20T19:21:23.650" v="194" actId="962"/>
          <ac:picMkLst>
            <pc:docMk/>
            <pc:sldMk cId="3680376142" sldId="549"/>
            <ac:picMk id="8" creationId="{019B1A86-3642-EF5F-6C47-66F4B4F4B874}"/>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Column2</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B090-494B-ADA7-0809A6E012D6}"/>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2-B090-494B-ADA7-0809A6E012D6}"/>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0-B090-494B-ADA7-0809A6E012D6}"/>
              </c:ext>
            </c:extLst>
          </c:dPt>
          <c:dLbls>
            <c:delete val="1"/>
          </c:dLbls>
          <c:cat>
            <c:strRef>
              <c:f>Sheet1!$A$2:$A$4</c:f>
              <c:strCache>
                <c:ptCount val="1"/>
                <c:pt idx="0">
                  <c:v>somebody</c:v>
                </c:pt>
              </c:strCache>
            </c:strRef>
          </c:cat>
          <c:val>
            <c:numRef>
              <c:f>Sheet1!$B$2:$B$4</c:f>
              <c:numCache>
                <c:formatCode>General</c:formatCode>
                <c:ptCount val="3"/>
                <c:pt idx="0">
                  <c:v>25</c:v>
                </c:pt>
                <c:pt idx="1">
                  <c:v>35</c:v>
                </c:pt>
                <c:pt idx="2">
                  <c:v>30</c:v>
                </c:pt>
              </c:numCache>
            </c:numRef>
          </c:val>
          <c:extLst>
            <c:ext xmlns:c16="http://schemas.microsoft.com/office/drawing/2014/chart" uri="{C3380CC4-5D6E-409C-BE32-E72D297353CC}">
              <c16:uniqueId val="{00000000-49D3-424F-BFA2-A084142F70C7}"/>
            </c:ext>
          </c:extLst>
        </c:ser>
        <c:dLbls>
          <c:dLblPos val="inEnd"/>
          <c:showLegendKey val="0"/>
          <c:showVal val="0"/>
          <c:showCatName val="0"/>
          <c:showSerName val="0"/>
          <c:showPercent val="1"/>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1CBB51-25FC-4DA4-85DE-C323B4897432}" type="doc">
      <dgm:prSet loTypeId="urn:microsoft.com/office/officeart/2005/8/layout/equation1" loCatId="process" qsTypeId="urn:microsoft.com/office/officeart/2005/8/quickstyle/simple1" qsCatId="simple" csTypeId="urn:microsoft.com/office/officeart/2005/8/colors/colorful2" csCatId="colorful" phldr="1"/>
      <dgm:spPr/>
    </dgm:pt>
    <dgm:pt modelId="{42133537-62C7-4F3E-9ECB-649DD6ECC00B}">
      <dgm:prSet phldrT="[Text]"/>
      <dgm:spPr/>
      <dgm:t>
        <a:bodyPr/>
        <a:lstStyle/>
        <a:p>
          <a:r>
            <a:rPr lang="en-GB" dirty="0"/>
            <a:t>utility</a:t>
          </a:r>
        </a:p>
      </dgm:t>
    </dgm:pt>
    <dgm:pt modelId="{84AD573A-8117-4EDA-BD62-65DD4A1F15A3}" type="parTrans" cxnId="{94A9290A-CD22-47C0-B9C3-EBBE3E05BFB6}">
      <dgm:prSet/>
      <dgm:spPr/>
      <dgm:t>
        <a:bodyPr/>
        <a:lstStyle/>
        <a:p>
          <a:endParaRPr lang="en-GB"/>
        </a:p>
      </dgm:t>
    </dgm:pt>
    <dgm:pt modelId="{2FF0654D-AEA6-489E-9CDD-30FE5BE899F7}" type="sibTrans" cxnId="{94A9290A-CD22-47C0-B9C3-EBBE3E05BFB6}">
      <dgm:prSet/>
      <dgm:spPr/>
      <dgm:t>
        <a:bodyPr/>
        <a:lstStyle/>
        <a:p>
          <a:endParaRPr lang="en-GB"/>
        </a:p>
      </dgm:t>
    </dgm:pt>
    <dgm:pt modelId="{0508D64F-0940-466D-809A-2728195432D8}">
      <dgm:prSet phldrT="[Text]"/>
      <dgm:spPr/>
      <dgm:t>
        <a:bodyPr/>
        <a:lstStyle/>
        <a:p>
          <a:r>
            <a:rPr lang="en-GB" dirty="0"/>
            <a:t>usability</a:t>
          </a:r>
        </a:p>
      </dgm:t>
    </dgm:pt>
    <dgm:pt modelId="{D7F09201-79EF-45A0-A641-0B24FDA18CA1}" type="parTrans" cxnId="{337A34BB-F0FF-4D23-AE90-A074908C17A5}">
      <dgm:prSet/>
      <dgm:spPr/>
      <dgm:t>
        <a:bodyPr/>
        <a:lstStyle/>
        <a:p>
          <a:endParaRPr lang="en-GB"/>
        </a:p>
      </dgm:t>
    </dgm:pt>
    <dgm:pt modelId="{69B4E8E8-332B-4FAC-9992-4346C46E4DF7}" type="sibTrans" cxnId="{337A34BB-F0FF-4D23-AE90-A074908C17A5}">
      <dgm:prSet/>
      <dgm:spPr/>
      <dgm:t>
        <a:bodyPr/>
        <a:lstStyle/>
        <a:p>
          <a:endParaRPr lang="en-GB"/>
        </a:p>
      </dgm:t>
    </dgm:pt>
    <dgm:pt modelId="{2B11D4B3-D0D5-489E-B98C-C9ADA5E9F98C}">
      <dgm:prSet phldrT="[Text]"/>
      <dgm:spPr/>
      <dgm:t>
        <a:bodyPr/>
        <a:lstStyle/>
        <a:p>
          <a:r>
            <a:rPr lang="en-GB" dirty="0"/>
            <a:t>useful</a:t>
          </a:r>
        </a:p>
      </dgm:t>
    </dgm:pt>
    <dgm:pt modelId="{093FA484-816A-4AA0-8C07-EF2CDB2D80C1}" type="parTrans" cxnId="{38CDC757-84B5-4A0A-A7E8-BE586971A41E}">
      <dgm:prSet/>
      <dgm:spPr/>
      <dgm:t>
        <a:bodyPr/>
        <a:lstStyle/>
        <a:p>
          <a:endParaRPr lang="en-GB"/>
        </a:p>
      </dgm:t>
    </dgm:pt>
    <dgm:pt modelId="{98087C0E-B701-4DDC-A4FA-930F506D8190}" type="sibTrans" cxnId="{38CDC757-84B5-4A0A-A7E8-BE586971A41E}">
      <dgm:prSet/>
      <dgm:spPr/>
      <dgm:t>
        <a:bodyPr/>
        <a:lstStyle/>
        <a:p>
          <a:endParaRPr lang="en-GB"/>
        </a:p>
      </dgm:t>
    </dgm:pt>
    <dgm:pt modelId="{E9F8293E-8FFC-40BD-AFBE-F18A00A8FCDB}" type="pres">
      <dgm:prSet presAssocID="{381CBB51-25FC-4DA4-85DE-C323B4897432}" presName="linearFlow" presStyleCnt="0">
        <dgm:presLayoutVars>
          <dgm:dir/>
          <dgm:resizeHandles val="exact"/>
        </dgm:presLayoutVars>
      </dgm:prSet>
      <dgm:spPr/>
    </dgm:pt>
    <dgm:pt modelId="{490EB0A0-1E4E-4FF7-BEA1-D35AF8243406}" type="pres">
      <dgm:prSet presAssocID="{42133537-62C7-4F3E-9ECB-649DD6ECC00B}" presName="node" presStyleLbl="node1" presStyleIdx="0" presStyleCnt="3">
        <dgm:presLayoutVars>
          <dgm:bulletEnabled val="1"/>
        </dgm:presLayoutVars>
      </dgm:prSet>
      <dgm:spPr/>
    </dgm:pt>
    <dgm:pt modelId="{C12064BA-3499-4C50-AB6B-D8BEB5A8EEB2}" type="pres">
      <dgm:prSet presAssocID="{2FF0654D-AEA6-489E-9CDD-30FE5BE899F7}" presName="spacerL" presStyleCnt="0"/>
      <dgm:spPr/>
    </dgm:pt>
    <dgm:pt modelId="{6F33084C-5DF2-4A83-B35F-ED444358E10A}" type="pres">
      <dgm:prSet presAssocID="{2FF0654D-AEA6-489E-9CDD-30FE5BE899F7}" presName="sibTrans" presStyleLbl="sibTrans2D1" presStyleIdx="0" presStyleCnt="2"/>
      <dgm:spPr/>
    </dgm:pt>
    <dgm:pt modelId="{138D20B6-45B7-46D5-B949-BE738B521C10}" type="pres">
      <dgm:prSet presAssocID="{2FF0654D-AEA6-489E-9CDD-30FE5BE899F7}" presName="spacerR" presStyleCnt="0"/>
      <dgm:spPr/>
    </dgm:pt>
    <dgm:pt modelId="{D9446A6E-AEC9-4F17-9D73-7EE62FF45CDC}" type="pres">
      <dgm:prSet presAssocID="{0508D64F-0940-466D-809A-2728195432D8}" presName="node" presStyleLbl="node1" presStyleIdx="1" presStyleCnt="3">
        <dgm:presLayoutVars>
          <dgm:bulletEnabled val="1"/>
        </dgm:presLayoutVars>
      </dgm:prSet>
      <dgm:spPr/>
    </dgm:pt>
    <dgm:pt modelId="{D39FDBB5-15A0-42AE-8B21-E3782CEC67C5}" type="pres">
      <dgm:prSet presAssocID="{69B4E8E8-332B-4FAC-9992-4346C46E4DF7}" presName="spacerL" presStyleCnt="0"/>
      <dgm:spPr/>
    </dgm:pt>
    <dgm:pt modelId="{729EDB5B-D5DE-49DA-BFD9-59EC2B0B5214}" type="pres">
      <dgm:prSet presAssocID="{69B4E8E8-332B-4FAC-9992-4346C46E4DF7}" presName="sibTrans" presStyleLbl="sibTrans2D1" presStyleIdx="1" presStyleCnt="2"/>
      <dgm:spPr/>
    </dgm:pt>
    <dgm:pt modelId="{D21EA269-257F-4ACC-882C-DAFB84371690}" type="pres">
      <dgm:prSet presAssocID="{69B4E8E8-332B-4FAC-9992-4346C46E4DF7}" presName="spacerR" presStyleCnt="0"/>
      <dgm:spPr/>
    </dgm:pt>
    <dgm:pt modelId="{F3F39B37-C044-497C-86F4-DB53A6355382}" type="pres">
      <dgm:prSet presAssocID="{2B11D4B3-D0D5-489E-B98C-C9ADA5E9F98C}" presName="node" presStyleLbl="node1" presStyleIdx="2" presStyleCnt="3">
        <dgm:presLayoutVars>
          <dgm:bulletEnabled val="1"/>
        </dgm:presLayoutVars>
      </dgm:prSet>
      <dgm:spPr/>
    </dgm:pt>
  </dgm:ptLst>
  <dgm:cxnLst>
    <dgm:cxn modelId="{5A80E600-430D-475B-BA3F-835E13E2B815}" type="presOf" srcId="{0508D64F-0940-466D-809A-2728195432D8}" destId="{D9446A6E-AEC9-4F17-9D73-7EE62FF45CDC}" srcOrd="0" destOrd="0" presId="urn:microsoft.com/office/officeart/2005/8/layout/equation1"/>
    <dgm:cxn modelId="{94A9290A-CD22-47C0-B9C3-EBBE3E05BFB6}" srcId="{381CBB51-25FC-4DA4-85DE-C323B4897432}" destId="{42133537-62C7-4F3E-9ECB-649DD6ECC00B}" srcOrd="0" destOrd="0" parTransId="{84AD573A-8117-4EDA-BD62-65DD4A1F15A3}" sibTransId="{2FF0654D-AEA6-489E-9CDD-30FE5BE899F7}"/>
    <dgm:cxn modelId="{C7735A5D-D0EF-4E23-8C15-4237A9A93FDD}" type="presOf" srcId="{69B4E8E8-332B-4FAC-9992-4346C46E4DF7}" destId="{729EDB5B-D5DE-49DA-BFD9-59EC2B0B5214}" srcOrd="0" destOrd="0" presId="urn:microsoft.com/office/officeart/2005/8/layout/equation1"/>
    <dgm:cxn modelId="{38CDC757-84B5-4A0A-A7E8-BE586971A41E}" srcId="{381CBB51-25FC-4DA4-85DE-C323B4897432}" destId="{2B11D4B3-D0D5-489E-B98C-C9ADA5E9F98C}" srcOrd="2" destOrd="0" parTransId="{093FA484-816A-4AA0-8C07-EF2CDB2D80C1}" sibTransId="{98087C0E-B701-4DDC-A4FA-930F506D8190}"/>
    <dgm:cxn modelId="{00898A7C-F31A-4762-A15E-EB8277773BC1}" type="presOf" srcId="{381CBB51-25FC-4DA4-85DE-C323B4897432}" destId="{E9F8293E-8FFC-40BD-AFBE-F18A00A8FCDB}" srcOrd="0" destOrd="0" presId="urn:microsoft.com/office/officeart/2005/8/layout/equation1"/>
    <dgm:cxn modelId="{A1AA5884-29C5-4975-9A9C-8ADDB5051360}" type="presOf" srcId="{2FF0654D-AEA6-489E-9CDD-30FE5BE899F7}" destId="{6F33084C-5DF2-4A83-B35F-ED444358E10A}" srcOrd="0" destOrd="0" presId="urn:microsoft.com/office/officeart/2005/8/layout/equation1"/>
    <dgm:cxn modelId="{AB1C3EA9-E989-4FD7-A746-68FF1810BF92}" type="presOf" srcId="{42133537-62C7-4F3E-9ECB-649DD6ECC00B}" destId="{490EB0A0-1E4E-4FF7-BEA1-D35AF8243406}" srcOrd="0" destOrd="0" presId="urn:microsoft.com/office/officeart/2005/8/layout/equation1"/>
    <dgm:cxn modelId="{337A34BB-F0FF-4D23-AE90-A074908C17A5}" srcId="{381CBB51-25FC-4DA4-85DE-C323B4897432}" destId="{0508D64F-0940-466D-809A-2728195432D8}" srcOrd="1" destOrd="0" parTransId="{D7F09201-79EF-45A0-A641-0B24FDA18CA1}" sibTransId="{69B4E8E8-332B-4FAC-9992-4346C46E4DF7}"/>
    <dgm:cxn modelId="{CD05FDFB-49D4-43BF-AD24-126D9551AA46}" type="presOf" srcId="{2B11D4B3-D0D5-489E-B98C-C9ADA5E9F98C}" destId="{F3F39B37-C044-497C-86F4-DB53A6355382}" srcOrd="0" destOrd="0" presId="urn:microsoft.com/office/officeart/2005/8/layout/equation1"/>
    <dgm:cxn modelId="{4E992F8C-D29C-4DA1-8A71-699F3488B2B0}" type="presParOf" srcId="{E9F8293E-8FFC-40BD-AFBE-F18A00A8FCDB}" destId="{490EB0A0-1E4E-4FF7-BEA1-D35AF8243406}" srcOrd="0" destOrd="0" presId="urn:microsoft.com/office/officeart/2005/8/layout/equation1"/>
    <dgm:cxn modelId="{FFA1A306-9C27-40E5-A1A3-F57F2B0C2C6E}" type="presParOf" srcId="{E9F8293E-8FFC-40BD-AFBE-F18A00A8FCDB}" destId="{C12064BA-3499-4C50-AB6B-D8BEB5A8EEB2}" srcOrd="1" destOrd="0" presId="urn:microsoft.com/office/officeart/2005/8/layout/equation1"/>
    <dgm:cxn modelId="{BC63FE19-279A-4CA9-8D2F-4B0332E3E41D}" type="presParOf" srcId="{E9F8293E-8FFC-40BD-AFBE-F18A00A8FCDB}" destId="{6F33084C-5DF2-4A83-B35F-ED444358E10A}" srcOrd="2" destOrd="0" presId="urn:microsoft.com/office/officeart/2005/8/layout/equation1"/>
    <dgm:cxn modelId="{6557FD69-E197-4E25-B410-2F3DDA5AE9D6}" type="presParOf" srcId="{E9F8293E-8FFC-40BD-AFBE-F18A00A8FCDB}" destId="{138D20B6-45B7-46D5-B949-BE738B521C10}" srcOrd="3" destOrd="0" presId="urn:microsoft.com/office/officeart/2005/8/layout/equation1"/>
    <dgm:cxn modelId="{0AEBF321-1EB3-45B2-89FC-8A2CE039D23D}" type="presParOf" srcId="{E9F8293E-8FFC-40BD-AFBE-F18A00A8FCDB}" destId="{D9446A6E-AEC9-4F17-9D73-7EE62FF45CDC}" srcOrd="4" destOrd="0" presId="urn:microsoft.com/office/officeart/2005/8/layout/equation1"/>
    <dgm:cxn modelId="{4D657D18-A1F5-43F7-AA66-DC12F423DFC0}" type="presParOf" srcId="{E9F8293E-8FFC-40BD-AFBE-F18A00A8FCDB}" destId="{D39FDBB5-15A0-42AE-8B21-E3782CEC67C5}" srcOrd="5" destOrd="0" presId="urn:microsoft.com/office/officeart/2005/8/layout/equation1"/>
    <dgm:cxn modelId="{F596B16D-5992-4217-98B0-7AE7C06DAD55}" type="presParOf" srcId="{E9F8293E-8FFC-40BD-AFBE-F18A00A8FCDB}" destId="{729EDB5B-D5DE-49DA-BFD9-59EC2B0B5214}" srcOrd="6" destOrd="0" presId="urn:microsoft.com/office/officeart/2005/8/layout/equation1"/>
    <dgm:cxn modelId="{CF09B286-9AAA-4082-BFE8-2F5CBD98F837}" type="presParOf" srcId="{E9F8293E-8FFC-40BD-AFBE-F18A00A8FCDB}" destId="{D21EA269-257F-4ACC-882C-DAFB84371690}" srcOrd="7" destOrd="0" presId="urn:microsoft.com/office/officeart/2005/8/layout/equation1"/>
    <dgm:cxn modelId="{5F19E568-C42C-4706-B42F-3E303C66F39C}" type="presParOf" srcId="{E9F8293E-8FFC-40BD-AFBE-F18A00A8FCDB}" destId="{F3F39B37-C044-497C-86F4-DB53A6355382}"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C54D89-0387-4508-80E8-EE024B97B359}" type="doc">
      <dgm:prSet loTypeId="urn:microsoft.com/office/officeart/2011/layout/CircleProcess" loCatId="process" qsTypeId="urn:microsoft.com/office/officeart/2005/8/quickstyle/simple1" qsCatId="simple" csTypeId="urn:microsoft.com/office/officeart/2005/8/colors/colorful1" csCatId="colorful" phldr="1"/>
      <dgm:spPr/>
      <dgm:t>
        <a:bodyPr/>
        <a:lstStyle/>
        <a:p>
          <a:endParaRPr lang="en-GB"/>
        </a:p>
      </dgm:t>
    </dgm:pt>
    <dgm:pt modelId="{D7C82AE5-2977-42F7-8FB7-10B52C067350}">
      <dgm:prSet phldrT="[Text]" custT="1"/>
      <dgm:spPr/>
      <dgm:t>
        <a:bodyPr/>
        <a:lstStyle/>
        <a:p>
          <a:r>
            <a:rPr lang="en-GB" sz="1500" b="1" dirty="0"/>
            <a:t>Research</a:t>
          </a:r>
          <a:br>
            <a:rPr lang="en-GB" sz="1500" dirty="0"/>
          </a:br>
          <a:br>
            <a:rPr lang="en-GB" sz="1500" dirty="0"/>
          </a:br>
          <a:r>
            <a:rPr lang="en-GB" sz="1500" dirty="0"/>
            <a:t>It begins with research to understand the user, their objectives and contexts</a:t>
          </a:r>
        </a:p>
      </dgm:t>
    </dgm:pt>
    <dgm:pt modelId="{A379ED95-082F-450F-8E58-CA139E551FF3}" type="parTrans" cxnId="{66EAC372-2980-4914-80C5-5A5B65B2A721}">
      <dgm:prSet/>
      <dgm:spPr/>
      <dgm:t>
        <a:bodyPr/>
        <a:lstStyle/>
        <a:p>
          <a:endParaRPr lang="en-GB" sz="1500"/>
        </a:p>
      </dgm:t>
    </dgm:pt>
    <dgm:pt modelId="{0558A03A-F66F-4338-ADFF-9505889DDE21}" type="sibTrans" cxnId="{66EAC372-2980-4914-80C5-5A5B65B2A721}">
      <dgm:prSet/>
      <dgm:spPr/>
      <dgm:t>
        <a:bodyPr/>
        <a:lstStyle/>
        <a:p>
          <a:endParaRPr lang="en-GB" sz="1500"/>
        </a:p>
      </dgm:t>
    </dgm:pt>
    <dgm:pt modelId="{47F1E5B1-9415-4DAC-BC4F-B06F52DE78B2}">
      <dgm:prSet phldrT="[Text]" custT="1"/>
      <dgm:spPr/>
      <dgm:t>
        <a:bodyPr/>
        <a:lstStyle/>
        <a:p>
          <a:r>
            <a:rPr lang="en-GB" sz="1500" b="1" dirty="0"/>
            <a:t>Evaluation</a:t>
          </a:r>
          <a:r>
            <a:rPr lang="en-GB" sz="1500" dirty="0"/>
            <a:t> and </a:t>
          </a:r>
          <a:r>
            <a:rPr lang="en-GB" sz="1500" b="1" dirty="0"/>
            <a:t>measurement</a:t>
          </a:r>
          <a:r>
            <a:rPr lang="en-GB" sz="1500" dirty="0"/>
            <a:t> of product usage</a:t>
          </a:r>
        </a:p>
      </dgm:t>
    </dgm:pt>
    <dgm:pt modelId="{C0E2D9B2-7F0C-4D34-8F0D-3F74A9F901EE}" type="parTrans" cxnId="{0773B5F0-0565-4F45-9B4B-C148F62B1B07}">
      <dgm:prSet/>
      <dgm:spPr/>
      <dgm:t>
        <a:bodyPr/>
        <a:lstStyle/>
        <a:p>
          <a:endParaRPr lang="en-GB" sz="1500"/>
        </a:p>
      </dgm:t>
    </dgm:pt>
    <dgm:pt modelId="{D22E717D-1E8C-403A-A764-FB1F7BC83372}" type="sibTrans" cxnId="{0773B5F0-0565-4F45-9B4B-C148F62B1B07}">
      <dgm:prSet/>
      <dgm:spPr/>
      <dgm:t>
        <a:bodyPr/>
        <a:lstStyle/>
        <a:p>
          <a:endParaRPr lang="en-GB" sz="1500"/>
        </a:p>
      </dgm:t>
    </dgm:pt>
    <dgm:pt modelId="{26FE4621-3037-42FC-A2DB-7B6FD3477309}">
      <dgm:prSet phldrT="[Text]" custT="1"/>
      <dgm:spPr/>
      <dgm:t>
        <a:bodyPr/>
        <a:lstStyle/>
        <a:p>
          <a:r>
            <a:rPr lang="en-GB" sz="1500" b="1" dirty="0"/>
            <a:t>Iteration</a:t>
          </a:r>
          <a:br>
            <a:rPr lang="en-GB" sz="1500" dirty="0"/>
          </a:br>
          <a:br>
            <a:rPr lang="en-GB" sz="1500" dirty="0"/>
          </a:br>
          <a:r>
            <a:rPr lang="en-GB" sz="1500" dirty="0"/>
            <a:t>Uses an iterative process that allows for constant evaluation and improvement</a:t>
          </a:r>
        </a:p>
      </dgm:t>
    </dgm:pt>
    <dgm:pt modelId="{620AB093-6495-4FE9-888B-3F16134B35E0}" type="parTrans" cxnId="{A713BE7F-D505-487E-9DE1-F59D3140E6AC}">
      <dgm:prSet/>
      <dgm:spPr/>
      <dgm:t>
        <a:bodyPr/>
        <a:lstStyle/>
        <a:p>
          <a:endParaRPr lang="en-GB" sz="1500"/>
        </a:p>
      </dgm:t>
    </dgm:pt>
    <dgm:pt modelId="{18E00FA6-1C02-4664-9311-5E425558C749}" type="sibTrans" cxnId="{A713BE7F-D505-487E-9DE1-F59D3140E6AC}">
      <dgm:prSet/>
      <dgm:spPr/>
      <dgm:t>
        <a:bodyPr/>
        <a:lstStyle/>
        <a:p>
          <a:endParaRPr lang="en-GB" sz="1500"/>
        </a:p>
      </dgm:t>
    </dgm:pt>
    <dgm:pt modelId="{F898BEE5-E5B5-47BB-A8F8-4EE9BECE0583}" type="pres">
      <dgm:prSet presAssocID="{45C54D89-0387-4508-80E8-EE024B97B359}" presName="Name0" presStyleCnt="0">
        <dgm:presLayoutVars>
          <dgm:chMax val="11"/>
          <dgm:chPref val="11"/>
          <dgm:dir/>
          <dgm:resizeHandles/>
        </dgm:presLayoutVars>
      </dgm:prSet>
      <dgm:spPr/>
    </dgm:pt>
    <dgm:pt modelId="{8423EE25-D866-468B-A301-3640234AE6F1}" type="pres">
      <dgm:prSet presAssocID="{26FE4621-3037-42FC-A2DB-7B6FD3477309}" presName="Accent3" presStyleCnt="0"/>
      <dgm:spPr/>
    </dgm:pt>
    <dgm:pt modelId="{CF62C1F6-B15B-4B3A-9F41-3219441319F1}" type="pres">
      <dgm:prSet presAssocID="{26FE4621-3037-42FC-A2DB-7B6FD3477309}" presName="Accent" presStyleLbl="node1" presStyleIdx="0" presStyleCnt="3"/>
      <dgm:spPr/>
    </dgm:pt>
    <dgm:pt modelId="{07878EB8-0377-4146-AD49-0B478F7CBF75}" type="pres">
      <dgm:prSet presAssocID="{26FE4621-3037-42FC-A2DB-7B6FD3477309}" presName="ParentBackground3" presStyleCnt="0"/>
      <dgm:spPr/>
    </dgm:pt>
    <dgm:pt modelId="{5563E0A8-691E-469B-9CDE-033E574D58D4}" type="pres">
      <dgm:prSet presAssocID="{26FE4621-3037-42FC-A2DB-7B6FD3477309}" presName="ParentBackground" presStyleLbl="fgAcc1" presStyleIdx="0" presStyleCnt="3"/>
      <dgm:spPr/>
    </dgm:pt>
    <dgm:pt modelId="{F2D2031B-FDB8-43BD-9ED5-9F012850A2FE}" type="pres">
      <dgm:prSet presAssocID="{26FE4621-3037-42FC-A2DB-7B6FD3477309}" presName="Parent3" presStyleLbl="revTx" presStyleIdx="0" presStyleCnt="0">
        <dgm:presLayoutVars>
          <dgm:chMax val="1"/>
          <dgm:chPref val="1"/>
          <dgm:bulletEnabled val="1"/>
        </dgm:presLayoutVars>
      </dgm:prSet>
      <dgm:spPr/>
    </dgm:pt>
    <dgm:pt modelId="{C5313ACC-DE1D-4B07-89F9-FD0661B7C9F5}" type="pres">
      <dgm:prSet presAssocID="{47F1E5B1-9415-4DAC-BC4F-B06F52DE78B2}" presName="Accent2" presStyleCnt="0"/>
      <dgm:spPr/>
    </dgm:pt>
    <dgm:pt modelId="{A645CF10-DCAD-41A9-94F5-39B88B3D8A71}" type="pres">
      <dgm:prSet presAssocID="{47F1E5B1-9415-4DAC-BC4F-B06F52DE78B2}" presName="Accent" presStyleLbl="node1" presStyleIdx="1" presStyleCnt="3"/>
      <dgm:spPr/>
    </dgm:pt>
    <dgm:pt modelId="{8FEF348F-EA97-4052-9990-DFE97F5659A4}" type="pres">
      <dgm:prSet presAssocID="{47F1E5B1-9415-4DAC-BC4F-B06F52DE78B2}" presName="ParentBackground2" presStyleCnt="0"/>
      <dgm:spPr/>
    </dgm:pt>
    <dgm:pt modelId="{95DE7D95-F023-4197-ABCC-53C3ED958F67}" type="pres">
      <dgm:prSet presAssocID="{47F1E5B1-9415-4DAC-BC4F-B06F52DE78B2}" presName="ParentBackground" presStyleLbl="fgAcc1" presStyleIdx="1" presStyleCnt="3"/>
      <dgm:spPr/>
    </dgm:pt>
    <dgm:pt modelId="{8FA61D62-7C7E-4EDB-9BC7-1BEF2E697338}" type="pres">
      <dgm:prSet presAssocID="{47F1E5B1-9415-4DAC-BC4F-B06F52DE78B2}" presName="Parent2" presStyleLbl="revTx" presStyleIdx="0" presStyleCnt="0">
        <dgm:presLayoutVars>
          <dgm:chMax val="1"/>
          <dgm:chPref val="1"/>
          <dgm:bulletEnabled val="1"/>
        </dgm:presLayoutVars>
      </dgm:prSet>
      <dgm:spPr/>
    </dgm:pt>
    <dgm:pt modelId="{5F63F121-0D92-4E9F-9056-F3BFD6B06DD6}" type="pres">
      <dgm:prSet presAssocID="{D7C82AE5-2977-42F7-8FB7-10B52C067350}" presName="Accent1" presStyleCnt="0"/>
      <dgm:spPr/>
    </dgm:pt>
    <dgm:pt modelId="{F50DB1E7-2948-4B6A-89DF-7E56514A5D95}" type="pres">
      <dgm:prSet presAssocID="{D7C82AE5-2977-42F7-8FB7-10B52C067350}" presName="Accent" presStyleLbl="node1" presStyleIdx="2" presStyleCnt="3"/>
      <dgm:spPr/>
    </dgm:pt>
    <dgm:pt modelId="{4AE89709-B9C7-450D-A7D5-2238236958E9}" type="pres">
      <dgm:prSet presAssocID="{D7C82AE5-2977-42F7-8FB7-10B52C067350}" presName="ParentBackground1" presStyleCnt="0"/>
      <dgm:spPr/>
    </dgm:pt>
    <dgm:pt modelId="{A977F5A5-B2A1-431E-9EAB-193C47336B30}" type="pres">
      <dgm:prSet presAssocID="{D7C82AE5-2977-42F7-8FB7-10B52C067350}" presName="ParentBackground" presStyleLbl="fgAcc1" presStyleIdx="2" presStyleCnt="3"/>
      <dgm:spPr/>
    </dgm:pt>
    <dgm:pt modelId="{905A53C4-7B58-4461-8ED8-51EAE1626465}" type="pres">
      <dgm:prSet presAssocID="{D7C82AE5-2977-42F7-8FB7-10B52C067350}" presName="Parent1" presStyleLbl="revTx" presStyleIdx="0" presStyleCnt="0">
        <dgm:presLayoutVars>
          <dgm:chMax val="1"/>
          <dgm:chPref val="1"/>
          <dgm:bulletEnabled val="1"/>
        </dgm:presLayoutVars>
      </dgm:prSet>
      <dgm:spPr/>
    </dgm:pt>
  </dgm:ptLst>
  <dgm:cxnLst>
    <dgm:cxn modelId="{6B4E0A1B-F281-481E-8131-99C799167D95}" type="presOf" srcId="{47F1E5B1-9415-4DAC-BC4F-B06F52DE78B2}" destId="{95DE7D95-F023-4197-ABCC-53C3ED958F67}" srcOrd="0" destOrd="0" presId="urn:microsoft.com/office/officeart/2011/layout/CircleProcess"/>
    <dgm:cxn modelId="{614F946B-06B9-4B82-8FEB-A23363A71F16}" type="presOf" srcId="{26FE4621-3037-42FC-A2DB-7B6FD3477309}" destId="{5563E0A8-691E-469B-9CDE-033E574D58D4}" srcOrd="0" destOrd="0" presId="urn:microsoft.com/office/officeart/2011/layout/CircleProcess"/>
    <dgm:cxn modelId="{DE9FEE6F-F960-4E3C-B438-B467B5C772A8}" type="presOf" srcId="{26FE4621-3037-42FC-A2DB-7B6FD3477309}" destId="{F2D2031B-FDB8-43BD-9ED5-9F012850A2FE}" srcOrd="1" destOrd="0" presId="urn:microsoft.com/office/officeart/2011/layout/CircleProcess"/>
    <dgm:cxn modelId="{66EAC372-2980-4914-80C5-5A5B65B2A721}" srcId="{45C54D89-0387-4508-80E8-EE024B97B359}" destId="{D7C82AE5-2977-42F7-8FB7-10B52C067350}" srcOrd="0" destOrd="0" parTransId="{A379ED95-082F-450F-8E58-CA139E551FF3}" sibTransId="{0558A03A-F66F-4338-ADFF-9505889DDE21}"/>
    <dgm:cxn modelId="{A713BE7F-D505-487E-9DE1-F59D3140E6AC}" srcId="{45C54D89-0387-4508-80E8-EE024B97B359}" destId="{26FE4621-3037-42FC-A2DB-7B6FD3477309}" srcOrd="2" destOrd="0" parTransId="{620AB093-6495-4FE9-888B-3F16134B35E0}" sibTransId="{18E00FA6-1C02-4664-9311-5E425558C749}"/>
    <dgm:cxn modelId="{6D7D6899-95DC-4F6A-96E0-C06F41B9AE55}" type="presOf" srcId="{D7C82AE5-2977-42F7-8FB7-10B52C067350}" destId="{905A53C4-7B58-4461-8ED8-51EAE1626465}" srcOrd="1" destOrd="0" presId="urn:microsoft.com/office/officeart/2011/layout/CircleProcess"/>
    <dgm:cxn modelId="{AB415DCA-6993-4094-944C-FB902E0A1D2C}" type="presOf" srcId="{47F1E5B1-9415-4DAC-BC4F-B06F52DE78B2}" destId="{8FA61D62-7C7E-4EDB-9BC7-1BEF2E697338}" srcOrd="1" destOrd="0" presId="urn:microsoft.com/office/officeart/2011/layout/CircleProcess"/>
    <dgm:cxn modelId="{6563E2DF-9DC4-4D34-92F2-333ABF30EF0D}" type="presOf" srcId="{45C54D89-0387-4508-80E8-EE024B97B359}" destId="{F898BEE5-E5B5-47BB-A8F8-4EE9BECE0583}" srcOrd="0" destOrd="0" presId="urn:microsoft.com/office/officeart/2011/layout/CircleProcess"/>
    <dgm:cxn modelId="{0773B5F0-0565-4F45-9B4B-C148F62B1B07}" srcId="{45C54D89-0387-4508-80E8-EE024B97B359}" destId="{47F1E5B1-9415-4DAC-BC4F-B06F52DE78B2}" srcOrd="1" destOrd="0" parTransId="{C0E2D9B2-7F0C-4D34-8F0D-3F74A9F901EE}" sibTransId="{D22E717D-1E8C-403A-A764-FB1F7BC83372}"/>
    <dgm:cxn modelId="{5C03C6F7-DD5B-4665-9830-803D53D6E2FC}" type="presOf" srcId="{D7C82AE5-2977-42F7-8FB7-10B52C067350}" destId="{A977F5A5-B2A1-431E-9EAB-193C47336B30}" srcOrd="0" destOrd="0" presId="urn:microsoft.com/office/officeart/2011/layout/CircleProcess"/>
    <dgm:cxn modelId="{EB6DBBAA-87CF-4F62-ABE8-7298A7B7E713}" type="presParOf" srcId="{F898BEE5-E5B5-47BB-A8F8-4EE9BECE0583}" destId="{8423EE25-D866-468B-A301-3640234AE6F1}" srcOrd="0" destOrd="0" presId="urn:microsoft.com/office/officeart/2011/layout/CircleProcess"/>
    <dgm:cxn modelId="{F2B524F1-19EE-4388-8445-E8550FD7D1E6}" type="presParOf" srcId="{8423EE25-D866-468B-A301-3640234AE6F1}" destId="{CF62C1F6-B15B-4B3A-9F41-3219441319F1}" srcOrd="0" destOrd="0" presId="urn:microsoft.com/office/officeart/2011/layout/CircleProcess"/>
    <dgm:cxn modelId="{9C14386C-D77A-47F4-B94A-23F8EEE6D52A}" type="presParOf" srcId="{F898BEE5-E5B5-47BB-A8F8-4EE9BECE0583}" destId="{07878EB8-0377-4146-AD49-0B478F7CBF75}" srcOrd="1" destOrd="0" presId="urn:microsoft.com/office/officeart/2011/layout/CircleProcess"/>
    <dgm:cxn modelId="{C7E9FA66-A242-4F1E-B45A-30ABAA9D0DE1}" type="presParOf" srcId="{07878EB8-0377-4146-AD49-0B478F7CBF75}" destId="{5563E0A8-691E-469B-9CDE-033E574D58D4}" srcOrd="0" destOrd="0" presId="urn:microsoft.com/office/officeart/2011/layout/CircleProcess"/>
    <dgm:cxn modelId="{E4B0744E-FB17-43F2-8CD6-BFD63547E609}" type="presParOf" srcId="{F898BEE5-E5B5-47BB-A8F8-4EE9BECE0583}" destId="{F2D2031B-FDB8-43BD-9ED5-9F012850A2FE}" srcOrd="2" destOrd="0" presId="urn:microsoft.com/office/officeart/2011/layout/CircleProcess"/>
    <dgm:cxn modelId="{5D4AEA9A-3599-4CEB-9DBC-744AF0D1E6EB}" type="presParOf" srcId="{F898BEE5-E5B5-47BB-A8F8-4EE9BECE0583}" destId="{C5313ACC-DE1D-4B07-89F9-FD0661B7C9F5}" srcOrd="3" destOrd="0" presId="urn:microsoft.com/office/officeart/2011/layout/CircleProcess"/>
    <dgm:cxn modelId="{D8C007BB-BDFB-47EA-B9CB-99C6AF7D415A}" type="presParOf" srcId="{C5313ACC-DE1D-4B07-89F9-FD0661B7C9F5}" destId="{A645CF10-DCAD-41A9-94F5-39B88B3D8A71}" srcOrd="0" destOrd="0" presId="urn:microsoft.com/office/officeart/2011/layout/CircleProcess"/>
    <dgm:cxn modelId="{0271FBC8-8203-4C46-80D1-020B7B30C2B4}" type="presParOf" srcId="{F898BEE5-E5B5-47BB-A8F8-4EE9BECE0583}" destId="{8FEF348F-EA97-4052-9990-DFE97F5659A4}" srcOrd="4" destOrd="0" presId="urn:microsoft.com/office/officeart/2011/layout/CircleProcess"/>
    <dgm:cxn modelId="{3B2FAB34-CB44-4463-8748-A6BB5D2CC1A5}" type="presParOf" srcId="{8FEF348F-EA97-4052-9990-DFE97F5659A4}" destId="{95DE7D95-F023-4197-ABCC-53C3ED958F67}" srcOrd="0" destOrd="0" presId="urn:microsoft.com/office/officeart/2011/layout/CircleProcess"/>
    <dgm:cxn modelId="{7B292DB8-CF16-401C-A3F9-250E5D4EA56F}" type="presParOf" srcId="{F898BEE5-E5B5-47BB-A8F8-4EE9BECE0583}" destId="{8FA61D62-7C7E-4EDB-9BC7-1BEF2E697338}" srcOrd="5" destOrd="0" presId="urn:microsoft.com/office/officeart/2011/layout/CircleProcess"/>
    <dgm:cxn modelId="{E3AA42B6-839C-482A-8F9F-40C2734DDE2D}" type="presParOf" srcId="{F898BEE5-E5B5-47BB-A8F8-4EE9BECE0583}" destId="{5F63F121-0D92-4E9F-9056-F3BFD6B06DD6}" srcOrd="6" destOrd="0" presId="urn:microsoft.com/office/officeart/2011/layout/CircleProcess"/>
    <dgm:cxn modelId="{D587F1E0-7AFE-45A0-9355-44ED27EA1766}" type="presParOf" srcId="{5F63F121-0D92-4E9F-9056-F3BFD6B06DD6}" destId="{F50DB1E7-2948-4B6A-89DF-7E56514A5D95}" srcOrd="0" destOrd="0" presId="urn:microsoft.com/office/officeart/2011/layout/CircleProcess"/>
    <dgm:cxn modelId="{4832320B-29AB-46CD-BC99-B4ADDE779352}" type="presParOf" srcId="{F898BEE5-E5B5-47BB-A8F8-4EE9BECE0583}" destId="{4AE89709-B9C7-450D-A7D5-2238236958E9}" srcOrd="7" destOrd="0" presId="urn:microsoft.com/office/officeart/2011/layout/CircleProcess"/>
    <dgm:cxn modelId="{49494162-D45D-43CA-BBD7-5EED68B9D066}" type="presParOf" srcId="{4AE89709-B9C7-450D-A7D5-2238236958E9}" destId="{A977F5A5-B2A1-431E-9EAB-193C47336B30}" srcOrd="0" destOrd="0" presId="urn:microsoft.com/office/officeart/2011/layout/CircleProcess"/>
    <dgm:cxn modelId="{D205831E-6894-4E6B-904E-0C1101C27680}" type="presParOf" srcId="{F898BEE5-E5B5-47BB-A8F8-4EE9BECE0583}" destId="{905A53C4-7B58-4461-8ED8-51EAE1626465}" srcOrd="8"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3EFFA1-F8B2-4010-8A96-A9420AC76EC1}" type="doc">
      <dgm:prSet loTypeId="urn:microsoft.com/office/officeart/2005/8/layout/radial2" loCatId="relationship" qsTypeId="urn:microsoft.com/office/officeart/2005/8/quickstyle/simple3" qsCatId="simple" csTypeId="urn:microsoft.com/office/officeart/2005/8/colors/colorful2" csCatId="colorful" phldr="1"/>
      <dgm:spPr/>
      <dgm:t>
        <a:bodyPr/>
        <a:lstStyle/>
        <a:p>
          <a:endParaRPr lang="en-GB"/>
        </a:p>
      </dgm:t>
    </dgm:pt>
    <dgm:pt modelId="{9E2E97DC-8CAB-4CE0-9321-E6D584131BF7}">
      <dgm:prSet phldrT="[Text]" custT="1"/>
      <dgm:spPr/>
      <dgm:t>
        <a:bodyPr/>
        <a:lstStyle/>
        <a:p>
          <a:r>
            <a:rPr lang="en-GB" sz="1800" b="1" dirty="0"/>
            <a:t>Type of data</a:t>
          </a:r>
        </a:p>
      </dgm:t>
    </dgm:pt>
    <dgm:pt modelId="{EDB6B777-D9D6-4AF2-8086-5F1AB50F861A}" type="parTrans" cxnId="{A68D07D9-99B6-4BA4-9D03-AC657A545E2D}">
      <dgm:prSet/>
      <dgm:spPr/>
      <dgm:t>
        <a:bodyPr/>
        <a:lstStyle/>
        <a:p>
          <a:endParaRPr lang="en-GB" sz="2400"/>
        </a:p>
      </dgm:t>
    </dgm:pt>
    <dgm:pt modelId="{03FED058-1C95-4602-A1D5-E8F5A54581F1}" type="sibTrans" cxnId="{A68D07D9-99B6-4BA4-9D03-AC657A545E2D}">
      <dgm:prSet/>
      <dgm:spPr/>
      <dgm:t>
        <a:bodyPr/>
        <a:lstStyle/>
        <a:p>
          <a:endParaRPr lang="en-GB" sz="2400"/>
        </a:p>
      </dgm:t>
    </dgm:pt>
    <dgm:pt modelId="{ADE689A2-C7CA-447B-AB50-416BE8A9CD06}">
      <dgm:prSet phldrT="[Text]" custT="1"/>
      <dgm:spPr>
        <a:solidFill>
          <a:schemeClr val="accent5">
            <a:lumMod val="40000"/>
            <a:lumOff val="60000"/>
          </a:schemeClr>
        </a:solidFill>
      </dgm:spPr>
      <dgm:t>
        <a:bodyPr/>
        <a:lstStyle/>
        <a:p>
          <a:r>
            <a:rPr lang="en-GB" sz="1800" b="1" kern="1200" dirty="0">
              <a:solidFill>
                <a:prstClr val="black"/>
              </a:solidFill>
              <a:latin typeface="Tw Cen MT"/>
              <a:ea typeface="+mn-ea"/>
              <a:cs typeface="+mn-cs"/>
            </a:rPr>
            <a:t>Location</a:t>
          </a:r>
        </a:p>
      </dgm:t>
    </dgm:pt>
    <dgm:pt modelId="{B4445681-E8D9-4359-9823-ADB239AD2B86}" type="parTrans" cxnId="{31AFC97D-D8FF-4B4B-A66B-3C644992AFE2}">
      <dgm:prSet/>
      <dgm:spPr/>
      <dgm:t>
        <a:bodyPr/>
        <a:lstStyle/>
        <a:p>
          <a:endParaRPr lang="en-GB"/>
        </a:p>
      </dgm:t>
    </dgm:pt>
    <dgm:pt modelId="{3371541D-97F3-466A-A38A-DF2577809D07}" type="sibTrans" cxnId="{31AFC97D-D8FF-4B4B-A66B-3C644992AFE2}">
      <dgm:prSet/>
      <dgm:spPr/>
      <dgm:t>
        <a:bodyPr/>
        <a:lstStyle/>
        <a:p>
          <a:endParaRPr lang="en-GB"/>
        </a:p>
      </dgm:t>
    </dgm:pt>
    <dgm:pt modelId="{AB7FD963-852B-427C-9753-02556CC9C6CA}">
      <dgm:prSet phldrT="[Text]" custT="1"/>
      <dgm:spPr/>
      <dgm:t>
        <a:bodyPr/>
        <a:lstStyle/>
        <a:p>
          <a:r>
            <a:rPr lang="en-GB" sz="1800" b="1" kern="1200" dirty="0">
              <a:solidFill>
                <a:prstClr val="black">
                  <a:hueOff val="0"/>
                  <a:satOff val="0"/>
                  <a:lumOff val="0"/>
                  <a:alphaOff val="0"/>
                </a:prstClr>
              </a:solidFill>
              <a:latin typeface="Tw Cen MT"/>
              <a:ea typeface="+mn-ea"/>
              <a:cs typeface="+mn-cs"/>
            </a:rPr>
            <a:t>Qualitative</a:t>
          </a:r>
        </a:p>
      </dgm:t>
    </dgm:pt>
    <dgm:pt modelId="{BABFE0FB-F3B4-4A6D-9F57-7FC8CCD604B0}" type="parTrans" cxnId="{41099650-E24C-478D-92E8-6B36E4540158}">
      <dgm:prSet/>
      <dgm:spPr/>
      <dgm:t>
        <a:bodyPr/>
        <a:lstStyle/>
        <a:p>
          <a:endParaRPr lang="en-GB"/>
        </a:p>
      </dgm:t>
    </dgm:pt>
    <dgm:pt modelId="{128F4419-E3BE-4115-A739-1727E3D5924B}" type="sibTrans" cxnId="{41099650-E24C-478D-92E8-6B36E4540158}">
      <dgm:prSet/>
      <dgm:spPr/>
      <dgm:t>
        <a:bodyPr/>
        <a:lstStyle/>
        <a:p>
          <a:endParaRPr lang="en-GB"/>
        </a:p>
      </dgm:t>
    </dgm:pt>
    <dgm:pt modelId="{FB77AE1B-7B78-4FD1-AFE1-B8F95D36CAC5}">
      <dgm:prSet phldrT="[Text]" custT="1"/>
      <dgm:spPr/>
      <dgm:t>
        <a:bodyPr/>
        <a:lstStyle/>
        <a:p>
          <a:r>
            <a:rPr lang="en-GB" sz="1800" b="1" kern="1200" dirty="0">
              <a:solidFill>
                <a:prstClr val="black">
                  <a:hueOff val="0"/>
                  <a:satOff val="0"/>
                  <a:lumOff val="0"/>
                  <a:alphaOff val="0"/>
                </a:prstClr>
              </a:solidFill>
              <a:latin typeface="Tw Cen MT"/>
              <a:ea typeface="+mn-ea"/>
              <a:cs typeface="+mn-cs"/>
            </a:rPr>
            <a:t>Remote</a:t>
          </a:r>
        </a:p>
      </dgm:t>
    </dgm:pt>
    <dgm:pt modelId="{12B6D6EF-C18F-4E1B-8AE7-50DF88906DB0}" type="parTrans" cxnId="{C1E20E0B-8BE9-4016-9486-939865DA3078}">
      <dgm:prSet/>
      <dgm:spPr/>
      <dgm:t>
        <a:bodyPr/>
        <a:lstStyle/>
        <a:p>
          <a:endParaRPr lang="en-GB"/>
        </a:p>
      </dgm:t>
    </dgm:pt>
    <dgm:pt modelId="{D64C052B-CBAD-4C0A-B9B5-77A0C73F9794}" type="sibTrans" cxnId="{C1E20E0B-8BE9-4016-9486-939865DA3078}">
      <dgm:prSet/>
      <dgm:spPr/>
      <dgm:t>
        <a:bodyPr/>
        <a:lstStyle/>
        <a:p>
          <a:endParaRPr lang="en-GB"/>
        </a:p>
      </dgm:t>
    </dgm:pt>
    <dgm:pt modelId="{16FA6D05-9EEC-4655-AD66-FFCE38166CB4}">
      <dgm:prSet phldrT="[Text]" custT="1"/>
      <dgm:spPr/>
      <dgm:t>
        <a:bodyPr/>
        <a:lstStyle/>
        <a:p>
          <a:r>
            <a:rPr lang="en-GB" sz="1800" b="1" kern="1200" dirty="0">
              <a:solidFill>
                <a:prstClr val="black">
                  <a:hueOff val="0"/>
                  <a:satOff val="0"/>
                  <a:lumOff val="0"/>
                  <a:alphaOff val="0"/>
                </a:prstClr>
              </a:solidFill>
              <a:latin typeface="Tw Cen MT"/>
              <a:ea typeface="+mn-ea"/>
              <a:cs typeface="+mn-cs"/>
            </a:rPr>
            <a:t>In-Person</a:t>
          </a:r>
        </a:p>
      </dgm:t>
    </dgm:pt>
    <dgm:pt modelId="{BA28FAE9-B87B-4F8A-A9BE-60914796A097}" type="parTrans" cxnId="{449D22DA-6167-4B14-99C4-606D11A51887}">
      <dgm:prSet/>
      <dgm:spPr/>
      <dgm:t>
        <a:bodyPr/>
        <a:lstStyle/>
        <a:p>
          <a:endParaRPr lang="en-GB"/>
        </a:p>
      </dgm:t>
    </dgm:pt>
    <dgm:pt modelId="{BBDF3F68-C399-4CF9-84D6-19DF03929DF2}" type="sibTrans" cxnId="{449D22DA-6167-4B14-99C4-606D11A51887}">
      <dgm:prSet/>
      <dgm:spPr/>
      <dgm:t>
        <a:bodyPr/>
        <a:lstStyle/>
        <a:p>
          <a:endParaRPr lang="en-GB"/>
        </a:p>
      </dgm:t>
    </dgm:pt>
    <dgm:pt modelId="{88A4F8B5-F4E6-40CB-8C93-7313838E6878}">
      <dgm:prSet phldrT="[Text]" custT="1"/>
      <dgm:spPr/>
      <dgm:t>
        <a:bodyPr/>
        <a:lstStyle/>
        <a:p>
          <a:r>
            <a:rPr lang="en-GB" sz="1800" b="1" kern="1200" dirty="0">
              <a:solidFill>
                <a:prstClr val="black">
                  <a:hueOff val="0"/>
                  <a:satOff val="0"/>
                  <a:lumOff val="0"/>
                  <a:alphaOff val="0"/>
                </a:prstClr>
              </a:solidFill>
              <a:latin typeface="Tw Cen MT"/>
              <a:ea typeface="+mn-ea"/>
              <a:cs typeface="+mn-cs"/>
            </a:rPr>
            <a:t>Quantitative</a:t>
          </a:r>
        </a:p>
      </dgm:t>
    </dgm:pt>
    <dgm:pt modelId="{36BBE9AD-B8BF-4293-8218-3517078A6EF8}" type="parTrans" cxnId="{D14AB003-9983-43DE-AC4E-309D592B3024}">
      <dgm:prSet/>
      <dgm:spPr/>
      <dgm:t>
        <a:bodyPr/>
        <a:lstStyle/>
        <a:p>
          <a:endParaRPr lang="en-GB"/>
        </a:p>
      </dgm:t>
    </dgm:pt>
    <dgm:pt modelId="{06D293B4-BD78-4E6A-9320-1A8D64CF4ECF}" type="sibTrans" cxnId="{D14AB003-9983-43DE-AC4E-309D592B3024}">
      <dgm:prSet/>
      <dgm:spPr/>
      <dgm:t>
        <a:bodyPr/>
        <a:lstStyle/>
        <a:p>
          <a:endParaRPr lang="en-GB"/>
        </a:p>
      </dgm:t>
    </dgm:pt>
    <dgm:pt modelId="{52135EEC-BB55-4A46-9A51-B5EC83EEE195}">
      <dgm:prSet phldrT="[Text]" custT="1"/>
      <dgm:spPr/>
      <dgm:t>
        <a:bodyPr/>
        <a:lstStyle/>
        <a:p>
          <a:r>
            <a:rPr lang="en-GB" sz="1700" b="1" kern="1200" dirty="0">
              <a:solidFill>
                <a:prstClr val="black">
                  <a:hueOff val="0"/>
                  <a:satOff val="0"/>
                  <a:lumOff val="0"/>
                  <a:alphaOff val="0"/>
                </a:prstClr>
              </a:solidFill>
              <a:latin typeface="Tw Cen MT"/>
              <a:ea typeface="+mn-ea"/>
              <a:cs typeface="+mn-cs"/>
            </a:rPr>
            <a:t>Presence of moderator</a:t>
          </a:r>
        </a:p>
      </dgm:t>
    </dgm:pt>
    <dgm:pt modelId="{9423B65C-8D7C-40C0-98FE-C2A7A93B890D}" type="parTrans" cxnId="{0D60318B-812F-44BA-9EBB-E3A1F86CED5B}">
      <dgm:prSet/>
      <dgm:spPr/>
      <dgm:t>
        <a:bodyPr/>
        <a:lstStyle/>
        <a:p>
          <a:endParaRPr lang="en-GB"/>
        </a:p>
      </dgm:t>
    </dgm:pt>
    <dgm:pt modelId="{00533CE2-5D61-4F03-B850-103FD1635FA5}" type="sibTrans" cxnId="{0D60318B-812F-44BA-9EBB-E3A1F86CED5B}">
      <dgm:prSet/>
      <dgm:spPr/>
      <dgm:t>
        <a:bodyPr/>
        <a:lstStyle/>
        <a:p>
          <a:endParaRPr lang="en-GB"/>
        </a:p>
      </dgm:t>
    </dgm:pt>
    <dgm:pt modelId="{740C5056-FD97-48E1-BDBB-4829DC627347}">
      <dgm:prSet phldrT="[Text]" custT="1"/>
      <dgm:spPr/>
      <dgm:t>
        <a:bodyPr/>
        <a:lstStyle/>
        <a:p>
          <a:r>
            <a:rPr lang="en-GB" sz="1800" b="1" kern="1200" dirty="0">
              <a:solidFill>
                <a:prstClr val="black">
                  <a:hueOff val="0"/>
                  <a:satOff val="0"/>
                  <a:lumOff val="0"/>
                  <a:alphaOff val="0"/>
                </a:prstClr>
              </a:solidFill>
              <a:latin typeface="Tw Cen MT"/>
              <a:ea typeface="+mn-ea"/>
              <a:cs typeface="+mn-cs"/>
            </a:rPr>
            <a:t>Moderated</a:t>
          </a:r>
        </a:p>
      </dgm:t>
    </dgm:pt>
    <dgm:pt modelId="{227B0253-5F70-4F82-B7FE-A79058CD61CE}" type="parTrans" cxnId="{2C056996-E825-4060-9324-17FAFF3F3ABA}">
      <dgm:prSet/>
      <dgm:spPr/>
      <dgm:t>
        <a:bodyPr/>
        <a:lstStyle/>
        <a:p>
          <a:endParaRPr lang="en-GB"/>
        </a:p>
      </dgm:t>
    </dgm:pt>
    <dgm:pt modelId="{F336B09C-6E71-4788-94C8-217DA37B6898}" type="sibTrans" cxnId="{2C056996-E825-4060-9324-17FAFF3F3ABA}">
      <dgm:prSet/>
      <dgm:spPr/>
      <dgm:t>
        <a:bodyPr/>
        <a:lstStyle/>
        <a:p>
          <a:endParaRPr lang="en-GB"/>
        </a:p>
      </dgm:t>
    </dgm:pt>
    <dgm:pt modelId="{F1C67674-1AF5-4402-B579-2DC889D7A1FE}">
      <dgm:prSet phldrT="[Text]" custT="1"/>
      <dgm:spPr/>
      <dgm:t>
        <a:bodyPr/>
        <a:lstStyle/>
        <a:p>
          <a:r>
            <a:rPr lang="en-GB" sz="1800" b="1" kern="1200" dirty="0">
              <a:solidFill>
                <a:prstClr val="black">
                  <a:hueOff val="0"/>
                  <a:satOff val="0"/>
                  <a:lumOff val="0"/>
                  <a:alphaOff val="0"/>
                </a:prstClr>
              </a:solidFill>
              <a:latin typeface="Tw Cen MT"/>
              <a:ea typeface="+mn-ea"/>
              <a:cs typeface="+mn-cs"/>
            </a:rPr>
            <a:t>Unmoderated</a:t>
          </a:r>
        </a:p>
      </dgm:t>
    </dgm:pt>
    <dgm:pt modelId="{C404B84D-9095-4A14-AE65-030DF4BAFB12}" type="parTrans" cxnId="{5BA5DDB0-1031-4957-A073-70576A53C5FA}">
      <dgm:prSet/>
      <dgm:spPr/>
      <dgm:t>
        <a:bodyPr/>
        <a:lstStyle/>
        <a:p>
          <a:endParaRPr lang="en-GB"/>
        </a:p>
      </dgm:t>
    </dgm:pt>
    <dgm:pt modelId="{22A36EC4-9AEF-44E0-901C-14E9610C841B}" type="sibTrans" cxnId="{5BA5DDB0-1031-4957-A073-70576A53C5FA}">
      <dgm:prSet/>
      <dgm:spPr/>
      <dgm:t>
        <a:bodyPr/>
        <a:lstStyle/>
        <a:p>
          <a:endParaRPr lang="en-GB"/>
        </a:p>
      </dgm:t>
    </dgm:pt>
    <dgm:pt modelId="{97CA0417-71AD-4163-A6DE-3FA8619AA8EE}" type="pres">
      <dgm:prSet presAssocID="{D43EFFA1-F8B2-4010-8A96-A9420AC76EC1}" presName="composite" presStyleCnt="0">
        <dgm:presLayoutVars>
          <dgm:chMax val="5"/>
          <dgm:dir/>
          <dgm:animLvl val="ctr"/>
          <dgm:resizeHandles val="exact"/>
        </dgm:presLayoutVars>
      </dgm:prSet>
      <dgm:spPr/>
    </dgm:pt>
    <dgm:pt modelId="{58F0254E-2079-4F08-BEBA-5CC32DEB98A5}" type="pres">
      <dgm:prSet presAssocID="{D43EFFA1-F8B2-4010-8A96-A9420AC76EC1}" presName="cycle" presStyleCnt="0"/>
      <dgm:spPr/>
    </dgm:pt>
    <dgm:pt modelId="{ECD201F2-ABB9-4B9F-8063-20F35291EDED}" type="pres">
      <dgm:prSet presAssocID="{D43EFFA1-F8B2-4010-8A96-A9420AC76EC1}" presName="centerShape" presStyleCnt="0"/>
      <dgm:spPr/>
    </dgm:pt>
    <dgm:pt modelId="{D03C496C-E72F-4E5A-A1D1-604F7B8EB297}" type="pres">
      <dgm:prSet presAssocID="{D43EFFA1-F8B2-4010-8A96-A9420AC76EC1}" presName="connSite" presStyleLbl="node1" presStyleIdx="0" presStyleCnt="4"/>
      <dgm:spPr/>
    </dgm:pt>
    <dgm:pt modelId="{E3D7E3D8-FB2C-425E-8EA5-196843452501}" type="pres">
      <dgm:prSet presAssocID="{D43EFFA1-F8B2-4010-8A96-A9420AC76EC1}" presName="visible" presStyleLbl="node1" presStyleIdx="0" presStyleCnt="4" custScaleX="99129" custScaleY="99129" custLinFactNeighborX="-1367" custLinFactNeighborY="2240"/>
      <dgm:spPr/>
    </dgm:pt>
    <dgm:pt modelId="{515AF47E-534E-4817-A246-2A2DFBCDBB20}" type="pres">
      <dgm:prSet presAssocID="{EDB6B777-D9D6-4AF2-8086-5F1AB50F861A}" presName="Name25" presStyleLbl="parChTrans1D1" presStyleIdx="0" presStyleCnt="3"/>
      <dgm:spPr/>
    </dgm:pt>
    <dgm:pt modelId="{FCF86615-D33A-4DEA-8444-45E2238B621F}" type="pres">
      <dgm:prSet presAssocID="{9E2E97DC-8CAB-4CE0-9321-E6D584131BF7}" presName="node" presStyleCnt="0"/>
      <dgm:spPr/>
    </dgm:pt>
    <dgm:pt modelId="{0FC2372A-BE2E-45F4-83E6-94D54F18C496}" type="pres">
      <dgm:prSet presAssocID="{9E2E97DC-8CAB-4CE0-9321-E6D584131BF7}" presName="parentNode" presStyleLbl="node1" presStyleIdx="1" presStyleCnt="4" custScaleX="92501" custScaleY="92501" custLinFactNeighborX="-10217" custLinFactNeighborY="-13226">
        <dgm:presLayoutVars>
          <dgm:chMax val="1"/>
          <dgm:bulletEnabled val="1"/>
        </dgm:presLayoutVars>
      </dgm:prSet>
      <dgm:spPr/>
    </dgm:pt>
    <dgm:pt modelId="{65EB5D4A-B864-4BD4-9590-4F2F5C753379}" type="pres">
      <dgm:prSet presAssocID="{9E2E97DC-8CAB-4CE0-9321-E6D584131BF7}" presName="childNode" presStyleLbl="revTx" presStyleIdx="0" presStyleCnt="3">
        <dgm:presLayoutVars>
          <dgm:bulletEnabled val="1"/>
        </dgm:presLayoutVars>
      </dgm:prSet>
      <dgm:spPr/>
    </dgm:pt>
    <dgm:pt modelId="{B6D7DA0F-8F0D-4BC4-A898-A8374FD2FC7A}" type="pres">
      <dgm:prSet presAssocID="{B4445681-E8D9-4359-9823-ADB239AD2B86}" presName="Name25" presStyleLbl="parChTrans1D1" presStyleIdx="1" presStyleCnt="3"/>
      <dgm:spPr/>
    </dgm:pt>
    <dgm:pt modelId="{F9C9A25A-45F7-44F0-BA46-AA1F96819B1C}" type="pres">
      <dgm:prSet presAssocID="{ADE689A2-C7CA-447B-AB50-416BE8A9CD06}" presName="node" presStyleCnt="0"/>
      <dgm:spPr/>
    </dgm:pt>
    <dgm:pt modelId="{C20BA89D-ED64-484B-A03A-C1C3DD6148ED}" type="pres">
      <dgm:prSet presAssocID="{ADE689A2-C7CA-447B-AB50-416BE8A9CD06}" presName="parentNode" presStyleLbl="node1" presStyleIdx="2" presStyleCnt="4" custScaleX="92501" custScaleY="92501" custLinFactNeighborX="7945" custLinFactNeighborY="3465">
        <dgm:presLayoutVars>
          <dgm:chMax val="1"/>
          <dgm:bulletEnabled val="1"/>
        </dgm:presLayoutVars>
      </dgm:prSet>
      <dgm:spPr/>
    </dgm:pt>
    <dgm:pt modelId="{7C182CD5-9D95-4804-A891-70CE5D38E161}" type="pres">
      <dgm:prSet presAssocID="{ADE689A2-C7CA-447B-AB50-416BE8A9CD06}" presName="childNode" presStyleLbl="revTx" presStyleIdx="1" presStyleCnt="3">
        <dgm:presLayoutVars>
          <dgm:bulletEnabled val="1"/>
        </dgm:presLayoutVars>
      </dgm:prSet>
      <dgm:spPr/>
    </dgm:pt>
    <dgm:pt modelId="{E1DD07C9-0B8E-4BEF-A243-A1640E487D64}" type="pres">
      <dgm:prSet presAssocID="{9423B65C-8D7C-40C0-98FE-C2A7A93B890D}" presName="Name25" presStyleLbl="parChTrans1D1" presStyleIdx="2" presStyleCnt="3"/>
      <dgm:spPr/>
    </dgm:pt>
    <dgm:pt modelId="{087108DB-A082-483D-B6BB-00D8507F9DDB}" type="pres">
      <dgm:prSet presAssocID="{52135EEC-BB55-4A46-9A51-B5EC83EEE195}" presName="node" presStyleCnt="0"/>
      <dgm:spPr/>
    </dgm:pt>
    <dgm:pt modelId="{BD70F104-5DB4-4226-86D9-8B0E1F0E74FA}" type="pres">
      <dgm:prSet presAssocID="{52135EEC-BB55-4A46-9A51-B5EC83EEE195}" presName="parentNode" presStyleLbl="node1" presStyleIdx="3" presStyleCnt="4" custScaleX="92501" custScaleY="92501" custLinFactNeighborX="7496" custLinFactNeighborY="-15823">
        <dgm:presLayoutVars>
          <dgm:chMax val="1"/>
          <dgm:bulletEnabled val="1"/>
        </dgm:presLayoutVars>
      </dgm:prSet>
      <dgm:spPr/>
    </dgm:pt>
    <dgm:pt modelId="{0BF3B0BE-62D1-4A5C-94C0-BAF5515A722A}" type="pres">
      <dgm:prSet presAssocID="{52135EEC-BB55-4A46-9A51-B5EC83EEE195}" presName="childNode" presStyleLbl="revTx" presStyleIdx="2" presStyleCnt="3">
        <dgm:presLayoutVars>
          <dgm:bulletEnabled val="1"/>
        </dgm:presLayoutVars>
      </dgm:prSet>
      <dgm:spPr/>
    </dgm:pt>
  </dgm:ptLst>
  <dgm:cxnLst>
    <dgm:cxn modelId="{D14AB003-9983-43DE-AC4E-309D592B3024}" srcId="{9E2E97DC-8CAB-4CE0-9321-E6D584131BF7}" destId="{88A4F8B5-F4E6-40CB-8C93-7313838E6878}" srcOrd="1" destOrd="0" parTransId="{36BBE9AD-B8BF-4293-8218-3517078A6EF8}" sibTransId="{06D293B4-BD78-4E6A-9320-1A8D64CF4ECF}"/>
    <dgm:cxn modelId="{26986007-B559-4C6A-A322-5F98A585DD20}" type="presOf" srcId="{9423B65C-8D7C-40C0-98FE-C2A7A93B890D}" destId="{E1DD07C9-0B8E-4BEF-A243-A1640E487D64}" srcOrd="0" destOrd="0" presId="urn:microsoft.com/office/officeart/2005/8/layout/radial2"/>
    <dgm:cxn modelId="{C1E20E0B-8BE9-4016-9486-939865DA3078}" srcId="{ADE689A2-C7CA-447B-AB50-416BE8A9CD06}" destId="{FB77AE1B-7B78-4FD1-AFE1-B8F95D36CAC5}" srcOrd="0" destOrd="0" parTransId="{12B6D6EF-C18F-4E1B-8AE7-50DF88906DB0}" sibTransId="{D64C052B-CBAD-4C0A-B9B5-77A0C73F9794}"/>
    <dgm:cxn modelId="{CD5A4D11-E352-489C-A834-FD4B9F111068}" type="presOf" srcId="{FB77AE1B-7B78-4FD1-AFE1-B8F95D36CAC5}" destId="{7C182CD5-9D95-4804-A891-70CE5D38E161}" srcOrd="0" destOrd="0" presId="urn:microsoft.com/office/officeart/2005/8/layout/radial2"/>
    <dgm:cxn modelId="{8218EE43-7A22-46F4-A301-AA399667E29B}" type="presOf" srcId="{ADE689A2-C7CA-447B-AB50-416BE8A9CD06}" destId="{C20BA89D-ED64-484B-A03A-C1C3DD6148ED}" srcOrd="0" destOrd="0" presId="urn:microsoft.com/office/officeart/2005/8/layout/radial2"/>
    <dgm:cxn modelId="{41099650-E24C-478D-92E8-6B36E4540158}" srcId="{9E2E97DC-8CAB-4CE0-9321-E6D584131BF7}" destId="{AB7FD963-852B-427C-9753-02556CC9C6CA}" srcOrd="0" destOrd="0" parTransId="{BABFE0FB-F3B4-4A6D-9F57-7FC8CCD604B0}" sibTransId="{128F4419-E3BE-4115-A739-1727E3D5924B}"/>
    <dgm:cxn modelId="{31AFC97D-D8FF-4B4B-A66B-3C644992AFE2}" srcId="{D43EFFA1-F8B2-4010-8A96-A9420AC76EC1}" destId="{ADE689A2-C7CA-447B-AB50-416BE8A9CD06}" srcOrd="1" destOrd="0" parTransId="{B4445681-E8D9-4359-9823-ADB239AD2B86}" sibTransId="{3371541D-97F3-466A-A38A-DF2577809D07}"/>
    <dgm:cxn modelId="{7D3F6288-3CBF-4769-AFF7-2E4F6EEED9DB}" type="presOf" srcId="{F1C67674-1AF5-4402-B579-2DC889D7A1FE}" destId="{0BF3B0BE-62D1-4A5C-94C0-BAF5515A722A}" srcOrd="0" destOrd="1" presId="urn:microsoft.com/office/officeart/2005/8/layout/radial2"/>
    <dgm:cxn modelId="{0D60318B-812F-44BA-9EBB-E3A1F86CED5B}" srcId="{D43EFFA1-F8B2-4010-8A96-A9420AC76EC1}" destId="{52135EEC-BB55-4A46-9A51-B5EC83EEE195}" srcOrd="2" destOrd="0" parTransId="{9423B65C-8D7C-40C0-98FE-C2A7A93B890D}" sibTransId="{00533CE2-5D61-4F03-B850-103FD1635FA5}"/>
    <dgm:cxn modelId="{D192988D-5BA9-47A3-BB4F-F9DA922ECECF}" type="presOf" srcId="{AB7FD963-852B-427C-9753-02556CC9C6CA}" destId="{65EB5D4A-B864-4BD4-9590-4F2F5C753379}" srcOrd="0" destOrd="0" presId="urn:microsoft.com/office/officeart/2005/8/layout/radial2"/>
    <dgm:cxn modelId="{F85EF892-3904-44FA-9C97-10098A0EEAB6}" type="presOf" srcId="{D43EFFA1-F8B2-4010-8A96-A9420AC76EC1}" destId="{97CA0417-71AD-4163-A6DE-3FA8619AA8EE}" srcOrd="0" destOrd="0" presId="urn:microsoft.com/office/officeart/2005/8/layout/radial2"/>
    <dgm:cxn modelId="{2C056996-E825-4060-9324-17FAFF3F3ABA}" srcId="{52135EEC-BB55-4A46-9A51-B5EC83EEE195}" destId="{740C5056-FD97-48E1-BDBB-4829DC627347}" srcOrd="0" destOrd="0" parTransId="{227B0253-5F70-4F82-B7FE-A79058CD61CE}" sibTransId="{F336B09C-6E71-4788-94C8-217DA37B6898}"/>
    <dgm:cxn modelId="{3BF79296-B763-42DE-B56C-F0EB80048F20}" type="presOf" srcId="{9E2E97DC-8CAB-4CE0-9321-E6D584131BF7}" destId="{0FC2372A-BE2E-45F4-83E6-94D54F18C496}" srcOrd="0" destOrd="0" presId="urn:microsoft.com/office/officeart/2005/8/layout/radial2"/>
    <dgm:cxn modelId="{0F0D62AA-0F6B-4658-ADB2-4082C4C6C802}" type="presOf" srcId="{52135EEC-BB55-4A46-9A51-B5EC83EEE195}" destId="{BD70F104-5DB4-4226-86D9-8B0E1F0E74FA}" srcOrd="0" destOrd="0" presId="urn:microsoft.com/office/officeart/2005/8/layout/radial2"/>
    <dgm:cxn modelId="{5BA5DDB0-1031-4957-A073-70576A53C5FA}" srcId="{52135EEC-BB55-4A46-9A51-B5EC83EEE195}" destId="{F1C67674-1AF5-4402-B579-2DC889D7A1FE}" srcOrd="1" destOrd="0" parTransId="{C404B84D-9095-4A14-AE65-030DF4BAFB12}" sibTransId="{22A36EC4-9AEF-44E0-901C-14E9610C841B}"/>
    <dgm:cxn modelId="{37788EC2-9BA1-4F89-B843-6D99D7A398B9}" type="presOf" srcId="{88A4F8B5-F4E6-40CB-8C93-7313838E6878}" destId="{65EB5D4A-B864-4BD4-9590-4F2F5C753379}" srcOrd="0" destOrd="1" presId="urn:microsoft.com/office/officeart/2005/8/layout/radial2"/>
    <dgm:cxn modelId="{8638FEC8-E885-46CE-89D5-0DC162CD1F19}" type="presOf" srcId="{EDB6B777-D9D6-4AF2-8086-5F1AB50F861A}" destId="{515AF47E-534E-4817-A246-2A2DFBCDBB20}" srcOrd="0" destOrd="0" presId="urn:microsoft.com/office/officeart/2005/8/layout/radial2"/>
    <dgm:cxn modelId="{D0354CD5-9446-4EFE-8060-380E9F8B2BF5}" type="presOf" srcId="{740C5056-FD97-48E1-BDBB-4829DC627347}" destId="{0BF3B0BE-62D1-4A5C-94C0-BAF5515A722A}" srcOrd="0" destOrd="0" presId="urn:microsoft.com/office/officeart/2005/8/layout/radial2"/>
    <dgm:cxn modelId="{A68D07D9-99B6-4BA4-9D03-AC657A545E2D}" srcId="{D43EFFA1-F8B2-4010-8A96-A9420AC76EC1}" destId="{9E2E97DC-8CAB-4CE0-9321-E6D584131BF7}" srcOrd="0" destOrd="0" parTransId="{EDB6B777-D9D6-4AF2-8086-5F1AB50F861A}" sibTransId="{03FED058-1C95-4602-A1D5-E8F5A54581F1}"/>
    <dgm:cxn modelId="{449D22DA-6167-4B14-99C4-606D11A51887}" srcId="{ADE689A2-C7CA-447B-AB50-416BE8A9CD06}" destId="{16FA6D05-9EEC-4655-AD66-FFCE38166CB4}" srcOrd="1" destOrd="0" parTransId="{BA28FAE9-B87B-4F8A-A9BE-60914796A097}" sibTransId="{BBDF3F68-C399-4CF9-84D6-19DF03929DF2}"/>
    <dgm:cxn modelId="{EE3E7DDD-1E23-4906-8069-152F47B9DD5E}" type="presOf" srcId="{16FA6D05-9EEC-4655-AD66-FFCE38166CB4}" destId="{7C182CD5-9D95-4804-A891-70CE5D38E161}" srcOrd="0" destOrd="1" presId="urn:microsoft.com/office/officeart/2005/8/layout/radial2"/>
    <dgm:cxn modelId="{50C980EE-0765-47F5-BFD9-237133B7EC81}" type="presOf" srcId="{B4445681-E8D9-4359-9823-ADB239AD2B86}" destId="{B6D7DA0F-8F0D-4BC4-A898-A8374FD2FC7A}" srcOrd="0" destOrd="0" presId="urn:microsoft.com/office/officeart/2005/8/layout/radial2"/>
    <dgm:cxn modelId="{DAB6186C-DE9A-4CFF-8A74-F758E17AB571}" type="presParOf" srcId="{97CA0417-71AD-4163-A6DE-3FA8619AA8EE}" destId="{58F0254E-2079-4F08-BEBA-5CC32DEB98A5}" srcOrd="0" destOrd="0" presId="urn:microsoft.com/office/officeart/2005/8/layout/radial2"/>
    <dgm:cxn modelId="{1CF6D0E6-6A66-4E35-82FA-86294207118D}" type="presParOf" srcId="{58F0254E-2079-4F08-BEBA-5CC32DEB98A5}" destId="{ECD201F2-ABB9-4B9F-8063-20F35291EDED}" srcOrd="0" destOrd="0" presId="urn:microsoft.com/office/officeart/2005/8/layout/radial2"/>
    <dgm:cxn modelId="{61E51126-F9A0-4E76-AE72-D1620AC158F0}" type="presParOf" srcId="{ECD201F2-ABB9-4B9F-8063-20F35291EDED}" destId="{D03C496C-E72F-4E5A-A1D1-604F7B8EB297}" srcOrd="0" destOrd="0" presId="urn:microsoft.com/office/officeart/2005/8/layout/radial2"/>
    <dgm:cxn modelId="{23762306-DC2D-462A-8B04-4A1D567D233F}" type="presParOf" srcId="{ECD201F2-ABB9-4B9F-8063-20F35291EDED}" destId="{E3D7E3D8-FB2C-425E-8EA5-196843452501}" srcOrd="1" destOrd="0" presId="urn:microsoft.com/office/officeart/2005/8/layout/radial2"/>
    <dgm:cxn modelId="{9852E8B6-67E5-4F58-A08A-28AA69BEAA24}" type="presParOf" srcId="{58F0254E-2079-4F08-BEBA-5CC32DEB98A5}" destId="{515AF47E-534E-4817-A246-2A2DFBCDBB20}" srcOrd="1" destOrd="0" presId="urn:microsoft.com/office/officeart/2005/8/layout/radial2"/>
    <dgm:cxn modelId="{08B208BF-9E71-4914-8711-172C2FFA54E1}" type="presParOf" srcId="{58F0254E-2079-4F08-BEBA-5CC32DEB98A5}" destId="{FCF86615-D33A-4DEA-8444-45E2238B621F}" srcOrd="2" destOrd="0" presId="urn:microsoft.com/office/officeart/2005/8/layout/radial2"/>
    <dgm:cxn modelId="{9F417C94-B159-46DC-99E6-BADAFD0CD372}" type="presParOf" srcId="{FCF86615-D33A-4DEA-8444-45E2238B621F}" destId="{0FC2372A-BE2E-45F4-83E6-94D54F18C496}" srcOrd="0" destOrd="0" presId="urn:microsoft.com/office/officeart/2005/8/layout/radial2"/>
    <dgm:cxn modelId="{9CBE7532-1483-4711-9AA6-35ACD552D280}" type="presParOf" srcId="{FCF86615-D33A-4DEA-8444-45E2238B621F}" destId="{65EB5D4A-B864-4BD4-9590-4F2F5C753379}" srcOrd="1" destOrd="0" presId="urn:microsoft.com/office/officeart/2005/8/layout/radial2"/>
    <dgm:cxn modelId="{58E2A547-FABE-47D0-AA68-3C12BC1AA9F9}" type="presParOf" srcId="{58F0254E-2079-4F08-BEBA-5CC32DEB98A5}" destId="{B6D7DA0F-8F0D-4BC4-A898-A8374FD2FC7A}" srcOrd="3" destOrd="0" presId="urn:microsoft.com/office/officeart/2005/8/layout/radial2"/>
    <dgm:cxn modelId="{FFB6FEB2-CD5E-4276-B366-D80D5DFCFF28}" type="presParOf" srcId="{58F0254E-2079-4F08-BEBA-5CC32DEB98A5}" destId="{F9C9A25A-45F7-44F0-BA46-AA1F96819B1C}" srcOrd="4" destOrd="0" presId="urn:microsoft.com/office/officeart/2005/8/layout/radial2"/>
    <dgm:cxn modelId="{86976B7B-503B-4133-8527-C984E4E7B8EF}" type="presParOf" srcId="{F9C9A25A-45F7-44F0-BA46-AA1F96819B1C}" destId="{C20BA89D-ED64-484B-A03A-C1C3DD6148ED}" srcOrd="0" destOrd="0" presId="urn:microsoft.com/office/officeart/2005/8/layout/radial2"/>
    <dgm:cxn modelId="{75E7D2A2-D947-4083-976A-D5A78E8C33E4}" type="presParOf" srcId="{F9C9A25A-45F7-44F0-BA46-AA1F96819B1C}" destId="{7C182CD5-9D95-4804-A891-70CE5D38E161}" srcOrd="1" destOrd="0" presId="urn:microsoft.com/office/officeart/2005/8/layout/radial2"/>
    <dgm:cxn modelId="{958F512B-8D02-46E9-846E-DDFA56813F52}" type="presParOf" srcId="{58F0254E-2079-4F08-BEBA-5CC32DEB98A5}" destId="{E1DD07C9-0B8E-4BEF-A243-A1640E487D64}" srcOrd="5" destOrd="0" presId="urn:microsoft.com/office/officeart/2005/8/layout/radial2"/>
    <dgm:cxn modelId="{C9282E83-1ECB-442B-8AA1-23A24B5E6A73}" type="presParOf" srcId="{58F0254E-2079-4F08-BEBA-5CC32DEB98A5}" destId="{087108DB-A082-483D-B6BB-00D8507F9DDB}" srcOrd="6" destOrd="0" presId="urn:microsoft.com/office/officeart/2005/8/layout/radial2"/>
    <dgm:cxn modelId="{C3592415-4121-4551-B4C6-E4F803B0C97C}" type="presParOf" srcId="{087108DB-A082-483D-B6BB-00D8507F9DDB}" destId="{BD70F104-5DB4-4226-86D9-8B0E1F0E74FA}" srcOrd="0" destOrd="0" presId="urn:microsoft.com/office/officeart/2005/8/layout/radial2"/>
    <dgm:cxn modelId="{7AB3305F-BE7D-468C-B16A-345FA66F1513}" type="presParOf" srcId="{087108DB-A082-483D-B6BB-00D8507F9DDB}" destId="{0BF3B0BE-62D1-4A5C-94C0-BAF5515A722A}" srcOrd="1" destOrd="0" presId="urn:microsoft.com/office/officeart/2005/8/layout/radial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EB0A0-1E4E-4FF7-BEA1-D35AF8243406}">
      <dsp:nvSpPr>
        <dsp:cNvPr id="0" name=""/>
        <dsp:cNvSpPr/>
      </dsp:nvSpPr>
      <dsp:spPr>
        <a:xfrm>
          <a:off x="1076" y="785995"/>
          <a:ext cx="1426416" cy="1426416"/>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t>utility</a:t>
          </a:r>
        </a:p>
      </dsp:txBody>
      <dsp:txXfrm>
        <a:off x="209970" y="994889"/>
        <a:ext cx="1008628" cy="1008628"/>
      </dsp:txXfrm>
    </dsp:sp>
    <dsp:sp modelId="{6F33084C-5DF2-4A83-B35F-ED444358E10A}">
      <dsp:nvSpPr>
        <dsp:cNvPr id="0" name=""/>
        <dsp:cNvSpPr/>
      </dsp:nvSpPr>
      <dsp:spPr>
        <a:xfrm>
          <a:off x="1543317" y="1085542"/>
          <a:ext cx="827321" cy="827321"/>
        </a:xfrm>
        <a:prstGeom prst="mathPlus">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1652978" y="1401910"/>
        <a:ext cx="607999" cy="194585"/>
      </dsp:txXfrm>
    </dsp:sp>
    <dsp:sp modelId="{D9446A6E-AEC9-4F17-9D73-7EE62FF45CDC}">
      <dsp:nvSpPr>
        <dsp:cNvPr id="0" name=""/>
        <dsp:cNvSpPr/>
      </dsp:nvSpPr>
      <dsp:spPr>
        <a:xfrm>
          <a:off x="2486463" y="785995"/>
          <a:ext cx="1426416" cy="1426416"/>
        </a:xfrm>
        <a:prstGeom prst="ellipse">
          <a:avLst/>
        </a:prstGeom>
        <a:solidFill>
          <a:schemeClr val="accent2">
            <a:hueOff val="1373170"/>
            <a:satOff val="-24404"/>
            <a:lumOff val="78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t>usability</a:t>
          </a:r>
        </a:p>
      </dsp:txBody>
      <dsp:txXfrm>
        <a:off x="2695357" y="994889"/>
        <a:ext cx="1008628" cy="1008628"/>
      </dsp:txXfrm>
    </dsp:sp>
    <dsp:sp modelId="{729EDB5B-D5DE-49DA-BFD9-59EC2B0B5214}">
      <dsp:nvSpPr>
        <dsp:cNvPr id="0" name=""/>
        <dsp:cNvSpPr/>
      </dsp:nvSpPr>
      <dsp:spPr>
        <a:xfrm>
          <a:off x="4028704" y="1085542"/>
          <a:ext cx="827321" cy="827321"/>
        </a:xfrm>
        <a:prstGeom prst="mathEqual">
          <a:avLst/>
        </a:prstGeom>
        <a:solidFill>
          <a:schemeClr val="accent2">
            <a:hueOff val="2746340"/>
            <a:satOff val="-48808"/>
            <a:lumOff val="156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GB" sz="2700" kern="1200"/>
        </a:p>
      </dsp:txBody>
      <dsp:txXfrm>
        <a:off x="4138365" y="1255970"/>
        <a:ext cx="607999" cy="486465"/>
      </dsp:txXfrm>
    </dsp:sp>
    <dsp:sp modelId="{F3F39B37-C044-497C-86F4-DB53A6355382}">
      <dsp:nvSpPr>
        <dsp:cNvPr id="0" name=""/>
        <dsp:cNvSpPr/>
      </dsp:nvSpPr>
      <dsp:spPr>
        <a:xfrm>
          <a:off x="4971850" y="785995"/>
          <a:ext cx="1426416" cy="1426416"/>
        </a:xfrm>
        <a:prstGeom prst="ellipse">
          <a:avLst/>
        </a:prstGeom>
        <a:solidFill>
          <a:schemeClr val="accent2">
            <a:hueOff val="2746340"/>
            <a:satOff val="-48808"/>
            <a:lumOff val="156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t>useful</a:t>
          </a:r>
        </a:p>
      </dsp:txBody>
      <dsp:txXfrm>
        <a:off x="5180744" y="994889"/>
        <a:ext cx="1008628" cy="10086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2C1F6-B15B-4B3A-9F41-3219441319F1}">
      <dsp:nvSpPr>
        <dsp:cNvPr id="0" name=""/>
        <dsp:cNvSpPr/>
      </dsp:nvSpPr>
      <dsp:spPr>
        <a:xfrm>
          <a:off x="5033328" y="1326445"/>
          <a:ext cx="2195626" cy="2196032"/>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63E0A8-691E-469B-9CDE-033E574D58D4}">
      <dsp:nvSpPr>
        <dsp:cNvPr id="0" name=""/>
        <dsp:cNvSpPr/>
      </dsp:nvSpPr>
      <dsp:spPr>
        <a:xfrm>
          <a:off x="5106230" y="1399659"/>
          <a:ext cx="2049823" cy="2049605"/>
        </a:xfrm>
        <a:prstGeom prst="ellips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t>Iteration</a:t>
          </a:r>
          <a:br>
            <a:rPr lang="en-GB" sz="1500" kern="1200" dirty="0"/>
          </a:br>
          <a:br>
            <a:rPr lang="en-GB" sz="1500" kern="1200" dirty="0"/>
          </a:br>
          <a:r>
            <a:rPr lang="en-GB" sz="1500" kern="1200" dirty="0"/>
            <a:t>Uses an iterative process that allows for constant evaluation and improvement</a:t>
          </a:r>
        </a:p>
      </dsp:txBody>
      <dsp:txXfrm>
        <a:off x="5399266" y="1692515"/>
        <a:ext cx="1463751" cy="1463893"/>
      </dsp:txXfrm>
    </dsp:sp>
    <dsp:sp modelId="{A645CF10-DCAD-41A9-94F5-39B88B3D8A71}">
      <dsp:nvSpPr>
        <dsp:cNvPr id="0" name=""/>
        <dsp:cNvSpPr/>
      </dsp:nvSpPr>
      <dsp:spPr>
        <a:xfrm rot="2700000">
          <a:off x="2766729" y="1329100"/>
          <a:ext cx="2190338" cy="2190338"/>
        </a:xfrm>
        <a:prstGeom prst="teardrop">
          <a:avLst>
            <a:gd name="adj" fmla="val 10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DE7D95-F023-4197-ABCC-53C3ED958F67}">
      <dsp:nvSpPr>
        <dsp:cNvPr id="0" name=""/>
        <dsp:cNvSpPr/>
      </dsp:nvSpPr>
      <dsp:spPr>
        <a:xfrm>
          <a:off x="2836987" y="1399659"/>
          <a:ext cx="2049823" cy="2049605"/>
        </a:xfrm>
        <a:prstGeom prst="ellipse">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t>Evaluation</a:t>
          </a:r>
          <a:r>
            <a:rPr lang="en-GB" sz="1500" kern="1200" dirty="0"/>
            <a:t> and </a:t>
          </a:r>
          <a:r>
            <a:rPr lang="en-GB" sz="1500" b="1" kern="1200" dirty="0"/>
            <a:t>measurement</a:t>
          </a:r>
          <a:r>
            <a:rPr lang="en-GB" sz="1500" kern="1200" dirty="0"/>
            <a:t> of product usage</a:t>
          </a:r>
        </a:p>
      </dsp:txBody>
      <dsp:txXfrm>
        <a:off x="3130023" y="1692515"/>
        <a:ext cx="1463751" cy="1463893"/>
      </dsp:txXfrm>
    </dsp:sp>
    <dsp:sp modelId="{F50DB1E7-2948-4B6A-89DF-7E56514A5D95}">
      <dsp:nvSpPr>
        <dsp:cNvPr id="0" name=""/>
        <dsp:cNvSpPr/>
      </dsp:nvSpPr>
      <dsp:spPr>
        <a:xfrm rot="2700000">
          <a:off x="497486" y="1329100"/>
          <a:ext cx="2190338" cy="2190338"/>
        </a:xfrm>
        <a:prstGeom prst="teardrop">
          <a:avLst>
            <a:gd name="adj" fmla="val 10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77F5A5-B2A1-431E-9EAB-193C47336B30}">
      <dsp:nvSpPr>
        <dsp:cNvPr id="0" name=""/>
        <dsp:cNvSpPr/>
      </dsp:nvSpPr>
      <dsp:spPr>
        <a:xfrm>
          <a:off x="567744" y="1399659"/>
          <a:ext cx="2049823" cy="2049605"/>
        </a:xfrm>
        <a:prstGeom prst="ellipse">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t>Research</a:t>
          </a:r>
          <a:br>
            <a:rPr lang="en-GB" sz="1500" kern="1200" dirty="0"/>
          </a:br>
          <a:br>
            <a:rPr lang="en-GB" sz="1500" kern="1200" dirty="0"/>
          </a:br>
          <a:r>
            <a:rPr lang="en-GB" sz="1500" kern="1200" dirty="0"/>
            <a:t>It begins with research to understand the user, their objectives and contexts</a:t>
          </a:r>
        </a:p>
      </dsp:txBody>
      <dsp:txXfrm>
        <a:off x="860780" y="1692515"/>
        <a:ext cx="1463751" cy="14638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DD07C9-0B8E-4BEF-A243-A1640E487D64}">
      <dsp:nvSpPr>
        <dsp:cNvPr id="0" name=""/>
        <dsp:cNvSpPr/>
      </dsp:nvSpPr>
      <dsp:spPr>
        <a:xfrm rot="2227723">
          <a:off x="2166585" y="3461246"/>
          <a:ext cx="869078" cy="63017"/>
        </a:xfrm>
        <a:custGeom>
          <a:avLst/>
          <a:gdLst/>
          <a:ahLst/>
          <a:cxnLst/>
          <a:rect l="0" t="0" r="0" b="0"/>
          <a:pathLst>
            <a:path>
              <a:moveTo>
                <a:pt x="0" y="31508"/>
              </a:moveTo>
              <a:lnTo>
                <a:pt x="869078" y="31508"/>
              </a:lnTo>
            </a:path>
          </a:pathLst>
        </a:custGeom>
        <a:noFill/>
        <a:ln w="1905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D7DA0F-8F0D-4BC4-A898-A8374FD2FC7A}">
      <dsp:nvSpPr>
        <dsp:cNvPr id="0" name=""/>
        <dsp:cNvSpPr/>
      </dsp:nvSpPr>
      <dsp:spPr>
        <a:xfrm rot="67934">
          <a:off x="2254572" y="2570468"/>
          <a:ext cx="1051066" cy="63017"/>
        </a:xfrm>
        <a:custGeom>
          <a:avLst/>
          <a:gdLst/>
          <a:ahLst/>
          <a:cxnLst/>
          <a:rect l="0" t="0" r="0" b="0"/>
          <a:pathLst>
            <a:path>
              <a:moveTo>
                <a:pt x="0" y="31508"/>
              </a:moveTo>
              <a:lnTo>
                <a:pt x="1051066" y="31508"/>
              </a:lnTo>
            </a:path>
          </a:pathLst>
        </a:custGeom>
        <a:noFill/>
        <a:ln w="1905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5AF47E-534E-4817-A246-2A2DFBCDBB20}">
      <dsp:nvSpPr>
        <dsp:cNvPr id="0" name=""/>
        <dsp:cNvSpPr/>
      </dsp:nvSpPr>
      <dsp:spPr>
        <a:xfrm rot="18859961">
          <a:off x="2123231" y="1411690"/>
          <a:ext cx="740367" cy="63017"/>
        </a:xfrm>
        <a:custGeom>
          <a:avLst/>
          <a:gdLst/>
          <a:ahLst/>
          <a:cxnLst/>
          <a:rect l="0" t="0" r="0" b="0"/>
          <a:pathLst>
            <a:path>
              <a:moveTo>
                <a:pt x="0" y="31508"/>
              </a:moveTo>
              <a:lnTo>
                <a:pt x="740367" y="31508"/>
              </a:lnTo>
            </a:path>
          </a:pathLst>
        </a:custGeom>
        <a:noFill/>
        <a:ln w="1905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D7E3D8-FB2C-425E-8EA5-196843452501}">
      <dsp:nvSpPr>
        <dsp:cNvPr id="0" name=""/>
        <dsp:cNvSpPr/>
      </dsp:nvSpPr>
      <dsp:spPr>
        <a:xfrm>
          <a:off x="127309" y="1402877"/>
          <a:ext cx="2454089" cy="2454089"/>
        </a:xfrm>
        <a:prstGeom prst="ellipse">
          <a:avLst/>
        </a:prstGeom>
        <a:solidFill>
          <a:schemeClr val="accent2">
            <a:hueOff val="0"/>
            <a:satOff val="0"/>
            <a:lumOff val="0"/>
            <a:alphaOff val="0"/>
          </a:schemeClr>
        </a:solidFill>
        <a:ln>
          <a:noFill/>
        </a:ln>
        <a:effectLst>
          <a:outerShdw blurRad="38100" dist="30000" dir="5400000" rotWithShape="0">
            <a:srgbClr val="000000">
              <a:alpha val="4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FC2372A-BE2E-45F4-83E6-94D54F18C496}">
      <dsp:nvSpPr>
        <dsp:cNvPr id="0" name=""/>
        <dsp:cNvSpPr/>
      </dsp:nvSpPr>
      <dsp:spPr>
        <a:xfrm>
          <a:off x="2545199" y="0"/>
          <a:ext cx="1374002" cy="1374002"/>
        </a:xfrm>
        <a:prstGeom prst="ellipse">
          <a:avLst/>
        </a:prstGeom>
        <a:solidFill>
          <a:schemeClr val="accent2">
            <a:hueOff val="915447"/>
            <a:satOff val="-16269"/>
            <a:lumOff val="523"/>
            <a:alphaOff val="0"/>
          </a:schemeClr>
        </a:solidFill>
        <a:ln>
          <a:noFill/>
        </a:ln>
        <a:effectLst>
          <a:outerShdw blurRad="38100" dist="30000" dir="5400000" rotWithShape="0">
            <a:srgbClr val="000000">
              <a:alpha val="4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b="1" kern="1200" dirty="0"/>
            <a:t>Type of data</a:t>
          </a:r>
        </a:p>
      </dsp:txBody>
      <dsp:txXfrm>
        <a:off x="2746417" y="201218"/>
        <a:ext cx="971566" cy="971566"/>
      </dsp:txXfrm>
    </dsp:sp>
    <dsp:sp modelId="{65EB5D4A-B864-4BD4-9590-4F2F5C753379}">
      <dsp:nvSpPr>
        <dsp:cNvPr id="0" name=""/>
        <dsp:cNvSpPr/>
      </dsp:nvSpPr>
      <dsp:spPr>
        <a:xfrm>
          <a:off x="4206978" y="0"/>
          <a:ext cx="2061003" cy="1374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en-GB" sz="1800" b="1" kern="1200" dirty="0">
              <a:solidFill>
                <a:prstClr val="black">
                  <a:hueOff val="0"/>
                  <a:satOff val="0"/>
                  <a:lumOff val="0"/>
                  <a:alphaOff val="0"/>
                </a:prstClr>
              </a:solidFill>
              <a:latin typeface="Tw Cen MT"/>
              <a:ea typeface="+mn-ea"/>
              <a:cs typeface="+mn-cs"/>
            </a:rPr>
            <a:t>Qualitative</a:t>
          </a:r>
        </a:p>
        <a:p>
          <a:pPr marL="171450" lvl="1" indent="-171450" algn="l" defTabSz="800100">
            <a:lnSpc>
              <a:spcPct val="90000"/>
            </a:lnSpc>
            <a:spcBef>
              <a:spcPct val="0"/>
            </a:spcBef>
            <a:spcAft>
              <a:spcPct val="15000"/>
            </a:spcAft>
            <a:buChar char="•"/>
          </a:pPr>
          <a:r>
            <a:rPr lang="en-GB" sz="1800" b="1" kern="1200" dirty="0">
              <a:solidFill>
                <a:prstClr val="black">
                  <a:hueOff val="0"/>
                  <a:satOff val="0"/>
                  <a:lumOff val="0"/>
                  <a:alphaOff val="0"/>
                </a:prstClr>
              </a:solidFill>
              <a:latin typeface="Tw Cen MT"/>
              <a:ea typeface="+mn-ea"/>
              <a:cs typeface="+mn-cs"/>
            </a:rPr>
            <a:t>Quantitative</a:t>
          </a:r>
        </a:p>
      </dsp:txBody>
      <dsp:txXfrm>
        <a:off x="4206978" y="0"/>
        <a:ext cx="2061003" cy="1374002"/>
      </dsp:txXfrm>
    </dsp:sp>
    <dsp:sp modelId="{C20BA89D-ED64-484B-A03A-C1C3DD6148ED}">
      <dsp:nvSpPr>
        <dsp:cNvPr id="0" name=""/>
        <dsp:cNvSpPr/>
      </dsp:nvSpPr>
      <dsp:spPr>
        <a:xfrm>
          <a:off x="3305401" y="1938935"/>
          <a:ext cx="1374002" cy="1374002"/>
        </a:xfrm>
        <a:prstGeom prst="ellipse">
          <a:avLst/>
        </a:prstGeom>
        <a:solidFill>
          <a:schemeClr val="accent5">
            <a:lumMod val="40000"/>
            <a:lumOff val="60000"/>
          </a:schemeClr>
        </a:solidFill>
        <a:ln>
          <a:noFill/>
        </a:ln>
        <a:effectLst>
          <a:outerShdw blurRad="38100" dist="30000" dir="5400000" rotWithShape="0">
            <a:srgbClr val="000000">
              <a:alpha val="4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b="1" kern="1200" dirty="0">
              <a:solidFill>
                <a:prstClr val="black"/>
              </a:solidFill>
              <a:latin typeface="Tw Cen MT"/>
              <a:ea typeface="+mn-ea"/>
              <a:cs typeface="+mn-cs"/>
            </a:rPr>
            <a:t>Location</a:t>
          </a:r>
        </a:p>
      </dsp:txBody>
      <dsp:txXfrm>
        <a:off x="3506619" y="2140153"/>
        <a:ext cx="971566" cy="971566"/>
      </dsp:txXfrm>
    </dsp:sp>
    <dsp:sp modelId="{7C182CD5-9D95-4804-A891-70CE5D38E161}">
      <dsp:nvSpPr>
        <dsp:cNvPr id="0" name=""/>
        <dsp:cNvSpPr/>
      </dsp:nvSpPr>
      <dsp:spPr>
        <a:xfrm>
          <a:off x="4967179" y="1938935"/>
          <a:ext cx="2061003" cy="1374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en-GB" sz="1800" b="1" kern="1200" dirty="0">
              <a:solidFill>
                <a:prstClr val="black">
                  <a:hueOff val="0"/>
                  <a:satOff val="0"/>
                  <a:lumOff val="0"/>
                  <a:alphaOff val="0"/>
                </a:prstClr>
              </a:solidFill>
              <a:latin typeface="Tw Cen MT"/>
              <a:ea typeface="+mn-ea"/>
              <a:cs typeface="+mn-cs"/>
            </a:rPr>
            <a:t>Remote</a:t>
          </a:r>
        </a:p>
        <a:p>
          <a:pPr marL="171450" lvl="1" indent="-171450" algn="l" defTabSz="800100">
            <a:lnSpc>
              <a:spcPct val="90000"/>
            </a:lnSpc>
            <a:spcBef>
              <a:spcPct val="0"/>
            </a:spcBef>
            <a:spcAft>
              <a:spcPct val="15000"/>
            </a:spcAft>
            <a:buChar char="•"/>
          </a:pPr>
          <a:r>
            <a:rPr lang="en-GB" sz="1800" b="1" kern="1200" dirty="0">
              <a:solidFill>
                <a:prstClr val="black">
                  <a:hueOff val="0"/>
                  <a:satOff val="0"/>
                  <a:lumOff val="0"/>
                  <a:alphaOff val="0"/>
                </a:prstClr>
              </a:solidFill>
              <a:latin typeface="Tw Cen MT"/>
              <a:ea typeface="+mn-ea"/>
              <a:cs typeface="+mn-cs"/>
            </a:rPr>
            <a:t>In-Person</a:t>
          </a:r>
        </a:p>
      </dsp:txBody>
      <dsp:txXfrm>
        <a:off x="4967179" y="1938935"/>
        <a:ext cx="2061003" cy="1374002"/>
      </dsp:txXfrm>
    </dsp:sp>
    <dsp:sp modelId="{BD70F104-5DB4-4226-86D9-8B0E1F0E74FA}">
      <dsp:nvSpPr>
        <dsp:cNvPr id="0" name=""/>
        <dsp:cNvSpPr/>
      </dsp:nvSpPr>
      <dsp:spPr>
        <a:xfrm>
          <a:off x="2808307" y="3482724"/>
          <a:ext cx="1374002" cy="1374002"/>
        </a:xfrm>
        <a:prstGeom prst="ellipse">
          <a:avLst/>
        </a:prstGeom>
        <a:solidFill>
          <a:schemeClr val="accent2">
            <a:hueOff val="2746340"/>
            <a:satOff val="-48808"/>
            <a:lumOff val="1569"/>
            <a:alphaOff val="0"/>
          </a:schemeClr>
        </a:solidFill>
        <a:ln>
          <a:noFill/>
        </a:ln>
        <a:effectLst>
          <a:outerShdw blurRad="38100" dist="30000" dir="5400000" rotWithShape="0">
            <a:srgbClr val="000000">
              <a:alpha val="4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b="1" kern="1200" dirty="0">
              <a:solidFill>
                <a:prstClr val="black">
                  <a:hueOff val="0"/>
                  <a:satOff val="0"/>
                  <a:lumOff val="0"/>
                  <a:alphaOff val="0"/>
                </a:prstClr>
              </a:solidFill>
              <a:latin typeface="Tw Cen MT"/>
              <a:ea typeface="+mn-ea"/>
              <a:cs typeface="+mn-cs"/>
            </a:rPr>
            <a:t>Presence of moderator</a:t>
          </a:r>
        </a:p>
      </dsp:txBody>
      <dsp:txXfrm>
        <a:off x="3009525" y="3683942"/>
        <a:ext cx="971566" cy="971566"/>
      </dsp:txXfrm>
    </dsp:sp>
    <dsp:sp modelId="{0BF3B0BE-62D1-4A5C-94C0-BAF5515A722A}">
      <dsp:nvSpPr>
        <dsp:cNvPr id="0" name=""/>
        <dsp:cNvSpPr/>
      </dsp:nvSpPr>
      <dsp:spPr>
        <a:xfrm>
          <a:off x="4470085" y="3482724"/>
          <a:ext cx="2061003" cy="1374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en-GB" sz="1800" b="1" kern="1200" dirty="0">
              <a:solidFill>
                <a:prstClr val="black">
                  <a:hueOff val="0"/>
                  <a:satOff val="0"/>
                  <a:lumOff val="0"/>
                  <a:alphaOff val="0"/>
                </a:prstClr>
              </a:solidFill>
              <a:latin typeface="Tw Cen MT"/>
              <a:ea typeface="+mn-ea"/>
              <a:cs typeface="+mn-cs"/>
            </a:rPr>
            <a:t>Moderated</a:t>
          </a:r>
        </a:p>
        <a:p>
          <a:pPr marL="171450" lvl="1" indent="-171450" algn="l" defTabSz="800100">
            <a:lnSpc>
              <a:spcPct val="90000"/>
            </a:lnSpc>
            <a:spcBef>
              <a:spcPct val="0"/>
            </a:spcBef>
            <a:spcAft>
              <a:spcPct val="15000"/>
            </a:spcAft>
            <a:buChar char="•"/>
          </a:pPr>
          <a:r>
            <a:rPr lang="en-GB" sz="1800" b="1" kern="1200" dirty="0">
              <a:solidFill>
                <a:prstClr val="black">
                  <a:hueOff val="0"/>
                  <a:satOff val="0"/>
                  <a:lumOff val="0"/>
                  <a:alphaOff val="0"/>
                </a:prstClr>
              </a:solidFill>
              <a:latin typeface="Tw Cen MT"/>
              <a:ea typeface="+mn-ea"/>
              <a:cs typeface="+mn-cs"/>
            </a:rPr>
            <a:t>Unmoderated</a:t>
          </a:r>
        </a:p>
      </dsp:txBody>
      <dsp:txXfrm>
        <a:off x="4470085" y="3482724"/>
        <a:ext cx="2061003" cy="1374002"/>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08:44:27.173"/>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21,'39'-8,"-5"-1,237 6,-154 5,155-4,261 4,-359 7,92 0,278-9,-525 1,0 1,20 4,25 3,-44-7,-1 1,1 1,19 6,-16-3,39 5,-8-5,61 4,-98-11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08:44:38.268"/>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24,'39'-15,"-2"10,0 2,0 2,45 4,-3-1,150-4,209 4,-321 8,48 0,-135-10,573 24,-242 34,-204-46,-43-4,178 18,-205-13,-70-11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08:44:39.972"/>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0,'751'43,"-623"-29,353 36,-88-45,-220-7,424 2,-582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10:18:39.161"/>
    </inkml:context>
    <inkml:brush xml:id="br0">
      <inkml:brushProperty name="width" value="0.1" units="cm"/>
      <inkml:brushProperty name="height" value="0.1" units="cm"/>
      <inkml:brushProperty name="color" value="#66CC00"/>
    </inkml:brush>
  </inkml:definitions>
  <inkml:trace contextRef="#ctx0" brushRef="#br0">37 1 24575,'1'78'0,"0"10"0,-13 118 0,0-37 0,6-47 0,-3 383 0,12-300 0,-3 75-1365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10:18:40.354"/>
    </inkml:context>
    <inkml:brush xml:id="br0">
      <inkml:brushProperty name="width" value="0.1" units="cm"/>
      <inkml:brushProperty name="height" value="0.1" units="cm"/>
      <inkml:brushProperty name="color" value="#66CC00"/>
    </inkml:brush>
  </inkml:definitions>
  <inkml:trace contextRef="#ctx0" brushRef="#br0">0 0 24575,'3'2'0,"0"0"0,-1-1 0,1 1 0,-1 0 0,0 1 0,0-1 0,0 0 0,0 1 0,0-1 0,0 1 0,2 4 0,1 0 0,6 11 0,0 0 0,-1 1 0,-1 0 0,-1 1 0,8 28 0,2 6 0,19 12 0,-37-65 0,1 0 0,-1 0 0,0-1 0,1 1 0,-1 0 0,0 0 0,1 0 0,-1-1 0,1 1 0,-1 0 0,1-1 0,0 1 0,-1 0 0,1-1 0,0 1 0,-1-1 0,1 1 0,0-1 0,0 1 0,-1-1 0,1 1 0,0-1 0,0 0 0,0 0 0,-1 1 0,1-1 0,1 0 0,0 0 0,-1 0 0,1-1 0,0 1 0,-1-1 0,1 1 0,-1-1 0,1 0 0,-1 0 0,1 1 0,-1-1 0,0 0 0,1 0 0,1-2 0,6-6 0,-1-1 0,0 1 0,7-13 0,-10 15 0,6-11-151,2 2-1,0 0 0,0 0 0,2 1 1,0 1-1,1 0 0,0 1 1,28-17-1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10:24:19.688"/>
    </inkml:context>
    <inkml:brush xml:id="br0">
      <inkml:brushProperty name="width" value="0.1" units="cm"/>
      <inkml:brushProperty name="height" value="0.1" units="cm"/>
      <inkml:brushProperty name="color" value="#66CC00"/>
    </inkml:brush>
  </inkml:definitions>
  <inkml:trace contextRef="#ctx0" brushRef="#br0">1 1 24575,'1'3'0,"0"0"0,1 0 0,0 0 0,-1 0 0,1 0 0,0 0 0,1 0 0,2 3 0,3 4 0,30 43 0,2-1 0,2-3 0,87 79 0,-32-46 0,131 118 0,24 53 0,-212-212 0,123 136 0,16 16 0,-70-73 0,132 186 0,-218-274 0,-6-10 0,-1 1 0,-1 1 0,19 40 0,-22-40 0,27 42 0,2 5 0,-38-66 0,1 1 0,-1-1 0,1 0 0,0 0 0,0 0 0,1 0 0,6 5 0,-5-4 0,8 14-1365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10:24:21.523"/>
    </inkml:context>
    <inkml:brush xml:id="br0">
      <inkml:brushProperty name="width" value="0.1" units="cm"/>
      <inkml:brushProperty name="height" value="0.1" units="cm"/>
      <inkml:brushProperty name="color" value="#66CC00"/>
    </inkml:brush>
  </inkml:definitions>
  <inkml:trace contextRef="#ctx0" brushRef="#br0">1 192 24575,'15'0'0,"0"1"0,-1 1 0,1 1 0,0 0 0,0 0 0,-1 2 0,0-1 0,0 2 0,0 0 0,-1 1 0,14 9 0,-8-5 0,-4-4 0,-1 2 0,0-1 0,0 2 0,-1 0 0,14 15 0,-26-24 0,0 0 0,0 0 0,-1 0 0,1 0 0,0 0 0,0 0 0,0 0 0,0-1 0,1 1 0,-1 0 0,0 0 0,0-1 0,0 1 0,1-1 0,-1 1 0,0-1 0,0 0 0,1 1 0,-1-1 0,0 0 0,1 0 0,-1 0 0,2 0 0,-2-1 0,0 1 0,0-1 0,0 0 0,0 0 0,0 1 0,0-1 0,0 0 0,0 0 0,-1 0 0,1 0 0,0 0 0,-1-1 0,1 1 0,-1 0 0,1 0 0,-1 0 0,1 0 0,-1-1 0,0-1 0,3-10 0,-2 0 0,0 0 0,-1-19 0,0 29 0,-2-243-1365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9:05:03.559"/>
    </inkml:context>
    <inkml:brush xml:id="br0">
      <inkml:brushProperty name="width" value="0.1" units="cm"/>
      <inkml:brushProperty name="height" value="0.1" units="cm"/>
      <inkml:brushProperty name="color" value="#FF9933"/>
    </inkml:brush>
  </inkml:definitions>
  <inkml:trace contextRef="#ctx0" brushRef="#br0">1 0 24575,'2'2'0,"0"-1"0,1 1 0,-1-1 0,0 1 0,0 0 0,0 0 0,-1 0 0,1 0 0,0 0 0,-1 0 0,1 0 0,-1 0 0,0 1 0,1-1 0,0 4 0,7 9 0,77 111 0,-64-95 0,1-2 0,2 0 0,39 35 0,-49-49 0,29 24 0,2-2 0,72 44 0,15 12 0,-89-63 0,1-2 0,1-2 0,2-3 0,0-1 0,58 17 0,-86-30-1365,-5 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9:05:05.322"/>
    </inkml:context>
    <inkml:brush xml:id="br0">
      <inkml:brushProperty name="width" value="0.1" units="cm"/>
      <inkml:brushProperty name="height" value="0.1" units="cm"/>
      <inkml:brushProperty name="color" value="#FF9933"/>
    </inkml:brush>
  </inkml:definitions>
  <inkml:trace contextRef="#ctx0" brushRef="#br0">139 1 24575,'2'0'0,"-1"1"0,0-1 0,0 1 0,0 0 0,0-1 0,0 1 0,0 0 0,0 0 0,0 0 0,0 0 0,0 0 0,0 0 0,-1 0 0,1 0 0,0 0 0,-1 0 0,1 0 0,0 0 0,0 3 0,12 30 0,-9-24 0,15 56 0,-17-55 0,0 0 0,1 0 0,1 0 0,0 0 0,0-1 0,1 1 0,0-1 0,9 12 0,-2-4 0,0 0 0,16 35 0,-19-34 0,1 0 0,22 33 0,-30-51 0,-1 0 0,0 0 0,0 1 0,0-1 0,0 1 0,0-1 0,0 1 0,0-1 0,0 1 0,-1 0 0,1-1 0,0 1 0,-1 0 0,0-1 0,1 1 0,-1 0 0,0 0 0,0 0 0,0-1 0,0 1 0,0 0 0,-1 0 0,1-1 0,0 1 0,-1 0 0,1-1 0,-1 1 0,0 0 0,1-1 0,-1 1 0,0 0 0,0-1 0,0 0 0,0 1 0,0-1 0,-1 1 0,1-1 0,0 0 0,-1 0 0,1 0 0,-1 0 0,-1 1 0,-9 5 0,0-1 0,0 0 0,0-1 0,-24 6 0,16-5 0,-103 45 0,67-26 0,50-22-195,-1 0 0,1 0 0,0 1 0,0-1 0,0 1 0,-5 6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9:05:07.435"/>
    </inkml:context>
    <inkml:brush xml:id="br0">
      <inkml:brushProperty name="width" value="0.1" units="cm"/>
      <inkml:brushProperty name="height" value="0.1" units="cm"/>
      <inkml:brushProperty name="color" value="#FF9933"/>
    </inkml:brush>
  </inkml:definitions>
  <inkml:trace contextRef="#ctx0" brushRef="#br0">2 0 24575,'0'48'0,"-1"-9"0,7 71 0,-4-98 0,0 0 0,1 0 0,0 0 0,1-1 0,0 0 0,1 1 0,0-1 0,1-1 0,0 1 0,9 10 0,15 18 0,-13-14 0,25 24 0,-18-21 0,-19-20 0,2 0 0,-1-1 0,11 9 0,24 15 0,59 33 0,-22-16 0,-64-39 0,0-2 0,1 0 0,0 0 0,29 7 0,69 11 0,-72-17 0,11 4-90,-11-3-335,0-1 0,46 3 0,-65-11-6401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9:05:09.105"/>
    </inkml:context>
    <inkml:brush xml:id="br0">
      <inkml:brushProperty name="width" value="0.1" units="cm"/>
      <inkml:brushProperty name="height" value="0.1" units="cm"/>
      <inkml:brushProperty name="color" value="#FF9933"/>
    </inkml:brush>
  </inkml:definitions>
  <inkml:trace contextRef="#ctx0" brushRef="#br0">1 0 24575,'7'8'0,"0"-1"0,1 0 0,0-1 0,0 0 0,1 0 0,14 7 0,39 17 0,78 27 0,-28-21 0,-109-35 0,-1-1 0,1 1 0,-1 0 0,1 0 0,-1 0 0,0 0 0,1 1 0,-1-1 0,0 1 0,0-1 0,0 1 0,0 0 0,2 2 0,-3-3 0,-1 0 0,1 0 0,-1 0 0,0 0 0,1 0 0,-1 0 0,0 0 0,0 0 0,0 0 0,0 0 0,0 0 0,0 1 0,0-1 0,0 0 0,0 0 0,-1 0 0,1 0 0,0 0 0,-1 0 0,1 0 0,-1 0 0,1 0 0,-1 0 0,1 0 0,-1 0 0,0-1 0,1 1 0,-1 0 0,0 0 0,0 0 0,1-1 0,-1 1 0,-1 0 0,-21 18 20,-1-1 0,-1-1 0,0-1 0,-41 18 0,-28 19-1485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9:05:11.849"/>
    </inkml:context>
    <inkml:brush xml:id="br0">
      <inkml:brushProperty name="width" value="0.1" units="cm"/>
      <inkml:brushProperty name="height" value="0.1" units="cm"/>
      <inkml:brushProperty name="color" value="#FF9933"/>
    </inkml:brush>
  </inkml:definitions>
  <inkml:trace contextRef="#ctx0" brushRef="#br0">30 0 24575,'0'30'0,"-1"1"0,-2-1 0,-8 43 0,4-30 0,2 1 0,2 0 0,5 81 0,1-32 0,-3 12-1365,0-83-5461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9:05:13.053"/>
    </inkml:context>
    <inkml:brush xml:id="br0">
      <inkml:brushProperty name="width" value="0.1" units="cm"/>
      <inkml:brushProperty name="height" value="0.1" units="cm"/>
      <inkml:brushProperty name="color" value="#FF9933"/>
    </inkml:brush>
  </inkml:definitions>
  <inkml:trace contextRef="#ctx0" brushRef="#br0">0 0 24575,'5'1'0,"-1"-1"0,1 1 0,0 0 0,-1 1 0,0-1 0,1 1 0,-1 0 0,0 0 0,0 0 0,0 0 0,0 1 0,0 0 0,-1 0 0,1 0 0,-1 0 0,4 5 0,7 9 0,0 0 0,11 21 0,-21-32 0,10 21 0,-12-21 0,1 0 0,0 0 0,1 0 0,-1 0 0,1 0 0,5 5 0,-8-10 0,0 0 0,0 0 0,1 0 0,-1 0 0,0 0 0,1-1 0,-1 1 0,0 0 0,1-1 0,-1 1 0,1-1 0,-1 1 0,1-1 0,-1 0 0,1 0 0,-1 0 0,1 0 0,-1 0 0,1 0 0,0 0 0,-1 0 0,1 0 0,-1-1 0,1 1 0,-1-1 0,0 1 0,1-1 0,-1 0 0,1 1 0,-1-1 0,0 0 0,2-1 0,30-22-273,-2-2 0,0-1 0,-2-1 0,45-56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9:05:14.688"/>
    </inkml:context>
    <inkml:brush xml:id="br0">
      <inkml:brushProperty name="width" value="0.1" units="cm"/>
      <inkml:brushProperty name="height" value="0.1" units="cm"/>
      <inkml:brushProperty name="color" value="#FF9933"/>
    </inkml:brush>
  </inkml:definitions>
  <inkml:trace contextRef="#ctx0" brushRef="#br0">0 0 24575,'2'0'0,"0"1"0,0-1 0,0 1 0,0 0 0,0 0 0,0-1 0,0 1 0,-1 0 0,1 1 0,0-1 0,0 0 0,-1 0 0,1 1 0,-1-1 0,1 1 0,-1-1 0,0 1 0,0 0 0,0-1 0,0 1 0,0 0 0,0 0 0,0 0 0,0 0 0,-1 0 0,2 3 0,1 6 0,0 1 0,-1-1 0,1 16 0,-1 42 0,-2-45 0,1 0 0,7 38 0,17 47 0,12 71 0,-33-145-682,-2 56-1,-2-69-6143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9:05:19.681"/>
    </inkml:context>
    <inkml:brush xml:id="br0">
      <inkml:brushProperty name="width" value="0.1" units="cm"/>
      <inkml:brushProperty name="height" value="0.1" units="cm"/>
      <inkml:brushProperty name="color" value="#FF9933"/>
    </inkml:brush>
  </inkml:definitions>
  <inkml:trace contextRef="#ctx0" brushRef="#br0">0 90 24575,'3'0'0,"1"1"0,-1 0 0,0 0 0,0 0 0,0 0 0,0 0 0,0 0 0,0 1 0,0-1 0,0 1 0,0 0 0,-1 0 0,4 3 0,33 33 0,-28-26 0,14 16 0,29 43 0,-23-29 0,-30-39 0,0-1 0,1-1 0,-1 1 0,1 0 0,-1 0 0,1 0 0,0-1 0,0 1 0,-1-1 0,1 1 0,0-1 0,0 0 0,1 0 0,-1 0 0,0 0 0,0 0 0,1-1 0,2 2 0,-3-3 0,0 1 0,0-1 0,0 1 0,1-1 0,-1 0 0,0 0 0,0 0 0,0 0 0,0 0 0,-1 0 0,1-1 0,0 1 0,0-1 0,-1 1 0,1-1 0,-1 0 0,1 1 0,-1-1 0,2-4 0,7-10 0,0-1 0,-1 0 0,-1-1 0,7-22 0,-7 18 0,1 1 0,17-31 0,-7 11 51,-16 34-228,-1 1 0,1-1 0,0 1 0,1 0 0,-1 0 0,1 0 0,6-7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www.nngroup.com/articles/priming/" TargetMode="External"/><Relationship Id="rId3" Type="http://schemas.openxmlformats.org/officeDocument/2006/relationships/hyperlink" Target="https://www.nngroup.com/articles/usability-checklist/" TargetMode="External"/><Relationship Id="rId7" Type="http://schemas.openxmlformats.org/officeDocument/2006/relationships/hyperlink" Target="https://www.nngroup.com/articles/better-usability-tasks/"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www.nngroup.com/articles/ux-research-goals-to-scenarios/" TargetMode="External"/><Relationship Id="rId5" Type="http://schemas.openxmlformats.org/officeDocument/2006/relationships/hyperlink" Target="https://www.nngroup.com/articles/unmoderated-usability-testing/" TargetMode="External"/><Relationship Id="rId10" Type="http://schemas.openxmlformats.org/officeDocument/2006/relationships/hyperlink" Target="https://www.nngroup.com/articles/thinking-aloud-the-1-usability-tool/" TargetMode="External"/><Relationship Id="rId4" Type="http://schemas.openxmlformats.org/officeDocument/2006/relationships/hyperlink" Target="https://www.nngroup.com/articles/leading-questions/" TargetMode="External"/><Relationship Id="rId9" Type="http://schemas.openxmlformats.org/officeDocument/2006/relationships/hyperlink" Target="https://www.nngroup.com/articles/recruiting-test-participants-for-usability-studies/"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guru99.com/usability-testing-tutorial.html#2"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www.nngroup.com/articles/quantitative-studies-how-many-users/" TargetMode="External"/><Relationship Id="rId3" Type="http://schemas.openxmlformats.org/officeDocument/2006/relationships/hyperlink" Target="https://www.nngroup.com/articles/pure-method/" TargetMode="External"/><Relationship Id="rId7" Type="http://schemas.openxmlformats.org/officeDocument/2006/relationships/hyperlink" Target="https://www.nngroup.com/articles/form-design-placeholders/"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s://www.nngroup.com/articles/password-creation/" TargetMode="External"/><Relationship Id="rId5" Type="http://schemas.openxmlformats.org/officeDocument/2006/relationships/hyperlink" Target="https://www.nngroup.com/articles/web-form-design/" TargetMode="External"/><Relationship Id="rId4" Type="http://schemas.openxmlformats.org/officeDocument/2006/relationships/hyperlink" Target="https://www.nngroup.com/articles/why-you-only-need-to-test-with-5-users/"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hotjar.com/blog/user-behavior/"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hotjar.com/blog/user-behavior/"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nngroup.com/articles/card-sorting-definition/"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www.hotjar.com/blog/product-management/"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hotjar.com/session-recordings/"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hotjar.com/conversion-rate-optimization/glossary/eye-tracking/"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1200"/>
              </a:spcBef>
              <a:spcAft>
                <a:spcPct val="0"/>
              </a:spcAft>
              <a:buClrTx/>
              <a:buSzTx/>
              <a:buFontTx/>
              <a:buNone/>
              <a:tabLst/>
              <a:defRPr/>
            </a:pPr>
            <a:r>
              <a:rPr lang="en-GB" b="0" i="0" dirty="0">
                <a:solidFill>
                  <a:srgbClr val="333333"/>
                </a:solidFill>
                <a:effectLst/>
                <a:latin typeface="Source Sans Variable"/>
              </a:rPr>
              <a:t>User research can be done at any point in the design cycle. </a:t>
            </a:r>
          </a:p>
          <a:p>
            <a:pPr marL="0" marR="0" lvl="0" indent="0" algn="l" defTabSz="914400" rtl="0" eaLnBrk="1" fontAlgn="base" latinLnBrk="0" hangingPunct="1">
              <a:lnSpc>
                <a:spcPct val="100000"/>
              </a:lnSpc>
              <a:spcBef>
                <a:spcPts val="1200"/>
              </a:spcBef>
              <a:spcAft>
                <a:spcPct val="0"/>
              </a:spcAft>
              <a:buClrTx/>
              <a:buSzTx/>
              <a:buFontTx/>
              <a:buNone/>
              <a:tabLst/>
              <a:defRPr/>
            </a:pPr>
            <a:endParaRPr lang="en-GB" b="0" i="0" dirty="0">
              <a:solidFill>
                <a:srgbClr val="333333"/>
              </a:solidFill>
              <a:effectLst/>
              <a:latin typeface="Source Sans Variable"/>
            </a:endParaRPr>
          </a:p>
          <a:p>
            <a:pPr marL="0" marR="0" lvl="0" indent="0" algn="l" defTabSz="914400" rtl="0" eaLnBrk="1" fontAlgn="base" latinLnBrk="0" hangingPunct="1">
              <a:lnSpc>
                <a:spcPct val="100000"/>
              </a:lnSpc>
              <a:spcBef>
                <a:spcPts val="1200"/>
              </a:spcBef>
              <a:spcAft>
                <a:spcPct val="0"/>
              </a:spcAft>
              <a:buClrTx/>
              <a:buSzTx/>
              <a:buFontTx/>
              <a:buNone/>
              <a:tabLst/>
              <a:defRPr/>
            </a:pPr>
            <a:r>
              <a:rPr lang="en-GB" b="0" i="0" dirty="0">
                <a:solidFill>
                  <a:srgbClr val="333333"/>
                </a:solidFill>
                <a:effectLst/>
                <a:latin typeface="Arial" panose="020B0604020202020204" pitchFamily="34" charset="0"/>
              </a:rPr>
              <a:t>User-experience research methods are great at producing data and insights, while ongoing activities help get the right things done. Alongside R&amp;D, ongoing UX activities can make everyone’s efforts more effective and valuable. At every stage in the design process, different UX methods can keep product-development efforts on the right track, in agreement with true user needs and not imaginary ones.</a:t>
            </a:r>
            <a:endParaRPr lang="en-GB" b="0" i="0" dirty="0">
              <a:solidFill>
                <a:srgbClr val="333333"/>
              </a:solidFill>
              <a:effectLst/>
              <a:latin typeface="Source Sans Variable"/>
            </a:endParaRPr>
          </a:p>
          <a:p>
            <a:pPr marL="0" marR="0" lvl="0" indent="0" algn="l" defTabSz="914400" rtl="0" eaLnBrk="1" fontAlgn="base" latinLnBrk="0" hangingPunct="1">
              <a:lnSpc>
                <a:spcPct val="100000"/>
              </a:lnSpc>
              <a:spcBef>
                <a:spcPts val="1200"/>
              </a:spcBef>
              <a:spcAft>
                <a:spcPct val="0"/>
              </a:spcAft>
              <a:buClrTx/>
              <a:buSzTx/>
              <a:buFontTx/>
              <a:buNone/>
              <a:tabLst/>
              <a:defRPr/>
            </a:pPr>
            <a:endParaRPr lang="en-GB" b="0" i="0" dirty="0">
              <a:solidFill>
                <a:srgbClr val="333333"/>
              </a:solidFill>
              <a:effectLst/>
              <a:latin typeface="Source Sans Variable"/>
            </a:endParaRPr>
          </a:p>
          <a:p>
            <a:pPr marL="0" marR="0" lvl="0" indent="0" algn="l" defTabSz="914400" rtl="0" eaLnBrk="1" fontAlgn="base" latinLnBrk="0" hangingPunct="1">
              <a:lnSpc>
                <a:spcPct val="100000"/>
              </a:lnSpc>
              <a:spcBef>
                <a:spcPts val="1200"/>
              </a:spcBef>
              <a:spcAft>
                <a:spcPct val="0"/>
              </a:spcAft>
              <a:buClrTx/>
              <a:buSzTx/>
              <a:buFontTx/>
              <a:buNone/>
              <a:tabLst/>
              <a:defRPr/>
            </a:pPr>
            <a:r>
              <a:rPr lang="en-GB" b="0" i="0" dirty="0">
                <a:solidFill>
                  <a:srgbClr val="333333"/>
                </a:solidFill>
                <a:effectLst/>
                <a:latin typeface="Source Sans Variable"/>
              </a:rPr>
              <a:t>However, what </a:t>
            </a:r>
            <a:r>
              <a:rPr lang="en-GB" dirty="0"/>
              <a:t>can go wrong in this process so that a digital product may not be easy to use?</a:t>
            </a:r>
          </a:p>
          <a:p>
            <a:pPr marL="0" marR="0" lvl="0" indent="0" algn="l" defTabSz="914400" rtl="0" eaLnBrk="1" fontAlgn="base" latinLnBrk="0" hangingPunct="1">
              <a:lnSpc>
                <a:spcPct val="100000"/>
              </a:lnSpc>
              <a:spcBef>
                <a:spcPts val="1200"/>
              </a:spcBef>
              <a:spcAft>
                <a:spcPct val="0"/>
              </a:spcAft>
              <a:buClrTx/>
              <a:buSzTx/>
              <a:buFontTx/>
              <a:buNone/>
              <a:tabLst/>
              <a:defRPr/>
            </a:pPr>
            <a:endParaRPr lang="en-GB" dirty="0"/>
          </a:p>
          <a:p>
            <a:pPr algn="l">
              <a:spcBef>
                <a:spcPts val="1200"/>
              </a:spcBef>
            </a:pPr>
            <a:r>
              <a:rPr lang="en-GB" b="0" i="0" dirty="0">
                <a:solidFill>
                  <a:srgbClr val="333333"/>
                </a:solidFill>
                <a:effectLst/>
                <a:latin typeface="Arial" panose="020B0604020202020204" pitchFamily="34" charset="0"/>
              </a:rPr>
              <a:t>One of the questions we get the most is, “When should I do user research on my project?” There are three different answers:</a:t>
            </a:r>
          </a:p>
          <a:p>
            <a:pPr marL="171450" indent="-171450" algn="l">
              <a:spcBef>
                <a:spcPts val="1200"/>
              </a:spcBef>
              <a:buFont typeface="Arial" panose="020B0604020202020204" pitchFamily="34" charset="0"/>
              <a:buChar char="•"/>
            </a:pPr>
            <a:r>
              <a:rPr lang="en-GB" b="0" i="0" dirty="0">
                <a:solidFill>
                  <a:srgbClr val="333333"/>
                </a:solidFill>
                <a:effectLst/>
                <a:latin typeface="Arial" panose="020B0604020202020204" pitchFamily="34" charset="0"/>
              </a:rPr>
              <a:t>Do user research at whatever stage you’re in </a:t>
            </a:r>
            <a:r>
              <a:rPr lang="en-GB" b="1" i="0" dirty="0">
                <a:solidFill>
                  <a:srgbClr val="333333"/>
                </a:solidFill>
                <a:effectLst/>
                <a:latin typeface="Arial" panose="020B0604020202020204" pitchFamily="34" charset="0"/>
              </a:rPr>
              <a:t>right now</a:t>
            </a:r>
            <a:r>
              <a:rPr lang="en-GB" b="0" i="0" dirty="0">
                <a:solidFill>
                  <a:srgbClr val="333333"/>
                </a:solidFill>
                <a:effectLst/>
                <a:latin typeface="Arial" panose="020B0604020202020204" pitchFamily="34" charset="0"/>
              </a:rPr>
              <a:t>. The earlier the research, the more impact the findings will have on your product, and by definition, the earliest you can do something on your current project (absent a time machine) is today.</a:t>
            </a:r>
          </a:p>
          <a:p>
            <a:pPr marL="171450" indent="-171450" algn="l">
              <a:spcBef>
                <a:spcPts val="1200"/>
              </a:spcBef>
              <a:buFont typeface="Arial" panose="020B0604020202020204" pitchFamily="34" charset="0"/>
              <a:buChar char="•"/>
            </a:pPr>
            <a:endParaRPr lang="en-GB" b="0" i="0" dirty="0">
              <a:solidFill>
                <a:srgbClr val="333333"/>
              </a:solidFill>
              <a:effectLst/>
              <a:latin typeface="Arial" panose="020B0604020202020204" pitchFamily="34" charset="0"/>
            </a:endParaRPr>
          </a:p>
          <a:p>
            <a:pPr marL="171450" indent="-171450" algn="l">
              <a:spcBef>
                <a:spcPts val="1200"/>
              </a:spcBef>
              <a:buFont typeface="Arial" panose="020B0604020202020204" pitchFamily="34" charset="0"/>
              <a:buChar char="•"/>
            </a:pPr>
            <a:r>
              <a:rPr lang="en-GB" b="0" i="0" dirty="0">
                <a:solidFill>
                  <a:srgbClr val="333333"/>
                </a:solidFill>
                <a:effectLst/>
                <a:latin typeface="Arial" panose="020B0604020202020204" pitchFamily="34" charset="0"/>
              </a:rPr>
              <a:t>Do user research at </a:t>
            </a:r>
            <a:r>
              <a:rPr lang="en-GB" b="1" i="0" dirty="0">
                <a:solidFill>
                  <a:srgbClr val="333333"/>
                </a:solidFill>
                <a:effectLst/>
                <a:latin typeface="Arial" panose="020B0604020202020204" pitchFamily="34" charset="0"/>
              </a:rPr>
              <a:t>all the stages</a:t>
            </a:r>
            <a:r>
              <a:rPr lang="en-GB" b="0" i="0" dirty="0">
                <a:solidFill>
                  <a:srgbClr val="333333"/>
                </a:solidFill>
                <a:effectLst/>
                <a:latin typeface="Arial" panose="020B0604020202020204" pitchFamily="34" charset="0"/>
              </a:rPr>
              <a:t>. As we show below, there’s something useful to learn in every single stage of any reasonable project plan, and each research step will increase the value of your product by more than the cost of the research.</a:t>
            </a:r>
          </a:p>
          <a:p>
            <a:pPr marL="171450" indent="-171450" algn="l">
              <a:spcBef>
                <a:spcPts val="1200"/>
              </a:spcBef>
              <a:buFont typeface="Arial" panose="020B0604020202020204" pitchFamily="34" charset="0"/>
              <a:buChar char="•"/>
            </a:pPr>
            <a:endParaRPr lang="en-GB" b="0" i="0" dirty="0">
              <a:solidFill>
                <a:srgbClr val="333333"/>
              </a:solidFill>
              <a:effectLst/>
              <a:latin typeface="Arial" panose="020B0604020202020204" pitchFamily="34" charset="0"/>
            </a:endParaRPr>
          </a:p>
          <a:p>
            <a:pPr marL="171450" indent="-171450" algn="l">
              <a:spcBef>
                <a:spcPts val="1200"/>
              </a:spcBef>
              <a:buFont typeface="Arial" panose="020B0604020202020204" pitchFamily="34" charset="0"/>
              <a:buChar char="•"/>
            </a:pPr>
            <a:r>
              <a:rPr lang="en-GB" b="0" i="0" dirty="0">
                <a:solidFill>
                  <a:srgbClr val="333333"/>
                </a:solidFill>
                <a:effectLst/>
                <a:latin typeface="Arial" panose="020B0604020202020204" pitchFamily="34" charset="0"/>
              </a:rPr>
              <a:t>Do most user research </a:t>
            </a:r>
            <a:r>
              <a:rPr lang="en-GB" b="1" i="0" dirty="0">
                <a:solidFill>
                  <a:srgbClr val="333333"/>
                </a:solidFill>
                <a:effectLst/>
                <a:latin typeface="Arial" panose="020B0604020202020204" pitchFamily="34" charset="0"/>
              </a:rPr>
              <a:t>early in the project</a:t>
            </a:r>
            <a:r>
              <a:rPr lang="en-GB" b="0" i="0" dirty="0">
                <a:solidFill>
                  <a:srgbClr val="333333"/>
                </a:solidFill>
                <a:effectLst/>
                <a:latin typeface="Arial" panose="020B0604020202020204" pitchFamily="34" charset="0"/>
              </a:rPr>
              <a:t> (when it’ll have the most impact), but conserve some budget for a smaller amount of supplementary research later in the project. This advice applies in the common case that you can’t get budget for all the research steps that would be useful.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4</a:t>
            </a:fld>
            <a:endParaRPr lang="en-US"/>
          </a:p>
        </p:txBody>
      </p:sp>
    </p:spTree>
    <p:extLst>
      <p:ext uri="{BB962C8B-B14F-4D97-AF65-F5344CB8AC3E}">
        <p14:creationId xmlns:p14="http://schemas.microsoft.com/office/powerpoint/2010/main" val="866786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dirty="0"/>
              <a:t>what can go wrong in this process so that a digital product may not be easy to use?</a:t>
            </a:r>
          </a:p>
          <a:p>
            <a:pPr algn="l"/>
            <a:endParaRPr lang="en-GB" b="0" i="0" dirty="0">
              <a:solidFill>
                <a:srgbClr val="3D3B49"/>
              </a:solidFill>
              <a:effectLst/>
              <a:latin typeface="Noto serif" panose="02020600060500020200" pitchFamily="18" charset="0"/>
            </a:endParaRPr>
          </a:p>
          <a:p>
            <a:pPr algn="l"/>
            <a:r>
              <a:rPr lang="en-GB" b="0" i="0" dirty="0">
                <a:solidFill>
                  <a:srgbClr val="3D3B49"/>
                </a:solidFill>
                <a:effectLst/>
                <a:latin typeface="Noto serif" panose="02020600060500020200" pitchFamily="18" charset="0"/>
              </a:rPr>
              <a:t>There are three major components to consider in any type of human performance situation as shown in Bailey's Human performance model.</a:t>
            </a:r>
          </a:p>
          <a:p>
            <a:pPr algn="l">
              <a:buFont typeface="Arial" panose="020B0604020202020204" pitchFamily="34" charset="0"/>
              <a:buChar char="•"/>
            </a:pPr>
            <a:r>
              <a:rPr lang="en-GB" b="0" i="0" dirty="0">
                <a:solidFill>
                  <a:srgbClr val="3D3B49"/>
                </a:solidFill>
                <a:effectLst/>
                <a:latin typeface="Noto serif" panose="02020600060500020200" pitchFamily="18" charset="0"/>
              </a:rPr>
              <a:t>The human</a:t>
            </a:r>
          </a:p>
          <a:p>
            <a:pPr algn="l">
              <a:buFont typeface="Arial" panose="020B0604020202020204" pitchFamily="34" charset="0"/>
              <a:buChar char="•"/>
            </a:pPr>
            <a:r>
              <a:rPr lang="en-GB" b="0" i="0" dirty="0">
                <a:solidFill>
                  <a:srgbClr val="3D3B49"/>
                </a:solidFill>
                <a:effectLst/>
                <a:latin typeface="Noto serif" panose="02020600060500020200" pitchFamily="18" charset="0"/>
              </a:rPr>
              <a:t>The context</a:t>
            </a:r>
          </a:p>
          <a:p>
            <a:pPr algn="l">
              <a:buFont typeface="Arial" panose="020B0604020202020204" pitchFamily="34" charset="0"/>
              <a:buChar char="•"/>
            </a:pPr>
            <a:r>
              <a:rPr lang="en-GB" b="0" i="0" dirty="0">
                <a:solidFill>
                  <a:srgbClr val="3D3B49"/>
                </a:solidFill>
                <a:effectLst/>
                <a:latin typeface="Noto serif" panose="02020600060500020200" pitchFamily="18" charset="0"/>
              </a:rPr>
              <a:t>The activity</a:t>
            </a:r>
          </a:p>
          <a:p>
            <a:pPr algn="l"/>
            <a:r>
              <a:rPr lang="en-GB" b="0" i="0" dirty="0">
                <a:solidFill>
                  <a:srgbClr val="3D3B49"/>
                </a:solidFill>
                <a:effectLst/>
                <a:latin typeface="Noto serif" panose="02020600060500020200" pitchFamily="18" charset="0"/>
              </a:rPr>
              <a:t>Because the development of a system or product is an attempt to improve human performance in some area, designers should consider these three components during the design process. All three affect the final outcome of how well humans ultimately perform. Unfortunately, of these three components, designers, engineers, and programmers have traditionally placed the greatest emphasis on the </a:t>
            </a:r>
            <a:r>
              <a:rPr lang="en-GB" b="0" i="1" dirty="0">
                <a:solidFill>
                  <a:srgbClr val="3D3B49"/>
                </a:solidFill>
                <a:effectLst/>
                <a:latin typeface="Noto serif" panose="02020600060500020200" pitchFamily="18" charset="0"/>
              </a:rPr>
              <a:t>activity</a:t>
            </a:r>
            <a:r>
              <a:rPr lang="en-GB" b="0" i="0" dirty="0">
                <a:solidFill>
                  <a:srgbClr val="3D3B49"/>
                </a:solidFill>
                <a:effectLst/>
                <a:latin typeface="Noto serif" panose="02020600060500020200" pitchFamily="18" charset="0"/>
              </a:rPr>
              <a:t> component, and much less emphasis on the human and the context components. The relationship of the three components to each other has also been neglected. There are several explanations for this unbalanced approach:</a:t>
            </a:r>
          </a:p>
          <a:p>
            <a:pPr algn="l">
              <a:buFont typeface="Arial" panose="020B0604020202020204" pitchFamily="34" charset="0"/>
              <a:buChar char="•"/>
            </a:pPr>
            <a:r>
              <a:rPr lang="en-GB" b="0" i="0" dirty="0">
                <a:solidFill>
                  <a:srgbClr val="3D3B49"/>
                </a:solidFill>
                <a:effectLst/>
                <a:latin typeface="Noto serif" panose="02020600060500020200" pitchFamily="18" charset="0"/>
              </a:rPr>
              <a:t>There has been an underlying assumption that because humans are so inherently flexible and adaptable, it is easier to let them adapt themselves to the machine, rather than vice versa.</a:t>
            </a:r>
          </a:p>
          <a:p>
            <a:pPr algn="l">
              <a:buFont typeface="Arial" panose="020B0604020202020204" pitchFamily="34" charset="0"/>
              <a:buChar char="•"/>
            </a:pPr>
            <a:r>
              <a:rPr lang="en-GB" b="0" i="0" dirty="0">
                <a:solidFill>
                  <a:srgbClr val="3D3B49"/>
                </a:solidFill>
                <a:effectLst/>
                <a:latin typeface="Noto serif" panose="02020600060500020200" pitchFamily="18" charset="0"/>
              </a:rPr>
              <a:t>Developers traditionally have been more comfortable working with the seemingly "black and white," scientific, concrete issues associated with systems, than with the more </a:t>
            </a:r>
            <a:r>
              <a:rPr lang="en-GB" b="0" i="0" dirty="0" err="1">
                <a:solidFill>
                  <a:srgbClr val="3D3B49"/>
                </a:solidFill>
                <a:effectLst/>
                <a:latin typeface="Noto serif" panose="02020600060500020200" pitchFamily="18" charset="0"/>
              </a:rPr>
              <a:t>gray</a:t>
            </a:r>
            <a:r>
              <a:rPr lang="en-GB" b="0" i="0" dirty="0">
                <a:solidFill>
                  <a:srgbClr val="3D3B49"/>
                </a:solidFill>
                <a:effectLst/>
                <a:latin typeface="Noto serif" panose="02020600060500020200" pitchFamily="18" charset="0"/>
              </a:rPr>
              <a:t>, muddled, ambiguous issues associated with human beings.</a:t>
            </a:r>
          </a:p>
          <a:p>
            <a:pPr algn="l">
              <a:buFont typeface="Arial" panose="020B0604020202020204" pitchFamily="34" charset="0"/>
              <a:buChar char="•"/>
            </a:pPr>
            <a:r>
              <a:rPr lang="en-GB" b="0" i="0" dirty="0">
                <a:solidFill>
                  <a:srgbClr val="3D3B49"/>
                </a:solidFill>
                <a:effectLst/>
                <a:latin typeface="Noto serif" panose="02020600060500020200" pitchFamily="18" charset="0"/>
              </a:rPr>
              <a:t>Developers have historically been hired and rewarded not for their interpersonal, "people" skills but for their ability to solve technical problems.</a:t>
            </a:r>
          </a:p>
          <a:p>
            <a:pPr algn="l">
              <a:buFont typeface="Arial" panose="020B0604020202020204" pitchFamily="34" charset="0"/>
              <a:buChar char="•"/>
            </a:pPr>
            <a:r>
              <a:rPr lang="en-GB" b="0" i="0" dirty="0">
                <a:solidFill>
                  <a:srgbClr val="3D3B49"/>
                </a:solidFill>
                <a:effectLst/>
                <a:latin typeface="Noto serif" panose="02020600060500020200" pitchFamily="18" charset="0"/>
              </a:rPr>
              <a:t>The most important factor leading to the neglect of human needs has been that in the past, designers were developing products for end users who were much like themselves. There was simply no reason to study such a familiar colleague. That leads us to the next point.</a:t>
            </a:r>
          </a:p>
        </p:txBody>
      </p:sp>
      <p:sp>
        <p:nvSpPr>
          <p:cNvPr id="4" name="Slide Number Placeholder 3"/>
          <p:cNvSpPr>
            <a:spLocks noGrp="1"/>
          </p:cNvSpPr>
          <p:nvPr>
            <p:ph type="sldNum" sz="quarter" idx="10"/>
          </p:nvPr>
        </p:nvSpPr>
        <p:spPr/>
        <p:txBody>
          <a:bodyPr/>
          <a:lstStyle/>
          <a:p>
            <a:fld id="{3B225748-449B-4E6E-B2FD-9A517E5C9785}"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en-GB" sz="2400" dirty="0"/>
              <a:t>User Centred Design (UCD) represents the techniques, processes, methods and procedures for designing usable products and systems, it is the philosophy of placing the user at the centre of the process </a:t>
            </a:r>
          </a:p>
          <a:p>
            <a:pPr>
              <a:spcBef>
                <a:spcPts val="600"/>
              </a:spcBef>
            </a:pPr>
            <a:r>
              <a:rPr lang="en-GB" sz="2400" dirty="0"/>
              <a:t>The UCD development starts with putting the user in the centre</a:t>
            </a:r>
          </a:p>
          <a:p>
            <a:pPr>
              <a:spcBef>
                <a:spcPts val="600"/>
              </a:spcBef>
            </a:pPr>
            <a:r>
              <a:rPr lang="en-GB" sz="2400" dirty="0"/>
              <a:t>Emphasis is placed in the 3 following elements of UCD:</a:t>
            </a:r>
          </a:p>
          <a:p>
            <a:pPr lvl="1">
              <a:spcBef>
                <a:spcPts val="600"/>
              </a:spcBef>
            </a:pPr>
            <a:r>
              <a:rPr lang="en-GB" sz="2000" dirty="0"/>
              <a:t>Early focus on the user and their tasks</a:t>
            </a:r>
          </a:p>
          <a:p>
            <a:pPr lvl="1">
              <a:spcBef>
                <a:spcPts val="600"/>
              </a:spcBef>
            </a:pPr>
            <a:r>
              <a:rPr lang="en-GB" sz="2000" dirty="0"/>
              <a:t>Evaluation and measurement of product usage</a:t>
            </a:r>
          </a:p>
          <a:p>
            <a:pPr lvl="1">
              <a:spcBef>
                <a:spcPts val="600"/>
              </a:spcBef>
            </a:pPr>
            <a:r>
              <a:rPr lang="en-GB" sz="2000" dirty="0"/>
              <a:t>Iterated design</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6</a:t>
            </a:fld>
            <a:endParaRPr lang="en-US"/>
          </a:p>
        </p:txBody>
      </p:sp>
    </p:spTree>
    <p:extLst>
      <p:ext uri="{BB962C8B-B14F-4D97-AF65-F5344CB8AC3E}">
        <p14:creationId xmlns:p14="http://schemas.microsoft.com/office/powerpoint/2010/main" val="2021936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77376C-9A97-4A66-950F-D648124155EA}" type="slidenum">
              <a:rPr lang="en-US"/>
              <a:pPr/>
              <a:t>9</a:t>
            </a:fld>
            <a:endParaRPr lang="en-US"/>
          </a:p>
        </p:txBody>
      </p:sp>
      <p:sp>
        <p:nvSpPr>
          <p:cNvPr id="11366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36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solidFill>
                  <a:srgbClr val="333333"/>
                </a:solidFill>
                <a:effectLst/>
                <a:latin typeface="Source Sans Variable"/>
              </a:rPr>
              <a:t>Facilitator</a:t>
            </a:r>
          </a:p>
          <a:p>
            <a:pPr algn="l"/>
            <a:r>
              <a:rPr lang="en-GB" b="0" i="0" dirty="0">
                <a:solidFill>
                  <a:srgbClr val="333333"/>
                </a:solidFill>
                <a:effectLst/>
                <a:latin typeface="Arial" panose="020B0604020202020204" pitchFamily="34" charset="0"/>
              </a:rPr>
              <a:t>The</a:t>
            </a:r>
            <a:r>
              <a:rPr lang="en-GB" b="1" i="0" dirty="0">
                <a:solidFill>
                  <a:srgbClr val="333333"/>
                </a:solidFill>
                <a:effectLst/>
                <a:latin typeface="Arial" panose="020B0604020202020204" pitchFamily="34" charset="0"/>
              </a:rPr>
              <a:t> facilitator </a:t>
            </a:r>
            <a:r>
              <a:rPr lang="en-GB" b="0" i="0" u="sng" dirty="0">
                <a:solidFill>
                  <a:srgbClr val="017698"/>
                </a:solidFill>
                <a:effectLst/>
                <a:latin typeface="Arial" panose="020B0604020202020204" pitchFamily="34" charset="0"/>
                <a:hlinkClick r:id="rId3"/>
              </a:rPr>
              <a:t>guides the participant</a:t>
            </a:r>
            <a:r>
              <a:rPr lang="en-GB" b="0" i="0" dirty="0">
                <a:solidFill>
                  <a:srgbClr val="333333"/>
                </a:solidFill>
                <a:effectLst/>
                <a:latin typeface="Arial" panose="020B0604020202020204" pitchFamily="34" charset="0"/>
              </a:rPr>
              <a:t> through the test process. She gives instructions, answers the participant’s questions, and asks </a:t>
            </a:r>
            <a:r>
              <a:rPr lang="en-GB" b="0" i="0" dirty="0" err="1">
                <a:solidFill>
                  <a:srgbClr val="333333"/>
                </a:solidFill>
                <a:effectLst/>
                <a:latin typeface="Arial" panose="020B0604020202020204" pitchFamily="34" charset="0"/>
              </a:rPr>
              <a:t>followup</a:t>
            </a:r>
            <a:r>
              <a:rPr lang="en-GB" b="0" i="0" dirty="0">
                <a:solidFill>
                  <a:srgbClr val="333333"/>
                </a:solidFill>
                <a:effectLst/>
                <a:latin typeface="Arial" panose="020B0604020202020204" pitchFamily="34" charset="0"/>
              </a:rPr>
              <a:t> questions.</a:t>
            </a:r>
          </a:p>
          <a:p>
            <a:pPr algn="l"/>
            <a:r>
              <a:rPr lang="en-GB" b="0" i="0" dirty="0">
                <a:solidFill>
                  <a:srgbClr val="333333"/>
                </a:solidFill>
                <a:effectLst/>
                <a:latin typeface="Arial" panose="020B0604020202020204" pitchFamily="34" charset="0"/>
              </a:rPr>
              <a:t>The facilitator works to ensure that the test results in high-quality, valid data, without </a:t>
            </a:r>
            <a:r>
              <a:rPr lang="en-GB" b="0" i="0" u="sng" dirty="0">
                <a:solidFill>
                  <a:srgbClr val="017698"/>
                </a:solidFill>
                <a:effectLst/>
                <a:latin typeface="Arial" panose="020B0604020202020204" pitchFamily="34" charset="0"/>
                <a:hlinkClick r:id="rId4"/>
              </a:rPr>
              <a:t>accidentally influencing the participant’s </a:t>
            </a:r>
            <a:r>
              <a:rPr lang="en-GB" b="0" i="0" u="sng" dirty="0" err="1">
                <a:solidFill>
                  <a:srgbClr val="017698"/>
                </a:solidFill>
                <a:effectLst/>
                <a:latin typeface="Arial" panose="020B0604020202020204" pitchFamily="34" charset="0"/>
                <a:hlinkClick r:id="rId4"/>
              </a:rPr>
              <a:t>behavior</a:t>
            </a:r>
            <a:r>
              <a:rPr lang="en-GB" b="0" i="0" dirty="0">
                <a:solidFill>
                  <a:srgbClr val="333333"/>
                </a:solidFill>
                <a:effectLst/>
                <a:latin typeface="Arial" panose="020B0604020202020204" pitchFamily="34" charset="0"/>
              </a:rPr>
              <a:t>. Achieving this balance is difficult and requires training.</a:t>
            </a:r>
          </a:p>
          <a:p>
            <a:pPr algn="l"/>
            <a:r>
              <a:rPr lang="en-GB" b="0" i="0" dirty="0">
                <a:solidFill>
                  <a:srgbClr val="333333"/>
                </a:solidFill>
                <a:effectLst/>
                <a:latin typeface="Arial" panose="020B0604020202020204" pitchFamily="34" charset="0"/>
              </a:rPr>
              <a:t>(In one form of remote usability testing, called </a:t>
            </a:r>
            <a:r>
              <a:rPr lang="en-GB" b="0" i="0" u="sng" dirty="0">
                <a:solidFill>
                  <a:srgbClr val="017698"/>
                </a:solidFill>
                <a:effectLst/>
                <a:latin typeface="Arial" panose="020B0604020202020204" pitchFamily="34" charset="0"/>
                <a:hlinkClick r:id="rId5"/>
              </a:rPr>
              <a:t>remote unmoderated testing</a:t>
            </a:r>
            <a:r>
              <a:rPr lang="en-GB" b="0" i="0" dirty="0">
                <a:solidFill>
                  <a:srgbClr val="333333"/>
                </a:solidFill>
                <a:effectLst/>
                <a:latin typeface="Arial" panose="020B0604020202020204" pitchFamily="34" charset="0"/>
              </a:rPr>
              <a:t>, an application may perform some of the facilitator’s roles.)</a:t>
            </a:r>
          </a:p>
          <a:p>
            <a:pPr algn="l"/>
            <a:r>
              <a:rPr lang="en-GB" b="1" i="0" dirty="0">
                <a:solidFill>
                  <a:srgbClr val="333333"/>
                </a:solidFill>
                <a:effectLst/>
                <a:latin typeface="Source Sans Variable"/>
              </a:rPr>
              <a:t>Tasks</a:t>
            </a:r>
          </a:p>
          <a:p>
            <a:pPr algn="l"/>
            <a:r>
              <a:rPr lang="en-GB" b="0" i="0" dirty="0">
                <a:solidFill>
                  <a:srgbClr val="333333"/>
                </a:solidFill>
                <a:effectLst/>
                <a:latin typeface="Arial" panose="020B0604020202020204" pitchFamily="34" charset="0"/>
              </a:rPr>
              <a:t>The</a:t>
            </a:r>
            <a:r>
              <a:rPr lang="en-GB" b="1" i="0" dirty="0">
                <a:solidFill>
                  <a:srgbClr val="333333"/>
                </a:solidFill>
                <a:effectLst/>
                <a:latin typeface="Arial" panose="020B0604020202020204" pitchFamily="34" charset="0"/>
              </a:rPr>
              <a:t> tasks</a:t>
            </a:r>
            <a:r>
              <a:rPr lang="en-GB" b="0" i="0" dirty="0">
                <a:solidFill>
                  <a:srgbClr val="333333"/>
                </a:solidFill>
                <a:effectLst/>
                <a:latin typeface="Arial" panose="020B0604020202020204" pitchFamily="34" charset="0"/>
              </a:rPr>
              <a:t> in a usability test are realistic activities that the participant might perform in real life. They can be very specific or very open-ended, </a:t>
            </a:r>
            <a:r>
              <a:rPr lang="en-GB" b="0" i="0" u="sng" dirty="0">
                <a:solidFill>
                  <a:srgbClr val="017698"/>
                </a:solidFill>
                <a:effectLst/>
                <a:latin typeface="Arial" panose="020B0604020202020204" pitchFamily="34" charset="0"/>
                <a:hlinkClick r:id="rId6"/>
              </a:rPr>
              <a:t>depending on the research questions</a:t>
            </a:r>
            <a:r>
              <a:rPr lang="en-GB" b="0" i="0" dirty="0">
                <a:solidFill>
                  <a:srgbClr val="333333"/>
                </a:solidFill>
                <a:effectLst/>
                <a:latin typeface="Arial" panose="020B0604020202020204" pitchFamily="34" charset="0"/>
              </a:rPr>
              <a:t> and the type of usability testing.</a:t>
            </a:r>
          </a:p>
          <a:p>
            <a:pPr algn="l"/>
            <a:r>
              <a:rPr lang="en-GB" b="0" i="0" dirty="0">
                <a:solidFill>
                  <a:srgbClr val="333333"/>
                </a:solidFill>
                <a:effectLst/>
                <a:latin typeface="Arial" panose="020B0604020202020204" pitchFamily="34" charset="0"/>
              </a:rPr>
              <a:t>Examples of tasks from real usability studies:</a:t>
            </a:r>
          </a:p>
          <a:p>
            <a:pPr algn="l">
              <a:buFont typeface="Arial" panose="020B0604020202020204" pitchFamily="34" charset="0"/>
              <a:buChar char="•"/>
            </a:pPr>
            <a:r>
              <a:rPr lang="en-GB" b="0" i="1" dirty="0">
                <a:solidFill>
                  <a:srgbClr val="333333"/>
                </a:solidFill>
                <a:effectLst/>
                <a:latin typeface="Arial" panose="020B0604020202020204" pitchFamily="34" charset="0"/>
              </a:rPr>
              <a:t>Your printer is showing “Error 5200”. How can you get rid of the error message?</a:t>
            </a:r>
            <a:endParaRPr lang="en-GB" b="0" i="0" dirty="0">
              <a:solidFill>
                <a:srgbClr val="333333"/>
              </a:solidFill>
              <a:effectLst/>
              <a:latin typeface="Arial" panose="020B0604020202020204" pitchFamily="34" charset="0"/>
            </a:endParaRPr>
          </a:p>
          <a:p>
            <a:pPr algn="l">
              <a:buFont typeface="Arial" panose="020B0604020202020204" pitchFamily="34" charset="0"/>
              <a:buChar char="•"/>
            </a:pPr>
            <a:r>
              <a:rPr lang="en-GB" b="0" i="1" dirty="0">
                <a:solidFill>
                  <a:srgbClr val="333333"/>
                </a:solidFill>
                <a:effectLst/>
                <a:latin typeface="Arial" panose="020B0604020202020204" pitchFamily="34" charset="0"/>
              </a:rPr>
              <a:t>You're considering opening a new credit card with Wells Fargo. Please visit wellsfargo.com and decide which credit card you might want to open, if any.</a:t>
            </a:r>
            <a:endParaRPr lang="en-GB" b="0" i="0" dirty="0">
              <a:solidFill>
                <a:srgbClr val="333333"/>
              </a:solidFill>
              <a:effectLst/>
              <a:latin typeface="Arial" panose="020B0604020202020204" pitchFamily="34" charset="0"/>
            </a:endParaRPr>
          </a:p>
          <a:p>
            <a:pPr algn="l">
              <a:buFont typeface="Arial" panose="020B0604020202020204" pitchFamily="34" charset="0"/>
              <a:buChar char="•"/>
            </a:pPr>
            <a:r>
              <a:rPr lang="en-GB" b="0" i="1" dirty="0">
                <a:solidFill>
                  <a:srgbClr val="333333"/>
                </a:solidFill>
                <a:effectLst/>
                <a:latin typeface="Arial" panose="020B0604020202020204" pitchFamily="34" charset="0"/>
              </a:rPr>
              <a:t>You’ve been told you need to speak to Tyler Smith from the Project Management department. Use the intranet to find out where they are located. Tell the researcher your answer.</a:t>
            </a:r>
            <a:endParaRPr lang="en-GB" b="0" i="0" dirty="0">
              <a:solidFill>
                <a:srgbClr val="333333"/>
              </a:solidFill>
              <a:effectLst/>
              <a:latin typeface="Arial" panose="020B0604020202020204" pitchFamily="34" charset="0"/>
            </a:endParaRPr>
          </a:p>
          <a:p>
            <a:pPr algn="l"/>
            <a:r>
              <a:rPr lang="en-GB" b="0" i="0" u="sng" dirty="0">
                <a:solidFill>
                  <a:srgbClr val="017698"/>
                </a:solidFill>
                <a:effectLst/>
                <a:latin typeface="Arial" panose="020B0604020202020204" pitchFamily="34" charset="0"/>
                <a:hlinkClick r:id="rId7"/>
              </a:rPr>
              <a:t>Task wording</a:t>
            </a:r>
            <a:r>
              <a:rPr lang="en-GB" b="0" i="0" dirty="0">
                <a:solidFill>
                  <a:srgbClr val="333333"/>
                </a:solidFill>
                <a:effectLst/>
                <a:latin typeface="Arial" panose="020B0604020202020204" pitchFamily="34" charset="0"/>
              </a:rPr>
              <a:t> is very important in usability testing. Small errors in the phrasing of a task can cause the participant to misunderstand what they’re asked to do or can influence how participants perform the task (a psychological phenomenon called </a:t>
            </a:r>
            <a:r>
              <a:rPr lang="en-GB" b="0" i="0" u="sng" dirty="0">
                <a:solidFill>
                  <a:srgbClr val="017698"/>
                </a:solidFill>
                <a:effectLst/>
                <a:latin typeface="Arial" panose="020B0604020202020204" pitchFamily="34" charset="0"/>
                <a:hlinkClick r:id="rId8"/>
              </a:rPr>
              <a:t>priming</a:t>
            </a:r>
            <a:r>
              <a:rPr lang="en-GB" b="0" i="0" dirty="0">
                <a:solidFill>
                  <a:srgbClr val="333333"/>
                </a:solidFill>
                <a:effectLst/>
                <a:latin typeface="Arial" panose="020B0604020202020204" pitchFamily="34" charset="0"/>
              </a:rPr>
              <a:t>).</a:t>
            </a:r>
          </a:p>
          <a:p>
            <a:pPr algn="l"/>
            <a:r>
              <a:rPr lang="en-GB" b="0" i="0" dirty="0">
                <a:solidFill>
                  <a:srgbClr val="333333"/>
                </a:solidFill>
                <a:effectLst/>
                <a:latin typeface="Arial" panose="020B0604020202020204" pitchFamily="34" charset="0"/>
              </a:rPr>
              <a:t>Task instructions can be delivered to the participant verbally (the facilitator might read them) or can be handed to a participant written on task sheets. We often ask participants to read the task instructions out loud. This helps ensure that the participant reads the instructions completely, and helps the researchers with their notetaking, because they always know which task the user is performing.</a:t>
            </a:r>
          </a:p>
          <a:p>
            <a:pPr algn="l"/>
            <a:r>
              <a:rPr lang="en-GB" b="1" i="0" dirty="0">
                <a:solidFill>
                  <a:srgbClr val="333333"/>
                </a:solidFill>
                <a:effectLst/>
                <a:latin typeface="Source Sans Variable"/>
              </a:rPr>
              <a:t>Participant</a:t>
            </a:r>
          </a:p>
          <a:p>
            <a:pPr algn="l"/>
            <a:r>
              <a:rPr lang="en-GB" b="0" i="0" dirty="0">
                <a:solidFill>
                  <a:srgbClr val="333333"/>
                </a:solidFill>
                <a:effectLst/>
                <a:latin typeface="Arial" panose="020B0604020202020204" pitchFamily="34" charset="0"/>
              </a:rPr>
              <a:t>The </a:t>
            </a:r>
            <a:r>
              <a:rPr lang="en-GB" b="1" i="0" dirty="0">
                <a:solidFill>
                  <a:srgbClr val="333333"/>
                </a:solidFill>
                <a:effectLst/>
                <a:latin typeface="Arial" panose="020B0604020202020204" pitchFamily="34" charset="0"/>
              </a:rPr>
              <a:t>participant</a:t>
            </a:r>
            <a:r>
              <a:rPr lang="en-GB" b="0" i="0" dirty="0">
                <a:solidFill>
                  <a:srgbClr val="333333"/>
                </a:solidFill>
                <a:effectLst/>
                <a:latin typeface="Arial" panose="020B0604020202020204" pitchFamily="34" charset="0"/>
              </a:rPr>
              <a:t> should be a </a:t>
            </a:r>
            <a:r>
              <a:rPr lang="en-GB" b="0" i="0" u="sng" dirty="0">
                <a:solidFill>
                  <a:srgbClr val="017698"/>
                </a:solidFill>
                <a:effectLst/>
                <a:latin typeface="Arial" panose="020B0604020202020204" pitchFamily="34" charset="0"/>
                <a:hlinkClick r:id="rId9"/>
              </a:rPr>
              <a:t>realistic user</a:t>
            </a:r>
            <a:r>
              <a:rPr lang="en-GB" b="0" i="0" dirty="0">
                <a:solidFill>
                  <a:srgbClr val="333333"/>
                </a:solidFill>
                <a:effectLst/>
                <a:latin typeface="Arial" panose="020B0604020202020204" pitchFamily="34" charset="0"/>
              </a:rPr>
              <a:t> of the product or service being studied. That might mean that the user is already using the product or service in real life. Alternatively, in some cases, the participant might just have a similar background to the target user group, or might have the same needs, even if he isn’t already a user of the product.</a:t>
            </a:r>
          </a:p>
          <a:p>
            <a:pPr algn="l"/>
            <a:r>
              <a:rPr lang="en-GB" b="0" i="0" dirty="0">
                <a:solidFill>
                  <a:srgbClr val="333333"/>
                </a:solidFill>
                <a:effectLst/>
                <a:latin typeface="Arial" panose="020B0604020202020204" pitchFamily="34" charset="0"/>
              </a:rPr>
              <a:t>Participants are often asked to </a:t>
            </a:r>
            <a:r>
              <a:rPr lang="en-GB" b="1" i="0" u="sng" dirty="0">
                <a:solidFill>
                  <a:srgbClr val="017698"/>
                </a:solidFill>
                <a:effectLst/>
                <a:latin typeface="Arial" panose="020B0604020202020204" pitchFamily="34" charset="0"/>
                <a:hlinkClick r:id="rId10"/>
              </a:rPr>
              <a:t>think out loud</a:t>
            </a:r>
            <a:r>
              <a:rPr lang="en-GB" b="0" i="0" dirty="0">
                <a:solidFill>
                  <a:srgbClr val="333333"/>
                </a:solidFill>
                <a:effectLst/>
                <a:latin typeface="Arial" panose="020B0604020202020204" pitchFamily="34" charset="0"/>
              </a:rPr>
              <a:t> during usability testing (called the “think-aloud method”). The facilitator might ask the participants to narrate their actions and thoughts as they perform tasks. The goal of this approach is to understand participants’ </a:t>
            </a:r>
            <a:r>
              <a:rPr lang="en-GB" b="0" i="0" dirty="0" err="1">
                <a:solidFill>
                  <a:srgbClr val="333333"/>
                </a:solidFill>
                <a:effectLst/>
                <a:latin typeface="Arial" panose="020B0604020202020204" pitchFamily="34" charset="0"/>
              </a:rPr>
              <a:t>behaviors</a:t>
            </a:r>
            <a:r>
              <a:rPr lang="en-GB" b="0" i="0" dirty="0">
                <a:solidFill>
                  <a:srgbClr val="333333"/>
                </a:solidFill>
                <a:effectLst/>
                <a:latin typeface="Arial" panose="020B0604020202020204" pitchFamily="34" charset="0"/>
              </a:rPr>
              <a:t>, goals, thoughts, and motivations.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10</a:t>
            </a:fld>
            <a:endParaRPr lang="en-US"/>
          </a:p>
        </p:txBody>
      </p:sp>
    </p:spTree>
    <p:extLst>
      <p:ext uri="{BB962C8B-B14F-4D97-AF65-F5344CB8AC3E}">
        <p14:creationId xmlns:p14="http://schemas.microsoft.com/office/powerpoint/2010/main" val="2104556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effectLst/>
                <a:latin typeface="var(--med-font)"/>
              </a:rPr>
              <a:t>1. Planning the usability test</a:t>
            </a:r>
          </a:p>
          <a:p>
            <a:pPr algn="l"/>
            <a:r>
              <a:rPr lang="en-GB" b="0" i="0" dirty="0">
                <a:solidFill>
                  <a:srgbClr val="6A6E72"/>
                </a:solidFill>
                <a:effectLst/>
                <a:latin typeface="CharterITCPro-Regular"/>
              </a:rPr>
              <a:t>This stage should output a document describing the test’s goals and methodology, how the team will choose participants, what the working procedure will be, the types of data the team wants to collect, and the like.</a:t>
            </a:r>
          </a:p>
          <a:p>
            <a:pPr algn="l"/>
            <a:endParaRPr lang="en-GB" b="0" i="0" dirty="0">
              <a:solidFill>
                <a:srgbClr val="6A6E72"/>
              </a:solidFill>
              <a:effectLst/>
              <a:latin typeface="CharterITCPro-Regular"/>
            </a:endParaRPr>
          </a:p>
          <a:p>
            <a:pPr algn="l"/>
            <a:r>
              <a:rPr lang="en-GB" b="0" i="0" dirty="0">
                <a:effectLst/>
                <a:latin typeface="var(--med-font)"/>
              </a:rPr>
              <a:t>2. Recruiting participants</a:t>
            </a:r>
          </a:p>
          <a:p>
            <a:pPr algn="l"/>
            <a:r>
              <a:rPr lang="en-GB" b="0" i="0" dirty="0">
                <a:solidFill>
                  <a:srgbClr val="6A6E72"/>
                </a:solidFill>
                <a:effectLst/>
                <a:latin typeface="CharterITCPro-Regular"/>
              </a:rPr>
              <a:t>This stage includes deciding who your ideal participants will be, developing a detailed recruiting questionnaire, and determining a plan of action to begin seeking and evaluating participants.</a:t>
            </a:r>
          </a:p>
          <a:p>
            <a:pPr algn="l"/>
            <a:endParaRPr lang="en-GB" b="0" i="0" dirty="0">
              <a:solidFill>
                <a:srgbClr val="6A6E72"/>
              </a:solidFill>
              <a:effectLst/>
              <a:latin typeface="CharterITCPro-Regular"/>
            </a:endParaRPr>
          </a:p>
          <a:p>
            <a:pPr algn="l"/>
            <a:r>
              <a:rPr lang="en-GB" b="0" i="0" dirty="0">
                <a:effectLst/>
                <a:latin typeface="var(--med-font)"/>
              </a:rPr>
              <a:t>3. Preparing test materials</a:t>
            </a:r>
          </a:p>
          <a:p>
            <a:pPr algn="l"/>
            <a:r>
              <a:rPr lang="en-GB" b="0" i="0" dirty="0">
                <a:solidFill>
                  <a:srgbClr val="6A6E72"/>
                </a:solidFill>
                <a:effectLst/>
                <a:latin typeface="CharterITCPro-Regular"/>
              </a:rPr>
              <a:t>Test materials prep helps you to decide what actions you’ll want participants to take within your product, and the types of outcome you’re working toward. Then you will need to design the test environment (which could be remote or in-person at your offices).</a:t>
            </a:r>
          </a:p>
          <a:p>
            <a:pPr algn="l"/>
            <a:endParaRPr lang="en-GB" b="0" i="0" dirty="0">
              <a:effectLst/>
              <a:latin typeface="var(--med-font)"/>
            </a:endParaRPr>
          </a:p>
          <a:p>
            <a:pPr algn="l"/>
            <a:r>
              <a:rPr lang="en-GB" b="0" i="0" dirty="0">
                <a:effectLst/>
                <a:latin typeface="var(--med-font)"/>
              </a:rPr>
              <a:t>4. Setting up the test environment</a:t>
            </a:r>
          </a:p>
          <a:p>
            <a:pPr algn="l"/>
            <a:r>
              <a:rPr lang="en-GB" b="0" i="0" dirty="0">
                <a:solidFill>
                  <a:srgbClr val="6A6E72"/>
                </a:solidFill>
                <a:effectLst/>
                <a:latin typeface="CharterITCPro-Regular"/>
              </a:rPr>
              <a:t>For this stage, you will need to design the actual environment where you will be conducting your tests. Usability test methods include lab testing (in-person at your offices) and remote testing (where participants can log in to your test from anywhere). You will need to choose which type of test makes sense for your team’s goals and needs.</a:t>
            </a:r>
          </a:p>
          <a:p>
            <a:pPr algn="l"/>
            <a:endParaRPr lang="en-GB" b="0" i="0" dirty="0">
              <a:effectLst/>
              <a:latin typeface="var(--med-font)"/>
            </a:endParaRPr>
          </a:p>
          <a:p>
            <a:pPr algn="l"/>
            <a:r>
              <a:rPr lang="en-GB" b="0" i="0" dirty="0">
                <a:effectLst/>
                <a:latin typeface="var(--med-font)"/>
              </a:rPr>
              <a:t>5. Conducting the test</a:t>
            </a:r>
          </a:p>
          <a:p>
            <a:pPr algn="l"/>
            <a:r>
              <a:rPr lang="en-GB" b="0" i="0" dirty="0">
                <a:solidFill>
                  <a:srgbClr val="6A6E72"/>
                </a:solidFill>
                <a:effectLst/>
                <a:latin typeface="CharterITCPro-Regular"/>
              </a:rPr>
              <a:t>Here you will run your usability test with your participants. One tip offered in the IEEE paper is to conduct dry-run tests beforehand with your team. Dry-run tests are a good way to learn ahead of time if there will be any problems in collecting and recording data. It is also an opportunity to uncover any issues with your product before your participants do.</a:t>
            </a:r>
          </a:p>
          <a:p>
            <a:pPr algn="l"/>
            <a:r>
              <a:rPr lang="en-GB" b="0" i="0" dirty="0">
                <a:solidFill>
                  <a:srgbClr val="6A6E72"/>
                </a:solidFill>
                <a:effectLst/>
                <a:latin typeface="CharterITCPro-Regular"/>
              </a:rPr>
              <a:t>Here are</a:t>
            </a:r>
            <a:r>
              <a:rPr lang="en-GB" b="0" i="0" u="none" strike="noStrike" dirty="0">
                <a:solidFill>
                  <a:srgbClr val="6A6E72"/>
                </a:solidFill>
                <a:effectLst/>
                <a:latin typeface="CharterITCPro-Regular"/>
                <a:hlinkClick r:id="rId3"/>
              </a:rPr>
              <a:t> two additional usability testing steps</a:t>
            </a:r>
            <a:r>
              <a:rPr lang="en-GB" b="0" i="0" dirty="0">
                <a:solidFill>
                  <a:srgbClr val="6A6E72"/>
                </a:solidFill>
                <a:effectLst/>
                <a:latin typeface="CharterITCPro-Regular"/>
              </a:rPr>
              <a:t>:</a:t>
            </a:r>
          </a:p>
          <a:p>
            <a:pPr algn="l"/>
            <a:endParaRPr lang="en-GB" b="0" i="0" dirty="0">
              <a:effectLst/>
              <a:latin typeface="var(--med-font)"/>
            </a:endParaRPr>
          </a:p>
          <a:p>
            <a:pPr algn="l"/>
            <a:r>
              <a:rPr lang="en-GB" b="0" i="0" dirty="0">
                <a:effectLst/>
                <a:latin typeface="var(--med-font)"/>
              </a:rPr>
              <a:t>6. </a:t>
            </a:r>
            <a:r>
              <a:rPr lang="en-GB" b="0" i="0" dirty="0" err="1">
                <a:effectLst/>
                <a:latin typeface="var(--med-font)"/>
              </a:rPr>
              <a:t>Analyzing</a:t>
            </a:r>
            <a:r>
              <a:rPr lang="en-GB" b="0" i="0" dirty="0">
                <a:effectLst/>
                <a:latin typeface="var(--med-font)"/>
              </a:rPr>
              <a:t> the data</a:t>
            </a:r>
          </a:p>
          <a:p>
            <a:pPr algn="l"/>
            <a:r>
              <a:rPr lang="en-GB" b="0" i="0" dirty="0">
                <a:solidFill>
                  <a:srgbClr val="6A6E72"/>
                </a:solidFill>
                <a:effectLst/>
                <a:latin typeface="CharterITCPro-Regular"/>
              </a:rPr>
              <a:t>Here your team will study all data gathered from your usability test to glean critical insights and actionable intelligence on how to improve your product’s usability.</a:t>
            </a:r>
          </a:p>
          <a:p>
            <a:pPr algn="l"/>
            <a:endParaRPr lang="en-GB" b="0" i="0" dirty="0">
              <a:effectLst/>
              <a:latin typeface="var(--med-font)"/>
            </a:endParaRPr>
          </a:p>
          <a:p>
            <a:pPr algn="l"/>
            <a:r>
              <a:rPr lang="en-GB" b="0" i="0" dirty="0">
                <a:effectLst/>
                <a:latin typeface="var(--med-font)"/>
              </a:rPr>
              <a:t>7. Reporting the results</a:t>
            </a:r>
          </a:p>
          <a:p>
            <a:pPr algn="l"/>
            <a:r>
              <a:rPr lang="en-GB" b="0" i="0" dirty="0">
                <a:solidFill>
                  <a:srgbClr val="6A6E72"/>
                </a:solidFill>
                <a:effectLst/>
                <a:latin typeface="CharterITCPro-Regular"/>
              </a:rPr>
              <a:t>Finally, you will share your usability tests’ findings with relevant stakeholders across your team, to earn buy-in to proceed with your suggested improvements.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12</a:t>
            </a:fld>
            <a:endParaRPr lang="en-US"/>
          </a:p>
        </p:txBody>
      </p:sp>
    </p:spTree>
    <p:extLst>
      <p:ext uri="{BB962C8B-B14F-4D97-AF65-F5344CB8AC3E}">
        <p14:creationId xmlns:p14="http://schemas.microsoft.com/office/powerpoint/2010/main" val="649607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1" dirty="0">
                <a:solidFill>
                  <a:srgbClr val="444444"/>
                </a:solidFill>
                <a:effectLst/>
                <a:latin typeface="Source Sans Variable"/>
              </a:rPr>
              <a:t>In this usability-test session, the participant sits on the right, and the facilitator sits on the left. The participant uses a special testing laptop, which is running screen-recording software. The laptop has a webcam to capture the participant’s facial expressions and is connected to an external monitor for the facilitator. The facilitator listens to her feedback, administers tasks, and takes notes. </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13</a:t>
            </a:fld>
            <a:endParaRPr lang="en-US"/>
          </a:p>
        </p:txBody>
      </p:sp>
    </p:spTree>
    <p:extLst>
      <p:ext uri="{BB962C8B-B14F-4D97-AF65-F5344CB8AC3E}">
        <p14:creationId xmlns:p14="http://schemas.microsoft.com/office/powerpoint/2010/main" val="471284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400" dirty="0"/>
              <a:t>The field of user experience has a wide range of research methods available. </a:t>
            </a:r>
          </a:p>
          <a:p>
            <a:r>
              <a:rPr lang="en-GB" sz="2400" dirty="0"/>
              <a:t>To better understand when to use which method, it is helpful to view them along a 3-dimensional framework:</a:t>
            </a:r>
          </a:p>
          <a:p>
            <a:pPr marL="880110" lvl="1" indent="-514350">
              <a:buFont typeface="+mj-lt"/>
              <a:buAutoNum type="arabicPeriod"/>
            </a:pPr>
            <a:r>
              <a:rPr lang="en-GB" sz="2000" dirty="0"/>
              <a:t>Attitudinal vs. Behavioural </a:t>
            </a:r>
          </a:p>
          <a:p>
            <a:pPr marL="880110" lvl="1" indent="-514350">
              <a:buFont typeface="+mj-lt"/>
              <a:buAutoNum type="arabicPeriod"/>
            </a:pPr>
            <a:r>
              <a:rPr lang="en-GB" sz="2000" dirty="0"/>
              <a:t>Qualitative vs. Quantitative </a:t>
            </a:r>
          </a:p>
          <a:p>
            <a:pPr marL="880110" lvl="1" indent="-514350">
              <a:buFont typeface="+mj-lt"/>
              <a:buAutoNum type="arabicPeriod"/>
            </a:pPr>
            <a:r>
              <a:rPr lang="en-GB" sz="2000" dirty="0"/>
              <a:t>Context of Product Use</a:t>
            </a:r>
          </a:p>
          <a:p>
            <a:pPr marL="365760" lvl="1" indent="0">
              <a:buFont typeface="+mj-lt"/>
              <a:buNone/>
            </a:pPr>
            <a:endParaRPr lang="en-GB" sz="200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b="1" dirty="0"/>
              <a:t>Attitudinal vs. Behavioural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dirty="0"/>
          </a:p>
          <a:p>
            <a:r>
              <a:rPr lang="en-GB" b="0" i="0" dirty="0">
                <a:solidFill>
                  <a:srgbClr val="333333"/>
                </a:solidFill>
                <a:effectLst/>
                <a:latin typeface="Arial" panose="020B0604020202020204" pitchFamily="34" charset="0"/>
              </a:rPr>
              <a:t>The purpose of attitudinal research is usually to understand or measure people's stated beliefs, but it is limited by what people are aware of and willing to report.</a:t>
            </a:r>
          </a:p>
          <a:p>
            <a:endParaRPr lang="en-GB" b="0" i="0" dirty="0">
              <a:solidFill>
                <a:srgbClr val="333333"/>
              </a:solidFill>
              <a:effectLst/>
              <a:latin typeface="Arial" panose="020B0604020202020204" pitchFamily="34" charset="0"/>
            </a:endParaRPr>
          </a:p>
          <a:p>
            <a:r>
              <a:rPr lang="en-GB" b="0" i="0" dirty="0">
                <a:solidFill>
                  <a:srgbClr val="333333"/>
                </a:solidFill>
                <a:effectLst/>
                <a:latin typeface="Arial" panose="020B0604020202020204" pitchFamily="34" charset="0"/>
              </a:rPr>
              <a:t>While behavioural studies </a:t>
            </a:r>
            <a:r>
              <a:rPr lang="en-GB" b="0" i="0" dirty="0">
                <a:solidFill>
                  <a:srgbClr val="333333"/>
                </a:solidFill>
                <a:effectLst/>
                <a:latin typeface="Source Sans Variable"/>
              </a:rPr>
              <a:t>pay attention to what users do, </a:t>
            </a:r>
            <a:r>
              <a:rPr lang="en-GB" b="1" i="0" dirty="0">
                <a:solidFill>
                  <a:srgbClr val="333333"/>
                </a:solidFill>
                <a:effectLst/>
                <a:latin typeface="Arial" panose="020B0604020202020204" pitchFamily="34" charset="0"/>
              </a:rPr>
              <a:t>watch users as they attempt to perform tasks </a:t>
            </a:r>
            <a:r>
              <a:rPr lang="en-GB" b="0" i="0" dirty="0">
                <a:solidFill>
                  <a:srgbClr val="333333"/>
                </a:solidFill>
                <a:effectLst/>
                <a:latin typeface="Arial" panose="020B0604020202020204" pitchFamily="34" charset="0"/>
              </a:rPr>
              <a:t>with the user interface</a:t>
            </a:r>
            <a:r>
              <a:rPr lang="en-GB" b="0" i="0" dirty="0">
                <a:solidFill>
                  <a:srgbClr val="333333"/>
                </a:solidFill>
                <a:effectLst/>
                <a:latin typeface="Source Sans Variable"/>
              </a:rPr>
              <a:t>, not what they say. Self-reported claims are unreliable, as are user speculations about future behaviour. Users do not know what they want.</a:t>
            </a:r>
            <a:endParaRPr lang="en-GB" b="0" i="0" dirty="0">
              <a:solidFill>
                <a:srgbClr val="333333"/>
              </a:solidFill>
              <a:effectLst/>
              <a:latin typeface="Arial" panose="020B0604020202020204" pitchFamily="34" charset="0"/>
            </a:endParaRPr>
          </a:p>
          <a:p>
            <a:endParaRPr lang="en-GB" b="0" i="0" dirty="0">
              <a:solidFill>
                <a:srgbClr val="333333"/>
              </a:solidFill>
              <a:effectLst/>
              <a:latin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b="1" dirty="0"/>
              <a:t>Qualitative vs. Quantitative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dirty="0"/>
              <a:t>Studies that are </a:t>
            </a:r>
            <a:r>
              <a:rPr lang="en-GB" sz="1200" b="1" dirty="0"/>
              <a:t>qualitative</a:t>
            </a:r>
            <a:r>
              <a:rPr lang="en-GB" sz="1200" dirty="0"/>
              <a:t> in nature generate data about behaviours or attitudes based on observing or hearing users directly that help to </a:t>
            </a:r>
            <a:r>
              <a:rPr lang="en-GB" b="0" i="0" dirty="0">
                <a:solidFill>
                  <a:srgbClr val="333333"/>
                </a:solidFill>
                <a:effectLst/>
                <a:latin typeface="Arial" panose="020B0604020202020204" pitchFamily="34" charset="0"/>
              </a:rPr>
              <a:t>identify design features easy or hard to use. </a:t>
            </a:r>
            <a:r>
              <a:rPr lang="en-GB" sz="1200" dirty="0"/>
              <a:t>Analysis of the data is usually not mathematical.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dirty="0"/>
              <a:t>Whereas in </a:t>
            </a:r>
            <a:r>
              <a:rPr lang="en-GB" sz="1200" b="1" dirty="0"/>
              <a:t>quantitative</a:t>
            </a:r>
            <a:r>
              <a:rPr lang="en-GB" sz="1200" dirty="0"/>
              <a:t> studies, the data about the behaviour or attitudes in question are gathered indirectly, through a measurement or an instrument such as a survey or an analytics tool that help collect data</a:t>
            </a:r>
            <a:r>
              <a:rPr lang="en-GB" b="0" i="0" dirty="0">
                <a:solidFill>
                  <a:srgbClr val="333333"/>
                </a:solidFill>
                <a:effectLst/>
                <a:latin typeface="Arial" panose="020B0604020202020204" pitchFamily="34" charset="0"/>
              </a:rPr>
              <a:t>, in form of one or more metrics (such as task completion rates or task times) that reflect whether the tasks were easy to perform.</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14</a:t>
            </a:fld>
            <a:endParaRPr lang="en-US"/>
          </a:p>
        </p:txBody>
      </p:sp>
    </p:spTree>
    <p:extLst>
      <p:ext uri="{BB962C8B-B14F-4D97-AF65-F5344CB8AC3E}">
        <p14:creationId xmlns:p14="http://schemas.microsoft.com/office/powerpoint/2010/main" val="1974779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15</a:t>
            </a:fld>
            <a:endParaRPr lang="en-US" dirty="0"/>
          </a:p>
        </p:txBody>
      </p:sp>
    </p:spTree>
    <p:extLst>
      <p:ext uri="{BB962C8B-B14F-4D97-AF65-F5344CB8AC3E}">
        <p14:creationId xmlns:p14="http://schemas.microsoft.com/office/powerpoint/2010/main" val="2728875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1" u="sng" dirty="0"/>
              <a:t>Natural use of product</a:t>
            </a:r>
          </a:p>
          <a:p>
            <a:endParaRPr lang="en-GB" b="1" dirty="0"/>
          </a:p>
          <a:p>
            <a:r>
              <a:rPr lang="en-GB" b="1" dirty="0"/>
              <a:t>Field Studies </a:t>
            </a:r>
            <a:r>
              <a:rPr lang="en-GB" dirty="0"/>
              <a:t>Researchers study participants in their own environment (work or home), where they would most likely encounter the product or service being used in the most realistic or natural environment.</a:t>
            </a:r>
          </a:p>
          <a:p>
            <a:endParaRPr lang="en-GB" dirty="0"/>
          </a:p>
          <a:p>
            <a:r>
              <a:rPr lang="en-GB" b="1" dirty="0"/>
              <a:t>Contextual Inquiry </a:t>
            </a:r>
            <a:r>
              <a:rPr lang="en-GB" dirty="0"/>
              <a:t>Researchers and participants collaborate together in the participants own environment to inquire about and observe the nature of the tasks and work at hand</a:t>
            </a:r>
          </a:p>
          <a:p>
            <a:endParaRPr lang="en-GB" b="1"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a:t>Diary Studies </a:t>
            </a:r>
            <a:r>
              <a:rPr lang="en-GB" dirty="0"/>
              <a:t>Participants are given a mechanism (diary or camera) to record and describe aspects of their lives that are relevant to a product or service or simply core to the target audience. Diary studies are typically longitudinal and can be done only for data that is easily recorded by participants.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a:t>Customer Feedback </a:t>
            </a:r>
            <a:r>
              <a:rPr lang="en-GB" dirty="0"/>
              <a:t>Open-ended and/or close-ended information provided by a self-selected sample of users, often through a feedback link, button, form, or email.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err="1"/>
              <a:t>Eyetracking</a:t>
            </a:r>
            <a:r>
              <a:rPr lang="en-GB" dirty="0"/>
              <a:t> An </a:t>
            </a:r>
            <a:r>
              <a:rPr lang="en-GB" dirty="0" err="1"/>
              <a:t>eyetracking</a:t>
            </a:r>
            <a:r>
              <a:rPr lang="en-GB" dirty="0"/>
              <a:t> device is configured to precisely measure where participants look as they perform tasks or interact naturally with websites, applications, physical products, or environments.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dirty="0"/>
          </a:p>
          <a:p>
            <a:r>
              <a:rPr lang="en-GB" b="1" dirty="0"/>
              <a:t>Clickstream Analytics </a:t>
            </a:r>
            <a:r>
              <a:rPr lang="en-GB" dirty="0"/>
              <a:t>A particular type of analytics that involves </a:t>
            </a:r>
            <a:r>
              <a:rPr lang="en-GB" dirty="0" err="1"/>
              <a:t>analyzing</a:t>
            </a:r>
            <a:r>
              <a:rPr lang="en-GB" dirty="0"/>
              <a:t> the sequence of pages that users visit as they use a site or software application.</a:t>
            </a:r>
          </a:p>
          <a:p>
            <a:endParaRPr lang="en-GB" dirty="0"/>
          </a:p>
          <a:p>
            <a:r>
              <a:rPr lang="en-GB" b="1" dirty="0"/>
              <a:t>A/B Testing </a:t>
            </a:r>
            <a:r>
              <a:rPr lang="en-GB" dirty="0"/>
              <a:t>A method of scientifically testing different designs on a site by randomly assigning groups of users to interact with each of the different designs and measuring the effect of these assignments on user </a:t>
            </a:r>
            <a:r>
              <a:rPr lang="en-GB" dirty="0" err="1"/>
              <a:t>behavior</a:t>
            </a:r>
            <a:r>
              <a:rPr lang="en-GB" dirty="0"/>
              <a:t>.</a:t>
            </a:r>
          </a:p>
          <a:p>
            <a:endParaRPr lang="en-GB" b="1" dirty="0"/>
          </a:p>
          <a:p>
            <a:endParaRPr lang="en-GB" b="1" dirty="0"/>
          </a:p>
          <a:p>
            <a:r>
              <a:rPr lang="en-GB" b="1" i="1" u="sng" dirty="0"/>
              <a:t>Scripted (often lab-based) use of product</a:t>
            </a:r>
          </a:p>
          <a:p>
            <a:endParaRPr lang="en-GB" b="1" dirty="0"/>
          </a:p>
          <a:p>
            <a:r>
              <a:rPr lang="en-GB" b="1" dirty="0"/>
              <a:t>Usability Testing </a:t>
            </a:r>
            <a:r>
              <a:rPr lang="en-GB" dirty="0"/>
              <a:t>Participants are brought into a lab, one-on-one with a researcher, and given a set of scenarios that lead to tasks and usage of specific interest within a product or service.</a:t>
            </a:r>
          </a:p>
          <a:p>
            <a:endParaRPr lang="en-GB"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a:t>Remote Moderated Testing</a:t>
            </a:r>
            <a:r>
              <a:rPr lang="en-GB" dirty="0"/>
              <a:t> Usability studies conducted remotely, with the use of tools such as video conferencing, screen-sharing software and remote-control capabilities.</a:t>
            </a:r>
          </a:p>
          <a:p>
            <a:endParaRPr lang="en-GB"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a:t>Usability Benchmarking </a:t>
            </a:r>
            <a:r>
              <a:rPr lang="en-GB" dirty="0"/>
              <a:t>Tightly scripted usability studies are performed with several participants, using precise and predetermined measures of performance.</a:t>
            </a:r>
          </a:p>
          <a:p>
            <a:endParaRPr lang="en-GB"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a:t>Unmoderated Testing </a:t>
            </a:r>
            <a:r>
              <a:rPr lang="en-GB" dirty="0"/>
              <a:t>An automated method that can be used in both quantitative and qualitative studies and that uses a specialized research tool to capture participant </a:t>
            </a:r>
            <a:r>
              <a:rPr lang="en-GB" dirty="0" err="1"/>
              <a:t>behaviors</a:t>
            </a:r>
            <a:r>
              <a:rPr lang="en-GB" dirty="0"/>
              <a:t> and attitudes, usually by giving participants goals or scenarios to accomplish with a site, app, or prototype.</a:t>
            </a:r>
          </a:p>
          <a:p>
            <a:endParaRPr lang="en-GB" dirty="0"/>
          </a:p>
          <a:p>
            <a:endParaRPr lang="en-GB" dirty="0"/>
          </a:p>
          <a:p>
            <a:r>
              <a:rPr kumimoji="1" lang="en-GB" sz="1200" b="1" i="1" u="sng" kern="1200" dirty="0">
                <a:solidFill>
                  <a:schemeClr val="tx1"/>
                </a:solidFill>
                <a:latin typeface="Times New Roman" pitchFamily="18" charset="0"/>
                <a:ea typeface="+mn-ea"/>
                <a:cs typeface="+mn-cs"/>
              </a:rPr>
              <a:t>Decontextualized / not using product</a:t>
            </a:r>
          </a:p>
          <a:p>
            <a:endParaRPr lang="en-GB" dirty="0"/>
          </a:p>
          <a:p>
            <a:r>
              <a:rPr lang="en-GB" b="1" dirty="0"/>
              <a:t>Focus Groups </a:t>
            </a:r>
            <a:r>
              <a:rPr lang="en-GB" dirty="0" err="1"/>
              <a:t>Groups</a:t>
            </a:r>
            <a:r>
              <a:rPr lang="en-GB" dirty="0"/>
              <a:t> of 3–12 participants are led through a discussion about a set of topics, giving verbal and written feedback through discussion and exercises.</a:t>
            </a:r>
          </a:p>
          <a:p>
            <a:endParaRPr lang="en-GB" dirty="0"/>
          </a:p>
          <a:p>
            <a:r>
              <a:rPr lang="en-GB" b="1" dirty="0"/>
              <a:t>Interviews</a:t>
            </a:r>
            <a:r>
              <a:rPr lang="en-GB" dirty="0"/>
              <a:t> A researcher meets with participants one-on-one to discuss in depth what the participant thinks about the topic in question.</a:t>
            </a:r>
          </a:p>
          <a:p>
            <a:endParaRPr lang="en-GB"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a:t>Surveys</a:t>
            </a:r>
            <a:r>
              <a:rPr lang="en-GB" dirty="0"/>
              <a:t> A quantitative measure of attitudes through a series of questions, typically more closed-ended than open-ended.</a:t>
            </a:r>
          </a:p>
          <a:p>
            <a:endParaRPr lang="en-GB" dirty="0"/>
          </a:p>
          <a:p>
            <a:endParaRPr lang="en-GB" dirty="0"/>
          </a:p>
          <a:p>
            <a:r>
              <a:rPr kumimoji="1" lang="en-GB" sz="1200" b="1" i="1" u="sng" kern="1200" dirty="0">
                <a:solidFill>
                  <a:schemeClr val="tx1"/>
                </a:solidFill>
                <a:latin typeface="Times New Roman" pitchFamily="18" charset="0"/>
                <a:ea typeface="+mn-ea"/>
                <a:cs typeface="+mn-cs"/>
              </a:rPr>
              <a:t>Limited use of product</a:t>
            </a:r>
          </a:p>
          <a:p>
            <a:endParaRPr kumimoji="1" lang="en-GB" sz="1200" b="1" i="1" kern="1200" dirty="0">
              <a:solidFill>
                <a:schemeClr val="tx1"/>
              </a:solidFill>
              <a:latin typeface="Times New Roman" pitchFamily="18" charset="0"/>
              <a:ea typeface="+mn-ea"/>
              <a:cs typeface="+mn-cs"/>
            </a:endParaRPr>
          </a:p>
          <a:p>
            <a:r>
              <a:rPr lang="en-GB" b="1" i="0" dirty="0">
                <a:solidFill>
                  <a:srgbClr val="333333"/>
                </a:solidFill>
                <a:effectLst/>
                <a:latin typeface="Arial" panose="020B0604020202020204" pitchFamily="34" charset="0"/>
              </a:rPr>
              <a:t>Participatory design</a:t>
            </a:r>
            <a:r>
              <a:rPr lang="en-GB" b="0" i="0" dirty="0">
                <a:solidFill>
                  <a:srgbClr val="333333"/>
                </a:solidFill>
                <a:effectLst/>
                <a:latin typeface="Arial" panose="020B0604020202020204" pitchFamily="34" charset="0"/>
              </a:rPr>
              <a:t>: Participants are given design elements or creative materials in order to construct their ideal experience in a concrete way that expresses what matters to them most and why.</a:t>
            </a:r>
            <a:endParaRPr kumimoji="1" lang="en-GB" sz="1200" b="1" i="1" kern="1200" dirty="0">
              <a:solidFill>
                <a:schemeClr val="tx1"/>
              </a:solidFill>
              <a:effectLst/>
              <a:latin typeface="Times New Roman" pitchFamily="18" charset="0"/>
              <a:ea typeface="+mn-ea"/>
              <a:cs typeface="+mn-cs"/>
            </a:endParaRPr>
          </a:p>
          <a:p>
            <a:endParaRPr lang="en-GB" dirty="0"/>
          </a:p>
          <a:p>
            <a:r>
              <a:rPr lang="en-GB" b="1" dirty="0"/>
              <a:t>Concept Testing </a:t>
            </a:r>
            <a:r>
              <a:rPr lang="en-GB" dirty="0"/>
              <a:t>A researcher shares an approximation of a product or service that captures the key essence (the value proposition) of a new concept or product in order to determine if it meets the needs of the target audience. It can be done one-on-one or with larger numbers of participants, and either in person or online.</a:t>
            </a:r>
          </a:p>
          <a:p>
            <a:endParaRPr lang="en-GB"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a:t>Card Sorting </a:t>
            </a:r>
            <a:r>
              <a:rPr lang="en-GB" dirty="0"/>
              <a:t>A quantitative or qualitative method that asks users to organize items into groups and assign categories to each group. This method helps create or refine the information architecture of a site by exposing users’ mental models.</a:t>
            </a:r>
          </a:p>
          <a:p>
            <a:endParaRPr lang="en-GB" dirty="0"/>
          </a:p>
          <a:p>
            <a:r>
              <a:rPr lang="en-GB" b="1" dirty="0"/>
              <a:t>Desirability Studies </a:t>
            </a:r>
            <a:r>
              <a:rPr lang="en-GB" dirty="0"/>
              <a:t>Participants are offered different visual-design alternatives and are expected to associate each alternative with a set of  attributes selected from a closed list. These studies can be both qualitative and quantitative.</a:t>
            </a:r>
          </a:p>
          <a:p>
            <a:endParaRPr lang="en-GB" dirty="0"/>
          </a:p>
          <a:p>
            <a:endParaRPr lang="en-GB" dirty="0"/>
          </a:p>
          <a:p>
            <a:endParaRPr lang="en-GB" dirty="0"/>
          </a:p>
          <a:p>
            <a:endParaRPr lang="en-GB" dirty="0"/>
          </a:p>
          <a:p>
            <a:endParaRPr lang="en-GB" b="1" dirty="0"/>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16</a:t>
            </a:fld>
            <a:endParaRPr lang="en-US"/>
          </a:p>
        </p:txBody>
      </p:sp>
    </p:spTree>
    <p:extLst>
      <p:ext uri="{BB962C8B-B14F-4D97-AF65-F5344CB8AC3E}">
        <p14:creationId xmlns:p14="http://schemas.microsoft.com/office/powerpoint/2010/main" val="2867865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solidFill>
                  <a:srgbClr val="333333"/>
                </a:solidFill>
                <a:effectLst/>
                <a:latin typeface="Source Sans Variable"/>
              </a:rPr>
              <a:t>Qual Research</a:t>
            </a:r>
          </a:p>
          <a:p>
            <a:pPr algn="l"/>
            <a:r>
              <a:rPr lang="en-GB" b="1" i="0" dirty="0">
                <a:solidFill>
                  <a:srgbClr val="333333"/>
                </a:solidFill>
                <a:effectLst/>
                <a:latin typeface="Arial" panose="020B0604020202020204" pitchFamily="34" charset="0"/>
              </a:rPr>
              <a:t>Qualitative data</a:t>
            </a:r>
            <a:r>
              <a:rPr lang="en-GB" b="0" i="0" dirty="0">
                <a:solidFill>
                  <a:srgbClr val="333333"/>
                </a:solidFill>
                <a:effectLst/>
                <a:latin typeface="Arial" panose="020B0604020202020204" pitchFamily="34" charset="0"/>
              </a:rPr>
              <a:t> offer a direct assessment of the usability of a system:  researchers will observe participants struggle with specific UI elements and infer which aspects of the design are problematic and which work well. They can always ask participants </a:t>
            </a:r>
            <a:r>
              <a:rPr lang="en-GB" b="0" i="0" dirty="0" err="1">
                <a:solidFill>
                  <a:srgbClr val="333333"/>
                </a:solidFill>
                <a:effectLst/>
                <a:latin typeface="Arial" panose="020B0604020202020204" pitchFamily="34" charset="0"/>
              </a:rPr>
              <a:t>followup</a:t>
            </a:r>
            <a:r>
              <a:rPr lang="en-GB" b="0" i="0" dirty="0">
                <a:solidFill>
                  <a:srgbClr val="333333"/>
                </a:solidFill>
                <a:effectLst/>
                <a:latin typeface="Arial" panose="020B0604020202020204" pitchFamily="34" charset="0"/>
              </a:rPr>
              <a:t> questions and change the course of the study to get insights into the specific issue that the participant experiences. Then, based on their own UX knowledge and possibly on observing other participants encounter (or not) the same difficulty, researchers will determine whether the respective UI element is indeed poorly designed.</a:t>
            </a:r>
          </a:p>
          <a:p>
            <a:pPr algn="l"/>
            <a:endParaRPr lang="en-GB" b="0" i="0" dirty="0">
              <a:solidFill>
                <a:srgbClr val="333333"/>
              </a:solidFill>
              <a:effectLst/>
              <a:latin typeface="Arial" panose="020B0604020202020204" pitchFamily="34" charset="0"/>
            </a:endParaRPr>
          </a:p>
          <a:p>
            <a:pPr algn="l"/>
            <a:r>
              <a:rPr lang="en-GB" b="1" i="0" dirty="0">
                <a:solidFill>
                  <a:srgbClr val="333333"/>
                </a:solidFill>
                <a:effectLst/>
                <a:latin typeface="Source Sans Variable"/>
              </a:rPr>
              <a:t>Quant Research</a:t>
            </a:r>
          </a:p>
          <a:p>
            <a:pPr algn="l"/>
            <a:r>
              <a:rPr lang="en-GB" b="1" i="0" dirty="0">
                <a:solidFill>
                  <a:srgbClr val="333333"/>
                </a:solidFill>
                <a:effectLst/>
                <a:latin typeface="Arial" panose="020B0604020202020204" pitchFamily="34" charset="0"/>
              </a:rPr>
              <a:t>Quantitative data</a:t>
            </a:r>
            <a:r>
              <a:rPr lang="en-GB" b="0" i="0" dirty="0">
                <a:solidFill>
                  <a:srgbClr val="333333"/>
                </a:solidFill>
                <a:effectLst/>
                <a:latin typeface="Arial" panose="020B0604020202020204" pitchFamily="34" charset="0"/>
              </a:rPr>
              <a:t> offer an indirect assessment of the usability of a design. They can be based on users’ </a:t>
            </a:r>
            <a:r>
              <a:rPr lang="en-GB" b="1" i="0" dirty="0">
                <a:solidFill>
                  <a:srgbClr val="333333"/>
                </a:solidFill>
                <a:effectLst/>
                <a:latin typeface="Arial" panose="020B0604020202020204" pitchFamily="34" charset="0"/>
              </a:rPr>
              <a:t>performance</a:t>
            </a:r>
            <a:r>
              <a:rPr lang="en-GB" b="0" i="0" dirty="0">
                <a:solidFill>
                  <a:srgbClr val="333333"/>
                </a:solidFill>
                <a:effectLst/>
                <a:latin typeface="Arial" panose="020B0604020202020204" pitchFamily="34" charset="0"/>
              </a:rPr>
              <a:t> on a given task (e.g., task-completion times, success rates, number of errors) or can reflect participants’ </a:t>
            </a:r>
            <a:r>
              <a:rPr lang="en-GB" b="1" i="0" dirty="0">
                <a:solidFill>
                  <a:srgbClr val="333333"/>
                </a:solidFill>
                <a:effectLst/>
                <a:latin typeface="Arial" panose="020B0604020202020204" pitchFamily="34" charset="0"/>
              </a:rPr>
              <a:t>perception of usability</a:t>
            </a:r>
            <a:r>
              <a:rPr lang="en-GB" b="0" i="0" dirty="0">
                <a:solidFill>
                  <a:srgbClr val="333333"/>
                </a:solidFill>
                <a:effectLst/>
                <a:latin typeface="Arial" panose="020B0604020202020204" pitchFamily="34" charset="0"/>
              </a:rPr>
              <a:t> (e.g., satisfaction ratings). Quantitative metrics are simply numbers, and as such, they can be hard to interpret in the absence of a reference point. For example, if 60% of the participants in a study were able to complete a task, is that good or bad? It’s hard to say in the absolute. That is why many quant studies usually aim not so much to describe the usability of a site, but rather to compare it with a known standard or with the usability of a competitor or a previous design.</a:t>
            </a:r>
          </a:p>
          <a:p>
            <a:pPr algn="l"/>
            <a:endParaRPr lang="en-GB" b="0" i="0" dirty="0">
              <a:solidFill>
                <a:srgbClr val="333333"/>
              </a:solidFill>
              <a:effectLst/>
              <a:latin typeface="Arial" panose="020B0604020202020204" pitchFamily="34" charset="0"/>
            </a:endParaRPr>
          </a:p>
          <a:p>
            <a:pPr algn="l"/>
            <a:r>
              <a:rPr lang="en-GB" b="0" i="0" dirty="0">
                <a:solidFill>
                  <a:srgbClr val="333333"/>
                </a:solidFill>
                <a:effectLst/>
                <a:latin typeface="Arial" panose="020B0604020202020204" pitchFamily="34" charset="0"/>
              </a:rPr>
              <a:t>While quant data can tell us that our design may not be usable relative to a reference point, they do not point out what problems users encountered. Even worse, they don’t tell us what changes to make in the design to get a better result next time. Knowing that only 40% of the participants are able to complete a task doesn’t say why users had trouble with that task or how to make it easier. Often researchers will need to use qual methods to supplement quant data in order to understand the specific usability issues in an interface.</a:t>
            </a:r>
          </a:p>
          <a:p>
            <a:pPr algn="l"/>
            <a:endParaRPr lang="en-GB" b="0" i="0" dirty="0">
              <a:solidFill>
                <a:srgbClr val="333333"/>
              </a:solidFill>
              <a:effectLst/>
              <a:latin typeface="Arial" panose="020B0604020202020204" pitchFamily="34" charset="0"/>
            </a:endParaRPr>
          </a:p>
          <a:p>
            <a:pPr algn="l"/>
            <a:r>
              <a:rPr lang="en-GB" b="1" i="0" dirty="0">
                <a:solidFill>
                  <a:srgbClr val="333333"/>
                </a:solidFill>
                <a:effectLst/>
                <a:latin typeface="Source Sans Variable"/>
              </a:rPr>
              <a:t>Statistical Significance</a:t>
            </a:r>
          </a:p>
          <a:p>
            <a:pPr algn="l"/>
            <a:r>
              <a:rPr lang="en-GB" b="0" i="0" dirty="0">
                <a:solidFill>
                  <a:srgbClr val="333333"/>
                </a:solidFill>
                <a:effectLst/>
                <a:latin typeface="Arial" panose="020B0604020202020204" pitchFamily="34" charset="0"/>
              </a:rPr>
              <a:t>One advantage of quant over qual is </a:t>
            </a:r>
            <a:r>
              <a:rPr lang="en-GB" b="1" i="0" dirty="0">
                <a:solidFill>
                  <a:srgbClr val="333333"/>
                </a:solidFill>
                <a:effectLst/>
                <a:latin typeface="Arial" panose="020B0604020202020204" pitchFamily="34" charset="0"/>
              </a:rPr>
              <a:t>statistical significance</a:t>
            </a:r>
            <a:r>
              <a:rPr lang="en-GB" b="0" i="0" dirty="0">
                <a:solidFill>
                  <a:srgbClr val="333333"/>
                </a:solidFill>
                <a:effectLst/>
                <a:latin typeface="Arial" panose="020B0604020202020204" pitchFamily="34" charset="0"/>
              </a:rPr>
              <a:t>. When quant data are presented in a sound way, they come with a certain protection against randomness: usually, mathematical instruments such as confidence intervals and statistical significance will tell us how likely it is that the data reflect the truth or whether they may be just an effect of random noise —  perhaps an artifact of the specific participants that we happened to recruit or of the conditions in which the study was run. Although seasoned qual researchers will deploy an arsenal of good practices to protect themselves from chance and to make sure that their results are not biased, we have no formal assurance that the findings from a qual study are indeed objective and representative for the whole target population.</a:t>
            </a:r>
          </a:p>
          <a:p>
            <a:pPr algn="l"/>
            <a:endParaRPr lang="en-GB" b="0" i="0" dirty="0">
              <a:solidFill>
                <a:srgbClr val="333333"/>
              </a:solidFill>
              <a:effectLst/>
              <a:latin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19</a:t>
            </a:fld>
            <a:endParaRPr lang="en-US"/>
          </a:p>
        </p:txBody>
      </p:sp>
    </p:spTree>
    <p:extLst>
      <p:ext uri="{BB962C8B-B14F-4D97-AF65-F5344CB8AC3E}">
        <p14:creationId xmlns:p14="http://schemas.microsoft.com/office/powerpoint/2010/main" val="3969476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Both qualitative and quantitative testing are essential in the iterative design cycle. Although qual studies are more common in our industry, quant studies are the only ones that allow us to put a number on a redesign and clearly say how much our new version improved over the old one —  they are the essential instrument in calculating return on investment.</a:t>
            </a:r>
          </a:p>
        </p:txBody>
      </p:sp>
      <p:sp>
        <p:nvSpPr>
          <p:cNvPr id="4" name="Slide Number Placeholder 3"/>
          <p:cNvSpPr>
            <a:spLocks noGrp="1"/>
          </p:cNvSpPr>
          <p:nvPr>
            <p:ph type="sldNum" sz="quarter" idx="5"/>
          </p:nvPr>
        </p:nvSpPr>
        <p:spPr/>
        <p:txBody>
          <a:bodyPr/>
          <a:lstStyle/>
          <a:p>
            <a:fld id="{3B225748-449B-4E6E-B2FD-9A517E5C9785}" type="slidenum">
              <a:rPr lang="en-US" smtClean="0"/>
              <a:pPr/>
              <a:t>20</a:t>
            </a:fld>
            <a:endParaRPr lang="en-US"/>
          </a:p>
        </p:txBody>
      </p:sp>
    </p:spTree>
    <p:extLst>
      <p:ext uri="{BB962C8B-B14F-4D97-AF65-F5344CB8AC3E}">
        <p14:creationId xmlns:p14="http://schemas.microsoft.com/office/powerpoint/2010/main" val="775611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table summarizes the differences between the two types of research. </a:t>
            </a:r>
          </a:p>
          <a:p>
            <a:endParaRPr lang="en-GB" dirty="0"/>
          </a:p>
          <a:p>
            <a:pPr algn="l"/>
            <a:r>
              <a:rPr lang="en-GB" b="1" i="0" dirty="0">
                <a:solidFill>
                  <a:srgbClr val="333333"/>
                </a:solidFill>
                <a:effectLst/>
                <a:latin typeface="Source Sans Variable"/>
              </a:rPr>
              <a:t>The Iterative Design Cycle: Goals for Qual vs. Quant</a:t>
            </a:r>
          </a:p>
          <a:p>
            <a:pPr algn="l"/>
            <a:r>
              <a:rPr lang="en-GB" b="0" i="0" dirty="0">
                <a:solidFill>
                  <a:srgbClr val="333333"/>
                </a:solidFill>
                <a:effectLst/>
                <a:latin typeface="Arial" panose="020B0604020202020204" pitchFamily="34" charset="0"/>
              </a:rPr>
              <a:t>The basic user-</a:t>
            </a:r>
            <a:r>
              <a:rPr lang="en-GB" b="0" i="0" dirty="0" err="1">
                <a:solidFill>
                  <a:srgbClr val="333333"/>
                </a:solidFill>
                <a:effectLst/>
                <a:latin typeface="Arial" panose="020B0604020202020204" pitchFamily="34" charset="0"/>
              </a:rPr>
              <a:t>centered</a:t>
            </a:r>
            <a:r>
              <a:rPr lang="en-GB" b="0" i="0" dirty="0">
                <a:solidFill>
                  <a:srgbClr val="333333"/>
                </a:solidFill>
                <a:effectLst/>
                <a:latin typeface="Arial" panose="020B0604020202020204" pitchFamily="34" charset="0"/>
              </a:rPr>
              <a:t> design cycle starts with an evaluation of an existing design, followed by a redesign intended to address the current system’s usability challenges. Once the new version is complete, it can be evaluated and compared against the initial version.</a:t>
            </a:r>
          </a:p>
          <a:p>
            <a:pPr algn="l"/>
            <a:r>
              <a:rPr lang="en-GB" i="1" dirty="0">
                <a:effectLst/>
              </a:rPr>
              <a:t>The iterative design cycle: Steps 1 and 3 involve summative research (done with either quantitative or qualitative methods), while step 2 involves formative research (done with qualitative methods). </a:t>
            </a:r>
            <a:r>
              <a:rPr lang="en-GB" b="0" i="0" dirty="0">
                <a:solidFill>
                  <a:srgbClr val="333333"/>
                </a:solidFill>
                <a:effectLst/>
                <a:latin typeface="Arial" panose="020B0604020202020204" pitchFamily="34" charset="0"/>
              </a:rPr>
              <a:t>The first and third stage of the iterative design cycle are </a:t>
            </a:r>
            <a:r>
              <a:rPr lang="en-GB" b="1" i="0" dirty="0">
                <a:solidFill>
                  <a:srgbClr val="333333"/>
                </a:solidFill>
                <a:effectLst/>
                <a:latin typeface="Arial" panose="020B0604020202020204" pitchFamily="34" charset="0"/>
              </a:rPr>
              <a:t>summative</a:t>
            </a:r>
            <a:r>
              <a:rPr lang="en-GB" b="0" i="0" dirty="0">
                <a:solidFill>
                  <a:srgbClr val="333333"/>
                </a:solidFill>
                <a:effectLst/>
                <a:latin typeface="Arial" panose="020B0604020202020204" pitchFamily="34" charset="0"/>
              </a:rPr>
              <a:t> — they are intended to provide an overall assessment of a design. In these steps both qual and quant research methods (or combinations such as </a:t>
            </a:r>
            <a:r>
              <a:rPr lang="en-GB" b="0" i="0" u="sng" dirty="0">
                <a:solidFill>
                  <a:srgbClr val="017698"/>
                </a:solidFill>
                <a:effectLst/>
                <a:latin typeface="Arial" panose="020B0604020202020204" pitchFamily="34" charset="0"/>
                <a:hlinkClick r:id="rId3"/>
              </a:rPr>
              <a:t>PURE</a:t>
            </a:r>
            <a:r>
              <a:rPr lang="en-GB" b="0" i="0" dirty="0">
                <a:solidFill>
                  <a:srgbClr val="333333"/>
                </a:solidFill>
                <a:effectLst/>
                <a:latin typeface="Arial" panose="020B0604020202020204" pitchFamily="34" charset="0"/>
              </a:rPr>
              <a:t>) can be used to evaluate the design. However, when the goal is to link the entire redesign effort to actual financial savings or explicitly figure out how much the redesign has improved, quant studies must be used. Organizations with mature UX often have such a quant usability-tracking process in place. (Sometimes this process of quantitatively evaluating each version of a design and comparing it with previous versions is called </a:t>
            </a:r>
            <a:r>
              <a:rPr lang="en-GB" b="1" i="0" dirty="0">
                <a:solidFill>
                  <a:srgbClr val="333333"/>
                </a:solidFill>
                <a:effectLst/>
                <a:latin typeface="Arial" panose="020B0604020202020204" pitchFamily="34" charset="0"/>
              </a:rPr>
              <a:t>benchmarking</a:t>
            </a:r>
            <a:r>
              <a:rPr lang="en-GB" b="0" i="0" dirty="0">
                <a:solidFill>
                  <a:srgbClr val="333333"/>
                </a:solidFill>
                <a:effectLst/>
                <a:latin typeface="Arial" panose="020B0604020202020204" pitchFamily="34" charset="0"/>
              </a:rPr>
              <a:t>.)</a:t>
            </a:r>
          </a:p>
          <a:p>
            <a:pPr algn="l"/>
            <a:r>
              <a:rPr lang="en-GB" b="0" i="0" dirty="0">
                <a:solidFill>
                  <a:srgbClr val="333333"/>
                </a:solidFill>
                <a:effectLst/>
                <a:latin typeface="Arial" panose="020B0604020202020204" pitchFamily="34" charset="0"/>
              </a:rPr>
              <a:t>During the redesign stage, user research has a </a:t>
            </a:r>
            <a:r>
              <a:rPr lang="en-GB" b="1" i="0" dirty="0">
                <a:solidFill>
                  <a:srgbClr val="333333"/>
                </a:solidFill>
                <a:effectLst/>
                <a:latin typeface="Arial" panose="020B0604020202020204" pitchFamily="34" charset="0"/>
              </a:rPr>
              <a:t>formative </a:t>
            </a:r>
            <a:r>
              <a:rPr lang="en-GB" b="0" i="0" dirty="0">
                <a:solidFill>
                  <a:srgbClr val="333333"/>
                </a:solidFill>
                <a:effectLst/>
                <a:latin typeface="Arial" panose="020B0604020202020204" pitchFamily="34" charset="0"/>
              </a:rPr>
              <a:t>role: it is meant to inform the design and steer it on the right path. In this phase, designers and researchers need to get user data relatively quickly and cheaply in order to be able to choose among different design alternatives and create a usable UI. At this stage, </a:t>
            </a:r>
            <a:r>
              <a:rPr lang="en-GB" b="1" i="0" dirty="0">
                <a:solidFill>
                  <a:srgbClr val="333333"/>
                </a:solidFill>
                <a:effectLst/>
                <a:latin typeface="Arial" panose="020B0604020202020204" pitchFamily="34" charset="0"/>
              </a:rPr>
              <a:t>qual studies are usually the most appropriate. </a:t>
            </a:r>
            <a:r>
              <a:rPr lang="en-GB" b="0" i="0" dirty="0">
                <a:solidFill>
                  <a:srgbClr val="333333"/>
                </a:solidFill>
                <a:effectLst/>
                <a:latin typeface="Arial" panose="020B0604020202020204" pitchFamily="34" charset="0"/>
              </a:rPr>
              <a:t>We know that, </a:t>
            </a:r>
            <a:r>
              <a:rPr lang="en-GB" b="0" i="0" u="sng" dirty="0">
                <a:solidFill>
                  <a:srgbClr val="017698"/>
                </a:solidFill>
                <a:effectLst/>
                <a:latin typeface="Arial" panose="020B0604020202020204" pitchFamily="34" charset="0"/>
                <a:hlinkClick r:id="rId4"/>
              </a:rPr>
              <a:t>with 5 users, a qualitative study is likely to uncover 85% of the usability problems</a:t>
            </a:r>
            <a:r>
              <a:rPr lang="en-GB" b="0" i="0" dirty="0">
                <a:solidFill>
                  <a:srgbClr val="333333"/>
                </a:solidFill>
                <a:effectLst/>
                <a:latin typeface="Arial" panose="020B0604020202020204" pitchFamily="34" charset="0"/>
              </a:rPr>
              <a:t> in a design (provided that the design is not already close to being perfect), so, in the redesign step, it makes sense to run one quick study with a few users, determine the big issues, fix them, and then test the new version again with another small set of users.</a:t>
            </a:r>
          </a:p>
          <a:p>
            <a:pPr algn="l"/>
            <a:endParaRPr lang="en-GB" b="0" i="0" dirty="0">
              <a:solidFill>
                <a:srgbClr val="333333"/>
              </a:solidFill>
              <a:effectLst/>
              <a:latin typeface="Arial" panose="020B0604020202020204" pitchFamily="34" charset="0"/>
            </a:endParaRPr>
          </a:p>
          <a:p>
            <a:pPr algn="l"/>
            <a:r>
              <a:rPr lang="en-GB" b="1" i="0" dirty="0">
                <a:solidFill>
                  <a:srgbClr val="333333"/>
                </a:solidFill>
                <a:effectLst/>
                <a:latin typeface="Source Sans Variable"/>
              </a:rPr>
              <a:t>When to Use Qual vs. Quant</a:t>
            </a:r>
          </a:p>
          <a:p>
            <a:pPr algn="l"/>
            <a:r>
              <a:rPr lang="en-GB" b="1" i="0" dirty="0">
                <a:solidFill>
                  <a:srgbClr val="333333"/>
                </a:solidFill>
                <a:effectLst/>
                <a:latin typeface="Arial" panose="020B0604020202020204" pitchFamily="34" charset="0"/>
              </a:rPr>
              <a:t>Qual studies are well suited for identifying the main problems in a design</a:t>
            </a:r>
            <a:r>
              <a:rPr lang="en-GB" b="0" i="0" dirty="0">
                <a:solidFill>
                  <a:srgbClr val="333333"/>
                </a:solidFill>
                <a:effectLst/>
                <a:latin typeface="Arial" panose="020B0604020202020204" pitchFamily="34" charset="0"/>
              </a:rPr>
              <a:t>: for example, we can easily run a qualitative study to see what (if anything) prevents users from submitting a </a:t>
            </a:r>
            <a:r>
              <a:rPr lang="en-GB" b="0" i="0" u="sng" dirty="0">
                <a:solidFill>
                  <a:srgbClr val="017698"/>
                </a:solidFill>
                <a:effectLst/>
                <a:latin typeface="Arial" panose="020B0604020202020204" pitchFamily="34" charset="0"/>
                <a:hlinkClick r:id="rId5"/>
              </a:rPr>
              <a:t>form</a:t>
            </a:r>
            <a:r>
              <a:rPr lang="en-GB" b="0" i="0" dirty="0">
                <a:solidFill>
                  <a:srgbClr val="333333"/>
                </a:solidFill>
                <a:effectLst/>
                <a:latin typeface="Arial" panose="020B0604020202020204" pitchFamily="34" charset="0"/>
              </a:rPr>
              <a:t> successfully, and, based on that study, we may determine that we need to lengthen the form fields, present </a:t>
            </a:r>
            <a:r>
              <a:rPr lang="en-GB" b="0" i="0" u="sng" dirty="0">
                <a:solidFill>
                  <a:srgbClr val="017698"/>
                </a:solidFill>
                <a:effectLst/>
                <a:latin typeface="Arial" panose="020B0604020202020204" pitchFamily="34" charset="0"/>
                <a:hlinkClick r:id="rId6"/>
              </a:rPr>
              <a:t>password requirements</a:t>
            </a:r>
            <a:r>
              <a:rPr lang="en-GB" b="0" i="0" dirty="0">
                <a:solidFill>
                  <a:srgbClr val="333333"/>
                </a:solidFill>
                <a:effectLst/>
                <a:latin typeface="Arial" panose="020B0604020202020204" pitchFamily="34" charset="0"/>
              </a:rPr>
              <a:t>, or use </a:t>
            </a:r>
            <a:r>
              <a:rPr lang="en-GB" b="0" i="0" u="sng" dirty="0">
                <a:solidFill>
                  <a:srgbClr val="017698"/>
                </a:solidFill>
                <a:effectLst/>
                <a:latin typeface="Arial" panose="020B0604020202020204" pitchFamily="34" charset="0"/>
                <a:hlinkClick r:id="rId7"/>
              </a:rPr>
              <a:t>labels outside the fields</a:t>
            </a:r>
            <a:r>
              <a:rPr lang="en-GB" b="0" i="0" dirty="0">
                <a:solidFill>
                  <a:srgbClr val="333333"/>
                </a:solidFill>
                <a:effectLst/>
                <a:latin typeface="Arial" panose="020B0604020202020204" pitchFamily="34" charset="0"/>
              </a:rPr>
              <a:t> rather than inside them.</a:t>
            </a:r>
          </a:p>
          <a:p>
            <a:pPr algn="l"/>
            <a:r>
              <a:rPr lang="en-GB" b="0" i="0" dirty="0">
                <a:solidFill>
                  <a:srgbClr val="333333"/>
                </a:solidFill>
                <a:effectLst/>
                <a:latin typeface="Arial" panose="020B0604020202020204" pitchFamily="34" charset="0"/>
              </a:rPr>
              <a:t>In contrast, most quant studies are done on a complete version of the site, with the purpose </a:t>
            </a:r>
            <a:r>
              <a:rPr lang="en-GB" b="1" i="0" dirty="0">
                <a:solidFill>
                  <a:srgbClr val="333333"/>
                </a:solidFill>
                <a:effectLst/>
                <a:latin typeface="Arial" panose="020B0604020202020204" pitchFamily="34" charset="0"/>
              </a:rPr>
              <a:t>of evaluating the usability of the site</a:t>
            </a:r>
            <a:r>
              <a:rPr lang="en-GB" b="0" i="0" dirty="0">
                <a:solidFill>
                  <a:srgbClr val="333333"/>
                </a:solidFill>
                <a:effectLst/>
                <a:latin typeface="Arial" panose="020B0604020202020204" pitchFamily="34" charset="0"/>
              </a:rPr>
              <a:t>, rather than directly informing the redesign process</a:t>
            </a:r>
            <a:r>
              <a:rPr lang="en-GB" b="1" i="0" dirty="0">
                <a:solidFill>
                  <a:srgbClr val="333333"/>
                </a:solidFill>
                <a:effectLst/>
                <a:latin typeface="Arial" panose="020B0604020202020204" pitchFamily="34" charset="0"/>
              </a:rPr>
              <a:t>. </a:t>
            </a:r>
            <a:r>
              <a:rPr lang="en-GB" b="0" i="0" dirty="0">
                <a:solidFill>
                  <a:srgbClr val="333333"/>
                </a:solidFill>
                <a:effectLst/>
                <a:latin typeface="Arial" panose="020B0604020202020204" pitchFamily="34" charset="0"/>
              </a:rPr>
              <a:t>This is not because one could not employ quantitative methods during the redesign iterations, but rather because quant usability studies would be too costly if used often and early in the design process. Quant studies usually involve a </a:t>
            </a:r>
            <a:r>
              <a:rPr lang="en-GB" b="0" i="0" u="sng" dirty="0">
                <a:solidFill>
                  <a:srgbClr val="017698"/>
                </a:solidFill>
                <a:effectLst/>
                <a:latin typeface="Arial" panose="020B0604020202020204" pitchFamily="34" charset="0"/>
                <a:hlinkClick r:id="rId8"/>
              </a:rPr>
              <a:t>large number of users</a:t>
            </a:r>
            <a:r>
              <a:rPr lang="en-GB" b="0" i="0" dirty="0">
                <a:solidFill>
                  <a:srgbClr val="333333"/>
                </a:solidFill>
                <a:effectLst/>
                <a:latin typeface="Arial" panose="020B0604020202020204" pitchFamily="34" charset="0"/>
              </a:rPr>
              <a:t>, and most organizations cannot afford to spend a lot of money on such studies to investigate whether the page copy is clear or whether a button is findable. However, the numbers obtained from quantitative testing can be invaluable when it comes to convincing upper management that your site is in need of a complete redesign.</a:t>
            </a:r>
          </a:p>
          <a:p>
            <a:pPr algn="l"/>
            <a:endParaRPr lang="en-GB" b="0" i="0" dirty="0">
              <a:solidFill>
                <a:srgbClr val="333333"/>
              </a:solidFill>
              <a:effectLst/>
              <a:latin typeface="Arial" panose="020B0604020202020204" pitchFamily="34" charset="0"/>
            </a:endParaRPr>
          </a:p>
          <a:p>
            <a:pPr algn="l"/>
            <a:r>
              <a:rPr lang="en-GB" b="1" i="0" dirty="0">
                <a:solidFill>
                  <a:srgbClr val="333333"/>
                </a:solidFill>
                <a:effectLst/>
                <a:latin typeface="Source Sans Variable"/>
              </a:rPr>
              <a:t>Outcome: Qual vs. Quant</a:t>
            </a:r>
          </a:p>
          <a:p>
            <a:pPr algn="l"/>
            <a:r>
              <a:rPr lang="en-GB" b="0" i="0" dirty="0">
                <a:solidFill>
                  <a:srgbClr val="333333"/>
                </a:solidFill>
                <a:effectLst/>
                <a:latin typeface="Arial" panose="020B0604020202020204" pitchFamily="34" charset="0"/>
              </a:rPr>
              <a:t>Qual data usually will consist of a set of findings, which identify (and prioritize according to severity) the strengths and weaknesses of a design. These findings are estimates — they are based on the knowledge and level of experience of the researcher facilitating the task and interpreting the meanings of the users’ actions. Different practitioners will often identify different issues in the same user-testing session (a phenomenon known as the </a:t>
            </a:r>
            <a:r>
              <a:rPr lang="en-GB" b="1" i="0" dirty="0">
                <a:solidFill>
                  <a:srgbClr val="333333"/>
                </a:solidFill>
                <a:effectLst/>
                <a:latin typeface="Arial" panose="020B0604020202020204" pitchFamily="34" charset="0"/>
              </a:rPr>
              <a:t>evaluator’s effect</a:t>
            </a:r>
            <a:r>
              <a:rPr lang="en-GB" b="0" i="0" dirty="0">
                <a:solidFill>
                  <a:srgbClr val="333333"/>
                </a:solidFill>
                <a:effectLst/>
                <a:latin typeface="Arial" panose="020B0604020202020204" pitchFamily="34" charset="0"/>
              </a:rPr>
              <a:t>). Plus, even if we’ve been very careful in recruiting participants who match our target demographics, when we include only a few people there is always a chance that they are not truly representative of the whole user population, and so our findings may be skewed.</a:t>
            </a:r>
          </a:p>
          <a:p>
            <a:pPr algn="l"/>
            <a:r>
              <a:rPr lang="en-GB" b="0" i="0" dirty="0">
                <a:solidFill>
                  <a:srgbClr val="333333"/>
                </a:solidFill>
                <a:effectLst/>
                <a:latin typeface="Arial" panose="020B0604020202020204" pitchFamily="34" charset="0"/>
              </a:rPr>
              <a:t>Quant studies usually involve a relatively large number of users (often more than 30) and use statistical techniques to protect themselves against such random events. When reported correctly, quantitative studies will include information about the </a:t>
            </a:r>
            <a:r>
              <a:rPr lang="en-GB" b="1" i="0" dirty="0">
                <a:solidFill>
                  <a:srgbClr val="333333"/>
                </a:solidFill>
                <a:effectLst/>
                <a:latin typeface="Arial" panose="020B0604020202020204" pitchFamily="34" charset="0"/>
              </a:rPr>
              <a:t>statistical significance</a:t>
            </a:r>
            <a:r>
              <a:rPr lang="en-GB" b="0" i="0" dirty="0">
                <a:solidFill>
                  <a:srgbClr val="333333"/>
                </a:solidFill>
                <a:effectLst/>
                <a:latin typeface="Arial" panose="020B0604020202020204" pitchFamily="34" charset="0"/>
              </a:rPr>
              <a:t> of the results. For example, a margin of error will help you understand how much you can trust the results from the study.  Or, if the difference in task-completion time between your site and the competitor’s site was statistically significant, you will know that, even if you were to recruit a different set of users and rerun your study, your results will point in the same direction, even if the exact averages may be slightly different.</a:t>
            </a:r>
          </a:p>
          <a:p>
            <a:pPr algn="l"/>
            <a:r>
              <a:rPr lang="en-GB" b="0" i="0" dirty="0">
                <a:solidFill>
                  <a:srgbClr val="333333"/>
                </a:solidFill>
                <a:effectLst/>
                <a:latin typeface="Arial" panose="020B0604020202020204" pitchFamily="34" charset="0"/>
              </a:rPr>
              <a:t>Thus, when quantitative studies are carried out and </a:t>
            </a:r>
            <a:r>
              <a:rPr lang="en-GB" b="0" i="0" dirty="0" err="1">
                <a:solidFill>
                  <a:srgbClr val="333333"/>
                </a:solidFill>
                <a:effectLst/>
                <a:latin typeface="Arial" panose="020B0604020202020204" pitchFamily="34" charset="0"/>
              </a:rPr>
              <a:t>analyzed</a:t>
            </a:r>
            <a:r>
              <a:rPr lang="en-GB" b="0" i="0" dirty="0">
                <a:solidFill>
                  <a:srgbClr val="333333"/>
                </a:solidFill>
                <a:effectLst/>
                <a:latin typeface="Arial" panose="020B0604020202020204" pitchFamily="34" charset="0"/>
              </a:rPr>
              <a:t> correctly, you can have confidence that their results are sound. Namely, that they are not due to a lucky or unlucky throw of the dice.</a:t>
            </a:r>
          </a:p>
          <a:p>
            <a:pPr algn="l"/>
            <a:r>
              <a:rPr lang="en-GB" b="0" i="0" dirty="0">
                <a:solidFill>
                  <a:srgbClr val="333333"/>
                </a:solidFill>
                <a:effectLst/>
                <a:latin typeface="Arial" panose="020B0604020202020204" pitchFamily="34" charset="0"/>
              </a:rPr>
              <a:t>These types of analyses are based on statistics and usually involve other types of skills than you will find in a qual usability researcher. That is why many companies have separate job requirements for quant and qual UX researchers.</a:t>
            </a:r>
          </a:p>
          <a:p>
            <a:pPr algn="l"/>
            <a:endParaRPr lang="en-GB" b="0" i="0" dirty="0">
              <a:solidFill>
                <a:srgbClr val="333333"/>
              </a:solidFill>
              <a:effectLst/>
              <a:latin typeface="Arial" panose="020B0604020202020204" pitchFamily="34" charset="0"/>
            </a:endParaRPr>
          </a:p>
          <a:p>
            <a:pPr algn="l"/>
            <a:r>
              <a:rPr lang="en-GB" b="1" i="0" dirty="0">
                <a:solidFill>
                  <a:srgbClr val="333333"/>
                </a:solidFill>
                <a:effectLst/>
                <a:latin typeface="Source Sans Variable"/>
              </a:rPr>
              <a:t>Methodology: Qual vs. Quant</a:t>
            </a:r>
          </a:p>
          <a:p>
            <a:pPr algn="l"/>
            <a:r>
              <a:rPr lang="en-GB" b="0" i="0" dirty="0">
                <a:solidFill>
                  <a:srgbClr val="333333"/>
                </a:solidFill>
                <a:effectLst/>
                <a:latin typeface="Arial" panose="020B0604020202020204" pitchFamily="34" charset="0"/>
              </a:rPr>
              <a:t>On the surface quantitative and qualitative user testing can look quite similar (i.e., they both involve users performing tasks on a design). Both types of studies need to follow the basic rules for good experiment design, by making sure that they have:</a:t>
            </a:r>
          </a:p>
          <a:p>
            <a:pPr algn="l">
              <a:buFont typeface="+mj-lt"/>
              <a:buAutoNum type="arabicPeriod"/>
            </a:pPr>
            <a:r>
              <a:rPr lang="en-GB" b="1" i="0" dirty="0">
                <a:solidFill>
                  <a:srgbClr val="333333"/>
                </a:solidFill>
                <a:effectLst/>
                <a:latin typeface="Arial" panose="020B0604020202020204" pitchFamily="34" charset="0"/>
              </a:rPr>
              <a:t>External validity</a:t>
            </a:r>
            <a:r>
              <a:rPr lang="en-GB" b="0" i="0" dirty="0">
                <a:solidFill>
                  <a:srgbClr val="333333"/>
                </a:solidFill>
                <a:effectLst/>
                <a:latin typeface="Arial" panose="020B0604020202020204" pitchFamily="34" charset="0"/>
              </a:rPr>
              <a:t>: participants are representative of the target audience and the study conditions reflect how the task is done in the wild. For instance, testing a mobile site on a desktop simulator lacks external validity because people would normally use that site on a touchscreen phone.</a:t>
            </a:r>
          </a:p>
          <a:p>
            <a:pPr algn="l">
              <a:buFont typeface="+mj-lt"/>
              <a:buAutoNum type="arabicPeriod"/>
            </a:pPr>
            <a:r>
              <a:rPr lang="en-GB" b="1" i="0" dirty="0">
                <a:solidFill>
                  <a:srgbClr val="333333"/>
                </a:solidFill>
                <a:effectLst/>
                <a:latin typeface="Arial" panose="020B0604020202020204" pitchFamily="34" charset="0"/>
              </a:rPr>
              <a:t>Internal validity: </a:t>
            </a:r>
            <a:r>
              <a:rPr lang="en-GB" b="0" i="0" dirty="0">
                <a:solidFill>
                  <a:srgbClr val="333333"/>
                </a:solidFill>
                <a:effectLst/>
                <a:latin typeface="Arial" panose="020B0604020202020204" pitchFamily="34" charset="0"/>
              </a:rPr>
              <a:t>the experiment setup does not </a:t>
            </a:r>
            <a:r>
              <a:rPr lang="en-GB" b="0" i="0" dirty="0" err="1">
                <a:solidFill>
                  <a:srgbClr val="333333"/>
                </a:solidFill>
                <a:effectLst/>
                <a:latin typeface="Arial" panose="020B0604020202020204" pitchFamily="34" charset="0"/>
              </a:rPr>
              <a:t>favor</a:t>
            </a:r>
            <a:r>
              <a:rPr lang="en-GB" b="0" i="0" dirty="0">
                <a:solidFill>
                  <a:srgbClr val="333333"/>
                </a:solidFill>
                <a:effectLst/>
                <a:latin typeface="Arial" panose="020B0604020202020204" pitchFamily="34" charset="0"/>
              </a:rPr>
              <a:t> any one condition. For example, if design A is tested in the morning and design B is tested in the afternoon, it is possible that fatigue play a role in how participants use design B.</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21</a:t>
            </a:fld>
            <a:endParaRPr lang="en-US"/>
          </a:p>
        </p:txBody>
      </p:sp>
    </p:spTree>
    <p:extLst>
      <p:ext uri="{BB962C8B-B14F-4D97-AF65-F5344CB8AC3E}">
        <p14:creationId xmlns:p14="http://schemas.microsoft.com/office/powerpoint/2010/main" val="129565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Arial" panose="020B0604020202020204" pitchFamily="34" charset="0"/>
              </a:rPr>
              <a:t>The first and third stage of the iterative design cycle are summative — they are intended to provide an overall assessment of a design. In these steps </a:t>
            </a:r>
            <a:r>
              <a:rPr lang="en-GB" b="1" i="0" dirty="0">
                <a:solidFill>
                  <a:srgbClr val="333333"/>
                </a:solidFill>
                <a:effectLst/>
                <a:latin typeface="Arial" panose="020B0604020202020204" pitchFamily="34" charset="0"/>
              </a:rPr>
              <a:t>both qual and quant </a:t>
            </a:r>
            <a:r>
              <a:rPr lang="en-GB" b="0" i="0" dirty="0">
                <a:solidFill>
                  <a:srgbClr val="333333"/>
                </a:solidFill>
                <a:effectLst/>
                <a:latin typeface="Arial" panose="020B0604020202020204" pitchFamily="34" charset="0"/>
              </a:rPr>
              <a:t>research methods (or combinations such as PURE) can be used to evaluate the design. </a:t>
            </a:r>
          </a:p>
          <a:p>
            <a:pPr algn="l"/>
            <a:endParaRPr lang="en-GB" b="0" i="0" dirty="0">
              <a:solidFill>
                <a:srgbClr val="333333"/>
              </a:solidFill>
              <a:effectLst/>
              <a:latin typeface="Arial" panose="020B0604020202020204" pitchFamily="34" charset="0"/>
            </a:endParaRPr>
          </a:p>
          <a:p>
            <a:pPr algn="l"/>
            <a:r>
              <a:rPr lang="en-GB" b="0" i="0" dirty="0">
                <a:solidFill>
                  <a:srgbClr val="333333"/>
                </a:solidFill>
                <a:effectLst/>
                <a:latin typeface="Arial" panose="020B0604020202020204" pitchFamily="34" charset="0"/>
              </a:rPr>
              <a:t>However, when the goal is to link the entire redesign effort to actual financial savings or explicitly figure out how much the redesign has improved, </a:t>
            </a:r>
            <a:r>
              <a:rPr lang="en-GB" b="1" i="0" dirty="0">
                <a:solidFill>
                  <a:srgbClr val="333333"/>
                </a:solidFill>
                <a:effectLst/>
                <a:latin typeface="Arial" panose="020B0604020202020204" pitchFamily="34" charset="0"/>
              </a:rPr>
              <a:t>quant</a:t>
            </a:r>
            <a:r>
              <a:rPr lang="en-GB" b="0" i="0" dirty="0">
                <a:solidFill>
                  <a:srgbClr val="333333"/>
                </a:solidFill>
                <a:effectLst/>
                <a:latin typeface="Arial" panose="020B0604020202020204" pitchFamily="34" charset="0"/>
              </a:rPr>
              <a:t> studies must be used. </a:t>
            </a:r>
          </a:p>
          <a:p>
            <a:pPr algn="l"/>
            <a:endParaRPr lang="en-GB" b="0" i="0" dirty="0">
              <a:solidFill>
                <a:srgbClr val="333333"/>
              </a:solidFill>
              <a:effectLst/>
              <a:latin typeface="Arial" panose="020B0604020202020204" pitchFamily="34" charset="0"/>
            </a:endParaRPr>
          </a:p>
          <a:p>
            <a:pPr algn="l"/>
            <a:r>
              <a:rPr lang="en-GB" b="0" i="0" dirty="0">
                <a:solidFill>
                  <a:srgbClr val="333333"/>
                </a:solidFill>
                <a:effectLst/>
                <a:latin typeface="Arial" panose="020B0604020202020204" pitchFamily="34" charset="0"/>
              </a:rPr>
              <a:t>During the redesign stage, user research has a formative role: it is meant to inform the design and steer it on the right path. In this phase, designers and researchers need to get user data relatively quickly and cheaply in order to be able to choose among different design alternatives and create a usable UI. At this stage, </a:t>
            </a:r>
            <a:r>
              <a:rPr lang="en-GB" b="1" i="0" dirty="0">
                <a:solidFill>
                  <a:srgbClr val="333333"/>
                </a:solidFill>
                <a:effectLst/>
                <a:latin typeface="Arial" panose="020B0604020202020204" pitchFamily="34" charset="0"/>
              </a:rPr>
              <a:t>qual</a:t>
            </a:r>
            <a:r>
              <a:rPr lang="en-GB" b="0" i="0" dirty="0">
                <a:solidFill>
                  <a:srgbClr val="333333"/>
                </a:solidFill>
                <a:effectLst/>
                <a:latin typeface="Arial" panose="020B0604020202020204" pitchFamily="34" charset="0"/>
              </a:rPr>
              <a:t> studies are usually the most appropriate. </a:t>
            </a:r>
          </a:p>
          <a:p>
            <a:pPr algn="l"/>
            <a:r>
              <a:rPr lang="en-GB" b="0" i="0" dirty="0">
                <a:solidFill>
                  <a:srgbClr val="333333"/>
                </a:solidFill>
                <a:effectLst/>
                <a:latin typeface="Arial" panose="020B0604020202020204" pitchFamily="34" charset="0"/>
              </a:rPr>
              <a:t>We know that, with </a:t>
            </a:r>
            <a:r>
              <a:rPr lang="en-GB" b="1" i="0" dirty="0">
                <a:solidFill>
                  <a:srgbClr val="333333"/>
                </a:solidFill>
                <a:effectLst/>
                <a:latin typeface="Arial" panose="020B0604020202020204" pitchFamily="34" charset="0"/>
              </a:rPr>
              <a:t>5 users, a qualitative study is likely to uncover 85% of the usability problems </a:t>
            </a:r>
            <a:r>
              <a:rPr lang="en-GB" b="0" i="0" dirty="0">
                <a:solidFill>
                  <a:srgbClr val="333333"/>
                </a:solidFill>
                <a:effectLst/>
                <a:latin typeface="Arial" panose="020B0604020202020204" pitchFamily="34" charset="0"/>
              </a:rPr>
              <a:t>in a design (provided that the design is not already close to being perfect), so, in the redesign step, it makes sense to run one quick study with a few users, determine the big issues, fix them, and then test the new version again with another small set of users.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22</a:t>
            </a:fld>
            <a:endParaRPr lang="en-US"/>
          </a:p>
        </p:txBody>
      </p:sp>
    </p:spTree>
    <p:extLst>
      <p:ext uri="{BB962C8B-B14F-4D97-AF65-F5344CB8AC3E}">
        <p14:creationId xmlns:p14="http://schemas.microsoft.com/office/powerpoint/2010/main" val="1755199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dirty="0">
                <a:solidFill>
                  <a:srgbClr val="333333"/>
                </a:solidFill>
                <a:effectLst/>
                <a:latin typeface="Arial" panose="020B0604020202020204" pitchFamily="34" charset="0"/>
              </a:rPr>
              <a:t>External validity</a:t>
            </a:r>
            <a:r>
              <a:rPr lang="en-GB" b="0" i="0" dirty="0">
                <a:solidFill>
                  <a:srgbClr val="333333"/>
                </a:solidFill>
                <a:effectLst/>
                <a:latin typeface="Arial" panose="020B0604020202020204" pitchFamily="34" charset="0"/>
              </a:rPr>
              <a:t>: participants are representative of the target audience and the study conditions reflect how the task is done in the wild. For instance, testing a mobile site on a desktop simulator lacks external validity because people would normally use that site on a touchscreen phone.</a:t>
            </a:r>
          </a:p>
          <a:p>
            <a:pPr algn="l">
              <a:buFont typeface="+mj-lt"/>
              <a:buAutoNum type="arabicPeriod"/>
            </a:pPr>
            <a:endParaRPr lang="en-GB" b="0" i="0" dirty="0">
              <a:solidFill>
                <a:srgbClr val="333333"/>
              </a:solidFill>
              <a:effectLst/>
              <a:latin typeface="Arial" panose="020B0604020202020204" pitchFamily="34" charset="0"/>
            </a:endParaRPr>
          </a:p>
          <a:p>
            <a:pPr algn="l">
              <a:buFont typeface="+mj-lt"/>
              <a:buAutoNum type="arabicPeriod"/>
            </a:pPr>
            <a:r>
              <a:rPr lang="en-GB" b="1" i="0" dirty="0">
                <a:solidFill>
                  <a:srgbClr val="333333"/>
                </a:solidFill>
                <a:effectLst/>
                <a:latin typeface="Arial" panose="020B0604020202020204" pitchFamily="34" charset="0"/>
              </a:rPr>
              <a:t>Internal validity: </a:t>
            </a:r>
            <a:r>
              <a:rPr lang="en-GB" b="0" i="0" dirty="0">
                <a:solidFill>
                  <a:srgbClr val="333333"/>
                </a:solidFill>
                <a:effectLst/>
                <a:latin typeface="Arial" panose="020B0604020202020204" pitchFamily="34" charset="0"/>
              </a:rPr>
              <a:t>the experiment setup does not favour any one condition. For example, if design A is tested in the morning and design B is tested in the afternoon, it is possible that fatigue play a role in how participants use design B.</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23</a:t>
            </a:fld>
            <a:endParaRPr lang="en-US"/>
          </a:p>
        </p:txBody>
      </p:sp>
    </p:spTree>
    <p:extLst>
      <p:ext uri="{BB962C8B-B14F-4D97-AF65-F5344CB8AC3E}">
        <p14:creationId xmlns:p14="http://schemas.microsoft.com/office/powerpoint/2010/main" val="12167056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effectLst/>
                <a:latin typeface="Ambit"/>
              </a:rPr>
              <a:t>Remote usability tests are done over the internet or by phone</a:t>
            </a:r>
            <a:r>
              <a:rPr lang="en-GB" b="0" i="0" dirty="0">
                <a:effectLst/>
                <a:latin typeface="Ambit"/>
              </a:rPr>
              <a:t>; in-person testing, as the name suggests, requires the test to be </a:t>
            </a:r>
            <a:r>
              <a:rPr lang="en-GB" b="1" i="0" dirty="0">
                <a:effectLst/>
                <a:latin typeface="Ambit"/>
              </a:rPr>
              <a:t>completed in the physical presence of a UX researcher/moderator</a:t>
            </a:r>
            <a:r>
              <a:rPr lang="en-GB" b="0" i="0" dirty="0">
                <a:effectLst/>
                <a:latin typeface="Ambit"/>
              </a:rPr>
              <a:t>.</a:t>
            </a:r>
          </a:p>
          <a:p>
            <a:pPr algn="l"/>
            <a:r>
              <a:rPr lang="en-GB" b="0" i="0" dirty="0">
                <a:effectLst/>
                <a:latin typeface="Ambit"/>
              </a:rPr>
              <a:t>Compared to remote tests, in-person tests provide extra data points, since researchers can observe and </a:t>
            </a:r>
            <a:r>
              <a:rPr lang="en-GB" b="0" i="0" dirty="0" err="1">
                <a:effectLst/>
                <a:latin typeface="Ambit"/>
              </a:rPr>
              <a:t>analyze</a:t>
            </a:r>
            <a:r>
              <a:rPr lang="en-GB" b="0" i="0" dirty="0">
                <a:effectLst/>
                <a:latin typeface="Ambit"/>
              </a:rPr>
              <a:t> body language and facial expressions. However, in-person testing is usually expensive and time-consuming: you have to find a suitable space, block out a specific date, and recruit (and pay) participants.</a:t>
            </a:r>
          </a:p>
          <a:p>
            <a:pPr algn="l"/>
            <a:r>
              <a:rPr lang="en-GB" b="0" i="0" dirty="0">
                <a:effectLst/>
                <a:latin typeface="Ambit"/>
              </a:rPr>
              <a:t>Remote testing doesn’t go as deep into a participant’s reasoning, but it allows you to test large numbers of people in different geographical areas using fewer resources.</a:t>
            </a:r>
          </a:p>
          <a:p>
            <a:pPr marL="0" indent="0">
              <a:buFontTx/>
              <a:buNone/>
            </a:pPr>
            <a:endParaRPr lang="en-GB" b="0" i="0" dirty="0">
              <a:effectLst/>
              <a:latin typeface="-apple-system"/>
            </a:endParaRPr>
          </a:p>
          <a:p>
            <a:pPr marL="0" indent="0">
              <a:buFontTx/>
              <a:buNone/>
            </a:pPr>
            <a:r>
              <a:rPr lang="en-GB" b="0" i="0" dirty="0">
                <a:effectLst/>
                <a:latin typeface="-apple-system"/>
              </a:rPr>
              <a:t>Remote or in-person testing. What method is better? Well, this depends on several factors. </a:t>
            </a:r>
          </a:p>
          <a:p>
            <a:pPr marL="0" indent="0">
              <a:buFontTx/>
              <a:buNone/>
            </a:pPr>
            <a:endParaRPr lang="en-GB" b="0" i="0" dirty="0">
              <a:effectLst/>
              <a:latin typeface="-apple-system"/>
            </a:endParaRPr>
          </a:p>
          <a:p>
            <a:pPr marL="171450" indent="-171450">
              <a:buFontTx/>
              <a:buChar char="-"/>
            </a:pPr>
            <a:r>
              <a:rPr lang="en-GB" b="0" i="0" dirty="0">
                <a:effectLst/>
                <a:latin typeface="-apple-system"/>
              </a:rPr>
              <a:t>One, does the method of testing you're using benefit more from remote or in-person? </a:t>
            </a:r>
          </a:p>
          <a:p>
            <a:pPr marL="171450" indent="-171450">
              <a:buFontTx/>
              <a:buChar char="-"/>
            </a:pPr>
            <a:endParaRPr lang="en-GB" b="0" i="0" dirty="0">
              <a:effectLst/>
              <a:latin typeface="-apple-system"/>
            </a:endParaRPr>
          </a:p>
          <a:p>
            <a:pPr marL="171450" indent="-171450">
              <a:buFontTx/>
              <a:buChar char="-"/>
            </a:pPr>
            <a:r>
              <a:rPr lang="en-GB" b="0" i="0" dirty="0">
                <a:effectLst/>
                <a:latin typeface="-apple-system"/>
              </a:rPr>
              <a:t>Two, could the context, setting, and environment play an important factor in what you learn? </a:t>
            </a:r>
          </a:p>
          <a:p>
            <a:pPr marL="171450" indent="-171450">
              <a:buFontTx/>
              <a:buChar char="-"/>
            </a:pPr>
            <a:endParaRPr lang="en-GB" b="0" i="0" dirty="0">
              <a:effectLst/>
              <a:latin typeface="-apple-system"/>
            </a:endParaRPr>
          </a:p>
          <a:p>
            <a:pPr marL="0" indent="0">
              <a:buFontTx/>
              <a:buNone/>
            </a:pPr>
            <a:r>
              <a:rPr lang="en-GB" b="0" i="0" dirty="0">
                <a:effectLst/>
                <a:latin typeface="-apple-system"/>
              </a:rPr>
              <a:t>In the example of a study of a cyber </a:t>
            </a:r>
            <a:r>
              <a:rPr lang="en-GB" b="0" i="0" dirty="0" err="1">
                <a:effectLst/>
                <a:latin typeface="-apple-system"/>
              </a:rPr>
              <a:t>defense</a:t>
            </a:r>
            <a:r>
              <a:rPr lang="en-GB" b="0" i="0" dirty="0">
                <a:effectLst/>
                <a:latin typeface="-apple-system"/>
              </a:rPr>
              <a:t> program, it was very difficult to get access to the military and government professionals that would be our users. It was even harder to gain access on-site due to security and privacy. To make matters even more challenging, we were limited to recording pictures, video, or sound. Sometimes it was off-limits completely. Had we given up, so to speak, and figured out how to perform them remotely, we would have missed several important discoveries. The fancy equipment we see on TV in the movies is rare. </a:t>
            </a:r>
            <a:r>
              <a:rPr lang="en-GB" b="0" i="0" u="sng" dirty="0">
                <a:solidFill>
                  <a:srgbClr val="000000"/>
                </a:solidFill>
                <a:effectLst/>
                <a:latin typeface="-apple-system"/>
              </a:rPr>
              <a:t>Rather, the norm is small, low resolution laptop screens </a:t>
            </a:r>
            <a:r>
              <a:rPr lang="en-GB" b="0" i="0" dirty="0">
                <a:effectLst/>
                <a:latin typeface="-apple-system"/>
              </a:rPr>
              <a:t>and rooms lit by bad overhead fluorescent lights. These observations, environmental factors, and technology limits we discovered profoundly reshaped how we thought about typography, </a:t>
            </a:r>
            <a:r>
              <a:rPr lang="en-GB" b="0" i="0" dirty="0" err="1">
                <a:effectLst/>
                <a:latin typeface="-apple-system"/>
              </a:rPr>
              <a:t>color</a:t>
            </a:r>
            <a:r>
              <a:rPr lang="en-GB" b="0" i="0" dirty="0">
                <a:effectLst/>
                <a:latin typeface="-apple-system"/>
              </a:rPr>
              <a:t>, contrast in interactions within the UI.</a:t>
            </a:r>
          </a:p>
          <a:p>
            <a:pPr marL="0" indent="0">
              <a:buFontTx/>
              <a:buNone/>
            </a:pPr>
            <a:endParaRPr lang="en-GB" b="0" i="0" dirty="0">
              <a:effectLst/>
              <a:latin typeface="-apple-system"/>
            </a:endParaRPr>
          </a:p>
          <a:p>
            <a:pPr marL="0" indent="0">
              <a:buFontTx/>
              <a:buNone/>
            </a:pPr>
            <a:r>
              <a:rPr lang="en-GB" b="0" i="0" dirty="0">
                <a:effectLst/>
                <a:latin typeface="-apple-system"/>
              </a:rPr>
              <a:t>In the past, remote observation was extremely limited. Much of it was simply a lack of access to a computer, camera, microphone, and a high-speed internet connection. Some of it was limitations as to what we could see, such as their face, body language, and screen activity. Today, many people have computers, and even our mobile phones have sophisticated cameras and microphones. Plus many of us have a high-speed internet connection. In addition to that, there are platforms and technologies designed for remote user testing. Some of these even have integrated services for surveying and recruiting participants.</a:t>
            </a:r>
          </a:p>
          <a:p>
            <a:pPr marL="0" indent="0">
              <a:buFontTx/>
              <a:buNone/>
            </a:pPr>
            <a:endParaRPr lang="en-GB" b="0" i="0" dirty="0">
              <a:effectLst/>
              <a:latin typeface="-apple-system"/>
            </a:endParaRPr>
          </a:p>
          <a:p>
            <a:pPr marL="0" indent="0">
              <a:buFontTx/>
              <a:buNone/>
            </a:pPr>
            <a:r>
              <a:rPr lang="en-GB" b="0" i="0" dirty="0">
                <a:effectLst/>
                <a:latin typeface="-apple-system"/>
              </a:rPr>
              <a:t>Today you have to worry less about remote or in-person due to technical constraints. Rather, consider whether the method of testing you are using benefits from being remote or in-person. Then examine your goals, what you hope to learn, to determine if context, setting, and environment may be an important factor. If those appear unimportant, make sure you have a firm grasp on what those environmental factors are before proceeding without that knowledge and guidance.</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24</a:t>
            </a:fld>
            <a:endParaRPr lang="en-US"/>
          </a:p>
        </p:txBody>
      </p:sp>
    </p:spTree>
    <p:extLst>
      <p:ext uri="{BB962C8B-B14F-4D97-AF65-F5344CB8AC3E}">
        <p14:creationId xmlns:p14="http://schemas.microsoft.com/office/powerpoint/2010/main" val="3171284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effectLst/>
                <a:latin typeface="Ambit"/>
              </a:rPr>
              <a:t>A moderated testing session is administered in person or remotely by a trained researcher</a:t>
            </a:r>
            <a:r>
              <a:rPr lang="en-GB" b="0" i="0" dirty="0">
                <a:effectLst/>
                <a:latin typeface="Ambit"/>
              </a:rPr>
              <a:t> who introduces the test to participants, answers their queries, and asks follow-up questions. Conversely, </a:t>
            </a:r>
            <a:r>
              <a:rPr lang="en-GB" b="1" i="0" dirty="0">
                <a:effectLst/>
                <a:latin typeface="Ambit"/>
              </a:rPr>
              <a:t>an unmoderated test is done without direct supervision</a:t>
            </a:r>
            <a:r>
              <a:rPr lang="en-GB" b="0" i="0" dirty="0">
                <a:effectLst/>
                <a:latin typeface="Ambit"/>
              </a:rPr>
              <a:t>; participants might be in a lab, but it's more likely they are in their own homes and/or using their own devices to browse the website that is being tested.</a:t>
            </a:r>
          </a:p>
          <a:p>
            <a:pPr algn="l"/>
            <a:r>
              <a:rPr lang="en-GB" b="0" i="0" dirty="0">
                <a:effectLst/>
                <a:latin typeface="Ambit"/>
              </a:rPr>
              <a:t>Moderated testing usually produces in-depth results thanks to the direct interaction between researchers and test participants, but can be expensive to organize and run (e.g., securing a lab, hiring a trained researcher, and/or providing compensation for the participants). The cost of unmoderated testing is lower, though participant answers can remain superficial and follow-up questions are impossible.</a:t>
            </a:r>
          </a:p>
          <a:p>
            <a:pPr algn="l"/>
            <a:r>
              <a:rPr lang="en-GB" b="0" i="0" dirty="0">
                <a:effectLst/>
                <a:latin typeface="Ambit"/>
              </a:rPr>
              <a:t>As a general rule of thumb, use moderated testing to </a:t>
            </a:r>
            <a:r>
              <a:rPr lang="en-GB" b="1" i="0" dirty="0">
                <a:effectLst/>
                <a:latin typeface="Ambit"/>
              </a:rPr>
              <a:t>investigate the reasoning behind</a:t>
            </a:r>
            <a:r>
              <a:rPr lang="en-GB" b="0" i="0" dirty="0">
                <a:effectLst/>
                <a:latin typeface="Ambit"/>
              </a:rPr>
              <a:t> </a:t>
            </a:r>
            <a:r>
              <a:rPr lang="en-GB" b="1" i="0" u="sng" dirty="0">
                <a:effectLst/>
                <a:latin typeface="Ambit"/>
                <a:hlinkClick r:id="rId3"/>
              </a:rPr>
              <a:t>user </a:t>
            </a:r>
            <a:r>
              <a:rPr lang="en-GB" b="1" i="0" u="sng" dirty="0" err="1">
                <a:effectLst/>
                <a:latin typeface="Ambit"/>
                <a:hlinkClick r:id="rId3"/>
              </a:rPr>
              <a:t>behavior</a:t>
            </a:r>
            <a:r>
              <a:rPr lang="en-GB" b="0" i="0" dirty="0">
                <a:effectLst/>
                <a:latin typeface="Ambit"/>
              </a:rPr>
              <a:t>, and unmoderated testing to </a:t>
            </a:r>
            <a:r>
              <a:rPr lang="en-GB" b="1" i="0" dirty="0">
                <a:effectLst/>
                <a:latin typeface="Ambit"/>
              </a:rPr>
              <a:t>test a very specific question or observe and measure </a:t>
            </a:r>
            <a:r>
              <a:rPr lang="en-GB" b="1" i="0" dirty="0" err="1">
                <a:effectLst/>
                <a:latin typeface="Ambit"/>
              </a:rPr>
              <a:t>behavior</a:t>
            </a:r>
            <a:r>
              <a:rPr lang="en-GB" b="1" i="0" dirty="0">
                <a:effectLst/>
                <a:latin typeface="Ambit"/>
              </a:rPr>
              <a:t> patterns</a:t>
            </a:r>
            <a:r>
              <a:rPr lang="en-GB" b="0" i="0" dirty="0">
                <a:effectLst/>
                <a:latin typeface="Ambit"/>
              </a:rPr>
              <a: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Moderated or unmoderated testing, what method is better? Well, this depends on several factors.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One, does the method of testing you're using benefit more from moderated or unmoderated?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Two, does the ability to moderate the testing play an important factor in what you learn?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Sometimes, moderating the testing seems unimportant to what you may learn from unmoderated observation.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When you moderate testing, you are there or someone else to facilitate the testing. You use the same exact format with everyone, but you use a moderator's guide to ask questions and probe deeper depending on the response of the individual participants. When you're not there, we call it unmoderated.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Common forms of unmoderated testing methods are contextual inquiries, usability testing, and participatory design. These methods are performed much like an interview or a live test where it is important that the participants are guided through the activity, and you can ask further questions as necessary. An example of a strategy for moderated testing involves asking them why five times. It's a common way in business as well to get down to the root problem or cause.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A user survey is a kind of testing that's often unmoderated. It's essentially a form that the participants fill out on their own.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Another methodology that can be performed unmoderated is a card sort. A card sorts a user research method in which study participants group individual labels written on note cards or using a web tool or app according to the criteria that makes sense to them. Okay, imagine you're using a card sort as your testing method, and you're trying to learn how people organize their music. You want to see how they think about songs, albums, artists, bands, genres, playlists, and so on. You're hoping to understand how people mentally organize and process their music collections as well as how they categorize while consuming them. In an unmoderated and a moderated card sort, you'll get to see the results of how each individual sorts and groups the cards. And you can use those outcomes to compare and contrast and even create groups of like sorts. But what might you gain by moderating and lose by, well, not being there to guide them? By moderating, you gain what I like to call the in-betweens, meaning all those moments before they come up with the final grouping. All those thoughts is they rethink or change their minds. When you're there, you can notice those and politely stop and ask them what they are thinking and why they might be changing something. Perhaps they actually have two ways both of which they prefer for different reasons and situations. Wouldn't it be great to know that? To have that understanding in some cases can be crucial to designing the perfect solution. For example, maybe you find that when listening to well-known music, most people group their music by song title, while unknown music is more often organized by artist and album. See how knowing and understanding why people do that could help you design a solution that pleases both types of organization, thereby creating a more encompassing solution. </a:t>
            </a:r>
          </a:p>
          <a:p>
            <a:pPr marL="0" indent="0">
              <a:buFontTx/>
              <a:buNone/>
            </a:pP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25</a:t>
            </a:fld>
            <a:endParaRPr lang="en-US"/>
          </a:p>
        </p:txBody>
      </p:sp>
    </p:spTree>
    <p:extLst>
      <p:ext uri="{BB962C8B-B14F-4D97-AF65-F5344CB8AC3E}">
        <p14:creationId xmlns:p14="http://schemas.microsoft.com/office/powerpoint/2010/main" val="3887758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effectLst/>
                <a:latin typeface="Ambit"/>
              </a:rPr>
              <a:t>A moderated testing session is administered in person or remotely by a trained researcher</a:t>
            </a:r>
            <a:r>
              <a:rPr lang="en-GB" b="0" i="0" dirty="0">
                <a:effectLst/>
                <a:latin typeface="Ambit"/>
              </a:rPr>
              <a:t> who introduces the test to participants, answers their queries, and asks follow-up questions. Conversely, </a:t>
            </a:r>
            <a:r>
              <a:rPr lang="en-GB" b="1" i="0" dirty="0">
                <a:effectLst/>
                <a:latin typeface="Ambit"/>
              </a:rPr>
              <a:t>an unmoderated test is done without direct supervision</a:t>
            </a:r>
            <a:r>
              <a:rPr lang="en-GB" b="0" i="0" dirty="0">
                <a:effectLst/>
                <a:latin typeface="Ambit"/>
              </a:rPr>
              <a:t>; participants might be in a lab, but it's more likely they are in their own homes and/or using their own devices to browse the website that is being tested.</a:t>
            </a:r>
          </a:p>
          <a:p>
            <a:pPr algn="l"/>
            <a:r>
              <a:rPr lang="en-GB" b="0" i="0" dirty="0">
                <a:effectLst/>
                <a:latin typeface="Ambit"/>
              </a:rPr>
              <a:t>Moderated testing usually produces in-depth results thanks to the direct interaction between researchers and test participants, but can be expensive to organize and run (e.g., securing a lab, hiring a trained researcher, and/or providing compensation for the participants). The cost of unmoderated testing is lower, though participant answers can remain superficial and follow-up questions are impossible.</a:t>
            </a:r>
          </a:p>
          <a:p>
            <a:pPr algn="l"/>
            <a:r>
              <a:rPr lang="en-GB" b="0" i="0" dirty="0">
                <a:effectLst/>
                <a:latin typeface="Ambit"/>
              </a:rPr>
              <a:t>As a general rule of thumb, use moderated testing to </a:t>
            </a:r>
            <a:r>
              <a:rPr lang="en-GB" b="1" i="0" dirty="0">
                <a:effectLst/>
                <a:latin typeface="Ambit"/>
              </a:rPr>
              <a:t>investigate the reasoning behind</a:t>
            </a:r>
            <a:r>
              <a:rPr lang="en-GB" b="0" i="0" dirty="0">
                <a:effectLst/>
                <a:latin typeface="Ambit"/>
              </a:rPr>
              <a:t> </a:t>
            </a:r>
            <a:r>
              <a:rPr lang="en-GB" b="1" i="0" u="sng" dirty="0">
                <a:effectLst/>
                <a:latin typeface="Ambit"/>
                <a:hlinkClick r:id="rId3"/>
              </a:rPr>
              <a:t>user </a:t>
            </a:r>
            <a:r>
              <a:rPr lang="en-GB" b="1" i="0" u="sng" dirty="0" err="1">
                <a:effectLst/>
                <a:latin typeface="Ambit"/>
                <a:hlinkClick r:id="rId3"/>
              </a:rPr>
              <a:t>behavior</a:t>
            </a:r>
            <a:r>
              <a:rPr lang="en-GB" b="0" i="0" dirty="0">
                <a:effectLst/>
                <a:latin typeface="Ambit"/>
              </a:rPr>
              <a:t>, and unmoderated testing to </a:t>
            </a:r>
            <a:r>
              <a:rPr lang="en-GB" b="1" i="0" dirty="0">
                <a:effectLst/>
                <a:latin typeface="Ambit"/>
              </a:rPr>
              <a:t>test a very specific question or observe and measure </a:t>
            </a:r>
            <a:r>
              <a:rPr lang="en-GB" b="1" i="0" dirty="0" err="1">
                <a:effectLst/>
                <a:latin typeface="Ambit"/>
              </a:rPr>
              <a:t>behavior</a:t>
            </a:r>
            <a:r>
              <a:rPr lang="en-GB" b="1" i="0" dirty="0">
                <a:effectLst/>
                <a:latin typeface="Ambit"/>
              </a:rPr>
              <a:t> patterns</a:t>
            </a:r>
            <a:r>
              <a:rPr lang="en-GB" b="0" i="0" dirty="0">
                <a:effectLst/>
                <a:latin typeface="Ambit"/>
              </a:rPr>
              <a: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Moderated or unmoderated testing, what method is better? Well, this depends on several factors.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One, does the method of testing you're using benefit more from moderated or unmoderated?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Two, does the ability to moderate the testing play an important factor in what you learn?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Sometimes, moderating the testing seems unimportant to what you may learn from unmoderated observation.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When you moderate testing, you are there or someone else to facilitate the testing. You use the same exact format with everyone, but you use a moderator's guide to ask questions and probe deeper depending on the response of the individual participants. When you're not there, we call it unmoderated.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Common forms of unmoderated testing methods are contextual inquiries, usability testing, and participatory design. These methods are performed much like an interview or a live test where it is important that the participants are guided through the activity, and you can ask further questions as necessary. An example of a strategy for moderated testing involves asking them why five times. It's a common way in business as well to get down to the root problem or cause.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i="0" dirty="0">
              <a:effectLst/>
              <a:latin typeface="-apple-system"/>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A user survey is a kind of testing that's often unmoderated. It's essentially a form that the participants fill out on their own.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Another methodology that can be performed unmoderated is a card sort. A card sorts a user research method in which study participants group individual labels written on note cards or using a web tool or app according to the criteria that makes sense to them. Okay, imagine you're using a card sort as your testing method, and you're trying to learn how people organize their music. You want to see how they think about songs, albums, artists, bands, genres, playlists, and so on. You're hoping to understand how people mentally organize and process their music collections as well as how they categorize while consuming them. In an unmoderated and a moderated card sort, you'll get to see the results of how each individual sorts and groups the cards. And you can use those outcomes to compare and contrast and even create groups of like sorts. But what might you gain by moderating and lose by, well, not being there to guide them? By moderating, you gain what I like to call the in-betweens, meaning all those moments before they come up with the final grouping. All those thoughts is they rethink or change their minds. When you're there, you can notice those and politely stop and ask them what they are thinking and why they might be changing something. Perhaps they actually have two ways both of which they prefer for different reasons and situations. Wouldn't it be great to know that? To have that understanding in some cases can be crucial to designing the perfect solution. For example, maybe you find that when listening to well-known music, most people group their music by song title, while unknown music is more often organized by artist and album. See how knowing and understanding why people do that could help you design a solution that pleases both types of organization, thereby creating a more encompassing solution. </a:t>
            </a:r>
          </a:p>
          <a:p>
            <a:pPr marL="0" indent="0">
              <a:buFontTx/>
              <a:buNone/>
            </a:pP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28</a:t>
            </a:fld>
            <a:endParaRPr lang="en-US"/>
          </a:p>
        </p:txBody>
      </p:sp>
    </p:spTree>
    <p:extLst>
      <p:ext uri="{BB962C8B-B14F-4D97-AF65-F5344CB8AC3E}">
        <p14:creationId xmlns:p14="http://schemas.microsoft.com/office/powerpoint/2010/main" val="23170050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effectLst/>
                <a:latin typeface="-apple-system"/>
              </a:rPr>
              <a:t>So whether you perform your testing moderated or unmoderated, although it comes down to several factors, it really boils down to two considerations. Does the method of testing you're using benefit more from moderated or unmoderated? Does the ability to moderate the testing play an important factor in what you learn? Understanding these </a:t>
            </a:r>
            <a:r>
              <a:rPr lang="en-GB" b="0" i="0" u="sng" dirty="0">
                <a:solidFill>
                  <a:srgbClr val="000000"/>
                </a:solidFill>
                <a:effectLst/>
                <a:latin typeface="-apple-system"/>
              </a:rPr>
              <a:t>and giving them some careful consideration </a:t>
            </a:r>
            <a:r>
              <a:rPr lang="en-GB" b="0" i="0" dirty="0">
                <a:effectLst/>
                <a:latin typeface="-apple-system"/>
              </a:rPr>
              <a:t>guides you towards selecting what will give you the most helpful knowledge and understanding of your customers. Knowing the trade-offs will lead you towards making the best decisions for the next steps.</a:t>
            </a:r>
            <a:endParaRPr lang="en-GB" dirty="0"/>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29</a:t>
            </a:fld>
            <a:endParaRPr lang="en-US"/>
          </a:p>
        </p:txBody>
      </p:sp>
    </p:spTree>
    <p:extLst>
      <p:ext uri="{BB962C8B-B14F-4D97-AF65-F5344CB8AC3E}">
        <p14:creationId xmlns:p14="http://schemas.microsoft.com/office/powerpoint/2010/main" val="5114393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Ambit"/>
              </a:rPr>
              <a:t>Each usability testing method gives answers to your research questions. The method you choose will depend on both your resources and your objectives.</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30</a:t>
            </a:fld>
            <a:endParaRPr lang="en-US"/>
          </a:p>
        </p:txBody>
      </p:sp>
    </p:spTree>
    <p:extLst>
      <p:ext uri="{BB962C8B-B14F-4D97-AF65-F5344CB8AC3E}">
        <p14:creationId xmlns:p14="http://schemas.microsoft.com/office/powerpoint/2010/main" val="296987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effectLst/>
                <a:latin typeface="Ambit"/>
              </a:rPr>
              <a:t>This type of usability research takes place </a:t>
            </a:r>
            <a:r>
              <a:rPr lang="en-GB" b="1" i="0" dirty="0">
                <a:effectLst/>
                <a:latin typeface="Ambit"/>
              </a:rPr>
              <a:t>inside a specially built usability testing lab</a:t>
            </a:r>
            <a:r>
              <a:rPr lang="en-GB" b="0" i="0" dirty="0">
                <a:effectLst/>
                <a:latin typeface="Ambit"/>
              </a:rPr>
              <a:t>. Test subjects complete tasks on computers/mobile devices while a trained moderator observes and asks questions. Typically, stakeholders also watch the proceedings and take notes behind a one-way mirror in the testing area.</a:t>
            </a:r>
          </a:p>
          <a:p>
            <a:pPr algn="l"/>
            <a:r>
              <a:rPr lang="en-GB" b="1" i="0" dirty="0">
                <a:effectLst/>
                <a:latin typeface="Ambit"/>
              </a:rPr>
              <a:t>A major benefit of lab usability testing is the control it provides</a:t>
            </a:r>
            <a:r>
              <a:rPr lang="en-GB" b="0" i="0" dirty="0">
                <a:effectLst/>
                <a:latin typeface="Ambit"/>
              </a:rPr>
              <a:t>: all sessions are run under the same standardized conditions, which makes it especially useful for comparison tests. However, these tests are expensive and usually based on a small population size (8-10 participants per research round) in a controlled environment, which is not necessarily reflective of your actual customer base and/or real-life use conditions.</a:t>
            </a:r>
          </a:p>
        </p:txBody>
      </p:sp>
      <p:sp>
        <p:nvSpPr>
          <p:cNvPr id="4" name="Slide Number Placeholder 3"/>
          <p:cNvSpPr>
            <a:spLocks noGrp="1"/>
          </p:cNvSpPr>
          <p:nvPr>
            <p:ph type="sldNum" sz="quarter" idx="5"/>
          </p:nvPr>
        </p:nvSpPr>
        <p:spPr/>
        <p:txBody>
          <a:bodyPr/>
          <a:lstStyle/>
          <a:p>
            <a:fld id="{3B225748-449B-4E6E-B2FD-9A517E5C9785}" type="slidenum">
              <a:rPr lang="en-US" smtClean="0"/>
              <a:pPr/>
              <a:t>31</a:t>
            </a:fld>
            <a:endParaRPr lang="en-US"/>
          </a:p>
        </p:txBody>
      </p:sp>
    </p:spTree>
    <p:extLst>
      <p:ext uri="{BB962C8B-B14F-4D97-AF65-F5344CB8AC3E}">
        <p14:creationId xmlns:p14="http://schemas.microsoft.com/office/powerpoint/2010/main" val="1924673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effectLst/>
                <a:latin typeface="Ambit"/>
              </a:rPr>
              <a:t>Guerrilla testing</a:t>
            </a:r>
          </a:p>
          <a:p>
            <a:pPr algn="l"/>
            <a:r>
              <a:rPr lang="en-GB" b="0" i="0" dirty="0">
                <a:effectLst/>
                <a:latin typeface="Ambit"/>
              </a:rPr>
              <a:t>In guerrilla testing, test </a:t>
            </a:r>
            <a:r>
              <a:rPr lang="en-GB" b="1" i="0" dirty="0">
                <a:effectLst/>
                <a:latin typeface="Ambit"/>
              </a:rPr>
              <a:t>subjects are chosen at random</a:t>
            </a:r>
            <a:r>
              <a:rPr lang="en-GB" b="0" i="0" dirty="0">
                <a:effectLst/>
                <a:latin typeface="Ambit"/>
              </a:rPr>
              <a:t> from a public place, usually a coffee shop, mall, or airport. They are asked to perform a quick usability test, often in exchange for a gift card or other incentive.</a:t>
            </a:r>
          </a:p>
          <a:p>
            <a:pPr algn="l"/>
            <a:r>
              <a:rPr lang="en-GB" b="0" i="0" dirty="0">
                <a:effectLst/>
                <a:latin typeface="Ambit"/>
              </a:rPr>
              <a:t>Guerrilla testing is used to test a wide cross-section of people who may have no history with a product. It's </a:t>
            </a:r>
            <a:r>
              <a:rPr lang="en-GB" b="1" i="0" dirty="0">
                <a:effectLst/>
                <a:latin typeface="Ambit"/>
              </a:rPr>
              <a:t>a quick way to collect large amounts of qualitative data</a:t>
            </a:r>
            <a:r>
              <a:rPr lang="en-GB" b="0" i="0" dirty="0">
                <a:effectLst/>
                <a:latin typeface="Ambit"/>
              </a:rPr>
              <a:t> that validate certain design elements or functionality—but it's not a good method for extensive testing or follow-ups, as people are usually reluctant or unable to give up more than 5-10 minutes of their time.</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32</a:t>
            </a:fld>
            <a:endParaRPr lang="en-US"/>
          </a:p>
        </p:txBody>
      </p:sp>
    </p:spTree>
    <p:extLst>
      <p:ext uri="{BB962C8B-B14F-4D97-AF65-F5344CB8AC3E}">
        <p14:creationId xmlns:p14="http://schemas.microsoft.com/office/powerpoint/2010/main" val="3808487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effectLst/>
                <a:latin typeface="Ambit"/>
              </a:rPr>
              <a:t># Phone interviews</a:t>
            </a:r>
          </a:p>
          <a:p>
            <a:pPr algn="l"/>
            <a:r>
              <a:rPr lang="en-GB" b="0" i="0" dirty="0">
                <a:effectLst/>
                <a:latin typeface="Ambit"/>
              </a:rPr>
              <a:t>In a phone usability test, a moderator verbally instructs participants to complete tasks on their computer and collects feedback while the user's electronic </a:t>
            </a:r>
            <a:r>
              <a:rPr lang="en-GB" b="0" i="0" dirty="0" err="1">
                <a:effectLst/>
                <a:latin typeface="Ambit"/>
              </a:rPr>
              <a:t>behavior</a:t>
            </a:r>
            <a:r>
              <a:rPr lang="en-GB" b="0" i="0" dirty="0">
                <a:effectLst/>
                <a:latin typeface="Ambit"/>
              </a:rPr>
              <a:t> is recorded remotely.</a:t>
            </a:r>
          </a:p>
          <a:p>
            <a:pPr algn="l"/>
            <a:r>
              <a:rPr lang="en-GB" b="0" i="0" dirty="0">
                <a:effectLst/>
                <a:latin typeface="Ambit"/>
              </a:rPr>
              <a:t>Phone interviews are </a:t>
            </a:r>
            <a:r>
              <a:rPr lang="en-GB" b="1" i="0" dirty="0">
                <a:effectLst/>
                <a:latin typeface="Ambit"/>
              </a:rPr>
              <a:t>an economical way to test users in a wide geographical area</a:t>
            </a:r>
            <a:r>
              <a:rPr lang="en-GB" b="0" i="0" dirty="0">
                <a:effectLst/>
                <a:latin typeface="Ambit"/>
              </a:rPr>
              <a:t>. Because they are less expensive than in-person interviews, they help collect more data in a shorter period.</a:t>
            </a:r>
          </a:p>
          <a:p>
            <a:pPr algn="l"/>
            <a:endParaRPr lang="en-GB" b="1" i="0" dirty="0">
              <a:effectLst/>
              <a:latin typeface="Ambit"/>
            </a:endParaRPr>
          </a:p>
          <a:p>
            <a:pPr algn="l"/>
            <a:r>
              <a:rPr lang="en-GB" b="1" i="0" dirty="0">
                <a:effectLst/>
                <a:latin typeface="Ambit"/>
              </a:rPr>
              <a:t># Card sorting</a:t>
            </a:r>
          </a:p>
          <a:p>
            <a:pPr algn="l"/>
            <a:r>
              <a:rPr lang="en-GB" b="0" i="0" u="sng" dirty="0">
                <a:effectLst/>
                <a:latin typeface="Ambit"/>
                <a:hlinkClick r:id="rId3"/>
              </a:rPr>
              <a:t>Card sorting</a:t>
            </a:r>
            <a:r>
              <a:rPr lang="en-GB" b="0" i="0" dirty="0">
                <a:effectLst/>
                <a:latin typeface="Ambit"/>
              </a:rPr>
              <a:t> involves placing concepts on virtual note cards and allowing participants to manipulate the cards into groups and categories. After they sort the cards, they explain their logic in a moderator-run debriefing session.</a:t>
            </a:r>
          </a:p>
          <a:p>
            <a:pPr algn="l"/>
            <a:r>
              <a:rPr lang="en-GB" b="0" i="0" dirty="0">
                <a:effectLst/>
                <a:latin typeface="Ambit"/>
              </a:rPr>
              <a:t>Card sorting is a great method for both new and existing websites to </a:t>
            </a:r>
            <a:r>
              <a:rPr lang="en-GB" b="1" i="0" dirty="0">
                <a:effectLst/>
                <a:latin typeface="Ambit"/>
              </a:rPr>
              <a:t>get feedback about layout and navigational structure</a:t>
            </a:r>
            <a:r>
              <a:rPr lang="en-GB" b="0" i="0" dirty="0">
                <a:effectLst/>
                <a:latin typeface="Ambit"/>
              </a:rPr>
              <a:t>. Its results show designers and </a:t>
            </a:r>
            <a:r>
              <a:rPr lang="en-GB" b="0" i="0" u="sng" dirty="0">
                <a:effectLst/>
                <a:latin typeface="Ambit"/>
                <a:hlinkClick r:id="rId4"/>
              </a:rPr>
              <a:t>product managers</a:t>
            </a:r>
            <a:r>
              <a:rPr lang="en-GB" b="0" i="0" dirty="0">
                <a:effectLst/>
                <a:latin typeface="Ambit"/>
              </a:rPr>
              <a:t> how people and potential customers naturally organize information, which can help make a site more intuitive to navigate.</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33</a:t>
            </a:fld>
            <a:endParaRPr lang="en-US"/>
          </a:p>
        </p:txBody>
      </p:sp>
    </p:spTree>
    <p:extLst>
      <p:ext uri="{BB962C8B-B14F-4D97-AF65-F5344CB8AC3E}">
        <p14:creationId xmlns:p14="http://schemas.microsoft.com/office/powerpoint/2010/main" val="1166266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sng" dirty="0">
                <a:effectLst/>
                <a:latin typeface="Ambit"/>
                <a:hlinkClick r:id="rId3"/>
              </a:rPr>
              <a:t>Session recordings</a:t>
            </a:r>
            <a:r>
              <a:rPr lang="en-GB" b="0" i="0" dirty="0">
                <a:effectLst/>
                <a:latin typeface="Ambit"/>
              </a:rPr>
              <a:t> use software to record the actions that real (but anonymized) people take on a website such as mouse clicks, movement, and scrolling. </a:t>
            </a:r>
            <a:r>
              <a:rPr lang="en-GB" b="1" i="0" dirty="0">
                <a:effectLst/>
                <a:latin typeface="Ambit"/>
              </a:rPr>
              <a:t>Session recordings are</a:t>
            </a:r>
            <a:r>
              <a:rPr lang="en-GB" b="0" i="0" dirty="0">
                <a:effectLst/>
                <a:latin typeface="Ambit"/>
              </a:rPr>
              <a:t> </a:t>
            </a:r>
            <a:r>
              <a:rPr lang="en-GB" b="1" i="0" dirty="0">
                <a:effectLst/>
                <a:latin typeface="Ambit"/>
              </a:rPr>
              <a:t>a fantastic way to spot major problems</a:t>
            </a:r>
            <a:r>
              <a:rPr lang="en-GB" b="0" i="0" dirty="0">
                <a:effectLst/>
                <a:latin typeface="Ambit"/>
              </a:rPr>
              <a:t> with a site's intended functionality, watch how people interact with its page elements such as menus and Calls-to-Action (CTAs), and see places where they stumble, </a:t>
            </a:r>
            <a:r>
              <a:rPr lang="en-GB" b="0" i="0" dirty="0" err="1">
                <a:effectLst/>
                <a:latin typeface="Ambit"/>
              </a:rPr>
              <a:t>u-turn</a:t>
            </a:r>
            <a:r>
              <a:rPr lang="en-GB" b="0" i="0" dirty="0">
                <a:effectLst/>
                <a:latin typeface="Ambit"/>
              </a:rPr>
              <a:t> (go back to a previous page quickly after landing on a new one), or completely leave.</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34</a:t>
            </a:fld>
            <a:endParaRPr lang="en-US"/>
          </a:p>
        </p:txBody>
      </p:sp>
    </p:spTree>
    <p:extLst>
      <p:ext uri="{BB962C8B-B14F-4D97-AF65-F5344CB8AC3E}">
        <p14:creationId xmlns:p14="http://schemas.microsoft.com/office/powerpoint/2010/main" val="30722542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effectLst/>
                <a:latin typeface="Ambit"/>
              </a:rPr>
              <a:t>In this sort of test, the researchers watch but don't participate, acting as a sort of ‘fly on the wall’ as participants run through a set of instructions in a lab. They may interject if a participant gets stuck, but otherwise, they remain quiet and concentrate on taking notes.</a:t>
            </a:r>
          </a:p>
          <a:p>
            <a:pPr algn="l"/>
            <a:r>
              <a:rPr lang="en-GB" b="0" i="0" dirty="0">
                <a:effectLst/>
                <a:latin typeface="Ambit"/>
              </a:rPr>
              <a:t>Observation testing allows researchers to </a:t>
            </a:r>
            <a:r>
              <a:rPr lang="en-GB" b="1" i="0" dirty="0">
                <a:effectLst/>
                <a:latin typeface="Ambit"/>
              </a:rPr>
              <a:t>see the body language and facial expressions of participants</a:t>
            </a:r>
            <a:r>
              <a:rPr lang="en-GB" b="0" i="0" dirty="0">
                <a:effectLst/>
                <a:latin typeface="Ambit"/>
              </a:rPr>
              <a:t> without interference from a moderator.</a:t>
            </a:r>
          </a:p>
          <a:p>
            <a:r>
              <a:rPr lang="en-GB" b="0" i="0" dirty="0">
                <a:effectLst/>
                <a:latin typeface="Ambit"/>
              </a:rPr>
              <a:t>where they stumble, </a:t>
            </a:r>
            <a:r>
              <a:rPr lang="en-GB" b="0" i="0" dirty="0" err="1">
                <a:effectLst/>
                <a:latin typeface="Ambit"/>
              </a:rPr>
              <a:t>u-turn</a:t>
            </a:r>
            <a:r>
              <a:rPr lang="en-GB" b="0" i="0" dirty="0">
                <a:effectLst/>
                <a:latin typeface="Ambit"/>
              </a:rPr>
              <a:t> (go back to a previous page quickly after landing on a new one), or completely leave.</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35</a:t>
            </a:fld>
            <a:endParaRPr lang="en-US"/>
          </a:p>
        </p:txBody>
      </p:sp>
    </p:spTree>
    <p:extLst>
      <p:ext uri="{BB962C8B-B14F-4D97-AF65-F5344CB8AC3E}">
        <p14:creationId xmlns:p14="http://schemas.microsoft.com/office/powerpoint/2010/main" val="678019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effectLst/>
                <a:latin typeface="Ambit"/>
              </a:rPr>
              <a:t>During </a:t>
            </a:r>
            <a:r>
              <a:rPr lang="en-GB" b="0" i="0" u="sng" dirty="0">
                <a:effectLst/>
                <a:latin typeface="Ambit"/>
                <a:hlinkClick r:id="rId3"/>
              </a:rPr>
              <a:t>eye-tracking tests</a:t>
            </a:r>
            <a:r>
              <a:rPr lang="en-GB" b="0" i="0" dirty="0">
                <a:effectLst/>
                <a:latin typeface="Ambit"/>
              </a:rPr>
              <a:t>, researchers observe and study users' eye movements using a special pupil-tracking device mounted on a computer. By </a:t>
            </a:r>
            <a:r>
              <a:rPr lang="en-GB" b="0" i="0" dirty="0" err="1">
                <a:effectLst/>
                <a:latin typeface="Ambit"/>
              </a:rPr>
              <a:t>analyzing</a:t>
            </a:r>
            <a:r>
              <a:rPr lang="en-GB" b="0" i="0" dirty="0">
                <a:effectLst/>
                <a:latin typeface="Ambit"/>
              </a:rPr>
              <a:t> where users direct their attention when asked to complete a task, the machine can create heatmaps or movement pathway diagrams.</a:t>
            </a:r>
          </a:p>
          <a:p>
            <a:pPr algn="l"/>
            <a:r>
              <a:rPr lang="en-GB" b="0" i="0" dirty="0">
                <a:effectLst/>
                <a:latin typeface="Ambit"/>
              </a:rPr>
              <a:t>Eye-tracking studies can be used to glean information about </a:t>
            </a:r>
            <a:r>
              <a:rPr lang="en-GB" b="1" i="0" dirty="0">
                <a:effectLst/>
                <a:latin typeface="Ambit"/>
              </a:rPr>
              <a:t>how users interact visually with a page</a:t>
            </a:r>
            <a:r>
              <a:rPr lang="en-GB" b="0" i="0" dirty="0">
                <a:effectLst/>
                <a:latin typeface="Ambit"/>
              </a:rPr>
              <a:t>; they also help test layout and design elements and see what may be distracting or taking someone's focus away from the main page elements. The downside? Cost: an eye-tracking study requires you to rent a lab with special equipment and dedicated software (plus the trained technician who can help you calibrate the device).</a:t>
            </a:r>
          </a:p>
        </p:txBody>
      </p:sp>
      <p:sp>
        <p:nvSpPr>
          <p:cNvPr id="4" name="Slide Number Placeholder 3"/>
          <p:cNvSpPr>
            <a:spLocks noGrp="1"/>
          </p:cNvSpPr>
          <p:nvPr>
            <p:ph type="sldNum" sz="quarter" idx="5"/>
          </p:nvPr>
        </p:nvSpPr>
        <p:spPr/>
        <p:txBody>
          <a:bodyPr/>
          <a:lstStyle/>
          <a:p>
            <a:fld id="{3B225748-449B-4E6E-B2FD-9A517E5C9785}" type="slidenum">
              <a:rPr lang="en-US" smtClean="0"/>
              <a:pPr/>
              <a:t>36</a:t>
            </a:fld>
            <a:endParaRPr lang="en-US"/>
          </a:p>
        </p:txBody>
      </p:sp>
    </p:spTree>
    <p:extLst>
      <p:ext uri="{BB962C8B-B14F-4D97-AF65-F5344CB8AC3E}">
        <p14:creationId xmlns:p14="http://schemas.microsoft.com/office/powerpoint/2010/main" val="4243653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38</a:t>
            </a:fld>
            <a:endParaRPr lang="en-US"/>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40</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/40</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51CA84F2-B6F2-4B57-BEF2-DCA5B336588E}" type="datetime1">
              <a:rPr lang="en-US" smtClean="0"/>
              <a:t>9/23/2024</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9/23/2024</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 40</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DF49813A-CF85-0E51-CD55-194092BE8122}"/>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3D85D663-BF5F-4008-96A6-28D623B58B8C}" type="datetime1">
              <a:rPr lang="en-US" smtClean="0"/>
              <a:t>9/23/2024</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6096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 40</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1A762193-6944-45E8-83FF-1ACB918BA118}" type="datetime1">
              <a:rPr lang="en-US" smtClean="0"/>
              <a:t>9/23/2024</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4" name="Date Placeholder 13">
            <a:extLst>
              <a:ext uri="{FF2B5EF4-FFF2-40B4-BE49-F238E27FC236}">
                <a16:creationId xmlns:a16="http://schemas.microsoft.com/office/drawing/2014/main" id="{5A299AE0-851E-10DA-F04E-7D912871F4D0}"/>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047EEADD-915A-407A-BFD0-90F4C7F16C5B}" type="datetime1">
              <a:rPr lang="en-US" smtClean="0"/>
              <a:t>9/23/2024</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8E0BC343-1820-4BA4-92F3-FA8B79A4FCFD}" type="datetime1">
              <a:rPr lang="en-US" smtClean="0"/>
              <a:t>9/23/2024</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/40</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C361E508-F8D4-457C-9B9F-1A7B1E35515E}" type="datetime1">
              <a:rPr lang="en-US" smtClean="0"/>
              <a:t>9/23/2024</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AB034D5E-EF00-4F11-97BB-46E9A203E6F5}" type="datetime1">
              <a:rPr lang="en-US" smtClean="0"/>
              <a:t>9/23/2024</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/40</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D622AEC6-C5A5-4B6B-9D30-571DF0140029}" type="datetime1">
              <a:rPr lang="en-US" smtClean="0"/>
              <a:t>9/23/2024</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4795DD27-8F26-4A76-8CBC-B1040CD15264}" type="datetime1">
              <a:rPr lang="en-US" smtClean="0"/>
              <a:t>9/23/2024</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/40</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392DE462-AED0-450B-A948-CA41AA86847D}" type="datetime1">
              <a:rPr lang="en-US" smtClean="0"/>
              <a:t>9/23/2024</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fld id="{2B9FA505-788A-4B66-B2AD-906611F20F12}" type="datetime1">
              <a:rPr lang="en-US" smtClean="0"/>
              <a:t>9/23/2024</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www.nngroup.com/articles/usability-101-introduction-to-usability/"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image" Target="../media/image14.png"/><Relationship Id="rId12" Type="http://schemas.openxmlformats.org/officeDocument/2006/relationships/customXml" Target="../ink/ink7.xml"/><Relationship Id="rId2" Type="http://schemas.openxmlformats.org/officeDocument/2006/relationships/customXml" Target="../ink/ink4.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customXml" Target="../ink/ink6.xml"/><Relationship Id="rId4" Type="http://schemas.openxmlformats.org/officeDocument/2006/relationships/customXml" Target="../ink/ink5.xml"/><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customXml" Target="../ink/ink13.xml"/><Relationship Id="rId18" Type="http://schemas.openxmlformats.org/officeDocument/2006/relationships/image" Target="../media/image28.png"/><Relationship Id="rId3" Type="http://schemas.openxmlformats.org/officeDocument/2006/relationships/customXml" Target="../ink/ink8.xml"/><Relationship Id="rId7" Type="http://schemas.openxmlformats.org/officeDocument/2006/relationships/customXml" Target="../ink/ink10.xml"/><Relationship Id="rId12" Type="http://schemas.openxmlformats.org/officeDocument/2006/relationships/image" Target="../media/image25.png"/><Relationship Id="rId17" Type="http://schemas.openxmlformats.org/officeDocument/2006/relationships/customXml" Target="../ink/ink15.xml"/><Relationship Id="rId2" Type="http://schemas.openxmlformats.org/officeDocument/2006/relationships/notesSlide" Target="../notesSlides/notesSlide9.xml"/><Relationship Id="rId16"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customXml" Target="../ink/ink12.xml"/><Relationship Id="rId5" Type="http://schemas.openxmlformats.org/officeDocument/2006/relationships/customXml" Target="../ink/ink9.xml"/><Relationship Id="rId15" Type="http://schemas.openxmlformats.org/officeDocument/2006/relationships/customXml" Target="../ink/ink14.xml"/><Relationship Id="rId10" Type="http://schemas.openxmlformats.org/officeDocument/2006/relationships/image" Target="../media/image24.png"/><Relationship Id="rId4" Type="http://schemas.openxmlformats.org/officeDocument/2006/relationships/image" Target="../media/image21.png"/><Relationship Id="rId9" Type="http://schemas.openxmlformats.org/officeDocument/2006/relationships/customXml" Target="../ink/ink11.xml"/><Relationship Id="rId1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hyperlink" Target="https://www.nngroup.com/courses/measuring-ux/"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www.nngroup.com/articles/quant-vs-qual/"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0.png"/><Relationship Id="rId7" Type="http://schemas.openxmlformats.org/officeDocument/2006/relationships/diagramColors" Target="../diagrams/colors3.xml"/><Relationship Id="rId2" Type="http://schemas.openxmlformats.org/officeDocument/2006/relationships/image" Target="../media/image29.png"/><Relationship Id="rId1" Type="http://schemas.openxmlformats.org/officeDocument/2006/relationships/slideLayout" Target="../slideLayouts/slideLayout6.xml"/><Relationship Id="rId6" Type="http://schemas.openxmlformats.org/officeDocument/2006/relationships/diagramQuickStyle" Target="../diagrams/quickStyle3.xml"/><Relationship Id="rId5" Type="http://schemas.openxmlformats.org/officeDocument/2006/relationships/diagramLayout" Target="../diagrams/layout3.xml"/><Relationship Id="rId10" Type="http://schemas.openxmlformats.org/officeDocument/2006/relationships/image" Target="../media/image32.png"/><Relationship Id="rId4" Type="http://schemas.openxmlformats.org/officeDocument/2006/relationships/diagramData" Target="../diagrams/data3.xml"/><Relationship Id="rId9" Type="http://schemas.openxmlformats.org/officeDocument/2006/relationships/image" Target="../media/image31.jp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nngroup.com/articles/usability-testing-101/" TargetMode="External"/><Relationship Id="rId7"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hyperlink" Target="https://www.nngroup.com/articles/usability-testing-101/" TargetMode="External"/><Relationship Id="rId7"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29.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Layout" Target="../slideLayouts/slideLayout2.xml"/><Relationship Id="rId7" Type="http://schemas.openxmlformats.org/officeDocument/2006/relationships/image" Target="../media/image4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hyperlink" Target="https://www.hotjar.com/session-recordings/" TargetMode="External"/><Relationship Id="rId4"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hyperlink" Target="https://www.userinterviews.com/blog/card-sorting-tools-ux-research#:~:text=OptimalSort%20is%20one%20of%20the,common%20groups%20via%20vibrant%20visualizations." TargetMode="External"/><Relationship Id="rId2" Type="http://schemas.openxmlformats.org/officeDocument/2006/relationships/hyperlink" Target="https://uxcam.com/blog/5-usability-testing-tools/" TargetMode="Externa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hyperlink" Target="https://www.optimalworkshop.com/chalkmark/?keyword=first%20click%20testing&amp;match_type=e&amp;network=o&amp;msclkid=f4728a2ca24912d65ab7e9154b7fa607&amp;utm_source=bing&amp;utm_medium=cpc&amp;utm_campaign=S%20%7C%20UK%20%26%20IE%20%7C%20BETA%20%7C%20First%20Click%20Testing&amp;utm_term=first%20click%20testing&amp;utm_content=First%20Click%20Testing"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nngroup.com/articles/which-ux-research-methods/"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www.nngroup.com/articles/quant-vs-qual/" TargetMode="External"/><Relationship Id="rId5" Type="http://schemas.openxmlformats.org/officeDocument/2006/relationships/hyperlink" Target="https://www.nngroup.com/articles/usability-testing-101/" TargetMode="External"/><Relationship Id="rId4" Type="http://schemas.openxmlformats.org/officeDocument/2006/relationships/hyperlink" Target="https://www.nngroup.com/articles/usability-101-introduction-to-usabil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dirty="0"/>
              <a:t>Usability Testing in the Context of UX Research Methods</a:t>
            </a:r>
          </a:p>
        </p:txBody>
      </p:sp>
      <p:sp>
        <p:nvSpPr>
          <p:cNvPr id="3" name="Subtitle 2"/>
          <p:cNvSpPr>
            <a:spLocks noGrp="1"/>
          </p:cNvSpPr>
          <p:nvPr>
            <p:ph type="subTitle" idx="1"/>
          </p:nvPr>
        </p:nvSpPr>
        <p:spPr/>
        <p:txBody>
          <a:bodyPr>
            <a:normAutofit/>
          </a:bodyPr>
          <a:lstStyle/>
          <a:p>
            <a:r>
              <a:rPr lang="en-GB" dirty="0"/>
              <a:t>Week 2</a:t>
            </a:r>
          </a:p>
        </p:txBody>
      </p:sp>
      <p:sp>
        <p:nvSpPr>
          <p:cNvPr id="10" name="Date Placeholder 9">
            <a:extLst>
              <a:ext uri="{FF2B5EF4-FFF2-40B4-BE49-F238E27FC236}">
                <a16:creationId xmlns:a16="http://schemas.microsoft.com/office/drawing/2014/main" id="{49CECC90-0D57-5601-CC21-D602CDA8E7A1}"/>
              </a:ext>
            </a:extLst>
          </p:cNvPr>
          <p:cNvSpPr>
            <a:spLocks noGrp="1"/>
          </p:cNvSpPr>
          <p:nvPr>
            <p:ph type="dt" sz="half" idx="2"/>
          </p:nvPr>
        </p:nvSpPr>
        <p:spPr/>
        <p:txBody>
          <a:bodyPr/>
          <a:lstStyle/>
          <a:p>
            <a:fld id="{BF7A3636-EE3B-43C3-8140-7C1BD3E0BB75}" type="datetime1">
              <a:rPr lang="en-US" smtClean="0"/>
              <a:t>9/23/2024</a:t>
            </a:fld>
            <a:endParaRPr lang="en-US" dirty="0"/>
          </a:p>
        </p:txBody>
      </p:sp>
      <p:sp>
        <p:nvSpPr>
          <p:cNvPr id="11" name="Footer Placeholder 10">
            <a:extLst>
              <a:ext uri="{FF2B5EF4-FFF2-40B4-BE49-F238E27FC236}">
                <a16:creationId xmlns:a16="http://schemas.microsoft.com/office/drawing/2014/main" id="{2DBA9073-35F8-7485-8510-50FC375F46DD}"/>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479D412E-5669-CA33-917E-7602AAD9FFB9}"/>
              </a:ext>
            </a:extLst>
          </p:cNvPr>
          <p:cNvSpPr>
            <a:spLocks noGrp="1"/>
          </p:cNvSpPr>
          <p:nvPr>
            <p:ph type="sldNum" sz="quarter" idx="12"/>
          </p:nvPr>
        </p:nvSpPr>
        <p:spPr/>
        <p:txBody>
          <a:bodyPr/>
          <a:lstStyle/>
          <a:p>
            <a:fld id="{C060DF7E-57CF-4468-B64C-3049F1FBC5EB}" type="slidenum">
              <a:rPr lang="en-US" smtClean="0"/>
              <a:pPr/>
              <a:t>1</a:t>
            </a:fld>
            <a:r>
              <a:rPr lang="en-GB"/>
              <a:t>/40</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p:txBody>
          <a:bodyPr>
            <a:normAutofit/>
          </a:bodyPr>
          <a:lstStyle/>
          <a:p>
            <a:pPr>
              <a:lnSpc>
                <a:spcPct val="110000"/>
              </a:lnSpc>
              <a:spcBef>
                <a:spcPts val="600"/>
              </a:spcBef>
              <a:spcAft>
                <a:spcPts val="600"/>
              </a:spcAft>
            </a:pPr>
            <a:r>
              <a:rPr lang="en-GB" sz="2800" dirty="0"/>
              <a:t>In Week 1 </a:t>
            </a:r>
          </a:p>
          <a:p>
            <a:pPr lvl="1">
              <a:lnSpc>
                <a:spcPct val="110000"/>
              </a:lnSpc>
              <a:spcBef>
                <a:spcPts val="600"/>
              </a:spcBef>
              <a:spcAft>
                <a:spcPts val="600"/>
              </a:spcAft>
            </a:pPr>
            <a:r>
              <a:rPr lang="en-GB" sz="2500" dirty="0"/>
              <a:t>We looked at the key concepts of usability testing</a:t>
            </a:r>
          </a:p>
          <a:p>
            <a:pPr lvl="1">
              <a:lnSpc>
                <a:spcPct val="110000"/>
              </a:lnSpc>
              <a:spcBef>
                <a:spcPts val="600"/>
              </a:spcBef>
              <a:spcAft>
                <a:spcPts val="600"/>
              </a:spcAft>
            </a:pPr>
            <a:r>
              <a:rPr lang="en-GB" sz="2500" dirty="0"/>
              <a:t>We clarified terminology used interchangeably</a:t>
            </a:r>
          </a:p>
          <a:p>
            <a:pPr>
              <a:lnSpc>
                <a:spcPct val="110000"/>
              </a:lnSpc>
              <a:spcBef>
                <a:spcPts val="600"/>
              </a:spcBef>
              <a:spcAft>
                <a:spcPts val="600"/>
              </a:spcAft>
            </a:pPr>
            <a:r>
              <a:rPr lang="en-GB" sz="2800" dirty="0"/>
              <a:t>Looked at usability metrics</a:t>
            </a:r>
          </a:p>
          <a:p>
            <a:pPr lvl="1">
              <a:lnSpc>
                <a:spcPct val="110000"/>
              </a:lnSpc>
              <a:spcBef>
                <a:spcPts val="600"/>
              </a:spcBef>
              <a:spcAft>
                <a:spcPts val="600"/>
              </a:spcAft>
            </a:pPr>
            <a:r>
              <a:rPr lang="en-GB" sz="2500" dirty="0"/>
              <a:t>This week we will look at User Experience Research Methods and </a:t>
            </a:r>
            <a:r>
              <a:rPr lang="en-GB" sz="2500" b="1" dirty="0"/>
              <a:t>Usability Testing </a:t>
            </a:r>
            <a:r>
              <a:rPr lang="en-GB" sz="2500" dirty="0"/>
              <a:t>specifically</a:t>
            </a:r>
          </a:p>
        </p:txBody>
      </p:sp>
      <p:sp>
        <p:nvSpPr>
          <p:cNvPr id="6" name="Footer Placeholder 5">
            <a:extLst>
              <a:ext uri="{FF2B5EF4-FFF2-40B4-BE49-F238E27FC236}">
                <a16:creationId xmlns:a16="http://schemas.microsoft.com/office/drawing/2014/main" id="{1EE2108C-1166-B4BE-418F-298DAEB5F46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56EE1AEB-2CB5-6D07-2E96-CE1322DC33B7}"/>
              </a:ext>
            </a:extLst>
          </p:cNvPr>
          <p:cNvSpPr>
            <a:spLocks noGrp="1"/>
          </p:cNvSpPr>
          <p:nvPr>
            <p:ph type="sldNum" sz="quarter" idx="4"/>
          </p:nvPr>
        </p:nvSpPr>
        <p:spPr/>
        <p:txBody>
          <a:bodyPr/>
          <a:lstStyle/>
          <a:p>
            <a:fld id="{9FD7ECCF-50E7-4327-B945-FA93FF7B2BEF}" type="slidenum">
              <a:rPr lang="en-US" smtClean="0"/>
              <a:pPr/>
              <a:t>2</a:t>
            </a:fld>
            <a:r>
              <a:rPr lang="en-GB"/>
              <a:t>/40</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17E89EF0-17D9-71DD-A0FF-7C12DF9E03C1}"/>
              </a:ext>
            </a:extLst>
          </p:cNvPr>
          <p:cNvSpPr/>
          <p:nvPr/>
        </p:nvSpPr>
        <p:spPr>
          <a:xfrm>
            <a:off x="4139952" y="2776465"/>
            <a:ext cx="1305069" cy="13050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0" b="1" dirty="0">
                <a:latin typeface="Abadi" panose="020B0604020202020204" pitchFamily="34" charset="0"/>
              </a:rPr>
              <a:t>?</a:t>
            </a:r>
            <a:endParaRPr lang="en-GB" sz="1600" b="1" dirty="0">
              <a:latin typeface="Abadi" panose="020B0604020202020204" pitchFamily="34" charset="0"/>
            </a:endParaRPr>
          </a:p>
        </p:txBody>
      </p:sp>
      <p:sp>
        <p:nvSpPr>
          <p:cNvPr id="2" name="Title 1">
            <a:extLst>
              <a:ext uri="{FF2B5EF4-FFF2-40B4-BE49-F238E27FC236}">
                <a16:creationId xmlns:a16="http://schemas.microsoft.com/office/drawing/2014/main" id="{92584D9C-46E3-9C5F-630C-780C0732D07F}"/>
              </a:ext>
            </a:extLst>
          </p:cNvPr>
          <p:cNvSpPr>
            <a:spLocks noGrp="1"/>
          </p:cNvSpPr>
          <p:nvPr>
            <p:ph type="title"/>
          </p:nvPr>
        </p:nvSpPr>
        <p:spPr/>
        <p:txBody>
          <a:bodyPr/>
          <a:lstStyle/>
          <a:p>
            <a:r>
              <a:rPr lang="en-GB" dirty="0"/>
              <a:t>What makes something </a:t>
            </a:r>
            <a:r>
              <a:rPr lang="en-GB" sz="4000" dirty="0"/>
              <a:t>useful?</a:t>
            </a:r>
            <a:endParaRPr lang="en-GB" dirty="0"/>
          </a:p>
        </p:txBody>
      </p:sp>
      <p:sp>
        <p:nvSpPr>
          <p:cNvPr id="3" name="Content Placeholder 2">
            <a:extLst>
              <a:ext uri="{FF2B5EF4-FFF2-40B4-BE49-F238E27FC236}">
                <a16:creationId xmlns:a16="http://schemas.microsoft.com/office/drawing/2014/main" id="{49A15DB1-F423-2557-8EF4-A4AA3DF8F4F5}"/>
              </a:ext>
            </a:extLst>
          </p:cNvPr>
          <p:cNvSpPr>
            <a:spLocks noGrp="1"/>
          </p:cNvSpPr>
          <p:nvPr>
            <p:ph sz="quarter" idx="1"/>
          </p:nvPr>
        </p:nvSpPr>
        <p:spPr>
          <a:xfrm>
            <a:off x="2987824" y="1916832"/>
            <a:ext cx="5472608" cy="4107160"/>
          </a:xfrm>
        </p:spPr>
        <p:txBody>
          <a:bodyPr>
            <a:normAutofit lnSpcReduction="10000"/>
          </a:bodyPr>
          <a:lstStyle/>
          <a:p>
            <a:r>
              <a:rPr lang="en-GB" sz="2800" i="1" dirty="0"/>
              <a:t>“the user can do what he or she wants to do the way he or she expects to be able to do it, without hindrance, hesitation, or questions.”</a:t>
            </a:r>
          </a:p>
          <a:p>
            <a:r>
              <a:rPr lang="en-GB" sz="2800" i="1" dirty="0"/>
              <a:t>“absence of frustration”</a:t>
            </a:r>
          </a:p>
          <a:p>
            <a:endParaRPr lang="en-GB" sz="2800" dirty="0"/>
          </a:p>
          <a:p>
            <a:pPr marL="0" indent="0">
              <a:buNone/>
            </a:pPr>
            <a:r>
              <a:rPr lang="en-GB" sz="2000" dirty="0">
                <a:cs typeface="Times New Roman" pitchFamily="18" charset="0"/>
              </a:rPr>
              <a:t>Rubin, J. &amp; </a:t>
            </a:r>
            <a:r>
              <a:rPr lang="en-GB" sz="2000" dirty="0" err="1">
                <a:cs typeface="Times New Roman" pitchFamily="18" charset="0"/>
              </a:rPr>
              <a:t>Chisnell</a:t>
            </a:r>
            <a:r>
              <a:rPr lang="en-GB" sz="2000" dirty="0">
                <a:cs typeface="Times New Roman" pitchFamily="18" charset="0"/>
              </a:rPr>
              <a:t>, D. (2008) </a:t>
            </a:r>
            <a:r>
              <a:rPr lang="en-GB" sz="2000" i="1" dirty="0">
                <a:cs typeface="Times New Roman" pitchFamily="18" charset="0"/>
              </a:rPr>
              <a:t>Handbook of usability testing: how to plan, design, and conduct effective tests, second edition</a:t>
            </a:r>
            <a:r>
              <a:rPr lang="en-GB" sz="2000" dirty="0">
                <a:cs typeface="Times New Roman" pitchFamily="18" charset="0"/>
              </a:rPr>
              <a:t>. 2nd ed. Indianapolis, Ind: Wiley. (.p 3)</a:t>
            </a:r>
          </a:p>
          <a:p>
            <a:endParaRPr lang="en-GB" sz="2800" dirty="0"/>
          </a:p>
        </p:txBody>
      </p:sp>
      <p:graphicFrame>
        <p:nvGraphicFramePr>
          <p:cNvPr id="7" name="Content Placeholder 5">
            <a:extLst>
              <a:ext uri="{FF2B5EF4-FFF2-40B4-BE49-F238E27FC236}">
                <a16:creationId xmlns:a16="http://schemas.microsoft.com/office/drawing/2014/main" id="{A3A20EEF-00B6-B6C6-3AAF-FFDA506EE7FD}"/>
              </a:ext>
            </a:extLst>
          </p:cNvPr>
          <p:cNvGraphicFramePr>
            <a:graphicFrameLocks/>
          </p:cNvGraphicFramePr>
          <p:nvPr>
            <p:extLst>
              <p:ext uri="{D42A27DB-BD31-4B8C-83A1-F6EECF244321}">
                <p14:modId xmlns:p14="http://schemas.microsoft.com/office/powerpoint/2010/main" val="3709124294"/>
              </p:ext>
            </p:extLst>
          </p:nvPr>
        </p:nvGraphicFramePr>
        <p:xfrm>
          <a:off x="1592814" y="1929795"/>
          <a:ext cx="6399343" cy="2998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Footer Placeholder 7">
            <a:extLst>
              <a:ext uri="{FF2B5EF4-FFF2-40B4-BE49-F238E27FC236}">
                <a16:creationId xmlns:a16="http://schemas.microsoft.com/office/drawing/2014/main" id="{5346EEC8-FA40-34A4-AD00-1185A505DEB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DE439CCD-D8E0-812F-D93D-80DF13F48569}"/>
              </a:ext>
            </a:extLst>
          </p:cNvPr>
          <p:cNvSpPr>
            <a:spLocks noGrp="1"/>
          </p:cNvSpPr>
          <p:nvPr>
            <p:ph type="sldNum" sz="quarter" idx="4"/>
          </p:nvPr>
        </p:nvSpPr>
        <p:spPr/>
        <p:txBody>
          <a:bodyPr/>
          <a:lstStyle/>
          <a:p>
            <a:fld id="{9FD7ECCF-50E7-4327-B945-FA93FF7B2BEF}" type="slidenum">
              <a:rPr lang="en-US" smtClean="0"/>
              <a:pPr/>
              <a:t>3</a:t>
            </a:fld>
            <a:r>
              <a:rPr lang="en-GB"/>
              <a:t>/40</a:t>
            </a:r>
            <a:endParaRPr lang="en-US" dirty="0"/>
          </a:p>
        </p:txBody>
      </p:sp>
    </p:spTree>
    <p:extLst>
      <p:ext uri="{BB962C8B-B14F-4D97-AF65-F5344CB8AC3E}">
        <p14:creationId xmlns:p14="http://schemas.microsoft.com/office/powerpoint/2010/main" val="2653138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grpId="1" nodeType="clickEffect">
                                  <p:stCondLst>
                                    <p:cond delay="0"/>
                                  </p:stCondLst>
                                  <p:childTnLst>
                                    <p:animMotion origin="layout" path="M -0.02413 0 L -0.27604 0 " pathEditMode="relative" rAng="0" ptsTypes="AA">
                                      <p:cBhvr>
                                        <p:cTn id="11" dur="2000" fill="hold"/>
                                        <p:tgtEl>
                                          <p:spTgt spid="6"/>
                                        </p:tgtEl>
                                        <p:attrNameLst>
                                          <p:attrName>ppt_x</p:attrName>
                                          <p:attrName>ppt_y</p:attrName>
                                        </p:attrNameLst>
                                      </p:cBhvr>
                                      <p:rCtr x="-12604" y="0"/>
                                    </p:animMotion>
                                  </p:childTnLst>
                                </p:cTn>
                              </p:par>
                            </p:childTnLst>
                          </p:cTn>
                        </p:par>
                        <p:par>
                          <p:cTn id="12" fill="hold">
                            <p:stCondLst>
                              <p:cond delay="2000"/>
                            </p:stCondLst>
                            <p:childTnLst>
                              <p:par>
                                <p:cTn id="13" presetID="42" presetClass="entr" presetSubtype="0"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42" presetClass="entr" presetSubtype="0" fill="hold" grpId="0" nodeType="after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par>
                                <p:cTn id="37" presetID="2" presetClass="exit" presetSubtype="4" fill="hold" grpId="1" nodeType="withEffect">
                                  <p:stCondLst>
                                    <p:cond delay="0"/>
                                  </p:stCondLst>
                                  <p:childTnLst>
                                    <p:anim calcmode="lin" valueType="num">
                                      <p:cBhvr additive="base">
                                        <p:cTn id="38"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9" dur="500"/>
                                        <p:tgtEl>
                                          <p:spTgt spid="3">
                                            <p:txEl>
                                              <p:pRg st="0" end="0"/>
                                            </p:txEl>
                                          </p:spTgt>
                                        </p:tgtEl>
                                        <p:attrNameLst>
                                          <p:attrName>ppt_y</p:attrName>
                                        </p:attrNameLst>
                                      </p:cBhvr>
                                      <p:tavLst>
                                        <p:tav tm="0">
                                          <p:val>
                                            <p:strVal val="ppt_y"/>
                                          </p:val>
                                        </p:tav>
                                        <p:tav tm="100000">
                                          <p:val>
                                            <p:strVal val="1+ppt_h/2"/>
                                          </p:val>
                                        </p:tav>
                                      </p:tavLst>
                                    </p:anim>
                                    <p:set>
                                      <p:cBhvr>
                                        <p:cTn id="40" dur="1" fill="hold">
                                          <p:stCondLst>
                                            <p:cond delay="499"/>
                                          </p:stCondLst>
                                        </p:cTn>
                                        <p:tgtEl>
                                          <p:spTgt spid="3">
                                            <p:txEl>
                                              <p:pRg st="0" end="0"/>
                                            </p:txEl>
                                          </p:spTgt>
                                        </p:tgtEl>
                                        <p:attrNameLst>
                                          <p:attrName>style.visibility</p:attrName>
                                        </p:attrNameLst>
                                      </p:cBhvr>
                                      <p:to>
                                        <p:strVal val="hidden"/>
                                      </p:to>
                                    </p:set>
                                  </p:childTnLst>
                                </p:cTn>
                              </p:par>
                              <p:par>
                                <p:cTn id="41" presetID="2" presetClass="exit" presetSubtype="4" fill="hold" grpId="1" nodeType="withEffect">
                                  <p:stCondLst>
                                    <p:cond delay="0"/>
                                  </p:stCondLst>
                                  <p:childTnLst>
                                    <p:anim calcmode="lin" valueType="num">
                                      <p:cBhvr additive="base">
                                        <p:cTn id="42" dur="500"/>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43" dur="500"/>
                                        <p:tgtEl>
                                          <p:spTgt spid="3">
                                            <p:txEl>
                                              <p:pRg st="1" end="1"/>
                                            </p:txEl>
                                          </p:spTgt>
                                        </p:tgtEl>
                                        <p:attrNameLst>
                                          <p:attrName>ppt_y</p:attrName>
                                        </p:attrNameLst>
                                      </p:cBhvr>
                                      <p:tavLst>
                                        <p:tav tm="0">
                                          <p:val>
                                            <p:strVal val="ppt_y"/>
                                          </p:val>
                                        </p:tav>
                                        <p:tav tm="100000">
                                          <p:val>
                                            <p:strVal val="1+ppt_h/2"/>
                                          </p:val>
                                        </p:tav>
                                      </p:tavLst>
                                    </p:anim>
                                    <p:set>
                                      <p:cBhvr>
                                        <p:cTn id="44" dur="1" fill="hold">
                                          <p:stCondLst>
                                            <p:cond delay="499"/>
                                          </p:stCondLst>
                                        </p:cTn>
                                        <p:tgtEl>
                                          <p:spTgt spid="3">
                                            <p:txEl>
                                              <p:pRg st="1" end="1"/>
                                            </p:txEl>
                                          </p:spTgt>
                                        </p:tgtEl>
                                        <p:attrNameLst>
                                          <p:attrName>style.visibility</p:attrName>
                                        </p:attrNameLst>
                                      </p:cBhvr>
                                      <p:to>
                                        <p:strVal val="hidden"/>
                                      </p:to>
                                    </p:set>
                                  </p:childTnLst>
                                </p:cTn>
                              </p:par>
                              <p:par>
                                <p:cTn id="45" presetID="2" presetClass="exit" presetSubtype="4" fill="hold" grpId="1" nodeType="withEffect">
                                  <p:stCondLst>
                                    <p:cond delay="0"/>
                                  </p:stCondLst>
                                  <p:childTnLst>
                                    <p:anim calcmode="lin" valueType="num">
                                      <p:cBhvr additive="base">
                                        <p:cTn id="46" dur="500"/>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7" dur="500"/>
                                        <p:tgtEl>
                                          <p:spTgt spid="3">
                                            <p:txEl>
                                              <p:pRg st="3" end="3"/>
                                            </p:txEl>
                                          </p:spTgt>
                                        </p:tgtEl>
                                        <p:attrNameLst>
                                          <p:attrName>ppt_y</p:attrName>
                                        </p:attrNameLst>
                                      </p:cBhvr>
                                      <p:tavLst>
                                        <p:tav tm="0">
                                          <p:val>
                                            <p:strVal val="ppt_y"/>
                                          </p:val>
                                        </p:tav>
                                        <p:tav tm="100000">
                                          <p:val>
                                            <p:strVal val="1+ppt_h/2"/>
                                          </p:val>
                                        </p:tav>
                                      </p:tavLst>
                                    </p:anim>
                                    <p:set>
                                      <p:cBhvr>
                                        <p:cTn id="48"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3" grpId="0" uiExpand="1" build="p"/>
      <p:bldP spid="3" grpId="1" uiExpand="1" build="p"/>
      <p:bldGraphic spid="7"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DFA7-0FE4-5365-703E-CA320FB4FA44}"/>
              </a:ext>
            </a:extLst>
          </p:cNvPr>
          <p:cNvSpPr>
            <a:spLocks noGrp="1"/>
          </p:cNvSpPr>
          <p:nvPr>
            <p:ph type="title"/>
          </p:nvPr>
        </p:nvSpPr>
        <p:spPr>
          <a:xfrm>
            <a:off x="612648" y="228600"/>
            <a:ext cx="8531352" cy="990600"/>
          </a:xfrm>
        </p:spPr>
        <p:txBody>
          <a:bodyPr>
            <a:normAutofit fontScale="90000"/>
          </a:bodyPr>
          <a:lstStyle/>
          <a:p>
            <a:r>
              <a:rPr lang="en-GB" dirty="0"/>
              <a:t>When should I do user research on my project?</a:t>
            </a:r>
          </a:p>
        </p:txBody>
      </p:sp>
      <p:sp>
        <p:nvSpPr>
          <p:cNvPr id="3" name="Content Placeholder 2">
            <a:extLst>
              <a:ext uri="{FF2B5EF4-FFF2-40B4-BE49-F238E27FC236}">
                <a16:creationId xmlns:a16="http://schemas.microsoft.com/office/drawing/2014/main" id="{A28759D3-020D-BF22-90C4-26E5EDD6C258}"/>
              </a:ext>
            </a:extLst>
          </p:cNvPr>
          <p:cNvSpPr>
            <a:spLocks noGrp="1"/>
          </p:cNvSpPr>
          <p:nvPr>
            <p:ph sz="quarter" idx="1"/>
          </p:nvPr>
        </p:nvSpPr>
        <p:spPr>
          <a:xfrm>
            <a:off x="5665404" y="1826952"/>
            <a:ext cx="2880320" cy="3747120"/>
          </a:xfrm>
        </p:spPr>
        <p:txBody>
          <a:bodyPr>
            <a:normAutofit fontScale="92500" lnSpcReduction="20000"/>
          </a:bodyPr>
          <a:lstStyle/>
          <a:p>
            <a:r>
              <a:rPr lang="en-GB" sz="2700" dirty="0">
                <a:solidFill>
                  <a:srgbClr val="333333"/>
                </a:solidFill>
                <a:latin typeface="Arial" panose="020B0604020202020204" pitchFamily="34" charset="0"/>
              </a:rPr>
              <a:t>right now</a:t>
            </a:r>
          </a:p>
          <a:p>
            <a:r>
              <a:rPr lang="en-GB" sz="2700" dirty="0">
                <a:solidFill>
                  <a:srgbClr val="333333"/>
                </a:solidFill>
                <a:latin typeface="Arial" panose="020B0604020202020204" pitchFamily="34" charset="0"/>
              </a:rPr>
              <a:t>all the stages</a:t>
            </a:r>
          </a:p>
          <a:p>
            <a:r>
              <a:rPr lang="en-GB" sz="2700" dirty="0">
                <a:solidFill>
                  <a:srgbClr val="333333"/>
                </a:solidFill>
                <a:latin typeface="Arial" panose="020B0604020202020204" pitchFamily="34" charset="0"/>
              </a:rPr>
              <a:t>early in the project </a:t>
            </a:r>
          </a:p>
          <a:p>
            <a:r>
              <a:rPr lang="en-GB" sz="2700" dirty="0">
                <a:solidFill>
                  <a:srgbClr val="333333"/>
                </a:solidFill>
                <a:latin typeface="Arial" panose="020B0604020202020204" pitchFamily="34" charset="0"/>
              </a:rPr>
              <a:t>what can go wrong in this process so that a digital product may not be easy to use?</a:t>
            </a:r>
          </a:p>
        </p:txBody>
      </p:sp>
      <p:pic>
        <p:nvPicPr>
          <p:cNvPr id="7" name="Picture 6" descr="Software development life cycle">
            <a:extLst>
              <a:ext uri="{FF2B5EF4-FFF2-40B4-BE49-F238E27FC236}">
                <a16:creationId xmlns:a16="http://schemas.microsoft.com/office/drawing/2014/main" id="{AE2A68A9-9CC7-92C8-C1FC-7464FDE0EDAD}"/>
              </a:ext>
            </a:extLst>
          </p:cNvPr>
          <p:cNvPicPr>
            <a:picLocks noChangeAspect="1"/>
          </p:cNvPicPr>
          <p:nvPr/>
        </p:nvPicPr>
        <p:blipFill>
          <a:blip r:embed="rId3"/>
          <a:stretch>
            <a:fillRect/>
          </a:stretch>
        </p:blipFill>
        <p:spPr>
          <a:xfrm>
            <a:off x="609600" y="1600200"/>
            <a:ext cx="4968552" cy="4511674"/>
          </a:xfrm>
          <a:prstGeom prst="rect">
            <a:avLst/>
          </a:prstGeom>
        </p:spPr>
      </p:pic>
      <p:sp>
        <p:nvSpPr>
          <p:cNvPr id="4" name="TextBox 3">
            <a:extLst>
              <a:ext uri="{FF2B5EF4-FFF2-40B4-BE49-F238E27FC236}">
                <a16:creationId xmlns:a16="http://schemas.microsoft.com/office/drawing/2014/main" id="{B6C291F7-2E10-AF6F-449A-B2FA2BE8D011}"/>
              </a:ext>
            </a:extLst>
          </p:cNvPr>
          <p:cNvSpPr txBox="1"/>
          <p:nvPr/>
        </p:nvSpPr>
        <p:spPr>
          <a:xfrm>
            <a:off x="1115616" y="4437112"/>
            <a:ext cx="1023293" cy="461665"/>
          </a:xfrm>
          <a:prstGeom prst="rect">
            <a:avLst/>
          </a:prstGeom>
          <a:noFill/>
        </p:spPr>
        <p:txBody>
          <a:bodyPr wrap="none" rtlCol="0">
            <a:spAutoFit/>
          </a:bodyPr>
          <a:lstStyle/>
          <a:p>
            <a:r>
              <a:rPr lang="en-GB" b="1" dirty="0">
                <a:solidFill>
                  <a:schemeClr val="accent1">
                    <a:lumMod val="75000"/>
                  </a:schemeClr>
                </a:solidFill>
                <a:latin typeface="+mn-lt"/>
              </a:rPr>
              <a:t>(SDLC)</a:t>
            </a:r>
          </a:p>
        </p:txBody>
      </p:sp>
      <p:sp>
        <p:nvSpPr>
          <p:cNvPr id="10" name="Footer Placeholder 9">
            <a:extLst>
              <a:ext uri="{FF2B5EF4-FFF2-40B4-BE49-F238E27FC236}">
                <a16:creationId xmlns:a16="http://schemas.microsoft.com/office/drawing/2014/main" id="{8D0D70D1-79F1-ABDB-9299-729858EAB06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FFC9A1D6-B396-AB36-96B6-07E56555A37D}"/>
              </a:ext>
            </a:extLst>
          </p:cNvPr>
          <p:cNvSpPr>
            <a:spLocks noGrp="1"/>
          </p:cNvSpPr>
          <p:nvPr>
            <p:ph type="sldNum" sz="quarter" idx="4"/>
          </p:nvPr>
        </p:nvSpPr>
        <p:spPr/>
        <p:txBody>
          <a:bodyPr/>
          <a:lstStyle/>
          <a:p>
            <a:fld id="{9FD7ECCF-50E7-4327-B945-FA93FF7B2BEF}" type="slidenum">
              <a:rPr lang="en-US" smtClean="0"/>
              <a:pPr/>
              <a:t>4</a:t>
            </a:fld>
            <a:r>
              <a:rPr lang="en-GB"/>
              <a:t>/40</a:t>
            </a:r>
            <a:endParaRPr lang="en-US" dirty="0"/>
          </a:p>
        </p:txBody>
      </p:sp>
    </p:spTree>
    <p:extLst>
      <p:ext uri="{BB962C8B-B14F-4D97-AF65-F5344CB8AC3E}">
        <p14:creationId xmlns:p14="http://schemas.microsoft.com/office/powerpoint/2010/main" val="93772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Why products are hard to use?</a:t>
            </a:r>
          </a:p>
        </p:txBody>
      </p:sp>
      <p:sp>
        <p:nvSpPr>
          <p:cNvPr id="3" name="Content Placeholder 2"/>
          <p:cNvSpPr>
            <a:spLocks noGrp="1"/>
          </p:cNvSpPr>
          <p:nvPr>
            <p:ph sz="quarter" idx="1"/>
          </p:nvPr>
        </p:nvSpPr>
        <p:spPr>
          <a:xfrm>
            <a:off x="612648" y="1844824"/>
            <a:ext cx="4823448" cy="4251176"/>
          </a:xfrm>
        </p:spPr>
        <p:txBody>
          <a:bodyPr>
            <a:noAutofit/>
          </a:bodyPr>
          <a:lstStyle/>
          <a:p>
            <a:r>
              <a:rPr lang="en-GB" sz="2400" dirty="0"/>
              <a:t>Development focuses on the machine or system</a:t>
            </a:r>
          </a:p>
          <a:p>
            <a:r>
              <a:rPr lang="en-GB" sz="2400" dirty="0"/>
              <a:t>Target audience change and adapt</a:t>
            </a:r>
          </a:p>
          <a:p>
            <a:r>
              <a:rPr lang="en-GB" sz="2400" dirty="0"/>
              <a:t>Team specialists don’t always work in integrated ways</a:t>
            </a:r>
          </a:p>
          <a:p>
            <a:r>
              <a:rPr lang="en-GB" sz="2400" dirty="0"/>
              <a:t>Design and implementation don’t always match</a:t>
            </a:r>
          </a:p>
          <a:p>
            <a:r>
              <a:rPr lang="en-GB" sz="2400" dirty="0"/>
              <a:t>Designing usable products is difficult</a:t>
            </a:r>
          </a:p>
          <a:p>
            <a:endParaRPr lang="en-GB" sz="2400" dirty="0"/>
          </a:p>
        </p:txBody>
      </p:sp>
      <p:grpSp>
        <p:nvGrpSpPr>
          <p:cNvPr id="5" name="Group 4">
            <a:extLst>
              <a:ext uri="{FF2B5EF4-FFF2-40B4-BE49-F238E27FC236}">
                <a16:creationId xmlns:a16="http://schemas.microsoft.com/office/drawing/2014/main" id="{E609421C-C412-D61B-178D-BE8CB019848D}"/>
              </a:ext>
            </a:extLst>
          </p:cNvPr>
          <p:cNvGrpSpPr/>
          <p:nvPr/>
        </p:nvGrpSpPr>
        <p:grpSpPr>
          <a:xfrm>
            <a:off x="2711707" y="2564904"/>
            <a:ext cx="3720586" cy="3097695"/>
            <a:chOff x="5436096" y="2564904"/>
            <a:chExt cx="3720586" cy="3097695"/>
          </a:xfrm>
        </p:grpSpPr>
        <p:graphicFrame>
          <p:nvGraphicFramePr>
            <p:cNvPr id="7" name="Content Placeholder 6"/>
            <p:cNvGraphicFramePr>
              <a:graphicFrameLocks/>
            </p:cNvGraphicFramePr>
            <p:nvPr>
              <p:extLst>
                <p:ext uri="{D42A27DB-BD31-4B8C-83A1-F6EECF244321}">
                  <p14:modId xmlns:p14="http://schemas.microsoft.com/office/powerpoint/2010/main" val="2255697927"/>
                </p:ext>
              </p:extLst>
            </p:nvPr>
          </p:nvGraphicFramePr>
          <p:xfrm>
            <a:off x="5436096" y="2564904"/>
            <a:ext cx="3720586" cy="2664296"/>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6030683" y="3050510"/>
              <a:ext cx="1195947" cy="600164"/>
            </a:xfrm>
            <a:prstGeom prst="rect">
              <a:avLst/>
            </a:prstGeom>
            <a:noFill/>
          </p:spPr>
          <p:txBody>
            <a:bodyPr wrap="square" rtlCol="0">
              <a:spAutoFit/>
            </a:bodyPr>
            <a:lstStyle/>
            <a:p>
              <a:pPr algn="ctr">
                <a:spcBef>
                  <a:spcPts val="600"/>
                </a:spcBef>
              </a:pPr>
              <a:r>
                <a:rPr lang="en-GB" sz="1400" dirty="0">
                  <a:latin typeface="+mn-lt"/>
                </a:rPr>
                <a:t>Somebody</a:t>
              </a:r>
            </a:p>
            <a:p>
              <a:pPr algn="ctr">
                <a:spcBef>
                  <a:spcPts val="600"/>
                </a:spcBef>
              </a:pPr>
              <a:r>
                <a:rPr lang="en-GB" sz="1400" b="1" dirty="0">
                  <a:latin typeface="+mn-lt"/>
                </a:rPr>
                <a:t>Human</a:t>
              </a:r>
            </a:p>
          </p:txBody>
        </p:sp>
        <p:sp>
          <p:nvSpPr>
            <p:cNvPr id="9" name="TextBox 8"/>
            <p:cNvSpPr txBox="1"/>
            <p:nvPr/>
          </p:nvSpPr>
          <p:spPr>
            <a:xfrm>
              <a:off x="7296389" y="2960685"/>
              <a:ext cx="1124160" cy="600164"/>
            </a:xfrm>
            <a:prstGeom prst="rect">
              <a:avLst/>
            </a:prstGeom>
            <a:noFill/>
          </p:spPr>
          <p:txBody>
            <a:bodyPr wrap="square" rtlCol="0">
              <a:spAutoFit/>
            </a:bodyPr>
            <a:lstStyle/>
            <a:p>
              <a:pPr algn="ctr">
                <a:spcBef>
                  <a:spcPts val="600"/>
                </a:spcBef>
              </a:pPr>
              <a:r>
                <a:rPr lang="en-GB" sz="1400" dirty="0">
                  <a:latin typeface="+mn-lt"/>
                </a:rPr>
                <a:t>Someplace</a:t>
              </a:r>
            </a:p>
            <a:p>
              <a:pPr algn="ctr">
                <a:spcBef>
                  <a:spcPts val="600"/>
                </a:spcBef>
              </a:pPr>
              <a:r>
                <a:rPr lang="en-GB" sz="1400" b="1" dirty="0">
                  <a:latin typeface="+mn-lt"/>
                </a:rPr>
                <a:t>Context</a:t>
              </a:r>
            </a:p>
          </p:txBody>
        </p:sp>
        <p:sp>
          <p:nvSpPr>
            <p:cNvPr id="10" name="TextBox 9"/>
            <p:cNvSpPr txBox="1"/>
            <p:nvPr/>
          </p:nvSpPr>
          <p:spPr>
            <a:xfrm>
              <a:off x="6811917" y="3827485"/>
              <a:ext cx="1096026" cy="600164"/>
            </a:xfrm>
            <a:prstGeom prst="rect">
              <a:avLst/>
            </a:prstGeom>
            <a:noFill/>
          </p:spPr>
          <p:txBody>
            <a:bodyPr wrap="square" rtlCol="0">
              <a:spAutoFit/>
            </a:bodyPr>
            <a:lstStyle/>
            <a:p>
              <a:pPr algn="ctr">
                <a:spcBef>
                  <a:spcPts val="600"/>
                </a:spcBef>
              </a:pPr>
              <a:r>
                <a:rPr lang="en-GB" sz="1400" dirty="0">
                  <a:latin typeface="+mn-lt"/>
                </a:rPr>
                <a:t>Something</a:t>
              </a:r>
            </a:p>
            <a:p>
              <a:pPr algn="ctr">
                <a:spcBef>
                  <a:spcPts val="600"/>
                </a:spcBef>
              </a:pPr>
              <a:r>
                <a:rPr lang="en-GB" sz="1400" b="1" dirty="0">
                  <a:latin typeface="+mn-lt"/>
                </a:rPr>
                <a:t>Activity</a:t>
              </a:r>
            </a:p>
          </p:txBody>
        </p:sp>
        <p:sp>
          <p:nvSpPr>
            <p:cNvPr id="11" name="TextBox 10"/>
            <p:cNvSpPr txBox="1"/>
            <p:nvPr/>
          </p:nvSpPr>
          <p:spPr>
            <a:xfrm>
              <a:off x="6374502" y="5077824"/>
              <a:ext cx="1843774" cy="584775"/>
            </a:xfrm>
            <a:prstGeom prst="rect">
              <a:avLst/>
            </a:prstGeom>
            <a:noFill/>
          </p:spPr>
          <p:txBody>
            <a:bodyPr wrap="none" rtlCol="0">
              <a:spAutoFit/>
            </a:bodyPr>
            <a:lstStyle/>
            <a:p>
              <a:pPr algn="ctr"/>
              <a:r>
                <a:rPr lang="en-GB" sz="1600" dirty="0">
                  <a:latin typeface="+mn-lt"/>
                </a:rPr>
                <a:t>Bailey’s human</a:t>
              </a:r>
            </a:p>
            <a:p>
              <a:pPr algn="ctr"/>
              <a:r>
                <a:rPr lang="en-GB" sz="1600" dirty="0">
                  <a:latin typeface="+mn-lt"/>
                </a:rPr>
                <a:t>performance model</a:t>
              </a:r>
            </a:p>
          </p:txBody>
        </p:sp>
      </p:grpSp>
      <p:sp>
        <p:nvSpPr>
          <p:cNvPr id="13" name="Oval 12">
            <a:extLst>
              <a:ext uri="{FF2B5EF4-FFF2-40B4-BE49-F238E27FC236}">
                <a16:creationId xmlns:a16="http://schemas.microsoft.com/office/drawing/2014/main" id="{5E9698E1-9A15-CDB1-1CC1-067505E114C8}"/>
              </a:ext>
            </a:extLst>
          </p:cNvPr>
          <p:cNvSpPr/>
          <p:nvPr/>
        </p:nvSpPr>
        <p:spPr>
          <a:xfrm>
            <a:off x="3928353" y="2824997"/>
            <a:ext cx="1305069" cy="13050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0" b="1" dirty="0">
                <a:latin typeface="Abadi" panose="020B0604020202020204" pitchFamily="34" charset="0"/>
              </a:rPr>
              <a:t>?</a:t>
            </a:r>
            <a:endParaRPr lang="en-GB" sz="1600" b="1" dirty="0">
              <a:latin typeface="Abadi" panose="020B0604020202020204" pitchFamily="34" charset="0"/>
            </a:endParaRPr>
          </a:p>
        </p:txBody>
      </p:sp>
      <p:sp>
        <p:nvSpPr>
          <p:cNvPr id="12" name="Footer Placeholder 11">
            <a:extLst>
              <a:ext uri="{FF2B5EF4-FFF2-40B4-BE49-F238E27FC236}">
                <a16:creationId xmlns:a16="http://schemas.microsoft.com/office/drawing/2014/main" id="{4918CF95-5C26-A7EA-CAAE-2763F2AF050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9F1BD424-78BB-AA86-72E3-D487F9012ECA}"/>
              </a:ext>
            </a:extLst>
          </p:cNvPr>
          <p:cNvSpPr>
            <a:spLocks noGrp="1"/>
          </p:cNvSpPr>
          <p:nvPr>
            <p:ph type="sldNum" sz="quarter" idx="4"/>
          </p:nvPr>
        </p:nvSpPr>
        <p:spPr/>
        <p:txBody>
          <a:bodyPr/>
          <a:lstStyle/>
          <a:p>
            <a:fld id="{9FD7ECCF-50E7-4327-B945-FA93FF7B2BEF}" type="slidenum">
              <a:rPr lang="en-US" smtClean="0"/>
              <a:pPr/>
              <a:t>5</a:t>
            </a:fld>
            <a:r>
              <a:rPr lang="en-GB"/>
              <a:t>/40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25 0 E" pathEditMode="relative" ptsTypes="">
                                      <p:cBhvr>
                                        <p:cTn id="14" dur="2000" fill="hold"/>
                                        <p:tgtEl>
                                          <p:spTgt spid="5"/>
                                        </p:tgtEl>
                                        <p:attrNameLst>
                                          <p:attrName>ppt_x</p:attrName>
                                          <p:attrName>ppt_y</p:attrName>
                                        </p:attrNameLst>
                                      </p:cBhvr>
                                    </p:animMotion>
                                  </p:childTnLst>
                                </p:cTn>
                              </p:par>
                            </p:childTnLst>
                          </p:cTn>
                        </p:par>
                        <p:par>
                          <p:cTn id="15" fill="hold">
                            <p:stCondLst>
                              <p:cond delay="2000"/>
                            </p:stCondLst>
                            <p:childTnLst>
                              <p:par>
                                <p:cTn id="16" presetID="2" presetClass="entr" presetSubtype="8" fill="hold" grpId="0" nodeType="after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 calcmode="lin" valueType="num">
                                      <p:cBhvr additive="base">
                                        <p:cTn id="24"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 calcmode="lin" valueType="num">
                                      <p:cBhvr additive="base">
                                        <p:cTn id="30"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 calcmode="lin" valueType="num">
                                      <p:cBhvr additive="base">
                                        <p:cTn id="36"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 calcmode="lin" valueType="num">
                                      <p:cBhvr additive="base">
                                        <p:cTn id="42"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What makes products more usable</a:t>
            </a:r>
          </a:p>
        </p:txBody>
      </p:sp>
      <p:sp>
        <p:nvSpPr>
          <p:cNvPr id="3" name="Content Placeholder 2"/>
          <p:cNvSpPr>
            <a:spLocks noGrp="1"/>
          </p:cNvSpPr>
          <p:nvPr>
            <p:ph sz="quarter" idx="1"/>
          </p:nvPr>
        </p:nvSpPr>
        <p:spPr/>
        <p:txBody>
          <a:bodyPr>
            <a:normAutofit/>
          </a:bodyPr>
          <a:lstStyle/>
          <a:p>
            <a:pPr>
              <a:spcBef>
                <a:spcPts val="600"/>
              </a:spcBef>
            </a:pPr>
            <a:r>
              <a:rPr lang="en-GB" sz="2400" dirty="0"/>
              <a:t>User Centred Design (UCD) represents the techniques, processes, methods and procedures for designing products and systems by placing the user at the centre of the process </a:t>
            </a:r>
          </a:p>
          <a:p>
            <a:pPr>
              <a:spcBef>
                <a:spcPts val="600"/>
              </a:spcBef>
            </a:pPr>
            <a:r>
              <a:rPr lang="en-GB" sz="2400" dirty="0"/>
              <a:t>Emphasis is placed in the 3 following elements of UCD:</a:t>
            </a:r>
          </a:p>
        </p:txBody>
      </p:sp>
      <p:graphicFrame>
        <p:nvGraphicFramePr>
          <p:cNvPr id="8" name="Diagram 7">
            <a:extLst>
              <a:ext uri="{FF2B5EF4-FFF2-40B4-BE49-F238E27FC236}">
                <a16:creationId xmlns:a16="http://schemas.microsoft.com/office/drawing/2014/main" id="{1BE7D4FD-13DA-1AD2-ED8A-FB13E290034E}"/>
              </a:ext>
            </a:extLst>
          </p:cNvPr>
          <p:cNvGraphicFramePr/>
          <p:nvPr>
            <p:extLst>
              <p:ext uri="{D42A27DB-BD31-4B8C-83A1-F6EECF244321}">
                <p14:modId xmlns:p14="http://schemas.microsoft.com/office/powerpoint/2010/main" val="2597124037"/>
              </p:ext>
            </p:extLst>
          </p:nvPr>
        </p:nvGraphicFramePr>
        <p:xfrm>
          <a:off x="683568" y="2348880"/>
          <a:ext cx="7272808" cy="48485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Footer Placeholder 8">
            <a:extLst>
              <a:ext uri="{FF2B5EF4-FFF2-40B4-BE49-F238E27FC236}">
                <a16:creationId xmlns:a16="http://schemas.microsoft.com/office/drawing/2014/main" id="{D1AD8304-5B66-AEFA-EF98-00C5DB5DFC2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1084B5D8-6E66-9F4E-1187-F4281F7F48A4}"/>
              </a:ext>
            </a:extLst>
          </p:cNvPr>
          <p:cNvSpPr>
            <a:spLocks noGrp="1"/>
          </p:cNvSpPr>
          <p:nvPr>
            <p:ph type="sldNum" sz="quarter" idx="4"/>
          </p:nvPr>
        </p:nvSpPr>
        <p:spPr/>
        <p:txBody>
          <a:bodyPr/>
          <a:lstStyle/>
          <a:p>
            <a:fld id="{9FD7ECCF-50E7-4327-B945-FA93FF7B2BEF}" type="slidenum">
              <a:rPr lang="en-US" smtClean="0"/>
              <a:pPr/>
              <a:t>6</a:t>
            </a:fld>
            <a:r>
              <a:rPr lang="en-GB"/>
              <a:t>/40</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Receiving user feedback or input during each phase of the SDLC, or prior to moving to the next phase&#10;">
            <a:extLst>
              <a:ext uri="{FF2B5EF4-FFF2-40B4-BE49-F238E27FC236}">
                <a16:creationId xmlns:a16="http://schemas.microsoft.com/office/drawing/2014/main" id="{0B571D1D-F9B9-2E59-A521-8EEC37D9ADB9}"/>
              </a:ext>
            </a:extLst>
          </p:cNvPr>
          <p:cNvPicPr>
            <a:picLocks noChangeAspect="1"/>
          </p:cNvPicPr>
          <p:nvPr/>
        </p:nvPicPr>
        <p:blipFill>
          <a:blip r:embed="rId2"/>
          <a:stretch>
            <a:fillRect/>
          </a:stretch>
        </p:blipFill>
        <p:spPr>
          <a:xfrm>
            <a:off x="4072991" y="1516698"/>
            <a:ext cx="4932239" cy="4731508"/>
          </a:xfrm>
          <a:prstGeom prst="rect">
            <a:avLst/>
          </a:prstGeom>
        </p:spPr>
      </p:pic>
      <p:sp>
        <p:nvSpPr>
          <p:cNvPr id="2" name="Title 1">
            <a:extLst>
              <a:ext uri="{FF2B5EF4-FFF2-40B4-BE49-F238E27FC236}">
                <a16:creationId xmlns:a16="http://schemas.microsoft.com/office/drawing/2014/main" id="{9183D773-F1A2-90C2-8EE8-E0F8570012FE}"/>
              </a:ext>
            </a:extLst>
          </p:cNvPr>
          <p:cNvSpPr>
            <a:spLocks noGrp="1"/>
          </p:cNvSpPr>
          <p:nvPr>
            <p:ph type="title"/>
          </p:nvPr>
        </p:nvSpPr>
        <p:spPr/>
        <p:txBody>
          <a:bodyPr/>
          <a:lstStyle/>
          <a:p>
            <a:r>
              <a:rPr lang="en-GB" sz="4400" dirty="0"/>
              <a:t>UCD involves</a:t>
            </a:r>
            <a:endParaRPr lang="en-GB" dirty="0"/>
          </a:p>
        </p:txBody>
      </p:sp>
      <p:sp>
        <p:nvSpPr>
          <p:cNvPr id="3" name="Content Placeholder 2">
            <a:extLst>
              <a:ext uri="{FF2B5EF4-FFF2-40B4-BE49-F238E27FC236}">
                <a16:creationId xmlns:a16="http://schemas.microsoft.com/office/drawing/2014/main" id="{1DC86FA1-92FD-5C74-7D9D-C36D11A83C90}"/>
              </a:ext>
            </a:extLst>
          </p:cNvPr>
          <p:cNvSpPr>
            <a:spLocks noGrp="1"/>
          </p:cNvSpPr>
          <p:nvPr>
            <p:ph sz="quarter" idx="1"/>
          </p:nvPr>
        </p:nvSpPr>
        <p:spPr>
          <a:xfrm>
            <a:off x="612648" y="1600200"/>
            <a:ext cx="3527304" cy="4495800"/>
          </a:xfrm>
        </p:spPr>
        <p:txBody>
          <a:bodyPr/>
          <a:lstStyle/>
          <a:p>
            <a:r>
              <a:rPr lang="en-GB" dirty="0"/>
              <a:t>Receiving user feedback or input during each phase of the SDLC, or prior to moving to the next phase</a:t>
            </a:r>
          </a:p>
          <a:p>
            <a:r>
              <a:rPr lang="en-GB" dirty="0"/>
              <a:t>This can include a variety of techniques</a:t>
            </a:r>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44591E82-4A62-9681-8225-99E245333EC5}"/>
                  </a:ext>
                </a:extLst>
              </p14:cNvPr>
              <p14:cNvContentPartPr/>
              <p14:nvPr/>
            </p14:nvContentPartPr>
            <p14:xfrm>
              <a:off x="5900602" y="3176407"/>
              <a:ext cx="993600" cy="34200"/>
            </p14:xfrm>
          </p:contentPart>
        </mc:Choice>
        <mc:Fallback xmlns="">
          <p:pic>
            <p:nvPicPr>
              <p:cNvPr id="19" name="Ink 18">
                <a:extLst>
                  <a:ext uri="{FF2B5EF4-FFF2-40B4-BE49-F238E27FC236}">
                    <a16:creationId xmlns:a16="http://schemas.microsoft.com/office/drawing/2014/main" id="{44591E82-4A62-9681-8225-99E245333EC5}"/>
                  </a:ext>
                </a:extLst>
              </p:cNvPr>
              <p:cNvPicPr/>
              <p:nvPr/>
            </p:nvPicPr>
            <p:blipFill>
              <a:blip r:embed="rId4"/>
              <a:stretch>
                <a:fillRect/>
              </a:stretch>
            </p:blipFill>
            <p:spPr>
              <a:xfrm>
                <a:off x="5864602" y="3104767"/>
                <a:ext cx="10652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774D98D1-F23E-0516-4FF4-66A49AF7B448}"/>
                  </a:ext>
                </a:extLst>
              </p14:cNvPr>
              <p14:cNvContentPartPr/>
              <p14:nvPr/>
            </p14:nvContentPartPr>
            <p14:xfrm>
              <a:off x="6564802" y="3984607"/>
              <a:ext cx="1051920" cy="60840"/>
            </p14:xfrm>
          </p:contentPart>
        </mc:Choice>
        <mc:Fallback xmlns="">
          <p:pic>
            <p:nvPicPr>
              <p:cNvPr id="22" name="Ink 21">
                <a:extLst>
                  <a:ext uri="{FF2B5EF4-FFF2-40B4-BE49-F238E27FC236}">
                    <a16:creationId xmlns:a16="http://schemas.microsoft.com/office/drawing/2014/main" id="{774D98D1-F23E-0516-4FF4-66A49AF7B448}"/>
                  </a:ext>
                </a:extLst>
              </p:cNvPr>
              <p:cNvPicPr/>
              <p:nvPr/>
            </p:nvPicPr>
            <p:blipFill>
              <a:blip r:embed="rId6"/>
              <a:stretch>
                <a:fillRect/>
              </a:stretch>
            </p:blipFill>
            <p:spPr>
              <a:xfrm>
                <a:off x="6529162" y="3912607"/>
                <a:ext cx="112356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EDD55119-22EE-2F0E-61E7-5B4F67C2A492}"/>
                  </a:ext>
                </a:extLst>
              </p14:cNvPr>
              <p14:cNvContentPartPr/>
              <p14:nvPr/>
            </p14:nvContentPartPr>
            <p14:xfrm>
              <a:off x="5492722" y="3953647"/>
              <a:ext cx="914040" cy="40680"/>
            </p14:xfrm>
          </p:contentPart>
        </mc:Choice>
        <mc:Fallback xmlns="">
          <p:pic>
            <p:nvPicPr>
              <p:cNvPr id="23" name="Ink 22">
                <a:extLst>
                  <a:ext uri="{FF2B5EF4-FFF2-40B4-BE49-F238E27FC236}">
                    <a16:creationId xmlns:a16="http://schemas.microsoft.com/office/drawing/2014/main" id="{EDD55119-22EE-2F0E-61E7-5B4F67C2A492}"/>
                  </a:ext>
                </a:extLst>
              </p:cNvPr>
              <p:cNvPicPr/>
              <p:nvPr/>
            </p:nvPicPr>
            <p:blipFill>
              <a:blip r:embed="rId8"/>
              <a:stretch>
                <a:fillRect/>
              </a:stretch>
            </p:blipFill>
            <p:spPr>
              <a:xfrm>
                <a:off x="5456722" y="3881647"/>
                <a:ext cx="985680" cy="184320"/>
              </a:xfrm>
              <a:prstGeom prst="rect">
                <a:avLst/>
              </a:prstGeom>
            </p:spPr>
          </p:pic>
        </mc:Fallback>
      </mc:AlternateContent>
      <p:sp>
        <p:nvSpPr>
          <p:cNvPr id="6" name="Footer Placeholder 5">
            <a:extLst>
              <a:ext uri="{FF2B5EF4-FFF2-40B4-BE49-F238E27FC236}">
                <a16:creationId xmlns:a16="http://schemas.microsoft.com/office/drawing/2014/main" id="{EB8815E1-1517-D627-77A2-924E6D72C32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6753CD3A-CDBA-992F-9D29-3061E7B0B687}"/>
              </a:ext>
            </a:extLst>
          </p:cNvPr>
          <p:cNvSpPr>
            <a:spLocks noGrp="1"/>
          </p:cNvSpPr>
          <p:nvPr>
            <p:ph type="sldNum" sz="quarter" idx="4"/>
          </p:nvPr>
        </p:nvSpPr>
        <p:spPr/>
        <p:txBody>
          <a:bodyPr/>
          <a:lstStyle/>
          <a:p>
            <a:fld id="{9FD7ECCF-50E7-4327-B945-FA93FF7B2BEF}" type="slidenum">
              <a:rPr lang="en-US" smtClean="0"/>
              <a:pPr/>
              <a:t>7</a:t>
            </a:fld>
            <a:r>
              <a:rPr lang="en-GB"/>
              <a:t>/40</a:t>
            </a:r>
            <a:endParaRPr lang="en-US" dirty="0"/>
          </a:p>
        </p:txBody>
      </p:sp>
    </p:spTree>
    <p:extLst>
      <p:ext uri="{BB962C8B-B14F-4D97-AF65-F5344CB8AC3E}">
        <p14:creationId xmlns:p14="http://schemas.microsoft.com/office/powerpoint/2010/main" val="213677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819F6-DDFD-226C-AB28-BC94F67AD155}"/>
              </a:ext>
            </a:extLst>
          </p:cNvPr>
          <p:cNvSpPr>
            <a:spLocks noGrp="1"/>
          </p:cNvSpPr>
          <p:nvPr>
            <p:ph type="title"/>
          </p:nvPr>
        </p:nvSpPr>
        <p:spPr/>
        <p:txBody>
          <a:bodyPr/>
          <a:lstStyle/>
          <a:p>
            <a:r>
              <a:rPr lang="en-GB" dirty="0"/>
              <a:t>What do we measure?</a:t>
            </a:r>
          </a:p>
        </p:txBody>
      </p:sp>
      <p:sp>
        <p:nvSpPr>
          <p:cNvPr id="3" name="Content Placeholder 2">
            <a:extLst>
              <a:ext uri="{FF2B5EF4-FFF2-40B4-BE49-F238E27FC236}">
                <a16:creationId xmlns:a16="http://schemas.microsoft.com/office/drawing/2014/main" id="{7317B3C7-096D-42E6-6A0F-450CAA8592A6}"/>
              </a:ext>
            </a:extLst>
          </p:cNvPr>
          <p:cNvSpPr>
            <a:spLocks noGrp="1"/>
          </p:cNvSpPr>
          <p:nvPr>
            <p:ph sz="quarter" idx="1"/>
          </p:nvPr>
        </p:nvSpPr>
        <p:spPr/>
        <p:txBody>
          <a:bodyPr/>
          <a:lstStyle/>
          <a:p>
            <a:r>
              <a:rPr lang="en-GB" dirty="0"/>
              <a:t>What do we measure with usability testing?</a:t>
            </a:r>
          </a:p>
          <a:p>
            <a:r>
              <a:rPr lang="en-GB" dirty="0"/>
              <a:t>What makes a product useful?</a:t>
            </a:r>
          </a:p>
          <a:p>
            <a:r>
              <a:rPr lang="en-GB" dirty="0"/>
              <a:t>When a product has good usability?</a:t>
            </a:r>
          </a:p>
        </p:txBody>
      </p:sp>
      <p:sp>
        <p:nvSpPr>
          <p:cNvPr id="6" name="Oval 5">
            <a:extLst>
              <a:ext uri="{FF2B5EF4-FFF2-40B4-BE49-F238E27FC236}">
                <a16:creationId xmlns:a16="http://schemas.microsoft.com/office/drawing/2014/main" id="{FC4AC305-D9FE-9057-9B2B-5E9FA78E882C}"/>
              </a:ext>
            </a:extLst>
          </p:cNvPr>
          <p:cNvSpPr/>
          <p:nvPr/>
        </p:nvSpPr>
        <p:spPr>
          <a:xfrm>
            <a:off x="3453644" y="3356992"/>
            <a:ext cx="2236711" cy="22367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0" b="1" dirty="0">
                <a:latin typeface="Abadi" panose="020B0604020202020204" pitchFamily="34" charset="0"/>
              </a:rPr>
              <a:t>?</a:t>
            </a:r>
            <a:endParaRPr lang="en-GB" sz="1600" b="1" dirty="0">
              <a:latin typeface="Abadi" panose="020B0604020202020204" pitchFamily="34" charset="0"/>
            </a:endParaRPr>
          </a:p>
        </p:txBody>
      </p:sp>
      <p:sp>
        <p:nvSpPr>
          <p:cNvPr id="9" name="Footer Placeholder 8">
            <a:extLst>
              <a:ext uri="{FF2B5EF4-FFF2-40B4-BE49-F238E27FC236}">
                <a16:creationId xmlns:a16="http://schemas.microsoft.com/office/drawing/2014/main" id="{DDCFBC36-0323-2E40-6B0C-C2ED8C97A16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7D9F3F73-B8BA-981C-4FEB-06FF68B30FF6}"/>
              </a:ext>
            </a:extLst>
          </p:cNvPr>
          <p:cNvSpPr>
            <a:spLocks noGrp="1"/>
          </p:cNvSpPr>
          <p:nvPr>
            <p:ph type="sldNum" sz="quarter" idx="4"/>
          </p:nvPr>
        </p:nvSpPr>
        <p:spPr/>
        <p:txBody>
          <a:bodyPr/>
          <a:lstStyle/>
          <a:p>
            <a:fld id="{9FD7ECCF-50E7-4327-B945-FA93FF7B2BEF}" type="slidenum">
              <a:rPr lang="en-US" smtClean="0"/>
              <a:pPr/>
              <a:t>8</a:t>
            </a:fld>
            <a:r>
              <a:rPr lang="en-GB"/>
              <a:t>/40</a:t>
            </a:r>
            <a:endParaRPr lang="en-US" dirty="0"/>
          </a:p>
        </p:txBody>
      </p:sp>
    </p:spTree>
    <p:extLst>
      <p:ext uri="{BB962C8B-B14F-4D97-AF65-F5344CB8AC3E}">
        <p14:creationId xmlns:p14="http://schemas.microsoft.com/office/powerpoint/2010/main" val="149733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 name="Picture 15" descr="A hexagon with white and blue hexagons with white text&#10;&#10;Description automatically generated">
            <a:extLst>
              <a:ext uri="{FF2B5EF4-FFF2-40B4-BE49-F238E27FC236}">
                <a16:creationId xmlns:a16="http://schemas.microsoft.com/office/drawing/2014/main" id="{C478BA4E-FA53-42D1-6600-3562801F62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95736" y="1844823"/>
            <a:ext cx="4879434" cy="4249673"/>
          </a:xfrm>
          <a:prstGeom prst="rect">
            <a:avLst/>
          </a:prstGeom>
        </p:spPr>
      </p:pic>
      <p:sp>
        <p:nvSpPr>
          <p:cNvPr id="112642" name="Rectangle 2"/>
          <p:cNvSpPr>
            <a:spLocks noGrp="1" noChangeArrowheads="1"/>
          </p:cNvSpPr>
          <p:nvPr>
            <p:ph type="title"/>
          </p:nvPr>
        </p:nvSpPr>
        <p:spPr>
          <a:xfrm>
            <a:off x="59277" y="260648"/>
            <a:ext cx="9553283" cy="990600"/>
          </a:xfrm>
        </p:spPr>
        <p:txBody>
          <a:bodyPr>
            <a:noAutofit/>
          </a:bodyPr>
          <a:lstStyle/>
          <a:p>
            <a:r>
              <a:rPr lang="en-GB" sz="3600" dirty="0"/>
              <a:t>What do we test and measure? Usability metrics</a:t>
            </a:r>
            <a:endParaRPr lang="en-US" sz="3600" dirty="0"/>
          </a:p>
        </p:txBody>
      </p:sp>
      <p:pic>
        <p:nvPicPr>
          <p:cNvPr id="8" name="Picture 7" descr="Link to article">
            <a:hlinkClick r:id="rId4"/>
            <a:extLst>
              <a:ext uri="{FF2B5EF4-FFF2-40B4-BE49-F238E27FC236}">
                <a16:creationId xmlns:a16="http://schemas.microsoft.com/office/drawing/2014/main" id="{6554F6DD-BABF-ABCE-6E86-70801CE1FE82}"/>
              </a:ext>
            </a:extLst>
          </p:cNvPr>
          <p:cNvPicPr>
            <a:picLocks noChangeAspect="1"/>
          </p:cNvPicPr>
          <p:nvPr/>
        </p:nvPicPr>
        <p:blipFill>
          <a:blip r:embed="rId5"/>
          <a:stretch>
            <a:fillRect/>
          </a:stretch>
        </p:blipFill>
        <p:spPr>
          <a:xfrm>
            <a:off x="7764448" y="3789118"/>
            <a:ext cx="766904" cy="748350"/>
          </a:xfrm>
          <a:prstGeom prst="rect">
            <a:avLst/>
          </a:prstGeom>
        </p:spPr>
      </p:pic>
      <p:sp>
        <p:nvSpPr>
          <p:cNvPr id="10" name="Content Placeholder 2">
            <a:extLst>
              <a:ext uri="{FF2B5EF4-FFF2-40B4-BE49-F238E27FC236}">
                <a16:creationId xmlns:a16="http://schemas.microsoft.com/office/drawing/2014/main" id="{F76D095B-9B0E-A909-E60B-D20FF08E2D5D}"/>
              </a:ext>
            </a:extLst>
          </p:cNvPr>
          <p:cNvSpPr>
            <a:spLocks noGrp="1"/>
          </p:cNvSpPr>
          <p:nvPr>
            <p:ph sz="quarter" idx="1"/>
          </p:nvPr>
        </p:nvSpPr>
        <p:spPr>
          <a:xfrm>
            <a:off x="275301" y="3381542"/>
            <a:ext cx="2568507" cy="2724053"/>
          </a:xfrm>
        </p:spPr>
        <p:txBody>
          <a:bodyPr>
            <a:normAutofit/>
          </a:bodyPr>
          <a:lstStyle/>
          <a:p>
            <a:pPr marL="0" indent="0">
              <a:spcBef>
                <a:spcPts val="1200"/>
              </a:spcBef>
              <a:buNone/>
            </a:pPr>
            <a:r>
              <a:rPr lang="en-GB" sz="2800" dirty="0"/>
              <a:t>What do we measure?</a:t>
            </a:r>
          </a:p>
          <a:p>
            <a:pPr marL="0" indent="0">
              <a:spcBef>
                <a:spcPts val="1200"/>
              </a:spcBef>
              <a:buNone/>
            </a:pPr>
            <a:r>
              <a:rPr lang="en-GB" sz="2800" i="1" dirty="0">
                <a:solidFill>
                  <a:schemeClr val="accent2"/>
                </a:solidFill>
              </a:rPr>
              <a:t>Metric</a:t>
            </a:r>
          </a:p>
          <a:p>
            <a:pPr marL="0" indent="0">
              <a:spcBef>
                <a:spcPts val="1200"/>
              </a:spcBef>
              <a:buNone/>
            </a:pPr>
            <a:r>
              <a:rPr lang="en-GB" sz="1800" i="1" dirty="0">
                <a:solidFill>
                  <a:schemeClr val="tx1">
                    <a:lumMod val="65000"/>
                    <a:lumOff val="35000"/>
                  </a:schemeClr>
                </a:solidFill>
              </a:rPr>
              <a:t>A way of measuring and evaluating a particular phenomenon or item</a:t>
            </a:r>
            <a:endParaRPr lang="en-GB" sz="2800" i="1" dirty="0">
              <a:solidFill>
                <a:schemeClr val="tx1">
                  <a:lumMod val="65000"/>
                  <a:lumOff val="35000"/>
                </a:schemeClr>
              </a:solidFill>
            </a:endParaRPr>
          </a:p>
        </p:txBody>
      </p:sp>
      <p:sp>
        <p:nvSpPr>
          <p:cNvPr id="11" name="Freeform: Shape 10">
            <a:extLst>
              <a:ext uri="{FF2B5EF4-FFF2-40B4-BE49-F238E27FC236}">
                <a16:creationId xmlns:a16="http://schemas.microsoft.com/office/drawing/2014/main" id="{3D2E129D-274F-E95E-A9A6-17B0C7C30B0B}"/>
              </a:ext>
            </a:extLst>
          </p:cNvPr>
          <p:cNvSpPr/>
          <p:nvPr/>
        </p:nvSpPr>
        <p:spPr>
          <a:xfrm>
            <a:off x="2171700" y="1817370"/>
            <a:ext cx="4903470" cy="4240530"/>
          </a:xfrm>
          <a:custGeom>
            <a:avLst/>
            <a:gdLst>
              <a:gd name="connsiteX0" fmla="*/ 2080260 w 4903470"/>
              <a:gd name="connsiteY0" fmla="*/ 1485900 h 4240530"/>
              <a:gd name="connsiteX1" fmla="*/ 1223010 w 4903470"/>
              <a:gd name="connsiteY1" fmla="*/ 0 h 4240530"/>
              <a:gd name="connsiteX2" fmla="*/ 3669030 w 4903470"/>
              <a:gd name="connsiteY2" fmla="*/ 0 h 4240530"/>
              <a:gd name="connsiteX3" fmla="*/ 4903470 w 4903470"/>
              <a:gd name="connsiteY3" fmla="*/ 2114550 h 4240530"/>
              <a:gd name="connsiteX4" fmla="*/ 3680460 w 4903470"/>
              <a:gd name="connsiteY4" fmla="*/ 4229100 h 4240530"/>
              <a:gd name="connsiteX5" fmla="*/ 1234440 w 4903470"/>
              <a:gd name="connsiteY5" fmla="*/ 4240530 h 4240530"/>
              <a:gd name="connsiteX6" fmla="*/ 0 w 4903470"/>
              <a:gd name="connsiteY6" fmla="*/ 2114550 h 4240530"/>
              <a:gd name="connsiteX7" fmla="*/ 1737360 w 4903470"/>
              <a:gd name="connsiteY7" fmla="*/ 2137410 h 4240530"/>
              <a:gd name="connsiteX8" fmla="*/ 2080260 w 4903470"/>
              <a:gd name="connsiteY8" fmla="*/ 1485900 h 424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03470" h="4240530">
                <a:moveTo>
                  <a:pt x="2080260" y="1485900"/>
                </a:moveTo>
                <a:lnTo>
                  <a:pt x="1223010" y="0"/>
                </a:lnTo>
                <a:lnTo>
                  <a:pt x="3669030" y="0"/>
                </a:lnTo>
                <a:lnTo>
                  <a:pt x="4903470" y="2114550"/>
                </a:lnTo>
                <a:lnTo>
                  <a:pt x="3680460" y="4229100"/>
                </a:lnTo>
                <a:lnTo>
                  <a:pt x="1234440" y="4240530"/>
                </a:lnTo>
                <a:lnTo>
                  <a:pt x="0" y="2114550"/>
                </a:lnTo>
                <a:lnTo>
                  <a:pt x="1737360" y="2137410"/>
                </a:lnTo>
                <a:lnTo>
                  <a:pt x="2080260" y="1485900"/>
                </a:lnTo>
                <a:close/>
              </a:path>
            </a:pathLst>
          </a:cu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AF18EA38-B635-A5FD-3316-292C849B05DC}"/>
              </a:ext>
            </a:extLst>
          </p:cNvPr>
          <p:cNvSpPr/>
          <p:nvPr/>
        </p:nvSpPr>
        <p:spPr>
          <a:xfrm>
            <a:off x="6438056" y="1842694"/>
            <a:ext cx="2238400" cy="6729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Performance</a:t>
            </a:r>
          </a:p>
        </p:txBody>
      </p:sp>
      <p:sp>
        <p:nvSpPr>
          <p:cNvPr id="14" name="Rectangle: Rounded Corners 13">
            <a:extLst>
              <a:ext uri="{FF2B5EF4-FFF2-40B4-BE49-F238E27FC236}">
                <a16:creationId xmlns:a16="http://schemas.microsoft.com/office/drawing/2014/main" id="{CEEAF6B7-54BB-0C03-386B-721C28F289EC}"/>
              </a:ext>
            </a:extLst>
          </p:cNvPr>
          <p:cNvSpPr/>
          <p:nvPr/>
        </p:nvSpPr>
        <p:spPr>
          <a:xfrm>
            <a:off x="518251" y="1817370"/>
            <a:ext cx="2253549" cy="6982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buNone/>
            </a:pPr>
            <a:r>
              <a:rPr lang="en-GB" sz="2400" b="1" dirty="0">
                <a:solidFill>
                  <a:schemeClr val="bg1"/>
                </a:solidFill>
              </a:rPr>
              <a:t>Preference &amp; Emotions</a:t>
            </a:r>
            <a:endParaRPr lang="en-GB" sz="2400" dirty="0">
              <a:solidFill>
                <a:schemeClr val="bg1"/>
              </a:solidFill>
            </a:endParaRPr>
          </a:p>
        </p:txBody>
      </p:sp>
      <p:sp>
        <p:nvSpPr>
          <p:cNvPr id="3" name="TextBox 2">
            <a:extLst>
              <a:ext uri="{FF2B5EF4-FFF2-40B4-BE49-F238E27FC236}">
                <a16:creationId xmlns:a16="http://schemas.microsoft.com/office/drawing/2014/main" id="{A14B087C-FB75-5743-890C-BBC43F31989B}"/>
              </a:ext>
            </a:extLst>
          </p:cNvPr>
          <p:cNvSpPr txBox="1"/>
          <p:nvPr/>
        </p:nvSpPr>
        <p:spPr>
          <a:xfrm>
            <a:off x="6827529" y="2581738"/>
            <a:ext cx="1329210" cy="369332"/>
          </a:xfrm>
          <a:prstGeom prst="rect">
            <a:avLst/>
          </a:prstGeom>
          <a:noFill/>
        </p:spPr>
        <p:txBody>
          <a:bodyPr wrap="none" rtlCol="0">
            <a:spAutoFit/>
          </a:bodyPr>
          <a:lstStyle/>
          <a:p>
            <a:r>
              <a:rPr lang="en-GB" sz="1800" b="1" dirty="0">
                <a:solidFill>
                  <a:schemeClr val="accent2">
                    <a:lumMod val="75000"/>
                  </a:schemeClr>
                </a:solidFill>
                <a:effectLst>
                  <a:outerShdw blurRad="38100" dist="38100" dir="2700000" algn="tl">
                    <a:srgbClr val="000000">
                      <a:alpha val="43137"/>
                    </a:srgbClr>
                  </a:outerShdw>
                </a:effectLst>
                <a:latin typeface="Bradley Hand ITC" panose="03070402050302030203" pitchFamily="66" charset="0"/>
              </a:rPr>
              <a:t>Behavioural</a:t>
            </a:r>
          </a:p>
        </p:txBody>
      </p:sp>
      <p:sp>
        <p:nvSpPr>
          <p:cNvPr id="4" name="TextBox 3">
            <a:extLst>
              <a:ext uri="{FF2B5EF4-FFF2-40B4-BE49-F238E27FC236}">
                <a16:creationId xmlns:a16="http://schemas.microsoft.com/office/drawing/2014/main" id="{97EA6C7C-8C2B-E10C-2951-F760D69DB58E}"/>
              </a:ext>
            </a:extLst>
          </p:cNvPr>
          <p:cNvSpPr txBox="1"/>
          <p:nvPr/>
        </p:nvSpPr>
        <p:spPr>
          <a:xfrm>
            <a:off x="926270" y="2563319"/>
            <a:ext cx="1361270" cy="369332"/>
          </a:xfrm>
          <a:prstGeom prst="rect">
            <a:avLst/>
          </a:prstGeom>
          <a:noFill/>
        </p:spPr>
        <p:txBody>
          <a:bodyPr wrap="none" rtlCol="0">
            <a:spAutoFit/>
          </a:bodyPr>
          <a:lstStyle/>
          <a:p>
            <a:r>
              <a:rPr lang="en-GB" sz="1800" b="1" dirty="0">
                <a:solidFill>
                  <a:schemeClr val="accent2">
                    <a:lumMod val="75000"/>
                  </a:schemeClr>
                </a:solidFill>
                <a:effectLst>
                  <a:outerShdw blurRad="38100" dist="38100" dir="2700000" algn="tl">
                    <a:srgbClr val="000000">
                      <a:alpha val="43137"/>
                    </a:srgbClr>
                  </a:outerShdw>
                </a:effectLst>
                <a:latin typeface="Bradley Hand ITC" panose="03070402050302030203" pitchFamily="66" charset="0"/>
              </a:rPr>
              <a:t>Attitudinal</a:t>
            </a:r>
          </a:p>
        </p:txBody>
      </p:sp>
      <p:sp>
        <p:nvSpPr>
          <p:cNvPr id="9" name="Footer Placeholder 8">
            <a:extLst>
              <a:ext uri="{FF2B5EF4-FFF2-40B4-BE49-F238E27FC236}">
                <a16:creationId xmlns:a16="http://schemas.microsoft.com/office/drawing/2014/main" id="{10F53575-4DE1-3F49-3B26-45E08EF72FC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52E693F7-4975-192B-EB28-622020CEFCE6}"/>
              </a:ext>
            </a:extLst>
          </p:cNvPr>
          <p:cNvSpPr>
            <a:spLocks noGrp="1"/>
          </p:cNvSpPr>
          <p:nvPr>
            <p:ph type="sldNum" sz="quarter" idx="4"/>
          </p:nvPr>
        </p:nvSpPr>
        <p:spPr/>
        <p:txBody>
          <a:bodyPr/>
          <a:lstStyle/>
          <a:p>
            <a:fld id="{9FD7ECCF-50E7-4327-B945-FA93FF7B2BEF}" type="slidenum">
              <a:rPr lang="en-US" smtClean="0"/>
              <a:pPr/>
              <a:t>9</a:t>
            </a:fld>
            <a:r>
              <a:rPr lang="en-GB"/>
              <a:t>/40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randombar(horizontal)">
                                      <p:cBhvr>
                                        <p:cTn id="10" dur="500"/>
                                        <p:tgtEl>
                                          <p:spTgt spid="1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randombar(horizontal)">
                                      <p:cBhvr>
                                        <p:cTn id="13" dur="500"/>
                                        <p:tgtEl>
                                          <p:spTgt spid="11"/>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542A3-96EC-7FCC-74C9-DCF98BC1CC6B}"/>
              </a:ext>
            </a:extLst>
          </p:cNvPr>
          <p:cNvSpPr>
            <a:spLocks noGrp="1"/>
          </p:cNvSpPr>
          <p:nvPr>
            <p:ph type="title"/>
          </p:nvPr>
        </p:nvSpPr>
        <p:spPr>
          <a:xfrm>
            <a:off x="612648" y="228600"/>
            <a:ext cx="8153400" cy="990600"/>
          </a:xfrm>
        </p:spPr>
        <p:txBody>
          <a:bodyPr>
            <a:normAutofit/>
          </a:bodyPr>
          <a:lstStyle/>
          <a:p>
            <a:r>
              <a:rPr lang="en-GB" dirty="0"/>
              <a:t>Core elements of usability testing</a:t>
            </a:r>
          </a:p>
        </p:txBody>
      </p:sp>
      <p:sp>
        <p:nvSpPr>
          <p:cNvPr id="3" name="Content Placeholder 2">
            <a:extLst>
              <a:ext uri="{FF2B5EF4-FFF2-40B4-BE49-F238E27FC236}">
                <a16:creationId xmlns:a16="http://schemas.microsoft.com/office/drawing/2014/main" id="{64B9D932-57CF-95DF-219C-721FD50D4628}"/>
              </a:ext>
            </a:extLst>
          </p:cNvPr>
          <p:cNvSpPr>
            <a:spLocks noGrp="1"/>
          </p:cNvSpPr>
          <p:nvPr>
            <p:ph sz="quarter" idx="1"/>
          </p:nvPr>
        </p:nvSpPr>
        <p:spPr/>
        <p:txBody>
          <a:bodyPr/>
          <a:lstStyle/>
          <a:p>
            <a:endParaRPr lang="en-GB"/>
          </a:p>
        </p:txBody>
      </p:sp>
      <p:pic>
        <p:nvPicPr>
          <p:cNvPr id="7" name="Picture 6" descr="Core elements of usability testing">
            <a:extLst>
              <a:ext uri="{FF2B5EF4-FFF2-40B4-BE49-F238E27FC236}">
                <a16:creationId xmlns:a16="http://schemas.microsoft.com/office/drawing/2014/main" id="{FB12A956-DF75-DFAD-F1C7-A34010705782}"/>
              </a:ext>
            </a:extLst>
          </p:cNvPr>
          <p:cNvPicPr>
            <a:picLocks noChangeAspect="1"/>
          </p:cNvPicPr>
          <p:nvPr/>
        </p:nvPicPr>
        <p:blipFill>
          <a:blip r:embed="rId3"/>
          <a:stretch>
            <a:fillRect/>
          </a:stretch>
        </p:blipFill>
        <p:spPr>
          <a:xfrm>
            <a:off x="2588214" y="1516698"/>
            <a:ext cx="3900026" cy="4759035"/>
          </a:xfrm>
          <a:prstGeom prst="rect">
            <a:avLst/>
          </a:prstGeom>
        </p:spPr>
      </p:pic>
      <p:sp>
        <p:nvSpPr>
          <p:cNvPr id="6" name="Oval 5">
            <a:extLst>
              <a:ext uri="{FF2B5EF4-FFF2-40B4-BE49-F238E27FC236}">
                <a16:creationId xmlns:a16="http://schemas.microsoft.com/office/drawing/2014/main" id="{104BD6F2-953E-0167-AA00-AF068B275E0C}"/>
              </a:ext>
            </a:extLst>
          </p:cNvPr>
          <p:cNvSpPr/>
          <p:nvPr/>
        </p:nvSpPr>
        <p:spPr>
          <a:xfrm>
            <a:off x="3419872" y="2898347"/>
            <a:ext cx="2236711" cy="22367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0" b="1" dirty="0">
                <a:latin typeface="Abadi" panose="020B0604020202020204" pitchFamily="34" charset="0"/>
              </a:rPr>
              <a:t>?</a:t>
            </a:r>
            <a:endParaRPr lang="en-GB" sz="1600" b="1" dirty="0">
              <a:latin typeface="Abadi" panose="020B0604020202020204" pitchFamily="34" charset="0"/>
            </a:endParaRPr>
          </a:p>
        </p:txBody>
      </p:sp>
      <p:sp>
        <p:nvSpPr>
          <p:cNvPr id="10" name="Footer Placeholder 9">
            <a:extLst>
              <a:ext uri="{FF2B5EF4-FFF2-40B4-BE49-F238E27FC236}">
                <a16:creationId xmlns:a16="http://schemas.microsoft.com/office/drawing/2014/main" id="{74DBA60B-08B3-5D61-6059-B9CC6473A0C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2EF97C10-16B5-D71B-856F-1C26AAC1EE3E}"/>
              </a:ext>
            </a:extLst>
          </p:cNvPr>
          <p:cNvSpPr>
            <a:spLocks noGrp="1"/>
          </p:cNvSpPr>
          <p:nvPr>
            <p:ph type="sldNum" sz="quarter" idx="4"/>
          </p:nvPr>
        </p:nvSpPr>
        <p:spPr/>
        <p:txBody>
          <a:bodyPr/>
          <a:lstStyle/>
          <a:p>
            <a:fld id="{9FD7ECCF-50E7-4327-B945-FA93FF7B2BEF}" type="slidenum">
              <a:rPr lang="en-US" smtClean="0"/>
              <a:pPr/>
              <a:t>10</a:t>
            </a:fld>
            <a:r>
              <a:rPr lang="en-GB"/>
              <a:t>/40</a:t>
            </a:r>
            <a:endParaRPr lang="en-US" dirty="0"/>
          </a:p>
        </p:txBody>
      </p:sp>
    </p:spTree>
    <p:extLst>
      <p:ext uri="{BB962C8B-B14F-4D97-AF65-F5344CB8AC3E}">
        <p14:creationId xmlns:p14="http://schemas.microsoft.com/office/powerpoint/2010/main" val="245182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2B44-7740-01A2-4271-9FF078BADEA4}"/>
              </a:ext>
            </a:extLst>
          </p:cNvPr>
          <p:cNvSpPr>
            <a:spLocks noGrp="1"/>
          </p:cNvSpPr>
          <p:nvPr>
            <p:ph type="title"/>
          </p:nvPr>
        </p:nvSpPr>
        <p:spPr/>
        <p:txBody>
          <a:bodyPr/>
          <a:lstStyle/>
          <a:p>
            <a:r>
              <a:rPr lang="en-GB" dirty="0"/>
              <a:t>How to we measure usability?</a:t>
            </a:r>
          </a:p>
        </p:txBody>
      </p:sp>
      <p:sp>
        <p:nvSpPr>
          <p:cNvPr id="3" name="Content Placeholder 2">
            <a:extLst>
              <a:ext uri="{FF2B5EF4-FFF2-40B4-BE49-F238E27FC236}">
                <a16:creationId xmlns:a16="http://schemas.microsoft.com/office/drawing/2014/main" id="{40BD956A-67DD-57F0-90A9-0E0B6F1CEE5B}"/>
              </a:ext>
            </a:extLst>
          </p:cNvPr>
          <p:cNvSpPr>
            <a:spLocks noGrp="1"/>
          </p:cNvSpPr>
          <p:nvPr>
            <p:ph sz="quarter" idx="1"/>
          </p:nvPr>
        </p:nvSpPr>
        <p:spPr>
          <a:xfrm>
            <a:off x="612648" y="2636912"/>
            <a:ext cx="8531352" cy="3459088"/>
          </a:xfrm>
        </p:spPr>
        <p:txBody>
          <a:bodyPr>
            <a:normAutofit/>
          </a:bodyPr>
          <a:lstStyle/>
          <a:p>
            <a:pPr>
              <a:lnSpc>
                <a:spcPct val="300000"/>
              </a:lnSpc>
              <a:tabLst>
                <a:tab pos="3763963" algn="l"/>
              </a:tabLst>
            </a:pPr>
            <a:r>
              <a:rPr lang="en-GB" sz="2400" dirty="0"/>
              <a:t>What do we need?	prototype,     test material</a:t>
            </a:r>
          </a:p>
          <a:p>
            <a:pPr>
              <a:lnSpc>
                <a:spcPct val="300000"/>
              </a:lnSpc>
              <a:tabLst>
                <a:tab pos="3763963" algn="l"/>
              </a:tabLst>
            </a:pPr>
            <a:r>
              <a:rPr lang="en-GB" sz="2400" dirty="0"/>
              <a:t>Who is involved?	facilitator,           user</a:t>
            </a:r>
          </a:p>
          <a:p>
            <a:pPr>
              <a:lnSpc>
                <a:spcPct val="300000"/>
              </a:lnSpc>
              <a:tabLst>
                <a:tab pos="3763963" algn="l"/>
              </a:tabLst>
            </a:pPr>
            <a:r>
              <a:rPr lang="en-GB" sz="2400" dirty="0"/>
              <a:t>What are their roles?	</a:t>
            </a:r>
            <a:r>
              <a:rPr lang="en-GB" sz="2400" u="sng" dirty="0"/>
              <a:t>to conduct the test</a:t>
            </a:r>
            <a:r>
              <a:rPr lang="en-GB" sz="2400" dirty="0"/>
              <a:t>,  </a:t>
            </a:r>
            <a:r>
              <a:rPr lang="en-GB" sz="2400" u="sng" dirty="0"/>
              <a:t>to be observed</a:t>
            </a:r>
          </a:p>
        </p:txBody>
      </p:sp>
      <p:grpSp>
        <p:nvGrpSpPr>
          <p:cNvPr id="15" name="Group 14">
            <a:extLst>
              <a:ext uri="{FF2B5EF4-FFF2-40B4-BE49-F238E27FC236}">
                <a16:creationId xmlns:a16="http://schemas.microsoft.com/office/drawing/2014/main" id="{8F6ED55F-382B-599F-AB32-AA48F4A25ACC}"/>
              </a:ext>
            </a:extLst>
          </p:cNvPr>
          <p:cNvGrpSpPr/>
          <p:nvPr/>
        </p:nvGrpSpPr>
        <p:grpSpPr>
          <a:xfrm>
            <a:off x="4953588" y="4915230"/>
            <a:ext cx="142560" cy="640440"/>
            <a:chOff x="4928760" y="3438089"/>
            <a:chExt cx="142560" cy="64044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F0F76A5A-F2AB-64C2-CB27-B46CC391B668}"/>
                    </a:ext>
                  </a:extLst>
                </p14:cNvPr>
                <p14:cNvContentPartPr/>
                <p14:nvPr/>
              </p14:nvContentPartPr>
              <p14:xfrm>
                <a:off x="5022000" y="3438089"/>
                <a:ext cx="14400" cy="595440"/>
              </p14:xfrm>
            </p:contentPart>
          </mc:Choice>
          <mc:Fallback xmlns="">
            <p:pic>
              <p:nvPicPr>
                <p:cNvPr id="13" name="Ink 12">
                  <a:extLst>
                    <a:ext uri="{FF2B5EF4-FFF2-40B4-BE49-F238E27FC236}">
                      <a16:creationId xmlns:a16="http://schemas.microsoft.com/office/drawing/2014/main" id="{F0F76A5A-F2AB-64C2-CB27-B46CC391B668}"/>
                    </a:ext>
                  </a:extLst>
                </p:cNvPr>
                <p:cNvPicPr/>
                <p:nvPr/>
              </p:nvPicPr>
              <p:blipFill>
                <a:blip r:embed="rId3"/>
                <a:stretch>
                  <a:fillRect/>
                </a:stretch>
              </p:blipFill>
              <p:spPr>
                <a:xfrm>
                  <a:off x="5004000" y="3420449"/>
                  <a:ext cx="50040" cy="631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F9D291A7-C0C9-CBDD-EF2E-BC0DAD8679D1}"/>
                    </a:ext>
                  </a:extLst>
                </p14:cNvPr>
                <p14:cNvContentPartPr/>
                <p14:nvPr/>
              </p14:nvContentPartPr>
              <p14:xfrm>
                <a:off x="4928760" y="3964409"/>
                <a:ext cx="142560" cy="114120"/>
              </p14:xfrm>
            </p:contentPart>
          </mc:Choice>
          <mc:Fallback xmlns="">
            <p:pic>
              <p:nvPicPr>
                <p:cNvPr id="14" name="Ink 13">
                  <a:extLst>
                    <a:ext uri="{FF2B5EF4-FFF2-40B4-BE49-F238E27FC236}">
                      <a16:creationId xmlns:a16="http://schemas.microsoft.com/office/drawing/2014/main" id="{F9D291A7-C0C9-CBDD-EF2E-BC0DAD8679D1}"/>
                    </a:ext>
                  </a:extLst>
                </p:cNvPr>
                <p:cNvPicPr/>
                <p:nvPr/>
              </p:nvPicPr>
              <p:blipFill>
                <a:blip r:embed="rId5"/>
                <a:stretch>
                  <a:fillRect/>
                </a:stretch>
              </p:blipFill>
              <p:spPr>
                <a:xfrm>
                  <a:off x="4910760" y="3946409"/>
                  <a:ext cx="178200" cy="149760"/>
                </a:xfrm>
                <a:prstGeom prst="rect">
                  <a:avLst/>
                </a:prstGeom>
              </p:spPr>
            </p:pic>
          </mc:Fallback>
        </mc:AlternateContent>
      </p:grpSp>
      <p:pic>
        <p:nvPicPr>
          <p:cNvPr id="22" name="Picture 21" descr="prototype">
            <a:extLst>
              <a:ext uri="{FF2B5EF4-FFF2-40B4-BE49-F238E27FC236}">
                <a16:creationId xmlns:a16="http://schemas.microsoft.com/office/drawing/2014/main" id="{E57A528C-5F46-A093-D66B-D0D00D3DD4F4}"/>
              </a:ext>
            </a:extLst>
          </p:cNvPr>
          <p:cNvPicPr>
            <a:picLocks noChangeAspect="1"/>
          </p:cNvPicPr>
          <p:nvPr/>
        </p:nvPicPr>
        <p:blipFill>
          <a:blip r:embed="rId6"/>
          <a:stretch>
            <a:fillRect/>
          </a:stretch>
        </p:blipFill>
        <p:spPr>
          <a:xfrm>
            <a:off x="4661635" y="1809434"/>
            <a:ext cx="784785" cy="1276739"/>
          </a:xfrm>
          <a:prstGeom prst="rect">
            <a:avLst/>
          </a:prstGeom>
        </p:spPr>
      </p:pic>
      <p:pic>
        <p:nvPicPr>
          <p:cNvPr id="24" name="Picture 23" descr="test material">
            <a:extLst>
              <a:ext uri="{FF2B5EF4-FFF2-40B4-BE49-F238E27FC236}">
                <a16:creationId xmlns:a16="http://schemas.microsoft.com/office/drawing/2014/main" id="{2B47607D-9A7C-4FE0-50EB-B4EA6960070F}"/>
              </a:ext>
            </a:extLst>
          </p:cNvPr>
          <p:cNvPicPr>
            <a:picLocks noChangeAspect="1"/>
          </p:cNvPicPr>
          <p:nvPr/>
        </p:nvPicPr>
        <p:blipFill>
          <a:blip r:embed="rId7"/>
          <a:stretch>
            <a:fillRect/>
          </a:stretch>
        </p:blipFill>
        <p:spPr>
          <a:xfrm>
            <a:off x="5940152" y="1914275"/>
            <a:ext cx="1769406" cy="1240141"/>
          </a:xfrm>
          <a:prstGeom prst="rect">
            <a:avLst/>
          </a:prstGeom>
        </p:spPr>
      </p:pic>
      <p:pic>
        <p:nvPicPr>
          <p:cNvPr id="26" name="Picture 25" descr="facilitator">
            <a:extLst>
              <a:ext uri="{FF2B5EF4-FFF2-40B4-BE49-F238E27FC236}">
                <a16:creationId xmlns:a16="http://schemas.microsoft.com/office/drawing/2014/main" id="{41831B75-AD27-2298-8D5A-6B4675C82803}"/>
              </a:ext>
            </a:extLst>
          </p:cNvPr>
          <p:cNvPicPr>
            <a:picLocks noChangeAspect="1"/>
          </p:cNvPicPr>
          <p:nvPr/>
        </p:nvPicPr>
        <p:blipFill>
          <a:blip r:embed="rId8"/>
          <a:stretch>
            <a:fillRect/>
          </a:stretch>
        </p:blipFill>
        <p:spPr>
          <a:xfrm>
            <a:off x="4654851" y="3675193"/>
            <a:ext cx="881469" cy="787980"/>
          </a:xfrm>
          <a:prstGeom prst="rect">
            <a:avLst/>
          </a:prstGeom>
        </p:spPr>
      </p:pic>
      <p:pic>
        <p:nvPicPr>
          <p:cNvPr id="28" name="Picture 27" descr="user">
            <a:extLst>
              <a:ext uri="{FF2B5EF4-FFF2-40B4-BE49-F238E27FC236}">
                <a16:creationId xmlns:a16="http://schemas.microsoft.com/office/drawing/2014/main" id="{B3AB01D4-451D-D090-A4F3-B2C9BB935117}"/>
              </a:ext>
            </a:extLst>
          </p:cNvPr>
          <p:cNvPicPr>
            <a:picLocks noChangeAspect="1"/>
          </p:cNvPicPr>
          <p:nvPr/>
        </p:nvPicPr>
        <p:blipFill>
          <a:blip r:embed="rId9"/>
          <a:stretch>
            <a:fillRect/>
          </a:stretch>
        </p:blipFill>
        <p:spPr>
          <a:xfrm>
            <a:off x="6496002" y="3614384"/>
            <a:ext cx="781302" cy="848080"/>
          </a:xfrm>
          <a:prstGeom prst="rect">
            <a:avLst/>
          </a:prstGeom>
        </p:spPr>
      </p:pic>
      <p:grpSp>
        <p:nvGrpSpPr>
          <p:cNvPr id="34" name="Group 33">
            <a:extLst>
              <a:ext uri="{FF2B5EF4-FFF2-40B4-BE49-F238E27FC236}">
                <a16:creationId xmlns:a16="http://schemas.microsoft.com/office/drawing/2014/main" id="{E96274F5-2C4F-7575-828F-BCE4EE9D0A23}"/>
              </a:ext>
            </a:extLst>
          </p:cNvPr>
          <p:cNvGrpSpPr/>
          <p:nvPr/>
        </p:nvGrpSpPr>
        <p:grpSpPr>
          <a:xfrm>
            <a:off x="6951600" y="4816169"/>
            <a:ext cx="689760" cy="762120"/>
            <a:chOff x="6951600" y="4816169"/>
            <a:chExt cx="689760" cy="762120"/>
          </a:xfrm>
        </p:grpSpPr>
        <mc:AlternateContent xmlns:mc="http://schemas.openxmlformats.org/markup-compatibility/2006" xmlns:p14="http://schemas.microsoft.com/office/powerpoint/2010/main">
          <mc:Choice Requires="p14">
            <p:contentPart p14:bwMode="auto" r:id="rId10">
              <p14:nvContentPartPr>
                <p14:cNvPr id="32" name="Ink 31">
                  <a:extLst>
                    <a:ext uri="{FF2B5EF4-FFF2-40B4-BE49-F238E27FC236}">
                      <a16:creationId xmlns:a16="http://schemas.microsoft.com/office/drawing/2014/main" id="{B9ECBCC2-ED62-3D17-9301-716BE293825A}"/>
                    </a:ext>
                  </a:extLst>
                </p14:cNvPr>
                <p14:cNvContentPartPr/>
                <p14:nvPr/>
              </p14:nvContentPartPr>
              <p14:xfrm>
                <a:off x="6951600" y="4816169"/>
                <a:ext cx="662760" cy="753840"/>
              </p14:xfrm>
            </p:contentPart>
          </mc:Choice>
          <mc:Fallback xmlns="">
            <p:pic>
              <p:nvPicPr>
                <p:cNvPr id="32" name="Ink 31">
                  <a:extLst>
                    <a:ext uri="{FF2B5EF4-FFF2-40B4-BE49-F238E27FC236}">
                      <a16:creationId xmlns:a16="http://schemas.microsoft.com/office/drawing/2014/main" id="{B9ECBCC2-ED62-3D17-9301-716BE293825A}"/>
                    </a:ext>
                  </a:extLst>
                </p:cNvPr>
                <p:cNvPicPr/>
                <p:nvPr/>
              </p:nvPicPr>
              <p:blipFill>
                <a:blip r:embed="rId11"/>
                <a:stretch>
                  <a:fillRect/>
                </a:stretch>
              </p:blipFill>
              <p:spPr>
                <a:xfrm>
                  <a:off x="6933960" y="4798529"/>
                  <a:ext cx="698400" cy="789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3" name="Ink 32">
                  <a:extLst>
                    <a:ext uri="{FF2B5EF4-FFF2-40B4-BE49-F238E27FC236}">
                      <a16:creationId xmlns:a16="http://schemas.microsoft.com/office/drawing/2014/main" id="{D62C2F4D-DA49-7AAD-0626-531602C33B27}"/>
                    </a:ext>
                  </a:extLst>
                </p14:cNvPr>
                <p14:cNvContentPartPr/>
                <p14:nvPr/>
              </p14:nvContentPartPr>
              <p14:xfrm>
                <a:off x="7515360" y="5454809"/>
                <a:ext cx="126000" cy="123480"/>
              </p14:xfrm>
            </p:contentPart>
          </mc:Choice>
          <mc:Fallback xmlns="">
            <p:pic>
              <p:nvPicPr>
                <p:cNvPr id="33" name="Ink 32">
                  <a:extLst>
                    <a:ext uri="{FF2B5EF4-FFF2-40B4-BE49-F238E27FC236}">
                      <a16:creationId xmlns:a16="http://schemas.microsoft.com/office/drawing/2014/main" id="{D62C2F4D-DA49-7AAD-0626-531602C33B27}"/>
                    </a:ext>
                  </a:extLst>
                </p:cNvPr>
                <p:cNvPicPr/>
                <p:nvPr/>
              </p:nvPicPr>
              <p:blipFill>
                <a:blip r:embed="rId13"/>
                <a:stretch>
                  <a:fillRect/>
                </a:stretch>
              </p:blipFill>
              <p:spPr>
                <a:xfrm>
                  <a:off x="7497720" y="5436809"/>
                  <a:ext cx="161640" cy="159120"/>
                </a:xfrm>
                <a:prstGeom prst="rect">
                  <a:avLst/>
                </a:prstGeom>
              </p:spPr>
            </p:pic>
          </mc:Fallback>
        </mc:AlternateContent>
      </p:grpSp>
      <p:sp>
        <p:nvSpPr>
          <p:cNvPr id="6" name="Footer Placeholder 5">
            <a:extLst>
              <a:ext uri="{FF2B5EF4-FFF2-40B4-BE49-F238E27FC236}">
                <a16:creationId xmlns:a16="http://schemas.microsoft.com/office/drawing/2014/main" id="{B069443F-897F-2EB0-719C-9A799540C3B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7D8E7CD6-4FEE-CED6-9955-F6A008E84D67}"/>
              </a:ext>
            </a:extLst>
          </p:cNvPr>
          <p:cNvSpPr>
            <a:spLocks noGrp="1"/>
          </p:cNvSpPr>
          <p:nvPr>
            <p:ph type="sldNum" sz="quarter" idx="4"/>
          </p:nvPr>
        </p:nvSpPr>
        <p:spPr/>
        <p:txBody>
          <a:bodyPr/>
          <a:lstStyle/>
          <a:p>
            <a:fld id="{9FD7ECCF-50E7-4327-B945-FA93FF7B2BEF}" type="slidenum">
              <a:rPr lang="en-US" smtClean="0"/>
              <a:pPr/>
              <a:t>11</a:t>
            </a:fld>
            <a:r>
              <a:rPr lang="en-GB"/>
              <a:t>/40</a:t>
            </a:r>
            <a:endParaRPr lang="en-US" dirty="0"/>
          </a:p>
        </p:txBody>
      </p:sp>
    </p:spTree>
    <p:extLst>
      <p:ext uri="{BB962C8B-B14F-4D97-AF65-F5344CB8AC3E}">
        <p14:creationId xmlns:p14="http://schemas.microsoft.com/office/powerpoint/2010/main" val="2327315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F442-3298-4539-7246-F9C658323C84}"/>
              </a:ext>
            </a:extLst>
          </p:cNvPr>
          <p:cNvSpPr>
            <a:spLocks noGrp="1"/>
          </p:cNvSpPr>
          <p:nvPr>
            <p:ph type="title"/>
          </p:nvPr>
        </p:nvSpPr>
        <p:spPr/>
        <p:txBody>
          <a:bodyPr/>
          <a:lstStyle/>
          <a:p>
            <a:r>
              <a:rPr lang="en-GB" dirty="0"/>
              <a:t>What is involved in usability testing</a:t>
            </a:r>
          </a:p>
        </p:txBody>
      </p:sp>
      <p:sp>
        <p:nvSpPr>
          <p:cNvPr id="8" name="TextBox 7">
            <a:extLst>
              <a:ext uri="{FF2B5EF4-FFF2-40B4-BE49-F238E27FC236}">
                <a16:creationId xmlns:a16="http://schemas.microsoft.com/office/drawing/2014/main" id="{E4A799DC-20D5-91BD-C27A-0C841A61E15A}"/>
              </a:ext>
            </a:extLst>
          </p:cNvPr>
          <p:cNvSpPr txBox="1"/>
          <p:nvPr/>
        </p:nvSpPr>
        <p:spPr>
          <a:xfrm>
            <a:off x="3573224" y="5831327"/>
            <a:ext cx="2232248" cy="276999"/>
          </a:xfrm>
          <a:prstGeom prst="rect">
            <a:avLst/>
          </a:prstGeom>
          <a:noFill/>
        </p:spPr>
        <p:txBody>
          <a:bodyPr wrap="square" rtlCol="0">
            <a:spAutoFit/>
          </a:bodyPr>
          <a:lstStyle/>
          <a:p>
            <a:pPr algn="ctr"/>
            <a:r>
              <a:rPr lang="en-GB" sz="1200" b="0" i="0" dirty="0">
                <a:effectLst/>
                <a:latin typeface="Arial" panose="020B0604020202020204" pitchFamily="34" charset="0"/>
              </a:rPr>
              <a:t>We will cover this in week3</a:t>
            </a:r>
            <a:endParaRPr lang="en-GB" sz="1600" dirty="0">
              <a:latin typeface="+mn-lt"/>
            </a:endParaRPr>
          </a:p>
        </p:txBody>
      </p:sp>
      <p:pic>
        <p:nvPicPr>
          <p:cNvPr id="12" name="Picture 11" descr="What is involved in usability testing">
            <a:extLst>
              <a:ext uri="{FF2B5EF4-FFF2-40B4-BE49-F238E27FC236}">
                <a16:creationId xmlns:a16="http://schemas.microsoft.com/office/drawing/2014/main" id="{1EA73E1E-5744-2952-F2B0-BF14D8CF80E9}"/>
              </a:ext>
            </a:extLst>
          </p:cNvPr>
          <p:cNvPicPr>
            <a:picLocks noChangeAspect="1"/>
          </p:cNvPicPr>
          <p:nvPr/>
        </p:nvPicPr>
        <p:blipFill>
          <a:blip r:embed="rId3"/>
          <a:stretch>
            <a:fillRect/>
          </a:stretch>
        </p:blipFill>
        <p:spPr>
          <a:xfrm>
            <a:off x="395536" y="2024334"/>
            <a:ext cx="8567046" cy="3561444"/>
          </a:xfrm>
          <a:prstGeom prst="rect">
            <a:avLst/>
          </a:prstGeom>
        </p:spPr>
      </p:pic>
      <p:sp>
        <p:nvSpPr>
          <p:cNvPr id="7" name="Footer Placeholder 6">
            <a:extLst>
              <a:ext uri="{FF2B5EF4-FFF2-40B4-BE49-F238E27FC236}">
                <a16:creationId xmlns:a16="http://schemas.microsoft.com/office/drawing/2014/main" id="{4AD4C9F9-2CCF-3147-BAA4-ACD9FF5CA66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16E303C8-9DB4-DADC-8963-0D242847AA68}"/>
              </a:ext>
            </a:extLst>
          </p:cNvPr>
          <p:cNvSpPr>
            <a:spLocks noGrp="1"/>
          </p:cNvSpPr>
          <p:nvPr>
            <p:ph type="sldNum" sz="quarter" idx="4"/>
          </p:nvPr>
        </p:nvSpPr>
        <p:spPr/>
        <p:txBody>
          <a:bodyPr/>
          <a:lstStyle/>
          <a:p>
            <a:fld id="{9FD7ECCF-50E7-4327-B945-FA93FF7B2BEF}" type="slidenum">
              <a:rPr lang="en-US" smtClean="0"/>
              <a:pPr/>
              <a:t>12</a:t>
            </a:fld>
            <a:r>
              <a:rPr lang="en-GB"/>
              <a:t>/40</a:t>
            </a:r>
            <a:endParaRPr lang="en-US" dirty="0"/>
          </a:p>
        </p:txBody>
      </p:sp>
    </p:spTree>
    <p:extLst>
      <p:ext uri="{BB962C8B-B14F-4D97-AF65-F5344CB8AC3E}">
        <p14:creationId xmlns:p14="http://schemas.microsoft.com/office/powerpoint/2010/main" val="79881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7DE62-09A9-1C38-EE52-5BB6B3C6B721}"/>
              </a:ext>
            </a:extLst>
          </p:cNvPr>
          <p:cNvSpPr>
            <a:spLocks noGrp="1"/>
          </p:cNvSpPr>
          <p:nvPr>
            <p:ph type="title"/>
          </p:nvPr>
        </p:nvSpPr>
        <p:spPr/>
        <p:txBody>
          <a:bodyPr/>
          <a:lstStyle/>
          <a:p>
            <a:r>
              <a:rPr lang="en-GB" dirty="0"/>
              <a:t>Core elements of usability testing</a:t>
            </a:r>
          </a:p>
        </p:txBody>
      </p:sp>
      <p:pic>
        <p:nvPicPr>
          <p:cNvPr id="7" name="Picture 6" descr="Core elements of usability testing">
            <a:extLst>
              <a:ext uri="{FF2B5EF4-FFF2-40B4-BE49-F238E27FC236}">
                <a16:creationId xmlns:a16="http://schemas.microsoft.com/office/drawing/2014/main" id="{10D9AD69-1B25-BB35-6BC5-67AB3D31709F}"/>
              </a:ext>
            </a:extLst>
          </p:cNvPr>
          <p:cNvPicPr>
            <a:picLocks noChangeAspect="1"/>
          </p:cNvPicPr>
          <p:nvPr/>
        </p:nvPicPr>
        <p:blipFill>
          <a:blip r:embed="rId3"/>
          <a:stretch>
            <a:fillRect/>
          </a:stretch>
        </p:blipFill>
        <p:spPr>
          <a:xfrm>
            <a:off x="669305" y="1618800"/>
            <a:ext cx="7916526" cy="4600806"/>
          </a:xfrm>
          <a:prstGeom prst="rect">
            <a:avLst/>
          </a:prstGeom>
        </p:spPr>
      </p:pic>
      <p:sp>
        <p:nvSpPr>
          <p:cNvPr id="8" name="TextBox 7">
            <a:extLst>
              <a:ext uri="{FF2B5EF4-FFF2-40B4-BE49-F238E27FC236}">
                <a16:creationId xmlns:a16="http://schemas.microsoft.com/office/drawing/2014/main" id="{B3058534-FBF5-E3F8-D71D-CA1A95406AA0}"/>
              </a:ext>
            </a:extLst>
          </p:cNvPr>
          <p:cNvSpPr txBox="1"/>
          <p:nvPr/>
        </p:nvSpPr>
        <p:spPr>
          <a:xfrm>
            <a:off x="4456303" y="2458615"/>
            <a:ext cx="1515158" cy="461665"/>
          </a:xfrm>
          <a:prstGeom prst="rect">
            <a:avLst/>
          </a:prstGeom>
          <a:solidFill>
            <a:schemeClr val="accent1">
              <a:lumMod val="40000"/>
              <a:lumOff val="60000"/>
              <a:alpha val="80000"/>
            </a:schemeClr>
          </a:solidFill>
        </p:spPr>
        <p:txBody>
          <a:bodyPr wrap="none" rtlCol="0">
            <a:spAutoFit/>
          </a:bodyPr>
          <a:lstStyle/>
          <a:p>
            <a:r>
              <a:rPr lang="en-GB" dirty="0">
                <a:latin typeface="+mn-lt"/>
              </a:rPr>
              <a:t>Participant</a:t>
            </a:r>
          </a:p>
        </p:txBody>
      </p:sp>
      <p:sp>
        <p:nvSpPr>
          <p:cNvPr id="9" name="TextBox 8">
            <a:extLst>
              <a:ext uri="{FF2B5EF4-FFF2-40B4-BE49-F238E27FC236}">
                <a16:creationId xmlns:a16="http://schemas.microsoft.com/office/drawing/2014/main" id="{AB261D6F-000F-5F8A-CE4E-9ACF1C3545B1}"/>
              </a:ext>
            </a:extLst>
          </p:cNvPr>
          <p:cNvSpPr txBox="1"/>
          <p:nvPr/>
        </p:nvSpPr>
        <p:spPr>
          <a:xfrm>
            <a:off x="2123728" y="4821924"/>
            <a:ext cx="1399935" cy="461665"/>
          </a:xfrm>
          <a:prstGeom prst="rect">
            <a:avLst/>
          </a:prstGeom>
          <a:solidFill>
            <a:schemeClr val="accent2">
              <a:lumMod val="60000"/>
              <a:lumOff val="40000"/>
              <a:alpha val="80000"/>
            </a:schemeClr>
          </a:solidFill>
        </p:spPr>
        <p:txBody>
          <a:bodyPr wrap="none" rtlCol="0">
            <a:spAutoFit/>
          </a:bodyPr>
          <a:lstStyle/>
          <a:p>
            <a:r>
              <a:rPr lang="en-GB" dirty="0">
                <a:latin typeface="+mn-lt"/>
              </a:rPr>
              <a:t>Facilitator</a:t>
            </a:r>
          </a:p>
        </p:txBody>
      </p:sp>
      <p:sp>
        <p:nvSpPr>
          <p:cNvPr id="10" name="TextBox 9">
            <a:extLst>
              <a:ext uri="{FF2B5EF4-FFF2-40B4-BE49-F238E27FC236}">
                <a16:creationId xmlns:a16="http://schemas.microsoft.com/office/drawing/2014/main" id="{B3DD4699-45A4-C633-26B0-FD9B32BF689E}"/>
              </a:ext>
            </a:extLst>
          </p:cNvPr>
          <p:cNvSpPr txBox="1"/>
          <p:nvPr/>
        </p:nvSpPr>
        <p:spPr>
          <a:xfrm>
            <a:off x="3793050" y="4683424"/>
            <a:ext cx="2370072" cy="1200329"/>
          </a:xfrm>
          <a:prstGeom prst="rect">
            <a:avLst/>
          </a:prstGeom>
          <a:solidFill>
            <a:schemeClr val="accent2">
              <a:lumMod val="60000"/>
              <a:lumOff val="40000"/>
              <a:alpha val="80000"/>
            </a:schemeClr>
          </a:solidFill>
        </p:spPr>
        <p:txBody>
          <a:bodyPr wrap="square" rtlCol="0">
            <a:spAutoFit/>
          </a:bodyPr>
          <a:lstStyle/>
          <a:p>
            <a:pPr algn="ctr"/>
            <a:r>
              <a:rPr lang="en-GB" dirty="0">
                <a:latin typeface="+mn-lt"/>
              </a:rPr>
              <a:t>Facilitator’s laptop &amp; external monitor</a:t>
            </a:r>
          </a:p>
        </p:txBody>
      </p:sp>
      <p:sp>
        <p:nvSpPr>
          <p:cNvPr id="12" name="TextBox 11">
            <a:extLst>
              <a:ext uri="{FF2B5EF4-FFF2-40B4-BE49-F238E27FC236}">
                <a16:creationId xmlns:a16="http://schemas.microsoft.com/office/drawing/2014/main" id="{7D48EAE7-AC52-EBD7-42D9-C5540973DE74}"/>
              </a:ext>
            </a:extLst>
          </p:cNvPr>
          <p:cNvSpPr txBox="1"/>
          <p:nvPr/>
        </p:nvSpPr>
        <p:spPr>
          <a:xfrm>
            <a:off x="2228426" y="2205903"/>
            <a:ext cx="1701694" cy="830997"/>
          </a:xfrm>
          <a:prstGeom prst="rect">
            <a:avLst/>
          </a:prstGeom>
          <a:solidFill>
            <a:schemeClr val="accent1">
              <a:lumMod val="40000"/>
              <a:lumOff val="60000"/>
              <a:alpha val="80000"/>
            </a:schemeClr>
          </a:solidFill>
        </p:spPr>
        <p:txBody>
          <a:bodyPr wrap="square" rtlCol="0">
            <a:spAutoFit/>
          </a:bodyPr>
          <a:lstStyle/>
          <a:p>
            <a:pPr algn="ctr"/>
            <a:r>
              <a:rPr lang="en-GB" dirty="0">
                <a:latin typeface="+mn-lt"/>
              </a:rPr>
              <a:t>Digital Product</a:t>
            </a:r>
          </a:p>
        </p:txBody>
      </p:sp>
      <p:sp>
        <p:nvSpPr>
          <p:cNvPr id="13" name="TextBox 12">
            <a:extLst>
              <a:ext uri="{FF2B5EF4-FFF2-40B4-BE49-F238E27FC236}">
                <a16:creationId xmlns:a16="http://schemas.microsoft.com/office/drawing/2014/main" id="{7DE176BE-3E1A-CBA3-2643-A7B10DB8F9B9}"/>
              </a:ext>
            </a:extLst>
          </p:cNvPr>
          <p:cNvSpPr txBox="1"/>
          <p:nvPr/>
        </p:nvSpPr>
        <p:spPr>
          <a:xfrm>
            <a:off x="5580112" y="4021959"/>
            <a:ext cx="1569084" cy="461665"/>
          </a:xfrm>
          <a:prstGeom prst="rect">
            <a:avLst/>
          </a:prstGeom>
          <a:solidFill>
            <a:schemeClr val="accent3">
              <a:lumMod val="40000"/>
              <a:lumOff val="60000"/>
              <a:alpha val="80000"/>
            </a:schemeClr>
          </a:solidFill>
        </p:spPr>
        <p:txBody>
          <a:bodyPr wrap="none" rtlCol="0">
            <a:spAutoFit/>
          </a:bodyPr>
          <a:lstStyle/>
          <a:p>
            <a:r>
              <a:rPr lang="en-GB" dirty="0">
                <a:latin typeface="+mn-lt"/>
              </a:rPr>
              <a:t>Task Sheets</a:t>
            </a:r>
          </a:p>
        </p:txBody>
      </p:sp>
      <p:sp>
        <p:nvSpPr>
          <p:cNvPr id="11" name="Footer Placeholder 10">
            <a:extLst>
              <a:ext uri="{FF2B5EF4-FFF2-40B4-BE49-F238E27FC236}">
                <a16:creationId xmlns:a16="http://schemas.microsoft.com/office/drawing/2014/main" id="{77DD1552-13B9-C856-8DFB-A6B904D123E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08F70864-BFFF-F842-EB96-A456552CC001}"/>
              </a:ext>
            </a:extLst>
          </p:cNvPr>
          <p:cNvSpPr>
            <a:spLocks noGrp="1"/>
          </p:cNvSpPr>
          <p:nvPr>
            <p:ph type="sldNum" sz="quarter" idx="4"/>
          </p:nvPr>
        </p:nvSpPr>
        <p:spPr/>
        <p:txBody>
          <a:bodyPr/>
          <a:lstStyle/>
          <a:p>
            <a:fld id="{9FD7ECCF-50E7-4327-B945-FA93FF7B2BEF}" type="slidenum">
              <a:rPr lang="en-US" smtClean="0"/>
              <a:pPr/>
              <a:t>13</a:t>
            </a:fld>
            <a:r>
              <a:rPr lang="en-GB"/>
              <a:t>/40</a:t>
            </a:r>
            <a:endParaRPr lang="en-US" dirty="0"/>
          </a:p>
        </p:txBody>
      </p:sp>
    </p:spTree>
    <p:extLst>
      <p:ext uri="{BB962C8B-B14F-4D97-AF65-F5344CB8AC3E}">
        <p14:creationId xmlns:p14="http://schemas.microsoft.com/office/powerpoint/2010/main" val="3039138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07B36-082F-05B7-CAE1-6D4E851E8C7F}"/>
              </a:ext>
            </a:extLst>
          </p:cNvPr>
          <p:cNvSpPr>
            <a:spLocks noGrp="1"/>
          </p:cNvSpPr>
          <p:nvPr>
            <p:ph type="title"/>
          </p:nvPr>
        </p:nvSpPr>
        <p:spPr>
          <a:xfrm>
            <a:off x="609600" y="64657"/>
            <a:ext cx="8153400" cy="990600"/>
          </a:xfrm>
        </p:spPr>
        <p:txBody>
          <a:bodyPr>
            <a:normAutofit fontScale="90000"/>
          </a:bodyPr>
          <a:lstStyle/>
          <a:p>
            <a:pPr>
              <a:lnSpc>
                <a:spcPts val="3500"/>
              </a:lnSpc>
            </a:pPr>
            <a:r>
              <a:rPr lang="en-GB" dirty="0"/>
              <a:t> A 3-dimensional framework of UX research methods</a:t>
            </a:r>
          </a:p>
        </p:txBody>
      </p:sp>
      <p:sp>
        <p:nvSpPr>
          <p:cNvPr id="4" name="TextBox 3">
            <a:extLst>
              <a:ext uri="{FF2B5EF4-FFF2-40B4-BE49-F238E27FC236}">
                <a16:creationId xmlns:a16="http://schemas.microsoft.com/office/drawing/2014/main" id="{D02DFCF5-E06D-A104-5E60-E4E24D1B339F}"/>
              </a:ext>
            </a:extLst>
          </p:cNvPr>
          <p:cNvSpPr txBox="1"/>
          <p:nvPr/>
        </p:nvSpPr>
        <p:spPr>
          <a:xfrm>
            <a:off x="104619" y="1933296"/>
            <a:ext cx="2016224" cy="400110"/>
          </a:xfrm>
          <a:prstGeom prst="rect">
            <a:avLst/>
          </a:prstGeom>
          <a:noFill/>
        </p:spPr>
        <p:txBody>
          <a:bodyPr wrap="square" rtlCol="0">
            <a:spAutoFit/>
          </a:bodyPr>
          <a:lstStyle/>
          <a:p>
            <a:r>
              <a:rPr lang="en-GB" sz="2000" b="1" dirty="0">
                <a:solidFill>
                  <a:srgbClr val="0070C0"/>
                </a:solidFill>
                <a:effectLst>
                  <a:outerShdw blurRad="38100" dist="38100" dir="2700000" algn="tl">
                    <a:srgbClr val="000000">
                      <a:alpha val="43137"/>
                    </a:srgbClr>
                  </a:outerShdw>
                </a:effectLst>
                <a:latin typeface="Bradley Hand ITC" panose="03070402050302030203" pitchFamily="66" charset="0"/>
                <a:ea typeface="STXingkai" panose="020B0503020204020204" pitchFamily="2" charset="-122"/>
              </a:rPr>
              <a:t>What people do</a:t>
            </a:r>
          </a:p>
        </p:txBody>
      </p:sp>
      <p:sp>
        <p:nvSpPr>
          <p:cNvPr id="5" name="TextBox 4">
            <a:extLst>
              <a:ext uri="{FF2B5EF4-FFF2-40B4-BE49-F238E27FC236}">
                <a16:creationId xmlns:a16="http://schemas.microsoft.com/office/drawing/2014/main" id="{3314C7C5-B94A-7545-0B31-8F062D3ED805}"/>
              </a:ext>
            </a:extLst>
          </p:cNvPr>
          <p:cNvSpPr txBox="1"/>
          <p:nvPr/>
        </p:nvSpPr>
        <p:spPr>
          <a:xfrm>
            <a:off x="88371" y="4021434"/>
            <a:ext cx="2032472" cy="707886"/>
          </a:xfrm>
          <a:prstGeom prst="rect">
            <a:avLst/>
          </a:prstGeom>
          <a:noFill/>
        </p:spPr>
        <p:txBody>
          <a:bodyPr wrap="square" rtlCol="0">
            <a:spAutoFit/>
          </a:bodyPr>
          <a:lstStyle/>
          <a:p>
            <a:r>
              <a:rPr lang="en-GB" sz="2000" b="1" dirty="0">
                <a:solidFill>
                  <a:srgbClr val="0070C0"/>
                </a:solidFill>
                <a:effectLst>
                  <a:outerShdw blurRad="38100" dist="38100" dir="2700000" algn="tl">
                    <a:srgbClr val="000000">
                      <a:alpha val="43137"/>
                    </a:srgbClr>
                  </a:outerShdw>
                </a:effectLst>
                <a:latin typeface="Bradley Hand ITC" panose="03070402050302030203" pitchFamily="66" charset="0"/>
                <a:ea typeface="STXingkai" panose="020B0503020204020204" pitchFamily="2" charset="-122"/>
              </a:rPr>
              <a:t>State of believe / What people say</a:t>
            </a:r>
          </a:p>
        </p:txBody>
      </p:sp>
      <p:sp>
        <p:nvSpPr>
          <p:cNvPr id="7" name="TextBox 6">
            <a:extLst>
              <a:ext uri="{FF2B5EF4-FFF2-40B4-BE49-F238E27FC236}">
                <a16:creationId xmlns:a16="http://schemas.microsoft.com/office/drawing/2014/main" id="{D305FA51-2015-7DA3-940F-8EBD0D66AC80}"/>
              </a:ext>
            </a:extLst>
          </p:cNvPr>
          <p:cNvSpPr txBox="1"/>
          <p:nvPr/>
        </p:nvSpPr>
        <p:spPr>
          <a:xfrm>
            <a:off x="2584996" y="5699221"/>
            <a:ext cx="2034531" cy="400110"/>
          </a:xfrm>
          <a:prstGeom prst="rect">
            <a:avLst/>
          </a:prstGeom>
          <a:noFill/>
        </p:spPr>
        <p:txBody>
          <a:bodyPr wrap="none" rtlCol="0">
            <a:spAutoFit/>
          </a:bodyPr>
          <a:lstStyle/>
          <a:p>
            <a:r>
              <a:rPr lang="en-GB" sz="2000" b="1" dirty="0">
                <a:solidFill>
                  <a:srgbClr val="0070C0"/>
                </a:solidFill>
                <a:effectLst>
                  <a:outerShdw blurRad="38100" dist="38100" dir="2700000" algn="tl">
                    <a:srgbClr val="000000">
                      <a:alpha val="43137"/>
                    </a:srgbClr>
                  </a:outerShdw>
                </a:effectLst>
                <a:latin typeface="Bradley Hand ITC" panose="03070402050302030203" pitchFamily="66" charset="0"/>
                <a:ea typeface="STXingkai" panose="020B0503020204020204" pitchFamily="2" charset="-122"/>
              </a:rPr>
              <a:t>Why &amp; how to fix</a:t>
            </a:r>
          </a:p>
        </p:txBody>
      </p:sp>
      <p:grpSp>
        <p:nvGrpSpPr>
          <p:cNvPr id="27" name="Group 26">
            <a:extLst>
              <a:ext uri="{FF2B5EF4-FFF2-40B4-BE49-F238E27FC236}">
                <a16:creationId xmlns:a16="http://schemas.microsoft.com/office/drawing/2014/main" id="{B4710B01-73EB-77BF-AB74-B66D6C1175EE}"/>
              </a:ext>
            </a:extLst>
          </p:cNvPr>
          <p:cNvGrpSpPr/>
          <p:nvPr/>
        </p:nvGrpSpPr>
        <p:grpSpPr>
          <a:xfrm>
            <a:off x="952835" y="1887054"/>
            <a:ext cx="7060770" cy="3545466"/>
            <a:chOff x="721016" y="1714714"/>
            <a:chExt cx="7889584" cy="3961643"/>
          </a:xfrm>
        </p:grpSpPr>
        <p:sp>
          <p:nvSpPr>
            <p:cNvPr id="26" name="Rectangle 25">
              <a:extLst>
                <a:ext uri="{FF2B5EF4-FFF2-40B4-BE49-F238E27FC236}">
                  <a16:creationId xmlns:a16="http://schemas.microsoft.com/office/drawing/2014/main" id="{77E22234-0965-A778-AF1F-30A3B8FCFD3A}"/>
                </a:ext>
              </a:extLst>
            </p:cNvPr>
            <p:cNvSpPr/>
            <p:nvPr/>
          </p:nvSpPr>
          <p:spPr>
            <a:xfrm>
              <a:off x="2359651" y="2420530"/>
              <a:ext cx="6028766" cy="2880678"/>
            </a:xfrm>
            <a:prstGeom prst="rect">
              <a:avLst/>
            </a:prstGeom>
            <a:solidFill>
              <a:schemeClr val="accent2">
                <a:lumMod val="60000"/>
                <a:lumOff val="4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DC476618-2208-8074-E50A-88E12A3B6446}"/>
                </a:ext>
              </a:extLst>
            </p:cNvPr>
            <p:cNvSpPr txBox="1"/>
            <p:nvPr/>
          </p:nvSpPr>
          <p:spPr>
            <a:xfrm>
              <a:off x="6030683" y="1714714"/>
              <a:ext cx="2521844" cy="400110"/>
            </a:xfrm>
            <a:prstGeom prst="rect">
              <a:avLst/>
            </a:prstGeom>
            <a:noFill/>
          </p:spPr>
          <p:txBody>
            <a:bodyPr wrap="none" rtlCol="0">
              <a:spAutoFit/>
            </a:bodyPr>
            <a:lstStyle/>
            <a:p>
              <a:r>
                <a:rPr lang="en-GB" sz="2000" b="1" dirty="0">
                  <a:solidFill>
                    <a:schemeClr val="tx1">
                      <a:lumMod val="85000"/>
                      <a:lumOff val="15000"/>
                    </a:schemeClr>
                  </a:solidFill>
                  <a:latin typeface="Arial Narrow" panose="020B0606020202030204" pitchFamily="34" charset="0"/>
                </a:rPr>
                <a:t>Context of Product Use</a:t>
              </a:r>
            </a:p>
          </p:txBody>
        </p:sp>
        <p:cxnSp>
          <p:nvCxnSpPr>
            <p:cNvPr id="13" name="Straight Arrow Connector 12">
              <a:extLst>
                <a:ext uri="{FF2B5EF4-FFF2-40B4-BE49-F238E27FC236}">
                  <a16:creationId xmlns:a16="http://schemas.microsoft.com/office/drawing/2014/main" id="{AA66A3C1-FC67-CF4B-229E-D21B9B90CDF7}"/>
                </a:ext>
              </a:extLst>
            </p:cNvPr>
            <p:cNvCxnSpPr>
              <a:cxnSpLocks/>
            </p:cNvCxnSpPr>
            <p:nvPr/>
          </p:nvCxnSpPr>
          <p:spPr>
            <a:xfrm flipV="1">
              <a:off x="2339752" y="2276872"/>
              <a:ext cx="0" cy="3024336"/>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E21687-5529-B0E1-755C-5829E7AAF28D}"/>
                </a:ext>
              </a:extLst>
            </p:cNvPr>
            <p:cNvCxnSpPr>
              <a:cxnSpLocks/>
            </p:cNvCxnSpPr>
            <p:nvPr/>
          </p:nvCxnSpPr>
          <p:spPr>
            <a:xfrm>
              <a:off x="2339752" y="5301208"/>
              <a:ext cx="627084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64E0359-AC53-CA3F-C9D9-8357280F3E27}"/>
                </a:ext>
              </a:extLst>
            </p:cNvPr>
            <p:cNvCxnSpPr/>
            <p:nvPr/>
          </p:nvCxnSpPr>
          <p:spPr>
            <a:xfrm>
              <a:off x="2339752" y="3789040"/>
              <a:ext cx="6048672"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CCC6650-0C27-EB62-027C-11E7A078B8B6}"/>
                </a:ext>
              </a:extLst>
            </p:cNvPr>
            <p:cNvCxnSpPr>
              <a:cxnSpLocks/>
            </p:cNvCxnSpPr>
            <p:nvPr/>
          </p:nvCxnSpPr>
          <p:spPr>
            <a:xfrm>
              <a:off x="5220072" y="2208479"/>
              <a:ext cx="0" cy="306776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EBFF440-A3E5-D6CC-3C1A-B0179AA6DDFB}"/>
                </a:ext>
              </a:extLst>
            </p:cNvPr>
            <p:cNvSpPr txBox="1"/>
            <p:nvPr/>
          </p:nvSpPr>
          <p:spPr>
            <a:xfrm>
              <a:off x="721016" y="2359312"/>
              <a:ext cx="1549719" cy="447076"/>
            </a:xfrm>
            <a:prstGeom prst="rect">
              <a:avLst/>
            </a:prstGeom>
            <a:noFill/>
          </p:spPr>
          <p:txBody>
            <a:bodyPr wrap="none" rtlCol="0">
              <a:spAutoFit/>
            </a:bodyPr>
            <a:lstStyle/>
            <a:p>
              <a:pPr algn="r"/>
              <a:r>
                <a:rPr lang="en-GB" sz="2000" b="1" dirty="0">
                  <a:solidFill>
                    <a:schemeClr val="tx1">
                      <a:lumMod val="85000"/>
                      <a:lumOff val="15000"/>
                    </a:schemeClr>
                  </a:solidFill>
                  <a:latin typeface="Arial Narrow" panose="020B0606020202030204" pitchFamily="34" charset="0"/>
                </a:rPr>
                <a:t>Behavioural</a:t>
              </a:r>
            </a:p>
          </p:txBody>
        </p:sp>
        <p:sp>
          <p:nvSpPr>
            <p:cNvPr id="23" name="TextBox 22">
              <a:extLst>
                <a:ext uri="{FF2B5EF4-FFF2-40B4-BE49-F238E27FC236}">
                  <a16:creationId xmlns:a16="http://schemas.microsoft.com/office/drawing/2014/main" id="{AD870FD6-3FFC-DB71-4DF0-8969E8C6FFC0}"/>
                </a:ext>
              </a:extLst>
            </p:cNvPr>
            <p:cNvSpPr txBox="1"/>
            <p:nvPr/>
          </p:nvSpPr>
          <p:spPr>
            <a:xfrm>
              <a:off x="1047322" y="4891774"/>
              <a:ext cx="1223412" cy="400110"/>
            </a:xfrm>
            <a:prstGeom prst="rect">
              <a:avLst/>
            </a:prstGeom>
            <a:noFill/>
          </p:spPr>
          <p:txBody>
            <a:bodyPr wrap="none" rtlCol="0">
              <a:spAutoFit/>
            </a:bodyPr>
            <a:lstStyle/>
            <a:p>
              <a:pPr algn="r"/>
              <a:r>
                <a:rPr lang="en-GB" sz="2000" b="1" dirty="0">
                  <a:solidFill>
                    <a:schemeClr val="tx1">
                      <a:lumMod val="85000"/>
                      <a:lumOff val="15000"/>
                    </a:schemeClr>
                  </a:solidFill>
                  <a:latin typeface="Arial Narrow" panose="020B0606020202030204" pitchFamily="34" charset="0"/>
                </a:rPr>
                <a:t>Attitudinal</a:t>
              </a:r>
            </a:p>
          </p:txBody>
        </p:sp>
        <p:sp>
          <p:nvSpPr>
            <p:cNvPr id="24" name="TextBox 23">
              <a:extLst>
                <a:ext uri="{FF2B5EF4-FFF2-40B4-BE49-F238E27FC236}">
                  <a16:creationId xmlns:a16="http://schemas.microsoft.com/office/drawing/2014/main" id="{B25097FC-94A1-68B7-5E67-4AE58FCC089C}"/>
                </a:ext>
              </a:extLst>
            </p:cNvPr>
            <p:cNvSpPr txBox="1"/>
            <p:nvPr/>
          </p:nvSpPr>
          <p:spPr>
            <a:xfrm>
              <a:off x="2764348" y="5276247"/>
              <a:ext cx="2053767" cy="400110"/>
            </a:xfrm>
            <a:prstGeom prst="rect">
              <a:avLst/>
            </a:prstGeom>
            <a:noFill/>
          </p:spPr>
          <p:txBody>
            <a:bodyPr wrap="none" rtlCol="0">
              <a:spAutoFit/>
            </a:bodyPr>
            <a:lstStyle/>
            <a:p>
              <a:pPr algn="r"/>
              <a:r>
                <a:rPr lang="en-GB" sz="2000" b="1" dirty="0">
                  <a:solidFill>
                    <a:schemeClr val="tx1">
                      <a:lumMod val="85000"/>
                      <a:lumOff val="15000"/>
                    </a:schemeClr>
                  </a:solidFill>
                  <a:latin typeface="Arial Narrow" panose="020B0606020202030204" pitchFamily="34" charset="0"/>
                </a:rPr>
                <a:t>Qualitative (Direct)</a:t>
              </a:r>
            </a:p>
          </p:txBody>
        </p:sp>
        <p:sp>
          <p:nvSpPr>
            <p:cNvPr id="25" name="TextBox 24">
              <a:extLst>
                <a:ext uri="{FF2B5EF4-FFF2-40B4-BE49-F238E27FC236}">
                  <a16:creationId xmlns:a16="http://schemas.microsoft.com/office/drawing/2014/main" id="{29F89098-9CBE-F181-6E69-42338CCE2733}"/>
                </a:ext>
              </a:extLst>
            </p:cNvPr>
            <p:cNvSpPr txBox="1"/>
            <p:nvPr/>
          </p:nvSpPr>
          <p:spPr>
            <a:xfrm>
              <a:off x="5868144" y="5276247"/>
              <a:ext cx="2356734" cy="400110"/>
            </a:xfrm>
            <a:prstGeom prst="rect">
              <a:avLst/>
            </a:prstGeom>
            <a:noFill/>
          </p:spPr>
          <p:txBody>
            <a:bodyPr wrap="none" rtlCol="0">
              <a:spAutoFit/>
            </a:bodyPr>
            <a:lstStyle/>
            <a:p>
              <a:pPr algn="r"/>
              <a:r>
                <a:rPr lang="en-GB" sz="2000" b="1" dirty="0">
                  <a:solidFill>
                    <a:schemeClr val="tx1">
                      <a:lumMod val="85000"/>
                      <a:lumOff val="15000"/>
                    </a:schemeClr>
                  </a:solidFill>
                  <a:latin typeface="Arial Narrow" panose="020B0606020202030204" pitchFamily="34" charset="0"/>
                </a:rPr>
                <a:t>Quantitative (Indirect)</a:t>
              </a:r>
            </a:p>
          </p:txBody>
        </p:sp>
      </p:grpSp>
      <p:sp>
        <p:nvSpPr>
          <p:cNvPr id="28" name="TextBox 27">
            <a:extLst>
              <a:ext uri="{FF2B5EF4-FFF2-40B4-BE49-F238E27FC236}">
                <a16:creationId xmlns:a16="http://schemas.microsoft.com/office/drawing/2014/main" id="{F98B918B-CBD2-81F0-9E4C-A4C1B9199189}"/>
              </a:ext>
            </a:extLst>
          </p:cNvPr>
          <p:cNvSpPr txBox="1"/>
          <p:nvPr/>
        </p:nvSpPr>
        <p:spPr>
          <a:xfrm>
            <a:off x="5183098" y="5696810"/>
            <a:ext cx="2739853" cy="400110"/>
          </a:xfrm>
          <a:prstGeom prst="rect">
            <a:avLst/>
          </a:prstGeom>
          <a:noFill/>
        </p:spPr>
        <p:txBody>
          <a:bodyPr wrap="none" rtlCol="0">
            <a:spAutoFit/>
          </a:bodyPr>
          <a:lstStyle/>
          <a:p>
            <a:r>
              <a:rPr lang="en-GB" sz="2000" b="1" dirty="0">
                <a:solidFill>
                  <a:srgbClr val="0070C0"/>
                </a:solidFill>
                <a:effectLst>
                  <a:outerShdw blurRad="38100" dist="38100" dir="2700000" algn="tl">
                    <a:srgbClr val="000000">
                      <a:alpha val="43137"/>
                    </a:srgbClr>
                  </a:outerShdw>
                </a:effectLst>
                <a:latin typeface="Bradley Hand ITC" panose="03070402050302030203" pitchFamily="66" charset="0"/>
                <a:ea typeface="STXingkai" panose="020B0503020204020204" pitchFamily="2" charset="-122"/>
              </a:rPr>
              <a:t>How many &amp; how much</a:t>
            </a:r>
          </a:p>
        </p:txBody>
      </p:sp>
      <p:grpSp>
        <p:nvGrpSpPr>
          <p:cNvPr id="37" name="Group 36">
            <a:extLst>
              <a:ext uri="{FF2B5EF4-FFF2-40B4-BE49-F238E27FC236}">
                <a16:creationId xmlns:a16="http://schemas.microsoft.com/office/drawing/2014/main" id="{68412E4E-E795-D3AE-7037-E12A21F94E6A}"/>
              </a:ext>
            </a:extLst>
          </p:cNvPr>
          <p:cNvGrpSpPr/>
          <p:nvPr/>
        </p:nvGrpSpPr>
        <p:grpSpPr>
          <a:xfrm>
            <a:off x="561509" y="2391922"/>
            <a:ext cx="391320" cy="383760"/>
            <a:chOff x="738691" y="2382905"/>
            <a:chExt cx="391320" cy="383760"/>
          </a:xfrm>
        </p:grpSpPr>
        <mc:AlternateContent xmlns:mc="http://schemas.openxmlformats.org/markup-compatibility/2006" xmlns:p14="http://schemas.microsoft.com/office/powerpoint/2010/main">
          <mc:Choice Requires="p14">
            <p:contentPart p14:bwMode="auto" r:id="rId3">
              <p14:nvContentPartPr>
                <p14:cNvPr id="35" name="Ink 34">
                  <a:extLst>
                    <a:ext uri="{FF2B5EF4-FFF2-40B4-BE49-F238E27FC236}">
                      <a16:creationId xmlns:a16="http://schemas.microsoft.com/office/drawing/2014/main" id="{49977A91-AFE8-D6C6-1378-2EB7FE5796C1}"/>
                    </a:ext>
                  </a:extLst>
                </p14:cNvPr>
                <p14:cNvContentPartPr/>
                <p14:nvPr/>
              </p14:nvContentPartPr>
              <p14:xfrm>
                <a:off x="738691" y="2382905"/>
                <a:ext cx="355680" cy="280800"/>
              </p14:xfrm>
            </p:contentPart>
          </mc:Choice>
          <mc:Fallback xmlns="">
            <p:pic>
              <p:nvPicPr>
                <p:cNvPr id="35" name="Ink 34">
                  <a:extLst>
                    <a:ext uri="{FF2B5EF4-FFF2-40B4-BE49-F238E27FC236}">
                      <a16:creationId xmlns:a16="http://schemas.microsoft.com/office/drawing/2014/main" id="{49977A91-AFE8-D6C6-1378-2EB7FE5796C1}"/>
                    </a:ext>
                  </a:extLst>
                </p:cNvPr>
                <p:cNvPicPr/>
                <p:nvPr/>
              </p:nvPicPr>
              <p:blipFill>
                <a:blip r:embed="rId4"/>
                <a:stretch>
                  <a:fillRect/>
                </a:stretch>
              </p:blipFill>
              <p:spPr>
                <a:xfrm>
                  <a:off x="721051" y="2364905"/>
                  <a:ext cx="39132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6" name="Ink 35">
                  <a:extLst>
                    <a:ext uri="{FF2B5EF4-FFF2-40B4-BE49-F238E27FC236}">
                      <a16:creationId xmlns:a16="http://schemas.microsoft.com/office/drawing/2014/main" id="{EB25D953-32D7-E619-CD26-CF503734BBA3}"/>
                    </a:ext>
                  </a:extLst>
                </p14:cNvPr>
                <p14:cNvContentPartPr/>
                <p14:nvPr/>
              </p14:nvContentPartPr>
              <p14:xfrm>
                <a:off x="1002571" y="2539505"/>
                <a:ext cx="127440" cy="227160"/>
              </p14:xfrm>
            </p:contentPart>
          </mc:Choice>
          <mc:Fallback xmlns="">
            <p:pic>
              <p:nvPicPr>
                <p:cNvPr id="36" name="Ink 35">
                  <a:extLst>
                    <a:ext uri="{FF2B5EF4-FFF2-40B4-BE49-F238E27FC236}">
                      <a16:creationId xmlns:a16="http://schemas.microsoft.com/office/drawing/2014/main" id="{EB25D953-32D7-E619-CD26-CF503734BBA3}"/>
                    </a:ext>
                  </a:extLst>
                </p:cNvPr>
                <p:cNvPicPr/>
                <p:nvPr/>
              </p:nvPicPr>
              <p:blipFill>
                <a:blip r:embed="rId6"/>
                <a:stretch>
                  <a:fillRect/>
                </a:stretch>
              </p:blipFill>
              <p:spPr>
                <a:xfrm>
                  <a:off x="984931" y="2521865"/>
                  <a:ext cx="163080" cy="262800"/>
                </a:xfrm>
                <a:prstGeom prst="rect">
                  <a:avLst/>
                </a:prstGeom>
              </p:spPr>
            </p:pic>
          </mc:Fallback>
        </mc:AlternateContent>
      </p:grpSp>
      <p:grpSp>
        <p:nvGrpSpPr>
          <p:cNvPr id="40" name="Group 39">
            <a:extLst>
              <a:ext uri="{FF2B5EF4-FFF2-40B4-BE49-F238E27FC236}">
                <a16:creationId xmlns:a16="http://schemas.microsoft.com/office/drawing/2014/main" id="{1EC4D363-CC08-79E0-F1B5-384342C72DE8}"/>
              </a:ext>
            </a:extLst>
          </p:cNvPr>
          <p:cNvGrpSpPr/>
          <p:nvPr/>
        </p:nvGrpSpPr>
        <p:grpSpPr>
          <a:xfrm>
            <a:off x="654811" y="4738025"/>
            <a:ext cx="457920" cy="342720"/>
            <a:chOff x="654811" y="4738025"/>
            <a:chExt cx="457920" cy="342720"/>
          </a:xfrm>
        </p:grpSpPr>
        <mc:AlternateContent xmlns:mc="http://schemas.openxmlformats.org/markup-compatibility/2006" xmlns:p14="http://schemas.microsoft.com/office/powerpoint/2010/main">
          <mc:Choice Requires="p14">
            <p:contentPart p14:bwMode="auto" r:id="rId7">
              <p14:nvContentPartPr>
                <p14:cNvPr id="38" name="Ink 37">
                  <a:extLst>
                    <a:ext uri="{FF2B5EF4-FFF2-40B4-BE49-F238E27FC236}">
                      <a16:creationId xmlns:a16="http://schemas.microsoft.com/office/drawing/2014/main" id="{D921C4CF-BD11-44E3-74A6-78D306E10CF5}"/>
                    </a:ext>
                  </a:extLst>
                </p14:cNvPr>
                <p14:cNvContentPartPr/>
                <p14:nvPr/>
              </p14:nvContentPartPr>
              <p14:xfrm>
                <a:off x="654811" y="4738025"/>
                <a:ext cx="334080" cy="278280"/>
              </p14:xfrm>
            </p:contentPart>
          </mc:Choice>
          <mc:Fallback xmlns="">
            <p:pic>
              <p:nvPicPr>
                <p:cNvPr id="38" name="Ink 37">
                  <a:extLst>
                    <a:ext uri="{FF2B5EF4-FFF2-40B4-BE49-F238E27FC236}">
                      <a16:creationId xmlns:a16="http://schemas.microsoft.com/office/drawing/2014/main" id="{D921C4CF-BD11-44E3-74A6-78D306E10CF5}"/>
                    </a:ext>
                  </a:extLst>
                </p:cNvPr>
                <p:cNvPicPr/>
                <p:nvPr/>
              </p:nvPicPr>
              <p:blipFill>
                <a:blip r:embed="rId8"/>
                <a:stretch>
                  <a:fillRect/>
                </a:stretch>
              </p:blipFill>
              <p:spPr>
                <a:xfrm>
                  <a:off x="637171" y="4720025"/>
                  <a:ext cx="36972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9" name="Ink 38">
                  <a:extLst>
                    <a:ext uri="{FF2B5EF4-FFF2-40B4-BE49-F238E27FC236}">
                      <a16:creationId xmlns:a16="http://schemas.microsoft.com/office/drawing/2014/main" id="{016851E6-0C40-FEEA-8C38-4B21AA316D44}"/>
                    </a:ext>
                  </a:extLst>
                </p14:cNvPr>
                <p14:cNvContentPartPr/>
                <p14:nvPr/>
              </p14:nvContentPartPr>
              <p14:xfrm>
                <a:off x="960451" y="4941425"/>
                <a:ext cx="152280" cy="139320"/>
              </p14:xfrm>
            </p:contentPart>
          </mc:Choice>
          <mc:Fallback xmlns="">
            <p:pic>
              <p:nvPicPr>
                <p:cNvPr id="39" name="Ink 38">
                  <a:extLst>
                    <a:ext uri="{FF2B5EF4-FFF2-40B4-BE49-F238E27FC236}">
                      <a16:creationId xmlns:a16="http://schemas.microsoft.com/office/drawing/2014/main" id="{016851E6-0C40-FEEA-8C38-4B21AA316D44}"/>
                    </a:ext>
                  </a:extLst>
                </p:cNvPr>
                <p:cNvPicPr/>
                <p:nvPr/>
              </p:nvPicPr>
              <p:blipFill>
                <a:blip r:embed="rId10"/>
                <a:stretch>
                  <a:fillRect/>
                </a:stretch>
              </p:blipFill>
              <p:spPr>
                <a:xfrm>
                  <a:off x="942811" y="4923425"/>
                  <a:ext cx="187920" cy="174960"/>
                </a:xfrm>
                <a:prstGeom prst="rect">
                  <a:avLst/>
                </a:prstGeom>
              </p:spPr>
            </p:pic>
          </mc:Fallback>
        </mc:AlternateContent>
      </p:grpSp>
      <p:grpSp>
        <p:nvGrpSpPr>
          <p:cNvPr id="43" name="Group 42">
            <a:extLst>
              <a:ext uri="{FF2B5EF4-FFF2-40B4-BE49-F238E27FC236}">
                <a16:creationId xmlns:a16="http://schemas.microsoft.com/office/drawing/2014/main" id="{9FC9BF19-A837-7CFD-799D-1E3763979E93}"/>
              </a:ext>
            </a:extLst>
          </p:cNvPr>
          <p:cNvGrpSpPr/>
          <p:nvPr/>
        </p:nvGrpSpPr>
        <p:grpSpPr>
          <a:xfrm>
            <a:off x="3463531" y="5412305"/>
            <a:ext cx="150480" cy="276120"/>
            <a:chOff x="3463531" y="5412305"/>
            <a:chExt cx="150480" cy="276120"/>
          </a:xfrm>
        </p:grpSpPr>
        <mc:AlternateContent xmlns:mc="http://schemas.openxmlformats.org/markup-compatibility/2006" xmlns:p14="http://schemas.microsoft.com/office/powerpoint/2010/main">
          <mc:Choice Requires="p14">
            <p:contentPart p14:bwMode="auto" r:id="rId11">
              <p14:nvContentPartPr>
                <p14:cNvPr id="41" name="Ink 40">
                  <a:extLst>
                    <a:ext uri="{FF2B5EF4-FFF2-40B4-BE49-F238E27FC236}">
                      <a16:creationId xmlns:a16="http://schemas.microsoft.com/office/drawing/2014/main" id="{C4E8B725-5737-D91B-8A60-55E6C227A03F}"/>
                    </a:ext>
                  </a:extLst>
                </p14:cNvPr>
                <p14:cNvContentPartPr/>
                <p14:nvPr/>
              </p14:nvContentPartPr>
              <p14:xfrm>
                <a:off x="3526531" y="5412305"/>
                <a:ext cx="11160" cy="230760"/>
              </p14:xfrm>
            </p:contentPart>
          </mc:Choice>
          <mc:Fallback xmlns="">
            <p:pic>
              <p:nvPicPr>
                <p:cNvPr id="41" name="Ink 40">
                  <a:extLst>
                    <a:ext uri="{FF2B5EF4-FFF2-40B4-BE49-F238E27FC236}">
                      <a16:creationId xmlns:a16="http://schemas.microsoft.com/office/drawing/2014/main" id="{C4E8B725-5737-D91B-8A60-55E6C227A03F}"/>
                    </a:ext>
                  </a:extLst>
                </p:cNvPr>
                <p:cNvPicPr/>
                <p:nvPr/>
              </p:nvPicPr>
              <p:blipFill>
                <a:blip r:embed="rId12"/>
                <a:stretch>
                  <a:fillRect/>
                </a:stretch>
              </p:blipFill>
              <p:spPr>
                <a:xfrm>
                  <a:off x="3508531" y="5394305"/>
                  <a:ext cx="468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2" name="Ink 41">
                  <a:extLst>
                    <a:ext uri="{FF2B5EF4-FFF2-40B4-BE49-F238E27FC236}">
                      <a16:creationId xmlns:a16="http://schemas.microsoft.com/office/drawing/2014/main" id="{515C4C48-09C7-95E5-3296-210959582169}"/>
                    </a:ext>
                  </a:extLst>
                </p14:cNvPr>
                <p14:cNvContentPartPr/>
                <p14:nvPr/>
              </p14:nvContentPartPr>
              <p14:xfrm>
                <a:off x="3463531" y="5615705"/>
                <a:ext cx="150480" cy="72720"/>
              </p14:xfrm>
            </p:contentPart>
          </mc:Choice>
          <mc:Fallback xmlns="">
            <p:pic>
              <p:nvPicPr>
                <p:cNvPr id="42" name="Ink 41">
                  <a:extLst>
                    <a:ext uri="{FF2B5EF4-FFF2-40B4-BE49-F238E27FC236}">
                      <a16:creationId xmlns:a16="http://schemas.microsoft.com/office/drawing/2014/main" id="{515C4C48-09C7-95E5-3296-210959582169}"/>
                    </a:ext>
                  </a:extLst>
                </p:cNvPr>
                <p:cNvPicPr/>
                <p:nvPr/>
              </p:nvPicPr>
              <p:blipFill>
                <a:blip r:embed="rId14"/>
                <a:stretch>
                  <a:fillRect/>
                </a:stretch>
              </p:blipFill>
              <p:spPr>
                <a:xfrm>
                  <a:off x="3445531" y="5597705"/>
                  <a:ext cx="186120" cy="108360"/>
                </a:xfrm>
                <a:prstGeom prst="rect">
                  <a:avLst/>
                </a:prstGeom>
              </p:spPr>
            </p:pic>
          </mc:Fallback>
        </mc:AlternateContent>
      </p:grpSp>
      <p:grpSp>
        <p:nvGrpSpPr>
          <p:cNvPr id="48" name="Group 47">
            <a:extLst>
              <a:ext uri="{FF2B5EF4-FFF2-40B4-BE49-F238E27FC236}">
                <a16:creationId xmlns:a16="http://schemas.microsoft.com/office/drawing/2014/main" id="{D9E31008-582D-6E08-1288-39C21AE12C76}"/>
              </a:ext>
            </a:extLst>
          </p:cNvPr>
          <p:cNvGrpSpPr/>
          <p:nvPr/>
        </p:nvGrpSpPr>
        <p:grpSpPr>
          <a:xfrm>
            <a:off x="6382051" y="5467745"/>
            <a:ext cx="154080" cy="289800"/>
            <a:chOff x="6382051" y="5467745"/>
            <a:chExt cx="154080" cy="289800"/>
          </a:xfrm>
        </p:grpSpPr>
        <mc:AlternateContent xmlns:mc="http://schemas.openxmlformats.org/markup-compatibility/2006" xmlns:p14="http://schemas.microsoft.com/office/powerpoint/2010/main">
          <mc:Choice Requires="p14">
            <p:contentPart p14:bwMode="auto" r:id="rId15">
              <p14:nvContentPartPr>
                <p14:cNvPr id="44" name="Ink 43">
                  <a:extLst>
                    <a:ext uri="{FF2B5EF4-FFF2-40B4-BE49-F238E27FC236}">
                      <a16:creationId xmlns:a16="http://schemas.microsoft.com/office/drawing/2014/main" id="{45783DDF-F77B-49DD-1C50-3613615D039F}"/>
                    </a:ext>
                  </a:extLst>
                </p14:cNvPr>
                <p14:cNvContentPartPr/>
                <p14:nvPr/>
              </p14:nvContentPartPr>
              <p14:xfrm>
                <a:off x="6419131" y="5467745"/>
                <a:ext cx="47160" cy="258120"/>
              </p14:xfrm>
            </p:contentPart>
          </mc:Choice>
          <mc:Fallback xmlns="">
            <p:pic>
              <p:nvPicPr>
                <p:cNvPr id="44" name="Ink 43">
                  <a:extLst>
                    <a:ext uri="{FF2B5EF4-FFF2-40B4-BE49-F238E27FC236}">
                      <a16:creationId xmlns:a16="http://schemas.microsoft.com/office/drawing/2014/main" id="{45783DDF-F77B-49DD-1C50-3613615D039F}"/>
                    </a:ext>
                  </a:extLst>
                </p:cNvPr>
                <p:cNvPicPr/>
                <p:nvPr/>
              </p:nvPicPr>
              <p:blipFill>
                <a:blip r:embed="rId16"/>
                <a:stretch>
                  <a:fillRect/>
                </a:stretch>
              </p:blipFill>
              <p:spPr>
                <a:xfrm>
                  <a:off x="6401131" y="5449745"/>
                  <a:ext cx="8280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7" name="Ink 46">
                  <a:extLst>
                    <a:ext uri="{FF2B5EF4-FFF2-40B4-BE49-F238E27FC236}">
                      <a16:creationId xmlns:a16="http://schemas.microsoft.com/office/drawing/2014/main" id="{DDA8AACB-705E-E08E-283B-9941C278B61E}"/>
                    </a:ext>
                  </a:extLst>
                </p14:cNvPr>
                <p14:cNvContentPartPr/>
                <p14:nvPr/>
              </p14:nvContentPartPr>
              <p14:xfrm>
                <a:off x="6382051" y="5638745"/>
                <a:ext cx="154080" cy="118800"/>
              </p14:xfrm>
            </p:contentPart>
          </mc:Choice>
          <mc:Fallback xmlns="">
            <p:pic>
              <p:nvPicPr>
                <p:cNvPr id="47" name="Ink 46">
                  <a:extLst>
                    <a:ext uri="{FF2B5EF4-FFF2-40B4-BE49-F238E27FC236}">
                      <a16:creationId xmlns:a16="http://schemas.microsoft.com/office/drawing/2014/main" id="{DDA8AACB-705E-E08E-283B-9941C278B61E}"/>
                    </a:ext>
                  </a:extLst>
                </p:cNvPr>
                <p:cNvPicPr/>
                <p:nvPr/>
              </p:nvPicPr>
              <p:blipFill>
                <a:blip r:embed="rId18"/>
                <a:stretch>
                  <a:fillRect/>
                </a:stretch>
              </p:blipFill>
              <p:spPr>
                <a:xfrm>
                  <a:off x="6364051" y="5621105"/>
                  <a:ext cx="189720" cy="154440"/>
                </a:xfrm>
                <a:prstGeom prst="rect">
                  <a:avLst/>
                </a:prstGeom>
              </p:spPr>
            </p:pic>
          </mc:Fallback>
        </mc:AlternateContent>
      </p:grpSp>
      <p:sp>
        <p:nvSpPr>
          <p:cNvPr id="8" name="Footer Placeholder 7">
            <a:extLst>
              <a:ext uri="{FF2B5EF4-FFF2-40B4-BE49-F238E27FC236}">
                <a16:creationId xmlns:a16="http://schemas.microsoft.com/office/drawing/2014/main" id="{0D6B1283-08FD-2E9E-6745-AC3620FA577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EB37F844-0FBC-BFD2-A77F-759F3BD2E305}"/>
              </a:ext>
            </a:extLst>
          </p:cNvPr>
          <p:cNvSpPr>
            <a:spLocks noGrp="1"/>
          </p:cNvSpPr>
          <p:nvPr>
            <p:ph type="sldNum" sz="quarter" idx="4"/>
          </p:nvPr>
        </p:nvSpPr>
        <p:spPr/>
        <p:txBody>
          <a:bodyPr/>
          <a:lstStyle/>
          <a:p>
            <a:fld id="{9FD7ECCF-50E7-4327-B945-FA93FF7B2BEF}" type="slidenum">
              <a:rPr lang="en-US" smtClean="0"/>
              <a:pPr/>
              <a:t>14</a:t>
            </a:fld>
            <a:r>
              <a:rPr lang="en-GB"/>
              <a:t>/40</a:t>
            </a:r>
            <a:endParaRPr lang="en-US" dirty="0"/>
          </a:p>
        </p:txBody>
      </p:sp>
    </p:spTree>
    <p:extLst>
      <p:ext uri="{BB962C8B-B14F-4D97-AF65-F5344CB8AC3E}">
        <p14:creationId xmlns:p14="http://schemas.microsoft.com/office/powerpoint/2010/main" val="375045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4DA1-9319-A9FE-1931-D8D6A84D7E58}"/>
              </a:ext>
            </a:extLst>
          </p:cNvPr>
          <p:cNvSpPr>
            <a:spLocks noGrp="1"/>
          </p:cNvSpPr>
          <p:nvPr>
            <p:ph type="title"/>
          </p:nvPr>
        </p:nvSpPr>
        <p:spPr/>
        <p:txBody>
          <a:bodyPr/>
          <a:lstStyle/>
          <a:p>
            <a:r>
              <a:rPr lang="en-GB" dirty="0"/>
              <a:t>Types of Usability Testing - data</a:t>
            </a:r>
          </a:p>
        </p:txBody>
      </p:sp>
      <p:sp>
        <p:nvSpPr>
          <p:cNvPr id="3" name="Content Placeholder 2">
            <a:extLst>
              <a:ext uri="{FF2B5EF4-FFF2-40B4-BE49-F238E27FC236}">
                <a16:creationId xmlns:a16="http://schemas.microsoft.com/office/drawing/2014/main" id="{6CB6AAA9-DE08-D530-D36B-CF4A2C1679F2}"/>
              </a:ext>
            </a:extLst>
          </p:cNvPr>
          <p:cNvSpPr>
            <a:spLocks noGrp="1"/>
          </p:cNvSpPr>
          <p:nvPr>
            <p:ph sz="quarter" idx="1"/>
          </p:nvPr>
        </p:nvSpPr>
        <p:spPr>
          <a:xfrm>
            <a:off x="612648" y="1600200"/>
            <a:ext cx="7535252" cy="4648006"/>
          </a:xfrm>
        </p:spPr>
        <p:txBody>
          <a:bodyPr>
            <a:normAutofit fontScale="70000" lnSpcReduction="20000"/>
          </a:bodyPr>
          <a:lstStyle/>
          <a:p>
            <a:pPr algn="l">
              <a:lnSpc>
                <a:spcPct val="120000"/>
              </a:lnSpc>
              <a:spcBef>
                <a:spcPts val="600"/>
              </a:spcBef>
              <a:spcAft>
                <a:spcPts val="600"/>
              </a:spcAft>
            </a:pPr>
            <a:r>
              <a:rPr lang="en-GB" sz="3100" b="1" u="sng" dirty="0"/>
              <a:t>Qualitative usability testing </a:t>
            </a:r>
            <a:r>
              <a:rPr lang="en-GB" sz="3100" dirty="0"/>
              <a:t>focuses on:</a:t>
            </a:r>
          </a:p>
          <a:p>
            <a:pPr lvl="1">
              <a:lnSpc>
                <a:spcPct val="120000"/>
              </a:lnSpc>
              <a:spcBef>
                <a:spcPts val="600"/>
              </a:spcBef>
              <a:spcAft>
                <a:spcPts val="600"/>
              </a:spcAft>
            </a:pPr>
            <a:r>
              <a:rPr lang="en-GB" sz="2800" b="1" dirty="0">
                <a:solidFill>
                  <a:schemeClr val="accent2">
                    <a:lumMod val="75000"/>
                  </a:schemeClr>
                </a:solidFill>
              </a:rPr>
              <a:t>collecting insights</a:t>
            </a:r>
            <a:r>
              <a:rPr lang="en-GB" sz="2800" dirty="0"/>
              <a:t>, findings, and anecdotes about </a:t>
            </a:r>
            <a:r>
              <a:rPr lang="en-GB" sz="2800" b="1" dirty="0">
                <a:solidFill>
                  <a:schemeClr val="accent2">
                    <a:lumMod val="75000"/>
                  </a:schemeClr>
                </a:solidFill>
              </a:rPr>
              <a:t>how people use the product or service</a:t>
            </a:r>
            <a:r>
              <a:rPr lang="en-GB" sz="2800" dirty="0"/>
              <a:t>. </a:t>
            </a:r>
          </a:p>
          <a:p>
            <a:pPr lvl="1">
              <a:lnSpc>
                <a:spcPct val="120000"/>
              </a:lnSpc>
              <a:spcBef>
                <a:spcPts val="600"/>
              </a:spcBef>
              <a:spcAft>
                <a:spcPts val="600"/>
              </a:spcAft>
            </a:pPr>
            <a:r>
              <a:rPr lang="en-GB" sz="2800" b="1" dirty="0">
                <a:solidFill>
                  <a:schemeClr val="accent2">
                    <a:lumMod val="75000"/>
                  </a:schemeClr>
                </a:solidFill>
              </a:rPr>
              <a:t>discovering problems </a:t>
            </a:r>
            <a:r>
              <a:rPr lang="en-GB" sz="2800" dirty="0"/>
              <a:t>in the user experience.</a:t>
            </a:r>
          </a:p>
          <a:p>
            <a:pPr marL="365760" lvl="1" indent="0">
              <a:lnSpc>
                <a:spcPct val="120000"/>
              </a:lnSpc>
              <a:spcBef>
                <a:spcPts val="600"/>
              </a:spcBef>
              <a:spcAft>
                <a:spcPts val="600"/>
              </a:spcAft>
              <a:buNone/>
            </a:pPr>
            <a:r>
              <a:rPr lang="en-GB" sz="2800" dirty="0"/>
              <a:t>This form of usability testing is more common than quantitative usability testing.</a:t>
            </a:r>
          </a:p>
          <a:p>
            <a:pPr algn="l">
              <a:lnSpc>
                <a:spcPct val="120000"/>
              </a:lnSpc>
              <a:spcBef>
                <a:spcPts val="600"/>
              </a:spcBef>
              <a:spcAft>
                <a:spcPts val="600"/>
              </a:spcAft>
            </a:pPr>
            <a:r>
              <a:rPr lang="en-GB" sz="3100" b="1" u="sng" dirty="0"/>
              <a:t>Quantitative usability testing </a:t>
            </a:r>
            <a:r>
              <a:rPr lang="en-GB" sz="3100" dirty="0"/>
              <a:t>focuses on:</a:t>
            </a:r>
          </a:p>
          <a:p>
            <a:pPr lvl="1">
              <a:lnSpc>
                <a:spcPct val="120000"/>
              </a:lnSpc>
              <a:spcBef>
                <a:spcPts val="600"/>
              </a:spcBef>
              <a:spcAft>
                <a:spcPts val="600"/>
              </a:spcAft>
            </a:pPr>
            <a:r>
              <a:rPr lang="en-GB" sz="2800" b="1" dirty="0">
                <a:solidFill>
                  <a:schemeClr val="accent2">
                    <a:lumMod val="75000"/>
                  </a:schemeClr>
                </a:solidFill>
              </a:rPr>
              <a:t>collecting metrics that describe the user experience</a:t>
            </a:r>
            <a:r>
              <a:rPr lang="en-GB" sz="2800" dirty="0"/>
              <a:t>. </a:t>
            </a:r>
          </a:p>
          <a:p>
            <a:pPr lvl="1">
              <a:lnSpc>
                <a:spcPct val="120000"/>
              </a:lnSpc>
              <a:spcBef>
                <a:spcPts val="600"/>
              </a:spcBef>
              <a:spcAft>
                <a:spcPts val="600"/>
              </a:spcAft>
            </a:pPr>
            <a:r>
              <a:rPr lang="en-GB" sz="2800" dirty="0"/>
              <a:t>Two of the metrics most commonly collected in quantitative usability testing are </a:t>
            </a:r>
            <a:r>
              <a:rPr lang="en-GB" sz="2800" b="1" dirty="0">
                <a:solidFill>
                  <a:schemeClr val="accent2">
                    <a:lumMod val="75000"/>
                  </a:schemeClr>
                </a:solidFill>
              </a:rPr>
              <a:t>task success</a:t>
            </a:r>
            <a:r>
              <a:rPr lang="en-GB" sz="2800" dirty="0">
                <a:solidFill>
                  <a:schemeClr val="accent2">
                    <a:lumMod val="75000"/>
                  </a:schemeClr>
                </a:solidFill>
              </a:rPr>
              <a:t> </a:t>
            </a:r>
            <a:r>
              <a:rPr lang="en-GB" sz="2800" dirty="0"/>
              <a:t>and </a:t>
            </a:r>
            <a:r>
              <a:rPr lang="en-GB" sz="2800" b="1" dirty="0">
                <a:solidFill>
                  <a:schemeClr val="accent2">
                    <a:lumMod val="75000"/>
                  </a:schemeClr>
                </a:solidFill>
              </a:rPr>
              <a:t>time</a:t>
            </a:r>
            <a:r>
              <a:rPr lang="en-GB" sz="2800" dirty="0"/>
              <a:t> on task. </a:t>
            </a:r>
          </a:p>
          <a:p>
            <a:pPr lvl="1">
              <a:lnSpc>
                <a:spcPct val="120000"/>
              </a:lnSpc>
              <a:spcBef>
                <a:spcPts val="600"/>
              </a:spcBef>
              <a:spcAft>
                <a:spcPts val="600"/>
              </a:spcAft>
            </a:pPr>
            <a:r>
              <a:rPr lang="en-GB" sz="2800" dirty="0"/>
              <a:t>Quantitative usability testing is best for collecting </a:t>
            </a:r>
            <a:r>
              <a:rPr lang="en-GB" sz="2800" dirty="0">
                <a:hlinkClick r:id="rId3">
                  <a:extLst>
                    <a:ext uri="{A12FA001-AC4F-418D-AE19-62706E023703}">
                      <ahyp:hlinkClr xmlns:ahyp="http://schemas.microsoft.com/office/drawing/2018/hyperlinkcolor" val="tx"/>
                    </a:ext>
                  </a:extLst>
                </a:hlinkClick>
              </a:rPr>
              <a:t>benchmarks</a:t>
            </a:r>
            <a:r>
              <a:rPr lang="en-GB" sz="2800" dirty="0"/>
              <a:t>.</a:t>
            </a:r>
          </a:p>
        </p:txBody>
      </p:sp>
      <p:pic>
        <p:nvPicPr>
          <p:cNvPr id="6" name="Picture 5" descr="Link to article">
            <a:hlinkClick r:id="rId4"/>
            <a:extLst>
              <a:ext uri="{FF2B5EF4-FFF2-40B4-BE49-F238E27FC236}">
                <a16:creationId xmlns:a16="http://schemas.microsoft.com/office/drawing/2014/main" id="{81459514-1006-4B3E-5116-B3666BDC6C8E}"/>
              </a:ext>
            </a:extLst>
          </p:cNvPr>
          <p:cNvPicPr>
            <a:picLocks noChangeAspect="1"/>
          </p:cNvPicPr>
          <p:nvPr/>
        </p:nvPicPr>
        <p:blipFill>
          <a:blip r:embed="rId5"/>
          <a:stretch>
            <a:fillRect/>
          </a:stretch>
        </p:blipFill>
        <p:spPr>
          <a:xfrm>
            <a:off x="8147900" y="1988840"/>
            <a:ext cx="766904" cy="748350"/>
          </a:xfrm>
          <a:prstGeom prst="rect">
            <a:avLst/>
          </a:prstGeom>
        </p:spPr>
      </p:pic>
      <p:sp>
        <p:nvSpPr>
          <p:cNvPr id="9" name="Footer Placeholder 8">
            <a:extLst>
              <a:ext uri="{FF2B5EF4-FFF2-40B4-BE49-F238E27FC236}">
                <a16:creationId xmlns:a16="http://schemas.microsoft.com/office/drawing/2014/main" id="{0B5E3D0D-33EE-9E3C-7575-ED839F51C3C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3BA45A7B-10D5-08A3-AC05-4411800A65C5}"/>
              </a:ext>
            </a:extLst>
          </p:cNvPr>
          <p:cNvSpPr>
            <a:spLocks noGrp="1"/>
          </p:cNvSpPr>
          <p:nvPr>
            <p:ph type="sldNum" sz="quarter" idx="4"/>
          </p:nvPr>
        </p:nvSpPr>
        <p:spPr/>
        <p:txBody>
          <a:bodyPr/>
          <a:lstStyle/>
          <a:p>
            <a:fld id="{9FD7ECCF-50E7-4327-B945-FA93FF7B2BEF}" type="slidenum">
              <a:rPr lang="en-US" smtClean="0"/>
              <a:pPr/>
              <a:t>15</a:t>
            </a:fld>
            <a:r>
              <a:rPr lang="en-GB"/>
              <a:t>/40</a:t>
            </a:r>
            <a:endParaRPr lang="en-US" dirty="0"/>
          </a:p>
        </p:txBody>
      </p:sp>
    </p:spTree>
    <p:extLst>
      <p:ext uri="{BB962C8B-B14F-4D97-AF65-F5344CB8AC3E}">
        <p14:creationId xmlns:p14="http://schemas.microsoft.com/office/powerpoint/2010/main" val="4167637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0FAE1-52EE-E886-623C-FC6DFCB869F2}"/>
              </a:ext>
            </a:extLst>
          </p:cNvPr>
          <p:cNvSpPr>
            <a:spLocks noGrp="1"/>
          </p:cNvSpPr>
          <p:nvPr>
            <p:ph type="title"/>
          </p:nvPr>
        </p:nvSpPr>
        <p:spPr>
          <a:xfrm>
            <a:off x="609600" y="238148"/>
            <a:ext cx="8153400" cy="990600"/>
          </a:xfrm>
        </p:spPr>
        <p:txBody>
          <a:bodyPr>
            <a:normAutofit fontScale="90000"/>
          </a:bodyPr>
          <a:lstStyle/>
          <a:p>
            <a:r>
              <a:rPr lang="en-GB" dirty="0"/>
              <a:t>A landscape of User Research Methods</a:t>
            </a:r>
          </a:p>
        </p:txBody>
      </p:sp>
      <p:cxnSp>
        <p:nvCxnSpPr>
          <p:cNvPr id="12" name="Straight Arrow Connector 11">
            <a:extLst>
              <a:ext uri="{FF2B5EF4-FFF2-40B4-BE49-F238E27FC236}">
                <a16:creationId xmlns:a16="http://schemas.microsoft.com/office/drawing/2014/main" id="{37C3E297-DA7C-971A-490E-DC75DA77F24F}"/>
              </a:ext>
            </a:extLst>
          </p:cNvPr>
          <p:cNvCxnSpPr>
            <a:cxnSpLocks/>
          </p:cNvCxnSpPr>
          <p:nvPr/>
        </p:nvCxnSpPr>
        <p:spPr>
          <a:xfrm flipV="1">
            <a:off x="1547664" y="1533727"/>
            <a:ext cx="0" cy="3620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32DD6E8-5D9E-24F5-CFC2-A532E44DE518}"/>
              </a:ext>
            </a:extLst>
          </p:cNvPr>
          <p:cNvCxnSpPr>
            <a:cxnSpLocks/>
          </p:cNvCxnSpPr>
          <p:nvPr/>
        </p:nvCxnSpPr>
        <p:spPr>
          <a:xfrm>
            <a:off x="1547664" y="5173504"/>
            <a:ext cx="7031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38B739E-663D-13C0-D158-613C06331C3E}"/>
              </a:ext>
            </a:extLst>
          </p:cNvPr>
          <p:cNvSpPr txBox="1"/>
          <p:nvPr/>
        </p:nvSpPr>
        <p:spPr>
          <a:xfrm>
            <a:off x="352221" y="1730716"/>
            <a:ext cx="1146083" cy="338554"/>
          </a:xfrm>
          <a:prstGeom prst="rect">
            <a:avLst/>
          </a:prstGeom>
          <a:noFill/>
        </p:spPr>
        <p:txBody>
          <a:bodyPr wrap="none" rtlCol="0">
            <a:spAutoFit/>
          </a:bodyPr>
          <a:lstStyle/>
          <a:p>
            <a:r>
              <a:rPr lang="en-GB" sz="1600" dirty="0">
                <a:latin typeface="+mj-lt"/>
              </a:rPr>
              <a:t>Behavioural</a:t>
            </a:r>
          </a:p>
        </p:txBody>
      </p:sp>
      <p:sp>
        <p:nvSpPr>
          <p:cNvPr id="17" name="TextBox 16">
            <a:extLst>
              <a:ext uri="{FF2B5EF4-FFF2-40B4-BE49-F238E27FC236}">
                <a16:creationId xmlns:a16="http://schemas.microsoft.com/office/drawing/2014/main" id="{47277AEA-188A-F3AC-C0CC-6581C382AD83}"/>
              </a:ext>
            </a:extLst>
          </p:cNvPr>
          <p:cNvSpPr txBox="1"/>
          <p:nvPr/>
        </p:nvSpPr>
        <p:spPr>
          <a:xfrm>
            <a:off x="480077" y="4624843"/>
            <a:ext cx="1018227" cy="338554"/>
          </a:xfrm>
          <a:prstGeom prst="rect">
            <a:avLst/>
          </a:prstGeom>
          <a:noFill/>
        </p:spPr>
        <p:txBody>
          <a:bodyPr wrap="none" rtlCol="0">
            <a:spAutoFit/>
          </a:bodyPr>
          <a:lstStyle/>
          <a:p>
            <a:r>
              <a:rPr lang="en-GB" sz="1600" dirty="0">
                <a:latin typeface="+mj-lt"/>
              </a:rPr>
              <a:t>Attitudinal</a:t>
            </a:r>
          </a:p>
        </p:txBody>
      </p:sp>
      <p:sp>
        <p:nvSpPr>
          <p:cNvPr id="18" name="TextBox 17">
            <a:extLst>
              <a:ext uri="{FF2B5EF4-FFF2-40B4-BE49-F238E27FC236}">
                <a16:creationId xmlns:a16="http://schemas.microsoft.com/office/drawing/2014/main" id="{EDFF1D17-29F0-2860-96FD-72289D448793}"/>
              </a:ext>
            </a:extLst>
          </p:cNvPr>
          <p:cNvSpPr txBox="1"/>
          <p:nvPr/>
        </p:nvSpPr>
        <p:spPr>
          <a:xfrm>
            <a:off x="1619672" y="5172952"/>
            <a:ext cx="1729063" cy="338554"/>
          </a:xfrm>
          <a:prstGeom prst="rect">
            <a:avLst/>
          </a:prstGeom>
          <a:noFill/>
        </p:spPr>
        <p:txBody>
          <a:bodyPr wrap="none" rtlCol="0">
            <a:spAutoFit/>
          </a:bodyPr>
          <a:lstStyle/>
          <a:p>
            <a:r>
              <a:rPr lang="en-GB" sz="1600" dirty="0">
                <a:latin typeface="+mj-lt"/>
              </a:rPr>
              <a:t>Qualitative (direct)</a:t>
            </a:r>
          </a:p>
        </p:txBody>
      </p:sp>
      <p:sp>
        <p:nvSpPr>
          <p:cNvPr id="19" name="TextBox 18">
            <a:extLst>
              <a:ext uri="{FF2B5EF4-FFF2-40B4-BE49-F238E27FC236}">
                <a16:creationId xmlns:a16="http://schemas.microsoft.com/office/drawing/2014/main" id="{CFD98A97-CA1C-4830-8151-20CA5B54084A}"/>
              </a:ext>
            </a:extLst>
          </p:cNvPr>
          <p:cNvSpPr txBox="1"/>
          <p:nvPr/>
        </p:nvSpPr>
        <p:spPr>
          <a:xfrm>
            <a:off x="6613983" y="5172952"/>
            <a:ext cx="1964705" cy="338554"/>
          </a:xfrm>
          <a:prstGeom prst="rect">
            <a:avLst/>
          </a:prstGeom>
          <a:noFill/>
        </p:spPr>
        <p:txBody>
          <a:bodyPr wrap="none" rtlCol="0">
            <a:spAutoFit/>
          </a:bodyPr>
          <a:lstStyle/>
          <a:p>
            <a:r>
              <a:rPr lang="en-GB" sz="1600" dirty="0">
                <a:latin typeface="+mj-lt"/>
              </a:rPr>
              <a:t>Quantitative (indirect)</a:t>
            </a:r>
          </a:p>
        </p:txBody>
      </p:sp>
      <p:cxnSp>
        <p:nvCxnSpPr>
          <p:cNvPr id="31" name="Straight Connector 30">
            <a:extLst>
              <a:ext uri="{FF2B5EF4-FFF2-40B4-BE49-F238E27FC236}">
                <a16:creationId xmlns:a16="http://schemas.microsoft.com/office/drawing/2014/main" id="{4AC3D06D-DA5F-6D0B-C794-D8D42697C138}"/>
              </a:ext>
            </a:extLst>
          </p:cNvPr>
          <p:cNvCxnSpPr/>
          <p:nvPr/>
        </p:nvCxnSpPr>
        <p:spPr>
          <a:xfrm>
            <a:off x="1547664" y="3189911"/>
            <a:ext cx="6949911"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AC6DAE-1286-679C-D7D8-803B8CBA0C25}"/>
              </a:ext>
            </a:extLst>
          </p:cNvPr>
          <p:cNvCxnSpPr>
            <a:cxnSpLocks/>
          </p:cNvCxnSpPr>
          <p:nvPr/>
        </p:nvCxnSpPr>
        <p:spPr>
          <a:xfrm>
            <a:off x="4932040" y="1639419"/>
            <a:ext cx="0" cy="3534085"/>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87" name="Group 86">
            <a:extLst>
              <a:ext uri="{FF2B5EF4-FFF2-40B4-BE49-F238E27FC236}">
                <a16:creationId xmlns:a16="http://schemas.microsoft.com/office/drawing/2014/main" id="{BE45BAB5-7D5B-A39D-9ACD-EB1D4FCF02CA}"/>
              </a:ext>
            </a:extLst>
          </p:cNvPr>
          <p:cNvGrpSpPr/>
          <p:nvPr/>
        </p:nvGrpSpPr>
        <p:grpSpPr>
          <a:xfrm>
            <a:off x="1542205" y="1555616"/>
            <a:ext cx="7036483" cy="4366074"/>
            <a:chOff x="1542205" y="1555616"/>
            <a:chExt cx="7036483" cy="4366074"/>
          </a:xfrm>
        </p:grpSpPr>
        <p:sp>
          <p:nvSpPr>
            <p:cNvPr id="37" name="TextBox 36">
              <a:extLst>
                <a:ext uri="{FF2B5EF4-FFF2-40B4-BE49-F238E27FC236}">
                  <a16:creationId xmlns:a16="http://schemas.microsoft.com/office/drawing/2014/main" id="{745D6F24-EB2D-40E1-4B70-B86F8570F55A}"/>
                </a:ext>
              </a:extLst>
            </p:cNvPr>
            <p:cNvSpPr txBox="1"/>
            <p:nvPr/>
          </p:nvSpPr>
          <p:spPr>
            <a:xfrm>
              <a:off x="3784338" y="1732439"/>
              <a:ext cx="850905" cy="253916"/>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Eye tracking</a:t>
              </a:r>
            </a:p>
          </p:txBody>
        </p:sp>
        <p:sp>
          <p:nvSpPr>
            <p:cNvPr id="21" name="TextBox 20">
              <a:extLst>
                <a:ext uri="{FF2B5EF4-FFF2-40B4-BE49-F238E27FC236}">
                  <a16:creationId xmlns:a16="http://schemas.microsoft.com/office/drawing/2014/main" id="{BDBEFFDB-63F1-EACA-8446-C1C481C40919}"/>
                </a:ext>
              </a:extLst>
            </p:cNvPr>
            <p:cNvSpPr txBox="1"/>
            <p:nvPr/>
          </p:nvSpPr>
          <p:spPr>
            <a:xfrm>
              <a:off x="1779340" y="5644691"/>
              <a:ext cx="1886350" cy="276999"/>
            </a:xfrm>
            <a:prstGeom prst="rect">
              <a:avLst/>
            </a:prstGeom>
            <a:noFill/>
          </p:spPr>
          <p:txBody>
            <a:bodyPr wrap="none" rtlCol="0">
              <a:spAutoFit/>
            </a:bodyPr>
            <a:lstStyle/>
            <a:p>
              <a:r>
                <a:rPr lang="en-GB" sz="1200" b="1" dirty="0">
                  <a:solidFill>
                    <a:srgbClr val="00CC00"/>
                  </a:solidFill>
                  <a:latin typeface="+mj-lt"/>
                </a:rPr>
                <a:t>Natural Use of the product</a:t>
              </a:r>
            </a:p>
          </p:txBody>
        </p:sp>
        <p:sp>
          <p:nvSpPr>
            <p:cNvPr id="40" name="Oval 39">
              <a:extLst>
                <a:ext uri="{FF2B5EF4-FFF2-40B4-BE49-F238E27FC236}">
                  <a16:creationId xmlns:a16="http://schemas.microsoft.com/office/drawing/2014/main" id="{29E5C882-DA6F-852E-E4E1-99BE5EF3AC4F}"/>
                </a:ext>
              </a:extLst>
            </p:cNvPr>
            <p:cNvSpPr/>
            <p:nvPr/>
          </p:nvSpPr>
          <p:spPr>
            <a:xfrm>
              <a:off x="1542205" y="5695955"/>
              <a:ext cx="174470" cy="174470"/>
            </a:xfrm>
            <a:prstGeom prst="ellipse">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TextBox 33">
              <a:extLst>
                <a:ext uri="{FF2B5EF4-FFF2-40B4-BE49-F238E27FC236}">
                  <a16:creationId xmlns:a16="http://schemas.microsoft.com/office/drawing/2014/main" id="{88DD858C-02C8-0327-A06A-A88BD754B5C7}"/>
                </a:ext>
              </a:extLst>
            </p:cNvPr>
            <p:cNvSpPr txBox="1"/>
            <p:nvPr/>
          </p:nvSpPr>
          <p:spPr>
            <a:xfrm>
              <a:off x="1713507" y="2851356"/>
              <a:ext cx="885179" cy="253916"/>
            </a:xfrm>
            <a:prstGeom prst="rect">
              <a:avLst/>
            </a:prstGeom>
            <a:noFill/>
          </p:spPr>
          <p:txBody>
            <a:bodyPr wrap="none" rtlCol="0">
              <a:spAutoFit/>
            </a:bodyPr>
            <a:lstStyle/>
            <a:p>
              <a:r>
                <a:rPr lang="en-GB" sz="1050" dirty="0">
                  <a:solidFill>
                    <a:schemeClr val="tx1">
                      <a:lumMod val="85000"/>
                      <a:lumOff val="15000"/>
                    </a:schemeClr>
                  </a:solidFill>
                  <a:latin typeface="Ambit"/>
                  <a:cs typeface="Aharoni" panose="02010803020104030203" pitchFamily="2" charset="-79"/>
                </a:rPr>
                <a:t>Field studies</a:t>
              </a:r>
            </a:p>
          </p:txBody>
        </p:sp>
        <p:sp>
          <p:nvSpPr>
            <p:cNvPr id="43" name="Oval 42">
              <a:extLst>
                <a:ext uri="{FF2B5EF4-FFF2-40B4-BE49-F238E27FC236}">
                  <a16:creationId xmlns:a16="http://schemas.microsoft.com/office/drawing/2014/main" id="{7555817D-FF82-A07F-4F75-E0CC817C232F}"/>
                </a:ext>
              </a:extLst>
            </p:cNvPr>
            <p:cNvSpPr/>
            <p:nvPr/>
          </p:nvSpPr>
          <p:spPr>
            <a:xfrm>
              <a:off x="2086451" y="2702762"/>
              <a:ext cx="139290" cy="139290"/>
            </a:xfrm>
            <a:prstGeom prst="ellipse">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5" name="Oval 44">
              <a:extLst>
                <a:ext uri="{FF2B5EF4-FFF2-40B4-BE49-F238E27FC236}">
                  <a16:creationId xmlns:a16="http://schemas.microsoft.com/office/drawing/2014/main" id="{B26B62F2-D4B6-0088-CA79-20C217D21C32}"/>
                </a:ext>
              </a:extLst>
            </p:cNvPr>
            <p:cNvSpPr/>
            <p:nvPr/>
          </p:nvSpPr>
          <p:spPr>
            <a:xfrm>
              <a:off x="4240495" y="1555616"/>
              <a:ext cx="139290" cy="139290"/>
            </a:xfrm>
            <a:prstGeom prst="ellipse">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TextBox 48">
              <a:extLst>
                <a:ext uri="{FF2B5EF4-FFF2-40B4-BE49-F238E27FC236}">
                  <a16:creationId xmlns:a16="http://schemas.microsoft.com/office/drawing/2014/main" id="{6319C723-1E91-EE78-B98C-2FE92C3D707D}"/>
                </a:ext>
              </a:extLst>
            </p:cNvPr>
            <p:cNvSpPr txBox="1"/>
            <p:nvPr/>
          </p:nvSpPr>
          <p:spPr>
            <a:xfrm>
              <a:off x="7486792" y="1697198"/>
              <a:ext cx="1091896" cy="430887"/>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Clickstream Analytics</a:t>
              </a:r>
            </a:p>
          </p:txBody>
        </p:sp>
        <p:sp>
          <p:nvSpPr>
            <p:cNvPr id="50" name="Oval 49">
              <a:extLst>
                <a:ext uri="{FF2B5EF4-FFF2-40B4-BE49-F238E27FC236}">
                  <a16:creationId xmlns:a16="http://schemas.microsoft.com/office/drawing/2014/main" id="{F17A6D23-1AF3-FBED-5307-ACE41C59D019}"/>
                </a:ext>
              </a:extLst>
            </p:cNvPr>
            <p:cNvSpPr/>
            <p:nvPr/>
          </p:nvSpPr>
          <p:spPr>
            <a:xfrm>
              <a:off x="7961102" y="1557908"/>
              <a:ext cx="139290" cy="139290"/>
            </a:xfrm>
            <a:prstGeom prst="ellipse">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1" name="TextBox 50">
              <a:extLst>
                <a:ext uri="{FF2B5EF4-FFF2-40B4-BE49-F238E27FC236}">
                  <a16:creationId xmlns:a16="http://schemas.microsoft.com/office/drawing/2014/main" id="{A3D48FCC-531C-0934-5CB2-AE44E5F78B9E}"/>
                </a:ext>
              </a:extLst>
            </p:cNvPr>
            <p:cNvSpPr txBox="1"/>
            <p:nvPr/>
          </p:nvSpPr>
          <p:spPr>
            <a:xfrm>
              <a:off x="7486792" y="2440256"/>
              <a:ext cx="1091896" cy="261610"/>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A/B Testing</a:t>
              </a:r>
            </a:p>
          </p:txBody>
        </p:sp>
        <p:sp>
          <p:nvSpPr>
            <p:cNvPr id="52" name="Oval 51">
              <a:extLst>
                <a:ext uri="{FF2B5EF4-FFF2-40B4-BE49-F238E27FC236}">
                  <a16:creationId xmlns:a16="http://schemas.microsoft.com/office/drawing/2014/main" id="{D7E8A8B8-B5A2-E577-E33C-737AAC8BCE86}"/>
                </a:ext>
              </a:extLst>
            </p:cNvPr>
            <p:cNvSpPr/>
            <p:nvPr/>
          </p:nvSpPr>
          <p:spPr>
            <a:xfrm>
              <a:off x="7961102" y="2300966"/>
              <a:ext cx="139290" cy="139290"/>
            </a:xfrm>
            <a:prstGeom prst="ellipse">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TextBox 52">
              <a:extLst>
                <a:ext uri="{FF2B5EF4-FFF2-40B4-BE49-F238E27FC236}">
                  <a16:creationId xmlns:a16="http://schemas.microsoft.com/office/drawing/2014/main" id="{2594E4D3-B903-7BF2-F5ED-2C8596553F2A}"/>
                </a:ext>
              </a:extLst>
            </p:cNvPr>
            <p:cNvSpPr txBox="1"/>
            <p:nvPr/>
          </p:nvSpPr>
          <p:spPr>
            <a:xfrm>
              <a:off x="1610148" y="3404201"/>
              <a:ext cx="1091896" cy="430887"/>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Contextual Inquiry</a:t>
              </a:r>
            </a:p>
          </p:txBody>
        </p:sp>
        <p:sp>
          <p:nvSpPr>
            <p:cNvPr id="54" name="Oval 53">
              <a:extLst>
                <a:ext uri="{FF2B5EF4-FFF2-40B4-BE49-F238E27FC236}">
                  <a16:creationId xmlns:a16="http://schemas.microsoft.com/office/drawing/2014/main" id="{A0127D76-71B4-BA31-39E0-AB8D7C64FE9F}"/>
                </a:ext>
              </a:extLst>
            </p:cNvPr>
            <p:cNvSpPr/>
            <p:nvPr/>
          </p:nvSpPr>
          <p:spPr>
            <a:xfrm>
              <a:off x="2086451" y="3264911"/>
              <a:ext cx="139290" cy="139290"/>
            </a:xfrm>
            <a:prstGeom prst="ellipse">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68" name="TextBox 67">
              <a:extLst>
                <a:ext uri="{FF2B5EF4-FFF2-40B4-BE49-F238E27FC236}">
                  <a16:creationId xmlns:a16="http://schemas.microsoft.com/office/drawing/2014/main" id="{3902E6B5-ACC2-4762-3914-6A550592B19D}"/>
                </a:ext>
              </a:extLst>
            </p:cNvPr>
            <p:cNvSpPr txBox="1"/>
            <p:nvPr/>
          </p:nvSpPr>
          <p:spPr>
            <a:xfrm>
              <a:off x="3004447" y="3873650"/>
              <a:ext cx="1091896" cy="253916"/>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Diary Studies</a:t>
              </a:r>
            </a:p>
          </p:txBody>
        </p:sp>
        <p:sp>
          <p:nvSpPr>
            <p:cNvPr id="69" name="Oval 68">
              <a:extLst>
                <a:ext uri="{FF2B5EF4-FFF2-40B4-BE49-F238E27FC236}">
                  <a16:creationId xmlns:a16="http://schemas.microsoft.com/office/drawing/2014/main" id="{BFDF687D-3F62-0843-65B1-6A410D2724F4}"/>
                </a:ext>
              </a:extLst>
            </p:cNvPr>
            <p:cNvSpPr/>
            <p:nvPr/>
          </p:nvSpPr>
          <p:spPr>
            <a:xfrm>
              <a:off x="3480750" y="3723267"/>
              <a:ext cx="139290" cy="139290"/>
            </a:xfrm>
            <a:prstGeom prst="ellipse">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0" name="TextBox 69">
              <a:extLst>
                <a:ext uri="{FF2B5EF4-FFF2-40B4-BE49-F238E27FC236}">
                  <a16:creationId xmlns:a16="http://schemas.microsoft.com/office/drawing/2014/main" id="{61477F86-5D3A-68BF-C689-ECD86631A44E}"/>
                </a:ext>
              </a:extLst>
            </p:cNvPr>
            <p:cNvSpPr txBox="1"/>
            <p:nvPr/>
          </p:nvSpPr>
          <p:spPr>
            <a:xfrm>
              <a:off x="3004447" y="4740430"/>
              <a:ext cx="1091896" cy="415498"/>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Customer Feedback</a:t>
              </a:r>
            </a:p>
          </p:txBody>
        </p:sp>
        <p:sp>
          <p:nvSpPr>
            <p:cNvPr id="71" name="Oval 70">
              <a:extLst>
                <a:ext uri="{FF2B5EF4-FFF2-40B4-BE49-F238E27FC236}">
                  <a16:creationId xmlns:a16="http://schemas.microsoft.com/office/drawing/2014/main" id="{5A7DDB71-82E9-FBF1-B9BD-CBF7A68B9F4B}"/>
                </a:ext>
              </a:extLst>
            </p:cNvPr>
            <p:cNvSpPr/>
            <p:nvPr/>
          </p:nvSpPr>
          <p:spPr>
            <a:xfrm>
              <a:off x="3480750" y="4590047"/>
              <a:ext cx="139290" cy="139290"/>
            </a:xfrm>
            <a:prstGeom prst="ellipse">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90" name="Group 89">
            <a:extLst>
              <a:ext uri="{FF2B5EF4-FFF2-40B4-BE49-F238E27FC236}">
                <a16:creationId xmlns:a16="http://schemas.microsoft.com/office/drawing/2014/main" id="{8DB36965-4E17-23E6-B0C3-BBE462C055A1}"/>
              </a:ext>
            </a:extLst>
          </p:cNvPr>
          <p:cNvGrpSpPr/>
          <p:nvPr/>
        </p:nvGrpSpPr>
        <p:grpSpPr>
          <a:xfrm>
            <a:off x="1468384" y="3360042"/>
            <a:ext cx="6027905" cy="2847107"/>
            <a:chOff x="1468384" y="3360042"/>
            <a:chExt cx="6027905" cy="2847107"/>
          </a:xfrm>
        </p:grpSpPr>
        <p:sp>
          <p:nvSpPr>
            <p:cNvPr id="24" name="TextBox 23">
              <a:extLst>
                <a:ext uri="{FF2B5EF4-FFF2-40B4-BE49-F238E27FC236}">
                  <a16:creationId xmlns:a16="http://schemas.microsoft.com/office/drawing/2014/main" id="{85F2ACD4-FF63-FACB-5735-FFC84986C36E}"/>
                </a:ext>
              </a:extLst>
            </p:cNvPr>
            <p:cNvSpPr txBox="1"/>
            <p:nvPr/>
          </p:nvSpPr>
          <p:spPr>
            <a:xfrm>
              <a:off x="5883796" y="5930150"/>
              <a:ext cx="1612493" cy="276999"/>
            </a:xfrm>
            <a:prstGeom prst="rect">
              <a:avLst/>
            </a:prstGeom>
            <a:noFill/>
          </p:spPr>
          <p:txBody>
            <a:bodyPr wrap="none" rtlCol="0">
              <a:spAutoFit/>
            </a:bodyPr>
            <a:lstStyle/>
            <a:p>
              <a:r>
                <a:rPr lang="en-GB" sz="1200" b="1" dirty="0">
                  <a:solidFill>
                    <a:srgbClr val="33CCFF"/>
                  </a:solidFill>
                  <a:latin typeface="+mj-lt"/>
                </a:rPr>
                <a:t>Limited use of product</a:t>
              </a:r>
            </a:p>
          </p:txBody>
        </p:sp>
        <p:sp>
          <p:nvSpPr>
            <p:cNvPr id="39" name="Rectangle 38">
              <a:extLst>
                <a:ext uri="{FF2B5EF4-FFF2-40B4-BE49-F238E27FC236}">
                  <a16:creationId xmlns:a16="http://schemas.microsoft.com/office/drawing/2014/main" id="{BCDD463A-01AB-5F87-F394-D5907A95FFE1}"/>
                </a:ext>
              </a:extLst>
            </p:cNvPr>
            <p:cNvSpPr/>
            <p:nvPr/>
          </p:nvSpPr>
          <p:spPr>
            <a:xfrm rot="2700000">
              <a:off x="5725152" y="6012909"/>
              <a:ext cx="149969" cy="149969"/>
            </a:xfrm>
            <a:prstGeom prst="rect">
              <a:avLst/>
            </a:prstGeom>
            <a:solidFill>
              <a:srgbClr val="33C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5" name="TextBox 54">
              <a:extLst>
                <a:ext uri="{FF2B5EF4-FFF2-40B4-BE49-F238E27FC236}">
                  <a16:creationId xmlns:a16="http://schemas.microsoft.com/office/drawing/2014/main" id="{E168BAB8-17AF-0587-6F11-F37AFC894CA2}"/>
                </a:ext>
              </a:extLst>
            </p:cNvPr>
            <p:cNvSpPr txBox="1"/>
            <p:nvPr/>
          </p:nvSpPr>
          <p:spPr>
            <a:xfrm>
              <a:off x="3712560" y="3486175"/>
              <a:ext cx="1091896" cy="253916"/>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Concept Testing</a:t>
              </a:r>
            </a:p>
          </p:txBody>
        </p:sp>
        <p:sp>
          <p:nvSpPr>
            <p:cNvPr id="57" name="Rectangle 56">
              <a:extLst>
                <a:ext uri="{FF2B5EF4-FFF2-40B4-BE49-F238E27FC236}">
                  <a16:creationId xmlns:a16="http://schemas.microsoft.com/office/drawing/2014/main" id="{D7A81A82-F300-F4B2-B96B-0F90C149C463}"/>
                </a:ext>
              </a:extLst>
            </p:cNvPr>
            <p:cNvSpPr/>
            <p:nvPr/>
          </p:nvSpPr>
          <p:spPr>
            <a:xfrm rot="2700000">
              <a:off x="2096232" y="3949432"/>
              <a:ext cx="119729" cy="119729"/>
            </a:xfrm>
            <a:prstGeom prst="rect">
              <a:avLst/>
            </a:prstGeom>
            <a:solidFill>
              <a:srgbClr val="33C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
          <p:nvSpPr>
            <p:cNvPr id="64" name="TextBox 63">
              <a:extLst>
                <a:ext uri="{FF2B5EF4-FFF2-40B4-BE49-F238E27FC236}">
                  <a16:creationId xmlns:a16="http://schemas.microsoft.com/office/drawing/2014/main" id="{EB015CB1-5324-EEEC-F115-F097E2D27C4D}"/>
                </a:ext>
              </a:extLst>
            </p:cNvPr>
            <p:cNvSpPr txBox="1"/>
            <p:nvPr/>
          </p:nvSpPr>
          <p:spPr>
            <a:xfrm>
              <a:off x="1468384" y="4096403"/>
              <a:ext cx="1375424" cy="253916"/>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Participatory Design</a:t>
              </a:r>
            </a:p>
          </p:txBody>
        </p:sp>
        <p:sp>
          <p:nvSpPr>
            <p:cNvPr id="65" name="Rectangle 64">
              <a:extLst>
                <a:ext uri="{FF2B5EF4-FFF2-40B4-BE49-F238E27FC236}">
                  <a16:creationId xmlns:a16="http://schemas.microsoft.com/office/drawing/2014/main" id="{6CFE892D-A77F-6DA6-5248-8D0CD5142295}"/>
                </a:ext>
              </a:extLst>
            </p:cNvPr>
            <p:cNvSpPr/>
            <p:nvPr/>
          </p:nvSpPr>
          <p:spPr>
            <a:xfrm rot="2700000">
              <a:off x="4198644" y="3360042"/>
              <a:ext cx="119729" cy="119729"/>
            </a:xfrm>
            <a:prstGeom prst="rect">
              <a:avLst/>
            </a:prstGeom>
            <a:solidFill>
              <a:srgbClr val="33C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66" name="TextBox 65">
              <a:extLst>
                <a:ext uri="{FF2B5EF4-FFF2-40B4-BE49-F238E27FC236}">
                  <a16:creationId xmlns:a16="http://schemas.microsoft.com/office/drawing/2014/main" id="{08ADE070-DDD3-E2D1-178F-C8CC6B5914C8}"/>
                </a:ext>
              </a:extLst>
            </p:cNvPr>
            <p:cNvSpPr txBox="1"/>
            <p:nvPr/>
          </p:nvSpPr>
          <p:spPr>
            <a:xfrm>
              <a:off x="3712560" y="4245764"/>
              <a:ext cx="1091896" cy="415498"/>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Card Sorting/</a:t>
              </a:r>
              <a:br>
                <a:rPr lang="en-GB" sz="1050" dirty="0">
                  <a:solidFill>
                    <a:schemeClr val="tx1">
                      <a:lumMod val="85000"/>
                      <a:lumOff val="15000"/>
                    </a:schemeClr>
                  </a:solidFill>
                  <a:latin typeface="Ambit"/>
                  <a:cs typeface="Aharoni" panose="02010803020104030203" pitchFamily="2" charset="-79"/>
                </a:rPr>
              </a:br>
              <a:r>
                <a:rPr lang="en-GB" sz="1050" dirty="0">
                  <a:solidFill>
                    <a:schemeClr val="tx1">
                      <a:lumMod val="85000"/>
                      <a:lumOff val="15000"/>
                    </a:schemeClr>
                  </a:solidFill>
                  <a:latin typeface="Ambit"/>
                  <a:cs typeface="Aharoni" panose="02010803020104030203" pitchFamily="2" charset="-79"/>
                </a:rPr>
                <a:t>Tree Testing</a:t>
              </a:r>
            </a:p>
          </p:txBody>
        </p:sp>
        <p:sp>
          <p:nvSpPr>
            <p:cNvPr id="67" name="Rectangle 66">
              <a:extLst>
                <a:ext uri="{FF2B5EF4-FFF2-40B4-BE49-F238E27FC236}">
                  <a16:creationId xmlns:a16="http://schemas.microsoft.com/office/drawing/2014/main" id="{F3BA3422-6676-390C-F46B-AEFD1ED406DC}"/>
                </a:ext>
              </a:extLst>
            </p:cNvPr>
            <p:cNvSpPr/>
            <p:nvPr/>
          </p:nvSpPr>
          <p:spPr>
            <a:xfrm rot="2700000">
              <a:off x="4198644" y="4119631"/>
              <a:ext cx="119729" cy="119729"/>
            </a:xfrm>
            <a:prstGeom prst="rect">
              <a:avLst/>
            </a:prstGeom>
            <a:solidFill>
              <a:srgbClr val="33C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2" name="TextBox 71">
              <a:extLst>
                <a:ext uri="{FF2B5EF4-FFF2-40B4-BE49-F238E27FC236}">
                  <a16:creationId xmlns:a16="http://schemas.microsoft.com/office/drawing/2014/main" id="{5FB4FE94-DE72-D0EC-D85A-88E9CB0BCECE}"/>
                </a:ext>
              </a:extLst>
            </p:cNvPr>
            <p:cNvSpPr txBox="1"/>
            <p:nvPr/>
          </p:nvSpPr>
          <p:spPr>
            <a:xfrm>
              <a:off x="3712560" y="4758695"/>
              <a:ext cx="1091896" cy="415498"/>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Desirability Studies</a:t>
              </a:r>
            </a:p>
          </p:txBody>
        </p:sp>
        <p:sp>
          <p:nvSpPr>
            <p:cNvPr id="73" name="Rectangle 72">
              <a:extLst>
                <a:ext uri="{FF2B5EF4-FFF2-40B4-BE49-F238E27FC236}">
                  <a16:creationId xmlns:a16="http://schemas.microsoft.com/office/drawing/2014/main" id="{82DE930B-502B-F6DC-AF3C-F69D07C2832F}"/>
                </a:ext>
              </a:extLst>
            </p:cNvPr>
            <p:cNvSpPr/>
            <p:nvPr/>
          </p:nvSpPr>
          <p:spPr>
            <a:xfrm rot="2700000">
              <a:off x="4198644" y="4632562"/>
              <a:ext cx="119729" cy="119729"/>
            </a:xfrm>
            <a:prstGeom prst="rect">
              <a:avLst/>
            </a:prstGeom>
            <a:solidFill>
              <a:srgbClr val="33C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91" name="Group 90">
            <a:extLst>
              <a:ext uri="{FF2B5EF4-FFF2-40B4-BE49-F238E27FC236}">
                <a16:creationId xmlns:a16="http://schemas.microsoft.com/office/drawing/2014/main" id="{AACE8502-A60E-9DC9-289B-A07596FF5D59}"/>
              </a:ext>
            </a:extLst>
          </p:cNvPr>
          <p:cNvGrpSpPr/>
          <p:nvPr/>
        </p:nvGrpSpPr>
        <p:grpSpPr>
          <a:xfrm>
            <a:off x="1610148" y="4470047"/>
            <a:ext cx="6887427" cy="1451643"/>
            <a:chOff x="1610148" y="4470047"/>
            <a:chExt cx="6887427" cy="1451643"/>
          </a:xfrm>
        </p:grpSpPr>
        <p:sp>
          <p:nvSpPr>
            <p:cNvPr id="60" name="Isosceles Triangle 59">
              <a:extLst>
                <a:ext uri="{FF2B5EF4-FFF2-40B4-BE49-F238E27FC236}">
                  <a16:creationId xmlns:a16="http://schemas.microsoft.com/office/drawing/2014/main" id="{4B65B4C2-E98F-B674-0CBD-E51DA34BDB8B}"/>
                </a:ext>
              </a:extLst>
            </p:cNvPr>
            <p:cNvSpPr/>
            <p:nvPr/>
          </p:nvSpPr>
          <p:spPr>
            <a:xfrm>
              <a:off x="2067039" y="4470047"/>
              <a:ext cx="178115" cy="132782"/>
            </a:xfrm>
            <a:prstGeom prst="triangle">
              <a:avLst/>
            </a:prstGeom>
            <a:solidFill>
              <a:srgbClr val="FF90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a:extLst>
                <a:ext uri="{FF2B5EF4-FFF2-40B4-BE49-F238E27FC236}">
                  <a16:creationId xmlns:a16="http://schemas.microsoft.com/office/drawing/2014/main" id="{BB4C3A37-8005-E942-2F76-094D16F67A88}"/>
                </a:ext>
              </a:extLst>
            </p:cNvPr>
            <p:cNvGrpSpPr/>
            <p:nvPr/>
          </p:nvGrpSpPr>
          <p:grpSpPr>
            <a:xfrm>
              <a:off x="1610148" y="4542809"/>
              <a:ext cx="6887427" cy="1378881"/>
              <a:chOff x="1610148" y="4542809"/>
              <a:chExt cx="6887427" cy="1378881"/>
            </a:xfrm>
          </p:grpSpPr>
          <p:sp>
            <p:nvSpPr>
              <p:cNvPr id="23" name="TextBox 22">
                <a:extLst>
                  <a:ext uri="{FF2B5EF4-FFF2-40B4-BE49-F238E27FC236}">
                    <a16:creationId xmlns:a16="http://schemas.microsoft.com/office/drawing/2014/main" id="{8E8AA273-2527-4E05-A7F1-7184AC9375C1}"/>
                  </a:ext>
                </a:extLst>
              </p:cNvPr>
              <p:cNvSpPr txBox="1"/>
              <p:nvPr/>
            </p:nvSpPr>
            <p:spPr>
              <a:xfrm>
                <a:off x="5883796" y="5644691"/>
                <a:ext cx="2451440" cy="276999"/>
              </a:xfrm>
              <a:prstGeom prst="rect">
                <a:avLst/>
              </a:prstGeom>
              <a:noFill/>
            </p:spPr>
            <p:txBody>
              <a:bodyPr wrap="none" rtlCol="0">
                <a:spAutoFit/>
              </a:bodyPr>
              <a:lstStyle/>
              <a:p>
                <a:r>
                  <a:rPr lang="en-GB" sz="1200" b="1" dirty="0">
                    <a:solidFill>
                      <a:srgbClr val="FF9021"/>
                    </a:solidFill>
                    <a:latin typeface="+mj-lt"/>
                  </a:rPr>
                  <a:t>Decontextualised/not using product</a:t>
                </a:r>
              </a:p>
            </p:txBody>
          </p:sp>
          <p:sp>
            <p:nvSpPr>
              <p:cNvPr id="42" name="Isosceles Triangle 41">
                <a:extLst>
                  <a:ext uri="{FF2B5EF4-FFF2-40B4-BE49-F238E27FC236}">
                    <a16:creationId xmlns:a16="http://schemas.microsoft.com/office/drawing/2014/main" id="{1E7CEBA7-71DC-E020-56FD-3A35EFE96C80}"/>
                  </a:ext>
                </a:extLst>
              </p:cNvPr>
              <p:cNvSpPr/>
              <p:nvPr/>
            </p:nvSpPr>
            <p:spPr>
              <a:xfrm>
                <a:off x="5671708" y="5691773"/>
                <a:ext cx="212088" cy="182834"/>
              </a:xfrm>
              <a:prstGeom prst="triangle">
                <a:avLst/>
              </a:prstGeom>
              <a:solidFill>
                <a:srgbClr val="FF90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8" name="TextBox 57">
                <a:extLst>
                  <a:ext uri="{FF2B5EF4-FFF2-40B4-BE49-F238E27FC236}">
                    <a16:creationId xmlns:a16="http://schemas.microsoft.com/office/drawing/2014/main" id="{E590B4C5-0484-0D9E-EF7B-D50322CE518D}"/>
                  </a:ext>
                </a:extLst>
              </p:cNvPr>
              <p:cNvSpPr txBox="1"/>
              <p:nvPr/>
            </p:nvSpPr>
            <p:spPr>
              <a:xfrm>
                <a:off x="1610148" y="4542809"/>
                <a:ext cx="1091896" cy="253916"/>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Focus Groups</a:t>
                </a:r>
              </a:p>
            </p:txBody>
          </p:sp>
          <p:sp>
            <p:nvSpPr>
              <p:cNvPr id="62" name="TextBox 61">
                <a:extLst>
                  <a:ext uri="{FF2B5EF4-FFF2-40B4-BE49-F238E27FC236}">
                    <a16:creationId xmlns:a16="http://schemas.microsoft.com/office/drawing/2014/main" id="{591DE5A9-0B44-053F-EE1A-633FA0890AED}"/>
                  </a:ext>
                </a:extLst>
              </p:cNvPr>
              <p:cNvSpPr txBox="1"/>
              <p:nvPr/>
            </p:nvSpPr>
            <p:spPr>
              <a:xfrm>
                <a:off x="1610148" y="4887722"/>
                <a:ext cx="1091896" cy="253916"/>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Interviews</a:t>
                </a:r>
              </a:p>
            </p:txBody>
          </p:sp>
          <p:sp>
            <p:nvSpPr>
              <p:cNvPr id="63" name="Isosceles Triangle 62">
                <a:extLst>
                  <a:ext uri="{FF2B5EF4-FFF2-40B4-BE49-F238E27FC236}">
                    <a16:creationId xmlns:a16="http://schemas.microsoft.com/office/drawing/2014/main" id="{8ED3E215-8E7D-03C7-3572-F950FFF5D011}"/>
                  </a:ext>
                </a:extLst>
              </p:cNvPr>
              <p:cNvSpPr/>
              <p:nvPr/>
            </p:nvSpPr>
            <p:spPr>
              <a:xfrm>
                <a:off x="2067039" y="4814960"/>
                <a:ext cx="178115" cy="132782"/>
              </a:xfrm>
              <a:prstGeom prst="triangle">
                <a:avLst/>
              </a:prstGeom>
              <a:solidFill>
                <a:srgbClr val="FF90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extBox 73">
                <a:extLst>
                  <a:ext uri="{FF2B5EF4-FFF2-40B4-BE49-F238E27FC236}">
                    <a16:creationId xmlns:a16="http://schemas.microsoft.com/office/drawing/2014/main" id="{0D773079-496E-4BA3-17DD-09DB4E3F55B3}"/>
                  </a:ext>
                </a:extLst>
              </p:cNvPr>
              <p:cNvSpPr txBox="1"/>
              <p:nvPr/>
            </p:nvSpPr>
            <p:spPr>
              <a:xfrm>
                <a:off x="7405679" y="4859426"/>
                <a:ext cx="1091896" cy="253916"/>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Surveys</a:t>
                </a:r>
              </a:p>
            </p:txBody>
          </p:sp>
          <p:sp>
            <p:nvSpPr>
              <p:cNvPr id="75" name="Isosceles Triangle 74">
                <a:extLst>
                  <a:ext uri="{FF2B5EF4-FFF2-40B4-BE49-F238E27FC236}">
                    <a16:creationId xmlns:a16="http://schemas.microsoft.com/office/drawing/2014/main" id="{FE684672-15A0-69AE-31FF-196BF44BAC9E}"/>
                  </a:ext>
                </a:extLst>
              </p:cNvPr>
              <p:cNvSpPr/>
              <p:nvPr/>
            </p:nvSpPr>
            <p:spPr>
              <a:xfrm>
                <a:off x="7862570" y="4786664"/>
                <a:ext cx="178115" cy="132782"/>
              </a:xfrm>
              <a:prstGeom prst="triangle">
                <a:avLst/>
              </a:prstGeom>
              <a:solidFill>
                <a:srgbClr val="FF90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88" name="Group 87">
            <a:extLst>
              <a:ext uri="{FF2B5EF4-FFF2-40B4-BE49-F238E27FC236}">
                <a16:creationId xmlns:a16="http://schemas.microsoft.com/office/drawing/2014/main" id="{95D2D645-FD87-D99C-41C6-8A44324598C4}"/>
              </a:ext>
            </a:extLst>
          </p:cNvPr>
          <p:cNvGrpSpPr/>
          <p:nvPr/>
        </p:nvGrpSpPr>
        <p:grpSpPr>
          <a:xfrm>
            <a:off x="1557040" y="1579950"/>
            <a:ext cx="5092184" cy="4646443"/>
            <a:chOff x="1557040" y="1579950"/>
            <a:chExt cx="5092184" cy="4646443"/>
          </a:xfrm>
        </p:grpSpPr>
        <p:sp>
          <p:nvSpPr>
            <p:cNvPr id="22" name="TextBox 21">
              <a:extLst>
                <a:ext uri="{FF2B5EF4-FFF2-40B4-BE49-F238E27FC236}">
                  <a16:creationId xmlns:a16="http://schemas.microsoft.com/office/drawing/2014/main" id="{BDD3B6DF-047C-C160-9117-64AF401D972F}"/>
                </a:ext>
              </a:extLst>
            </p:cNvPr>
            <p:cNvSpPr txBox="1"/>
            <p:nvPr/>
          </p:nvSpPr>
          <p:spPr>
            <a:xfrm>
              <a:off x="1779340" y="5949394"/>
              <a:ext cx="2792303" cy="276999"/>
            </a:xfrm>
            <a:prstGeom prst="rect">
              <a:avLst/>
            </a:prstGeom>
            <a:noFill/>
          </p:spPr>
          <p:txBody>
            <a:bodyPr wrap="none" rtlCol="0">
              <a:spAutoFit/>
            </a:bodyPr>
            <a:lstStyle/>
            <a:p>
              <a:r>
                <a:rPr lang="en-GB" sz="1200" b="1" dirty="0">
                  <a:solidFill>
                    <a:srgbClr val="611A96"/>
                  </a:solidFill>
                  <a:latin typeface="+mj-lt"/>
                </a:rPr>
                <a:t>Scripted (often lab-based) use of product</a:t>
              </a:r>
            </a:p>
          </p:txBody>
        </p:sp>
        <p:sp>
          <p:nvSpPr>
            <p:cNvPr id="41" name="Rectangle 40">
              <a:extLst>
                <a:ext uri="{FF2B5EF4-FFF2-40B4-BE49-F238E27FC236}">
                  <a16:creationId xmlns:a16="http://schemas.microsoft.com/office/drawing/2014/main" id="{6F123E52-49FE-C9AE-8728-6D9A24A03A99}"/>
                </a:ext>
              </a:extLst>
            </p:cNvPr>
            <p:cNvSpPr/>
            <p:nvPr/>
          </p:nvSpPr>
          <p:spPr>
            <a:xfrm>
              <a:off x="1557040" y="6012909"/>
              <a:ext cx="149969" cy="149969"/>
            </a:xfrm>
            <a:prstGeom prst="rect">
              <a:avLst/>
            </a:prstGeom>
            <a:solidFill>
              <a:srgbClr val="611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5" name="TextBox 34">
              <a:extLst>
                <a:ext uri="{FF2B5EF4-FFF2-40B4-BE49-F238E27FC236}">
                  <a16:creationId xmlns:a16="http://schemas.microsoft.com/office/drawing/2014/main" id="{F1E53EA4-1CE4-5094-9689-817386BDC59D}"/>
                </a:ext>
              </a:extLst>
            </p:cNvPr>
            <p:cNvSpPr txBox="1"/>
            <p:nvPr/>
          </p:nvSpPr>
          <p:spPr>
            <a:xfrm>
              <a:off x="2506860" y="2011234"/>
              <a:ext cx="973769" cy="415498"/>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Usability Testing</a:t>
              </a:r>
            </a:p>
          </p:txBody>
        </p:sp>
        <p:sp>
          <p:nvSpPr>
            <p:cNvPr id="36" name="TextBox 35">
              <a:extLst>
                <a:ext uri="{FF2B5EF4-FFF2-40B4-BE49-F238E27FC236}">
                  <a16:creationId xmlns:a16="http://schemas.microsoft.com/office/drawing/2014/main" id="{DD87990E-5010-08A6-5712-E420FFBF23B2}"/>
                </a:ext>
              </a:extLst>
            </p:cNvPr>
            <p:cNvSpPr txBox="1"/>
            <p:nvPr/>
          </p:nvSpPr>
          <p:spPr>
            <a:xfrm>
              <a:off x="3515281" y="2525009"/>
              <a:ext cx="1450427" cy="430887"/>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Remote Moderated Testing</a:t>
              </a:r>
            </a:p>
          </p:txBody>
        </p:sp>
        <p:sp>
          <p:nvSpPr>
            <p:cNvPr id="38" name="Rectangle 37">
              <a:extLst>
                <a:ext uri="{FF2B5EF4-FFF2-40B4-BE49-F238E27FC236}">
                  <a16:creationId xmlns:a16="http://schemas.microsoft.com/office/drawing/2014/main" id="{8B4E2B3B-CF0A-67AB-5DA1-D07653715FA4}"/>
                </a:ext>
              </a:extLst>
            </p:cNvPr>
            <p:cNvSpPr/>
            <p:nvPr/>
          </p:nvSpPr>
          <p:spPr>
            <a:xfrm>
              <a:off x="2933880" y="1884062"/>
              <a:ext cx="119729" cy="119729"/>
            </a:xfrm>
            <a:prstGeom prst="rect">
              <a:avLst/>
            </a:prstGeom>
            <a:solidFill>
              <a:srgbClr val="611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Rectangle 43">
              <a:extLst>
                <a:ext uri="{FF2B5EF4-FFF2-40B4-BE49-F238E27FC236}">
                  <a16:creationId xmlns:a16="http://schemas.microsoft.com/office/drawing/2014/main" id="{E29AC579-6D5A-507A-81EB-57FD12792E4F}"/>
                </a:ext>
              </a:extLst>
            </p:cNvPr>
            <p:cNvSpPr/>
            <p:nvPr/>
          </p:nvSpPr>
          <p:spPr>
            <a:xfrm>
              <a:off x="4160711" y="2433759"/>
              <a:ext cx="119729" cy="119729"/>
            </a:xfrm>
            <a:prstGeom prst="rect">
              <a:avLst/>
            </a:prstGeom>
            <a:solidFill>
              <a:srgbClr val="611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6" name="Rectangle 45">
              <a:extLst>
                <a:ext uri="{FF2B5EF4-FFF2-40B4-BE49-F238E27FC236}">
                  <a16:creationId xmlns:a16="http://schemas.microsoft.com/office/drawing/2014/main" id="{AD9B8B9E-3866-83DC-34DD-81EAC1999662}"/>
                </a:ext>
              </a:extLst>
            </p:cNvPr>
            <p:cNvSpPr/>
            <p:nvPr/>
          </p:nvSpPr>
          <p:spPr>
            <a:xfrm>
              <a:off x="4046038" y="1579950"/>
              <a:ext cx="119729" cy="119729"/>
            </a:xfrm>
            <a:prstGeom prst="rect">
              <a:avLst/>
            </a:prstGeom>
            <a:solidFill>
              <a:srgbClr val="611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7" name="TextBox 46">
              <a:extLst>
                <a:ext uri="{FF2B5EF4-FFF2-40B4-BE49-F238E27FC236}">
                  <a16:creationId xmlns:a16="http://schemas.microsoft.com/office/drawing/2014/main" id="{6E3F80C3-32A4-3F45-DE9C-1865FFDCAA01}"/>
                </a:ext>
              </a:extLst>
            </p:cNvPr>
            <p:cNvSpPr txBox="1"/>
            <p:nvPr/>
          </p:nvSpPr>
          <p:spPr>
            <a:xfrm>
              <a:off x="5198797" y="2003540"/>
              <a:ext cx="1450427" cy="430887"/>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Usability Benchmarking</a:t>
              </a:r>
            </a:p>
          </p:txBody>
        </p:sp>
        <p:sp>
          <p:nvSpPr>
            <p:cNvPr id="48" name="Rectangle 47">
              <a:extLst>
                <a:ext uri="{FF2B5EF4-FFF2-40B4-BE49-F238E27FC236}">
                  <a16:creationId xmlns:a16="http://schemas.microsoft.com/office/drawing/2014/main" id="{57BD40CA-BAD3-837B-5424-D73CE25DCC74}"/>
                </a:ext>
              </a:extLst>
            </p:cNvPr>
            <p:cNvSpPr/>
            <p:nvPr/>
          </p:nvSpPr>
          <p:spPr>
            <a:xfrm>
              <a:off x="5833198" y="1884062"/>
              <a:ext cx="119729" cy="119729"/>
            </a:xfrm>
            <a:prstGeom prst="rect">
              <a:avLst/>
            </a:prstGeom>
            <a:solidFill>
              <a:srgbClr val="611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5" name="TextBox 84">
              <a:extLst>
                <a:ext uri="{FF2B5EF4-FFF2-40B4-BE49-F238E27FC236}">
                  <a16:creationId xmlns:a16="http://schemas.microsoft.com/office/drawing/2014/main" id="{D49DE79C-7653-9801-CEBF-6CA370AB6EB7}"/>
                </a:ext>
              </a:extLst>
            </p:cNvPr>
            <p:cNvSpPr txBox="1"/>
            <p:nvPr/>
          </p:nvSpPr>
          <p:spPr>
            <a:xfrm>
              <a:off x="5197236" y="2841186"/>
              <a:ext cx="1450427" cy="253916"/>
            </a:xfrm>
            <a:prstGeom prst="rect">
              <a:avLst/>
            </a:prstGeom>
            <a:noFill/>
          </p:spPr>
          <p:txBody>
            <a:bodyPr wrap="square" rtlCol="0">
              <a:spAutoFit/>
            </a:bodyPr>
            <a:lstStyle/>
            <a:p>
              <a:pPr algn="ctr"/>
              <a:r>
                <a:rPr lang="en-GB" sz="1050" dirty="0">
                  <a:solidFill>
                    <a:schemeClr val="tx1">
                      <a:lumMod val="85000"/>
                      <a:lumOff val="15000"/>
                    </a:schemeClr>
                  </a:solidFill>
                  <a:latin typeface="Ambit"/>
                  <a:cs typeface="Aharoni" panose="02010803020104030203" pitchFamily="2" charset="-79"/>
                </a:rPr>
                <a:t>Unmoderated Testing</a:t>
              </a:r>
            </a:p>
          </p:txBody>
        </p:sp>
        <p:sp>
          <p:nvSpPr>
            <p:cNvPr id="86" name="Rectangle 85">
              <a:extLst>
                <a:ext uri="{FF2B5EF4-FFF2-40B4-BE49-F238E27FC236}">
                  <a16:creationId xmlns:a16="http://schemas.microsoft.com/office/drawing/2014/main" id="{A342B0F5-BAA4-E52E-3817-AA88E4AC6D57}"/>
                </a:ext>
              </a:extLst>
            </p:cNvPr>
            <p:cNvSpPr/>
            <p:nvPr/>
          </p:nvSpPr>
          <p:spPr>
            <a:xfrm>
              <a:off x="5831637" y="2721708"/>
              <a:ext cx="119729" cy="119729"/>
            </a:xfrm>
            <a:prstGeom prst="rect">
              <a:avLst/>
            </a:prstGeom>
            <a:solidFill>
              <a:srgbClr val="611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7" name="Footer Placeholder 6">
            <a:extLst>
              <a:ext uri="{FF2B5EF4-FFF2-40B4-BE49-F238E27FC236}">
                <a16:creationId xmlns:a16="http://schemas.microsoft.com/office/drawing/2014/main" id="{C26B64F0-92BD-3BF5-58A7-5E0C4164225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9E58134F-BE69-AA65-C89D-C5074207D6D8}"/>
              </a:ext>
            </a:extLst>
          </p:cNvPr>
          <p:cNvSpPr>
            <a:spLocks noGrp="1"/>
          </p:cNvSpPr>
          <p:nvPr>
            <p:ph type="sldNum" sz="quarter" idx="4"/>
          </p:nvPr>
        </p:nvSpPr>
        <p:spPr/>
        <p:txBody>
          <a:bodyPr/>
          <a:lstStyle/>
          <a:p>
            <a:fld id="{9FD7ECCF-50E7-4327-B945-FA93FF7B2BEF}" type="slidenum">
              <a:rPr lang="en-US" smtClean="0"/>
              <a:pPr/>
              <a:t>16</a:t>
            </a:fld>
            <a:r>
              <a:rPr lang="en-GB"/>
              <a:t>/40</a:t>
            </a:r>
            <a:endParaRPr lang="en-US" dirty="0"/>
          </a:p>
        </p:txBody>
      </p:sp>
    </p:spTree>
    <p:extLst>
      <p:ext uri="{BB962C8B-B14F-4D97-AF65-F5344CB8AC3E}">
        <p14:creationId xmlns:p14="http://schemas.microsoft.com/office/powerpoint/2010/main" val="259887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500"/>
                                        <p:tgtEl>
                                          <p:spTgt spid="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fade">
                                      <p:cBhvr>
                                        <p:cTn id="12" dur="500"/>
                                        <p:tgtEl>
                                          <p:spTgt spid="8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fad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fade">
                                      <p:cBhvr>
                                        <p:cTn id="22"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C8BE-7451-BEB9-D829-16EC90B82261}"/>
              </a:ext>
            </a:extLst>
          </p:cNvPr>
          <p:cNvSpPr>
            <a:spLocks noGrp="1"/>
          </p:cNvSpPr>
          <p:nvPr>
            <p:ph type="title"/>
          </p:nvPr>
        </p:nvSpPr>
        <p:spPr/>
        <p:txBody>
          <a:bodyPr/>
          <a:lstStyle/>
          <a:p>
            <a:r>
              <a:rPr lang="en-GB" dirty="0"/>
              <a:t>What methods?</a:t>
            </a:r>
          </a:p>
        </p:txBody>
      </p:sp>
      <p:sp>
        <p:nvSpPr>
          <p:cNvPr id="3" name="Content Placeholder 2">
            <a:extLst>
              <a:ext uri="{FF2B5EF4-FFF2-40B4-BE49-F238E27FC236}">
                <a16:creationId xmlns:a16="http://schemas.microsoft.com/office/drawing/2014/main" id="{2BE05D69-DB85-EE03-F1CB-D67BC2597F1D}"/>
              </a:ext>
            </a:extLst>
          </p:cNvPr>
          <p:cNvSpPr>
            <a:spLocks noGrp="1"/>
          </p:cNvSpPr>
          <p:nvPr>
            <p:ph sz="quarter" idx="1"/>
          </p:nvPr>
        </p:nvSpPr>
        <p:spPr/>
        <p:txBody>
          <a:bodyPr>
            <a:normAutofit lnSpcReduction="10000"/>
          </a:bodyPr>
          <a:lstStyle/>
          <a:p>
            <a:pPr>
              <a:spcBef>
                <a:spcPts val="600"/>
              </a:spcBef>
              <a:spcAft>
                <a:spcPts val="600"/>
              </a:spcAft>
            </a:pPr>
            <a:r>
              <a:rPr lang="en-GB" dirty="0"/>
              <a:t>It depends at what stage of the SDLC</a:t>
            </a:r>
          </a:p>
          <a:p>
            <a:pPr marL="719138" lvl="1" indent="-352425">
              <a:spcBef>
                <a:spcPts val="600"/>
              </a:spcBef>
              <a:spcAft>
                <a:spcPts val="600"/>
              </a:spcAft>
              <a:tabLst>
                <a:tab pos="719138" algn="l"/>
              </a:tabLst>
            </a:pPr>
            <a:r>
              <a:rPr lang="en-GB" sz="3100" b="1" dirty="0"/>
              <a:t>Concept</a:t>
            </a:r>
            <a:r>
              <a:rPr lang="en-GB" sz="2800" b="1" dirty="0"/>
              <a:t> generation &amp; ideation</a:t>
            </a:r>
          </a:p>
          <a:p>
            <a:pPr marL="719138" lvl="2" indent="-352425">
              <a:spcBef>
                <a:spcPts val="600"/>
              </a:spcBef>
              <a:spcAft>
                <a:spcPts val="600"/>
              </a:spcAft>
              <a:buNone/>
              <a:tabLst>
                <a:tab pos="719138" algn="l"/>
              </a:tabLst>
            </a:pPr>
            <a:r>
              <a:rPr lang="en-GB" sz="2500" dirty="0"/>
              <a:t>	If you are looking to  understand human behaviour or identify issues with a current system design that will show directions for a new solution </a:t>
            </a:r>
          </a:p>
          <a:p>
            <a:pPr marL="719138" lvl="1" indent="-352425">
              <a:spcBef>
                <a:spcPts val="600"/>
              </a:spcBef>
              <a:spcAft>
                <a:spcPts val="600"/>
              </a:spcAft>
              <a:tabLst>
                <a:tab pos="719138" algn="l"/>
              </a:tabLst>
            </a:pPr>
            <a:r>
              <a:rPr lang="en-GB" sz="3100" b="1" dirty="0"/>
              <a:t>Iteration &amp; evaluation</a:t>
            </a:r>
          </a:p>
          <a:p>
            <a:pPr marL="639763" lvl="2" indent="79375">
              <a:spcBef>
                <a:spcPts val="600"/>
              </a:spcBef>
              <a:spcAft>
                <a:spcPts val="600"/>
              </a:spcAft>
              <a:buNone/>
              <a:tabLst>
                <a:tab pos="719138" algn="l"/>
              </a:tabLst>
            </a:pPr>
            <a:r>
              <a:rPr lang="en-GB" sz="2500" dirty="0"/>
              <a:t>If you are testing the effect of an update of a design  &amp; evaluation</a:t>
            </a:r>
          </a:p>
          <a:p>
            <a:pPr marL="719138" lvl="1" indent="-352425">
              <a:spcBef>
                <a:spcPts val="600"/>
              </a:spcBef>
              <a:spcAft>
                <a:spcPts val="600"/>
              </a:spcAft>
              <a:tabLst>
                <a:tab pos="719138" algn="l"/>
              </a:tabLst>
            </a:pPr>
            <a:r>
              <a:rPr lang="en-GB" sz="3100" b="1" dirty="0"/>
              <a:t>What data we want to collect</a:t>
            </a:r>
          </a:p>
          <a:p>
            <a:pPr marL="719138" lvl="2" indent="-352425">
              <a:spcBef>
                <a:spcPts val="600"/>
              </a:spcBef>
              <a:spcAft>
                <a:spcPts val="600"/>
              </a:spcAft>
              <a:buNone/>
              <a:tabLst>
                <a:tab pos="719138" algn="l"/>
              </a:tabLst>
            </a:pPr>
            <a:endParaRPr lang="en-GB" dirty="0"/>
          </a:p>
          <a:p>
            <a:pPr>
              <a:spcBef>
                <a:spcPts val="600"/>
              </a:spcBef>
              <a:spcAft>
                <a:spcPts val="600"/>
              </a:spcAft>
            </a:pPr>
            <a:endParaRPr lang="en-GB" dirty="0"/>
          </a:p>
        </p:txBody>
      </p:sp>
      <p:sp>
        <p:nvSpPr>
          <p:cNvPr id="8" name="Footer Placeholder 7">
            <a:extLst>
              <a:ext uri="{FF2B5EF4-FFF2-40B4-BE49-F238E27FC236}">
                <a16:creationId xmlns:a16="http://schemas.microsoft.com/office/drawing/2014/main" id="{0013A686-8755-BA60-6603-4B9FA7B048A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9E648DAC-B087-0A37-0D48-ED479F1F292E}"/>
              </a:ext>
            </a:extLst>
          </p:cNvPr>
          <p:cNvSpPr>
            <a:spLocks noGrp="1"/>
          </p:cNvSpPr>
          <p:nvPr>
            <p:ph type="sldNum" sz="quarter" idx="4"/>
          </p:nvPr>
        </p:nvSpPr>
        <p:spPr/>
        <p:txBody>
          <a:bodyPr/>
          <a:lstStyle/>
          <a:p>
            <a:fld id="{9FD7ECCF-50E7-4327-B945-FA93FF7B2BEF}" type="slidenum">
              <a:rPr lang="en-US" smtClean="0"/>
              <a:pPr/>
              <a:t>17</a:t>
            </a:fld>
            <a:r>
              <a:rPr lang="en-GB"/>
              <a:t>/40</a:t>
            </a:r>
            <a:endParaRPr lang="en-US" dirty="0"/>
          </a:p>
        </p:txBody>
      </p:sp>
    </p:spTree>
    <p:extLst>
      <p:ext uri="{BB962C8B-B14F-4D97-AF65-F5344CB8AC3E}">
        <p14:creationId xmlns:p14="http://schemas.microsoft.com/office/powerpoint/2010/main" val="483566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F139844C-7E3E-902B-853F-D71CB5719E26}"/>
              </a:ext>
            </a:extLst>
          </p:cNvPr>
          <p:cNvPicPr>
            <a:picLocks noChangeAspect="1"/>
          </p:cNvPicPr>
          <p:nvPr/>
        </p:nvPicPr>
        <p:blipFill>
          <a:blip r:embed="rId2"/>
          <a:stretch>
            <a:fillRect/>
          </a:stretch>
        </p:blipFill>
        <p:spPr>
          <a:xfrm>
            <a:off x="4171039" y="5331748"/>
            <a:ext cx="779411" cy="804392"/>
          </a:xfrm>
          <a:prstGeom prst="rect">
            <a:avLst/>
          </a:prstGeom>
        </p:spPr>
      </p:pic>
      <p:pic>
        <p:nvPicPr>
          <p:cNvPr id="15" name="Picture 14">
            <a:extLst>
              <a:ext uri="{FF2B5EF4-FFF2-40B4-BE49-F238E27FC236}">
                <a16:creationId xmlns:a16="http://schemas.microsoft.com/office/drawing/2014/main" id="{7C4957CD-FA65-F029-AB95-86E1E2D33207}"/>
              </a:ext>
            </a:extLst>
          </p:cNvPr>
          <p:cNvPicPr>
            <a:picLocks noChangeAspect="1"/>
          </p:cNvPicPr>
          <p:nvPr/>
        </p:nvPicPr>
        <p:blipFill>
          <a:blip r:embed="rId3"/>
          <a:stretch>
            <a:fillRect/>
          </a:stretch>
        </p:blipFill>
        <p:spPr>
          <a:xfrm>
            <a:off x="4908217" y="2888328"/>
            <a:ext cx="673287" cy="641226"/>
          </a:xfrm>
          <a:prstGeom prst="rect">
            <a:avLst/>
          </a:prstGeom>
        </p:spPr>
      </p:pic>
      <p:sp>
        <p:nvSpPr>
          <p:cNvPr id="6" name="Title 5">
            <a:extLst>
              <a:ext uri="{FF2B5EF4-FFF2-40B4-BE49-F238E27FC236}">
                <a16:creationId xmlns:a16="http://schemas.microsoft.com/office/drawing/2014/main" id="{D8F2BA1E-EFE6-380A-3D7C-F0A2E26A0A00}"/>
              </a:ext>
            </a:extLst>
          </p:cNvPr>
          <p:cNvSpPr>
            <a:spLocks noGrp="1"/>
          </p:cNvSpPr>
          <p:nvPr>
            <p:ph type="title"/>
          </p:nvPr>
        </p:nvSpPr>
        <p:spPr/>
        <p:txBody>
          <a:bodyPr>
            <a:normAutofit/>
          </a:bodyPr>
          <a:lstStyle/>
          <a:p>
            <a:r>
              <a:rPr lang="en-GB" dirty="0"/>
              <a:t>Methods for testing usability</a:t>
            </a:r>
          </a:p>
        </p:txBody>
      </p:sp>
      <p:graphicFrame>
        <p:nvGraphicFramePr>
          <p:cNvPr id="10" name="Diagram 9">
            <a:extLst>
              <a:ext uri="{FF2B5EF4-FFF2-40B4-BE49-F238E27FC236}">
                <a16:creationId xmlns:a16="http://schemas.microsoft.com/office/drawing/2014/main" id="{B80FA27F-8AFC-E907-3C16-E8D8B54A9806}"/>
              </a:ext>
            </a:extLst>
          </p:cNvPr>
          <p:cNvGraphicFramePr/>
          <p:nvPr>
            <p:extLst>
              <p:ext uri="{D42A27DB-BD31-4B8C-83A1-F6EECF244321}">
                <p14:modId xmlns:p14="http://schemas.microsoft.com/office/powerpoint/2010/main" val="1379522346"/>
              </p:ext>
            </p:extLst>
          </p:nvPr>
        </p:nvGraphicFramePr>
        <p:xfrm>
          <a:off x="2267744" y="1162023"/>
          <a:ext cx="7071320" cy="51489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Oval 10">
            <a:extLst>
              <a:ext uri="{FF2B5EF4-FFF2-40B4-BE49-F238E27FC236}">
                <a16:creationId xmlns:a16="http://schemas.microsoft.com/office/drawing/2014/main" id="{054C78CF-42C2-DD8E-596B-CB7E2936E489}"/>
              </a:ext>
            </a:extLst>
          </p:cNvPr>
          <p:cNvSpPr/>
          <p:nvPr/>
        </p:nvSpPr>
        <p:spPr>
          <a:xfrm>
            <a:off x="744321" y="4293096"/>
            <a:ext cx="936104" cy="990600"/>
          </a:xfrm>
          <a:prstGeom prst="ellipse">
            <a:avLst/>
          </a:prstGeom>
          <a:blipFill>
            <a:blip r:embed="rId9">
              <a:extLst>
                <a:ext uri="{28A0092B-C50C-407E-A947-70E740481C1C}">
                  <a14:useLocalDpi xmlns:a14="http://schemas.microsoft.com/office/drawing/2010/main" val="0"/>
                </a:ext>
              </a:extLst>
            </a:blip>
            <a:srcRect/>
            <a:stretch>
              <a:fillRect l="-2000" r="-2000"/>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TextBox 11">
            <a:extLst>
              <a:ext uri="{FF2B5EF4-FFF2-40B4-BE49-F238E27FC236}">
                <a16:creationId xmlns:a16="http://schemas.microsoft.com/office/drawing/2014/main" id="{414AD375-637A-36E8-EAF1-94285D47D296}"/>
              </a:ext>
            </a:extLst>
          </p:cNvPr>
          <p:cNvSpPr txBox="1"/>
          <p:nvPr/>
        </p:nvSpPr>
        <p:spPr>
          <a:xfrm>
            <a:off x="841118" y="5298468"/>
            <a:ext cx="742511" cy="461665"/>
          </a:xfrm>
          <a:prstGeom prst="rect">
            <a:avLst/>
          </a:prstGeom>
          <a:noFill/>
        </p:spPr>
        <p:txBody>
          <a:bodyPr wrap="none" rtlCol="0">
            <a:spAutoFit/>
          </a:bodyPr>
          <a:lstStyle/>
          <a:p>
            <a:r>
              <a:rPr lang="en-GB" dirty="0">
                <a:latin typeface="+mn-lt"/>
              </a:rPr>
              <a:t>UCD</a:t>
            </a:r>
          </a:p>
        </p:txBody>
      </p:sp>
      <p:sp>
        <p:nvSpPr>
          <p:cNvPr id="13" name="TextBox 12">
            <a:extLst>
              <a:ext uri="{FF2B5EF4-FFF2-40B4-BE49-F238E27FC236}">
                <a16:creationId xmlns:a16="http://schemas.microsoft.com/office/drawing/2014/main" id="{DFDB9659-E7DB-5E0F-BA66-35A048A0BAF6}"/>
              </a:ext>
            </a:extLst>
          </p:cNvPr>
          <p:cNvSpPr txBox="1"/>
          <p:nvPr/>
        </p:nvSpPr>
        <p:spPr>
          <a:xfrm>
            <a:off x="175480" y="3007722"/>
            <a:ext cx="2073786" cy="1200329"/>
          </a:xfrm>
          <a:prstGeom prst="rect">
            <a:avLst/>
          </a:prstGeom>
          <a:noFill/>
        </p:spPr>
        <p:txBody>
          <a:bodyPr wrap="square" rtlCol="0">
            <a:spAutoFit/>
          </a:bodyPr>
          <a:lstStyle/>
          <a:p>
            <a:pPr algn="ctr"/>
            <a:r>
              <a:rPr lang="en-GB" dirty="0">
                <a:latin typeface="+mn-lt"/>
              </a:rPr>
              <a:t>Does it do what we want it to achieve?</a:t>
            </a:r>
          </a:p>
        </p:txBody>
      </p:sp>
      <p:sp>
        <p:nvSpPr>
          <p:cNvPr id="17" name="TextBox 16">
            <a:extLst>
              <a:ext uri="{FF2B5EF4-FFF2-40B4-BE49-F238E27FC236}">
                <a16:creationId xmlns:a16="http://schemas.microsoft.com/office/drawing/2014/main" id="{0FED5868-338D-B78E-5B7D-5750191E56C9}"/>
              </a:ext>
            </a:extLst>
          </p:cNvPr>
          <p:cNvSpPr txBox="1"/>
          <p:nvPr/>
        </p:nvSpPr>
        <p:spPr>
          <a:xfrm>
            <a:off x="2544521" y="3377054"/>
            <a:ext cx="2016224" cy="830997"/>
          </a:xfrm>
          <a:prstGeom prst="rect">
            <a:avLst/>
          </a:prstGeom>
          <a:noFill/>
        </p:spPr>
        <p:txBody>
          <a:bodyPr wrap="square" rtlCol="0">
            <a:spAutoFit/>
          </a:bodyPr>
          <a:lstStyle/>
          <a:p>
            <a:pPr algn="ctr"/>
            <a:r>
              <a:rPr lang="en-GB" dirty="0">
                <a:latin typeface="+mn-lt"/>
              </a:rPr>
              <a:t>Iteration &amp; evaluation</a:t>
            </a:r>
          </a:p>
        </p:txBody>
      </p:sp>
      <p:sp>
        <p:nvSpPr>
          <p:cNvPr id="5" name="TextBox 4">
            <a:extLst>
              <a:ext uri="{FF2B5EF4-FFF2-40B4-BE49-F238E27FC236}">
                <a16:creationId xmlns:a16="http://schemas.microsoft.com/office/drawing/2014/main" id="{963212B6-B9A7-2DAB-8CA0-F5434C912232}"/>
              </a:ext>
            </a:extLst>
          </p:cNvPr>
          <p:cNvSpPr txBox="1"/>
          <p:nvPr/>
        </p:nvSpPr>
        <p:spPr>
          <a:xfrm>
            <a:off x="7295055" y="2117876"/>
            <a:ext cx="1210588" cy="1077218"/>
          </a:xfrm>
          <a:prstGeom prst="rect">
            <a:avLst/>
          </a:prstGeom>
          <a:solidFill>
            <a:schemeClr val="accent4">
              <a:lumMod val="60000"/>
              <a:lumOff val="40000"/>
            </a:schemeClr>
          </a:solidFill>
        </p:spPr>
        <p:txBody>
          <a:bodyPr wrap="none" rtlCol="0">
            <a:spAutoFit/>
          </a:bodyPr>
          <a:lstStyle/>
          <a:p>
            <a:r>
              <a:rPr lang="en-GB" sz="1600" b="1" i="1" dirty="0">
                <a:solidFill>
                  <a:schemeClr val="tx1">
                    <a:lumMod val="85000"/>
                    <a:lumOff val="15000"/>
                  </a:schemeClr>
                </a:solidFill>
                <a:latin typeface="Arial Narrow" panose="020B0606020202030204" pitchFamily="34" charset="0"/>
              </a:rPr>
              <a:t>Behavioural </a:t>
            </a:r>
          </a:p>
          <a:p>
            <a:r>
              <a:rPr lang="en-GB" sz="1600" b="1" i="1" dirty="0">
                <a:solidFill>
                  <a:schemeClr val="tx1">
                    <a:lumMod val="85000"/>
                    <a:lumOff val="15000"/>
                  </a:schemeClr>
                </a:solidFill>
                <a:latin typeface="Arial Narrow" panose="020B0606020202030204" pitchFamily="34" charset="0"/>
              </a:rPr>
              <a:t>Attitudinal</a:t>
            </a:r>
          </a:p>
          <a:p>
            <a:r>
              <a:rPr lang="en-GB" sz="1600" b="1" i="1" dirty="0">
                <a:solidFill>
                  <a:schemeClr val="tx1">
                    <a:lumMod val="85000"/>
                    <a:lumOff val="15000"/>
                  </a:schemeClr>
                </a:solidFill>
                <a:latin typeface="Arial Narrow" panose="020B0606020202030204" pitchFamily="34" charset="0"/>
              </a:rPr>
              <a:t>Performance</a:t>
            </a:r>
          </a:p>
          <a:p>
            <a:r>
              <a:rPr lang="en-GB" sz="1600" b="1" i="1" dirty="0">
                <a:solidFill>
                  <a:schemeClr val="tx1">
                    <a:lumMod val="85000"/>
                    <a:lumOff val="15000"/>
                  </a:schemeClr>
                </a:solidFill>
                <a:latin typeface="Arial Narrow" panose="020B0606020202030204" pitchFamily="34" charset="0"/>
              </a:rPr>
              <a:t>Preference</a:t>
            </a:r>
          </a:p>
        </p:txBody>
      </p:sp>
      <p:pic>
        <p:nvPicPr>
          <p:cNvPr id="9" name="Picture 8">
            <a:extLst>
              <a:ext uri="{FF2B5EF4-FFF2-40B4-BE49-F238E27FC236}">
                <a16:creationId xmlns:a16="http://schemas.microsoft.com/office/drawing/2014/main" id="{8C36EEAD-47C5-1A92-96C4-80C5A4610C2B}"/>
              </a:ext>
            </a:extLst>
          </p:cNvPr>
          <p:cNvPicPr>
            <a:picLocks noChangeAspect="1"/>
          </p:cNvPicPr>
          <p:nvPr/>
        </p:nvPicPr>
        <p:blipFill>
          <a:blip r:embed="rId10"/>
          <a:stretch>
            <a:fillRect/>
          </a:stretch>
        </p:blipFill>
        <p:spPr>
          <a:xfrm>
            <a:off x="4014879" y="1689937"/>
            <a:ext cx="651981" cy="655583"/>
          </a:xfrm>
          <a:prstGeom prst="rect">
            <a:avLst/>
          </a:prstGeom>
        </p:spPr>
      </p:pic>
      <p:sp>
        <p:nvSpPr>
          <p:cNvPr id="16" name="Date Placeholder 15">
            <a:extLst>
              <a:ext uri="{FF2B5EF4-FFF2-40B4-BE49-F238E27FC236}">
                <a16:creationId xmlns:a16="http://schemas.microsoft.com/office/drawing/2014/main" id="{A6D42971-7118-FC2B-A87E-05254CCD47D8}"/>
              </a:ext>
            </a:extLst>
          </p:cNvPr>
          <p:cNvSpPr>
            <a:spLocks noGrp="1"/>
          </p:cNvSpPr>
          <p:nvPr>
            <p:ph type="dt" sz="half" idx="2"/>
          </p:nvPr>
        </p:nvSpPr>
        <p:spPr/>
        <p:txBody>
          <a:bodyPr/>
          <a:lstStyle/>
          <a:p>
            <a:fld id="{DDB24A61-4428-4308-8161-7D17097191D3}" type="datetime1">
              <a:rPr lang="en-US" smtClean="0"/>
              <a:t>9/23/2024</a:t>
            </a:fld>
            <a:endParaRPr lang="en-US" dirty="0"/>
          </a:p>
        </p:txBody>
      </p:sp>
      <p:sp>
        <p:nvSpPr>
          <p:cNvPr id="19" name="Footer Placeholder 18">
            <a:extLst>
              <a:ext uri="{FF2B5EF4-FFF2-40B4-BE49-F238E27FC236}">
                <a16:creationId xmlns:a16="http://schemas.microsoft.com/office/drawing/2014/main" id="{AD253D30-6F38-1F5E-BB41-6034E05D2C7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0" name="Slide Number Placeholder 19">
            <a:extLst>
              <a:ext uri="{FF2B5EF4-FFF2-40B4-BE49-F238E27FC236}">
                <a16:creationId xmlns:a16="http://schemas.microsoft.com/office/drawing/2014/main" id="{B02A7E69-E081-4D9B-EF6F-375B840F6579}"/>
              </a:ext>
            </a:extLst>
          </p:cNvPr>
          <p:cNvSpPr>
            <a:spLocks noGrp="1"/>
          </p:cNvSpPr>
          <p:nvPr>
            <p:ph type="sldNum" sz="quarter" idx="4"/>
          </p:nvPr>
        </p:nvSpPr>
        <p:spPr/>
        <p:txBody>
          <a:bodyPr/>
          <a:lstStyle/>
          <a:p>
            <a:fld id="{9FD7ECCF-50E7-4327-B945-FA93FF7B2BEF}" type="slidenum">
              <a:rPr lang="en-US" smtClean="0"/>
              <a:pPr/>
              <a:t>18</a:t>
            </a:fld>
            <a:r>
              <a:rPr lang="en-GB"/>
              <a:t>/40</a:t>
            </a:r>
            <a:endParaRPr lang="en-US" dirty="0"/>
          </a:p>
        </p:txBody>
      </p:sp>
    </p:spTree>
    <p:extLst>
      <p:ext uri="{BB962C8B-B14F-4D97-AF65-F5344CB8AC3E}">
        <p14:creationId xmlns:p14="http://schemas.microsoft.com/office/powerpoint/2010/main" val="4067521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B4038-C120-229C-A8FD-C66639EC3D69}"/>
              </a:ext>
            </a:extLst>
          </p:cNvPr>
          <p:cNvSpPr>
            <a:spLocks noGrp="1"/>
          </p:cNvSpPr>
          <p:nvPr>
            <p:ph type="title"/>
          </p:nvPr>
        </p:nvSpPr>
        <p:spPr>
          <a:xfrm>
            <a:off x="612647" y="260648"/>
            <a:ext cx="7827409" cy="1008112"/>
          </a:xfrm>
        </p:spPr>
        <p:txBody>
          <a:bodyPr>
            <a:noAutofit/>
          </a:bodyPr>
          <a:lstStyle/>
          <a:p>
            <a:pPr>
              <a:lnSpc>
                <a:spcPts val="3500"/>
              </a:lnSpc>
            </a:pPr>
            <a:r>
              <a:rPr lang="it-IT" sz="4000" dirty="0"/>
              <a:t>Quantitative (</a:t>
            </a:r>
            <a:r>
              <a:rPr lang="it-IT" sz="4000" b="1" dirty="0"/>
              <a:t>Qual</a:t>
            </a:r>
            <a:r>
              <a:rPr lang="it-IT" sz="4000" dirty="0"/>
              <a:t>) vs. </a:t>
            </a:r>
            <a:br>
              <a:rPr lang="it-IT" sz="4000" dirty="0"/>
            </a:br>
            <a:r>
              <a:rPr lang="it-IT" sz="4000" dirty="0"/>
              <a:t>Qualitative (</a:t>
            </a:r>
            <a:r>
              <a:rPr lang="it-IT" sz="4000" b="1" dirty="0"/>
              <a:t>Quant</a:t>
            </a:r>
            <a:r>
              <a:rPr lang="it-IT" sz="4000" dirty="0"/>
              <a:t>) Usability Testing</a:t>
            </a:r>
            <a:br>
              <a:rPr lang="it-IT" sz="3600" b="1" i="0" dirty="0">
                <a:solidFill>
                  <a:srgbClr val="000000"/>
                </a:solidFill>
                <a:effectLst/>
                <a:latin typeface="Source Sans Variable"/>
              </a:rPr>
            </a:br>
            <a:endParaRPr lang="en-GB" sz="3600" dirty="0"/>
          </a:p>
        </p:txBody>
      </p:sp>
      <p:sp>
        <p:nvSpPr>
          <p:cNvPr id="3" name="Content Placeholder 2">
            <a:extLst>
              <a:ext uri="{FF2B5EF4-FFF2-40B4-BE49-F238E27FC236}">
                <a16:creationId xmlns:a16="http://schemas.microsoft.com/office/drawing/2014/main" id="{59B4EB41-897C-93C9-6401-B8A126D3E335}"/>
              </a:ext>
            </a:extLst>
          </p:cNvPr>
          <p:cNvSpPr>
            <a:spLocks noGrp="1"/>
          </p:cNvSpPr>
          <p:nvPr>
            <p:ph sz="quarter" idx="1"/>
          </p:nvPr>
        </p:nvSpPr>
        <p:spPr>
          <a:xfrm>
            <a:off x="612648" y="1600200"/>
            <a:ext cx="8153400" cy="4781128"/>
          </a:xfrm>
        </p:spPr>
        <p:txBody>
          <a:bodyPr>
            <a:normAutofit/>
          </a:bodyPr>
          <a:lstStyle/>
          <a:p>
            <a:pPr>
              <a:spcBef>
                <a:spcPts val="600"/>
              </a:spcBef>
              <a:spcAft>
                <a:spcPts val="600"/>
              </a:spcAft>
            </a:pPr>
            <a:r>
              <a:rPr lang="en-GB" sz="2000" b="1" i="0" dirty="0">
                <a:solidFill>
                  <a:srgbClr val="333333"/>
                </a:solidFill>
                <a:effectLst/>
              </a:rPr>
              <a:t>All </a:t>
            </a:r>
            <a:r>
              <a:rPr lang="en-GB" sz="2000" b="1" i="0" u="sng" dirty="0">
                <a:solidFill>
                  <a:srgbClr val="333333"/>
                </a:solidFill>
                <a:effectLst/>
              </a:rPr>
              <a:t>usability testing studies involve a participant performing</a:t>
            </a:r>
            <a:r>
              <a:rPr lang="en-GB" sz="2000" b="1" i="0" dirty="0">
                <a:solidFill>
                  <a:srgbClr val="333333"/>
                </a:solidFill>
                <a:effectLst/>
              </a:rPr>
              <a:t> some assigned </a:t>
            </a:r>
            <a:r>
              <a:rPr lang="en-GB" sz="2000" b="1" i="0" u="sng" dirty="0">
                <a:solidFill>
                  <a:srgbClr val="333333"/>
                </a:solidFill>
                <a:effectLst/>
              </a:rPr>
              <a:t>tasks</a:t>
            </a:r>
            <a:r>
              <a:rPr lang="en-GB" sz="2000" b="1" i="0" dirty="0">
                <a:solidFill>
                  <a:srgbClr val="333333"/>
                </a:solidFill>
                <a:effectLst/>
              </a:rPr>
              <a:t> on one or more designs. </a:t>
            </a:r>
            <a:r>
              <a:rPr lang="en-GB" sz="2000" b="0" i="0" dirty="0">
                <a:solidFill>
                  <a:srgbClr val="333333"/>
                </a:solidFill>
                <a:effectLst/>
              </a:rPr>
              <a:t>There are, however, </a:t>
            </a:r>
            <a:r>
              <a:rPr lang="en-GB" sz="2000" b="1" i="0" dirty="0">
                <a:solidFill>
                  <a:srgbClr val="333333"/>
                </a:solidFill>
                <a:effectLst/>
              </a:rPr>
              <a:t>two types of </a:t>
            </a:r>
            <a:r>
              <a:rPr lang="en-GB" sz="2000" b="1" i="0" u="sng" dirty="0">
                <a:solidFill>
                  <a:schemeClr val="accent2">
                    <a:lumMod val="75000"/>
                  </a:schemeClr>
                </a:solidFill>
                <a:effectLst/>
              </a:rPr>
              <a:t>data</a:t>
            </a:r>
            <a:r>
              <a:rPr lang="en-GB" sz="2000" b="1" i="0" dirty="0">
                <a:solidFill>
                  <a:srgbClr val="333333"/>
                </a:solidFill>
                <a:effectLst/>
              </a:rPr>
              <a:t> </a:t>
            </a:r>
            <a:r>
              <a:rPr lang="en-GB" sz="2000" b="0" i="0" dirty="0">
                <a:solidFill>
                  <a:srgbClr val="333333"/>
                </a:solidFill>
                <a:effectLst/>
              </a:rPr>
              <a:t>that can be collected in a user-testing study:</a:t>
            </a:r>
          </a:p>
          <a:p>
            <a:pPr lvl="1">
              <a:spcBef>
                <a:spcPts val="600"/>
              </a:spcBef>
              <a:spcAft>
                <a:spcPts val="600"/>
              </a:spcAft>
              <a:buFont typeface="Arial" panose="020B0604020202020204" pitchFamily="34" charset="0"/>
              <a:buChar char="•"/>
            </a:pPr>
            <a:r>
              <a:rPr lang="en-GB" sz="2000" b="1" i="0" dirty="0">
                <a:solidFill>
                  <a:srgbClr val="333333"/>
                </a:solidFill>
                <a:effectLst/>
              </a:rPr>
              <a:t>Qualitative (qual) data</a:t>
            </a:r>
            <a:r>
              <a:rPr lang="en-GB" sz="2000" b="0" i="0" dirty="0">
                <a:solidFill>
                  <a:srgbClr val="333333"/>
                </a:solidFill>
                <a:effectLst/>
              </a:rPr>
              <a:t>, consisting of </a:t>
            </a:r>
            <a:r>
              <a:rPr lang="en-GB" sz="2000" b="1" i="0" dirty="0">
                <a:solidFill>
                  <a:schemeClr val="accent2">
                    <a:lumMod val="75000"/>
                  </a:schemeClr>
                </a:solidFill>
                <a:effectLst/>
              </a:rPr>
              <a:t>observational findings </a:t>
            </a:r>
            <a:r>
              <a:rPr lang="en-GB" sz="2000" b="0" i="0" dirty="0">
                <a:solidFill>
                  <a:srgbClr val="333333"/>
                </a:solidFill>
                <a:effectLst/>
              </a:rPr>
              <a:t>that identify design features easy or hard to use</a:t>
            </a:r>
          </a:p>
          <a:p>
            <a:pPr lvl="1">
              <a:spcBef>
                <a:spcPts val="600"/>
              </a:spcBef>
              <a:spcAft>
                <a:spcPts val="600"/>
              </a:spcAft>
              <a:buFont typeface="Arial" panose="020B0604020202020204" pitchFamily="34" charset="0"/>
              <a:buChar char="•"/>
            </a:pPr>
            <a:r>
              <a:rPr lang="en-GB" sz="2000" b="1" i="0" dirty="0">
                <a:solidFill>
                  <a:srgbClr val="333333"/>
                </a:solidFill>
                <a:effectLst/>
              </a:rPr>
              <a:t>Quantitative (quant) data</a:t>
            </a:r>
            <a:r>
              <a:rPr lang="en-GB" sz="2000" b="0" i="0" dirty="0">
                <a:solidFill>
                  <a:srgbClr val="333333"/>
                </a:solidFill>
                <a:effectLst/>
              </a:rPr>
              <a:t>, in form of one or more </a:t>
            </a:r>
            <a:r>
              <a:rPr lang="en-GB" sz="2000" b="1" i="0" dirty="0">
                <a:solidFill>
                  <a:schemeClr val="accent2">
                    <a:lumMod val="75000"/>
                  </a:schemeClr>
                </a:solidFill>
                <a:effectLst/>
              </a:rPr>
              <a:t>metrics</a:t>
            </a:r>
            <a:r>
              <a:rPr lang="en-GB" sz="2000" b="0" i="0" dirty="0">
                <a:solidFill>
                  <a:srgbClr val="333333"/>
                </a:solidFill>
                <a:effectLst/>
              </a:rPr>
              <a:t> (such as task completion rates or task times) that reflect whether the tasks were easy to perform</a:t>
            </a:r>
            <a:endParaRPr lang="en-GB" sz="2000" dirty="0"/>
          </a:p>
        </p:txBody>
      </p:sp>
      <p:pic>
        <p:nvPicPr>
          <p:cNvPr id="16" name="Picture 15">
            <a:extLst>
              <a:ext uri="{FF2B5EF4-FFF2-40B4-BE49-F238E27FC236}">
                <a16:creationId xmlns:a16="http://schemas.microsoft.com/office/drawing/2014/main" id="{6391F72F-84B0-3B52-5450-A665FFEE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40057" y="181129"/>
            <a:ext cx="651981" cy="655583"/>
          </a:xfrm>
          <a:prstGeom prst="rect">
            <a:avLst/>
          </a:prstGeom>
        </p:spPr>
      </p:pic>
      <p:sp>
        <p:nvSpPr>
          <p:cNvPr id="8" name="Footer Placeholder 7">
            <a:extLst>
              <a:ext uri="{FF2B5EF4-FFF2-40B4-BE49-F238E27FC236}">
                <a16:creationId xmlns:a16="http://schemas.microsoft.com/office/drawing/2014/main" id="{2B7BEC4E-DBE5-AEC1-0A3B-349D0E0FE01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9291D684-7666-651D-F0D7-BC31B38618E0}"/>
              </a:ext>
            </a:extLst>
          </p:cNvPr>
          <p:cNvSpPr>
            <a:spLocks noGrp="1"/>
          </p:cNvSpPr>
          <p:nvPr>
            <p:ph type="sldNum" sz="quarter" idx="4"/>
          </p:nvPr>
        </p:nvSpPr>
        <p:spPr/>
        <p:txBody>
          <a:bodyPr/>
          <a:lstStyle/>
          <a:p>
            <a:fld id="{9FD7ECCF-50E7-4327-B945-FA93FF7B2BEF}" type="slidenum">
              <a:rPr lang="en-US" smtClean="0"/>
              <a:pPr/>
              <a:t>19</a:t>
            </a:fld>
            <a:r>
              <a:rPr lang="en-GB"/>
              <a:t>/40</a:t>
            </a:r>
            <a:endParaRPr lang="en-US" dirty="0"/>
          </a:p>
        </p:txBody>
      </p:sp>
    </p:spTree>
    <p:extLst>
      <p:ext uri="{BB962C8B-B14F-4D97-AF65-F5344CB8AC3E}">
        <p14:creationId xmlns:p14="http://schemas.microsoft.com/office/powerpoint/2010/main" val="2811918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E390B-18D7-CE12-8A74-91972365F40D}"/>
              </a:ext>
            </a:extLst>
          </p:cNvPr>
          <p:cNvSpPr>
            <a:spLocks noGrp="1"/>
          </p:cNvSpPr>
          <p:nvPr>
            <p:ph type="title"/>
          </p:nvPr>
        </p:nvSpPr>
        <p:spPr>
          <a:xfrm>
            <a:off x="323528" y="181129"/>
            <a:ext cx="8442520" cy="1070119"/>
          </a:xfrm>
        </p:spPr>
        <p:txBody>
          <a:bodyPr>
            <a:normAutofit fontScale="90000"/>
          </a:bodyPr>
          <a:lstStyle/>
          <a:p>
            <a:r>
              <a:rPr lang="en-GB" dirty="0"/>
              <a:t>Differences between Qual and Quant</a:t>
            </a:r>
          </a:p>
        </p:txBody>
      </p:sp>
      <p:sp>
        <p:nvSpPr>
          <p:cNvPr id="3" name="Content Placeholder 2">
            <a:extLst>
              <a:ext uri="{FF2B5EF4-FFF2-40B4-BE49-F238E27FC236}">
                <a16:creationId xmlns:a16="http://schemas.microsoft.com/office/drawing/2014/main" id="{95C52284-595A-D049-49D5-33F0AC947D0D}"/>
              </a:ext>
            </a:extLst>
          </p:cNvPr>
          <p:cNvSpPr>
            <a:spLocks noGrp="1"/>
          </p:cNvSpPr>
          <p:nvPr>
            <p:ph sz="quarter" idx="1"/>
          </p:nvPr>
        </p:nvSpPr>
        <p:spPr/>
        <p:txBody>
          <a:bodyPr>
            <a:normAutofit/>
          </a:bodyPr>
          <a:lstStyle/>
          <a:p>
            <a:r>
              <a:rPr lang="en-GB" sz="2800" dirty="0"/>
              <a:t>Qual vs Quant</a:t>
            </a:r>
          </a:p>
          <a:p>
            <a:pPr lvl="1"/>
            <a:r>
              <a:rPr lang="en-GB" sz="2400" b="0" i="0" dirty="0">
                <a:solidFill>
                  <a:srgbClr val="333333"/>
                </a:solidFill>
                <a:effectLst/>
              </a:rPr>
              <a:t>different study setups and very different analysis methods</a:t>
            </a:r>
          </a:p>
          <a:p>
            <a:pPr lvl="1"/>
            <a:r>
              <a:rPr lang="en-GB" sz="2400" b="0" i="0" dirty="0">
                <a:solidFill>
                  <a:srgbClr val="333333"/>
                </a:solidFill>
                <a:effectLst/>
              </a:rPr>
              <a:t>they are rarely collected at the same time</a:t>
            </a:r>
          </a:p>
        </p:txBody>
      </p:sp>
      <p:pic>
        <p:nvPicPr>
          <p:cNvPr id="5" name="Picture 4">
            <a:extLst>
              <a:ext uri="{FF2B5EF4-FFF2-40B4-BE49-F238E27FC236}">
                <a16:creationId xmlns:a16="http://schemas.microsoft.com/office/drawing/2014/main" id="{1F758593-A132-D25B-2B06-F5151DDEF9F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40057" y="181129"/>
            <a:ext cx="651981" cy="655583"/>
          </a:xfrm>
          <a:prstGeom prst="rect">
            <a:avLst/>
          </a:prstGeom>
        </p:spPr>
      </p:pic>
      <p:sp>
        <p:nvSpPr>
          <p:cNvPr id="9" name="Footer Placeholder 8">
            <a:extLst>
              <a:ext uri="{FF2B5EF4-FFF2-40B4-BE49-F238E27FC236}">
                <a16:creationId xmlns:a16="http://schemas.microsoft.com/office/drawing/2014/main" id="{05B0169C-7DF0-9B62-96B1-3651B9AD07D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3F2E6F00-57F4-7CDD-045F-42A398517A4A}"/>
              </a:ext>
            </a:extLst>
          </p:cNvPr>
          <p:cNvSpPr>
            <a:spLocks noGrp="1"/>
          </p:cNvSpPr>
          <p:nvPr>
            <p:ph type="sldNum" sz="quarter" idx="4"/>
          </p:nvPr>
        </p:nvSpPr>
        <p:spPr/>
        <p:txBody>
          <a:bodyPr/>
          <a:lstStyle/>
          <a:p>
            <a:fld id="{9FD7ECCF-50E7-4327-B945-FA93FF7B2BEF}" type="slidenum">
              <a:rPr lang="en-US" smtClean="0"/>
              <a:pPr/>
              <a:t>20</a:t>
            </a:fld>
            <a:r>
              <a:rPr lang="en-GB"/>
              <a:t>/40</a:t>
            </a:r>
            <a:endParaRPr lang="en-US" dirty="0"/>
          </a:p>
        </p:txBody>
      </p:sp>
    </p:spTree>
    <p:extLst>
      <p:ext uri="{BB962C8B-B14F-4D97-AF65-F5344CB8AC3E}">
        <p14:creationId xmlns:p14="http://schemas.microsoft.com/office/powerpoint/2010/main" val="1072505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209B6-FC80-67B1-68D2-8C1235E9C91F}"/>
              </a:ext>
            </a:extLst>
          </p:cNvPr>
          <p:cNvSpPr>
            <a:spLocks noGrp="1"/>
          </p:cNvSpPr>
          <p:nvPr>
            <p:ph type="title"/>
          </p:nvPr>
        </p:nvSpPr>
        <p:spPr/>
        <p:txBody>
          <a:bodyPr/>
          <a:lstStyle/>
          <a:p>
            <a:endParaRPr lang="en-GB"/>
          </a:p>
        </p:txBody>
      </p:sp>
      <p:graphicFrame>
        <p:nvGraphicFramePr>
          <p:cNvPr id="6" name="Table 6">
            <a:extLst>
              <a:ext uri="{FF2B5EF4-FFF2-40B4-BE49-F238E27FC236}">
                <a16:creationId xmlns:a16="http://schemas.microsoft.com/office/drawing/2014/main" id="{E71A2499-4617-4073-A797-C7BE44B37EC5}"/>
              </a:ext>
            </a:extLst>
          </p:cNvPr>
          <p:cNvGraphicFramePr>
            <a:graphicFrameLocks noGrp="1"/>
          </p:cNvGraphicFramePr>
          <p:nvPr>
            <p:ph sz="quarter" idx="1"/>
            <p:extLst>
              <p:ext uri="{D42A27DB-BD31-4B8C-83A1-F6EECF244321}">
                <p14:modId xmlns:p14="http://schemas.microsoft.com/office/powerpoint/2010/main" val="2399871091"/>
              </p:ext>
            </p:extLst>
          </p:nvPr>
        </p:nvGraphicFramePr>
        <p:xfrm>
          <a:off x="612648" y="503681"/>
          <a:ext cx="8153400" cy="5843543"/>
        </p:xfrm>
        <a:graphic>
          <a:graphicData uri="http://schemas.openxmlformats.org/drawingml/2006/table">
            <a:tbl>
              <a:tblPr firstRow="1" bandRow="1">
                <a:tableStyleId>{21E4AEA4-8DFA-4A89-87EB-49C32662AFE0}</a:tableStyleId>
              </a:tblPr>
              <a:tblGrid>
                <a:gridCol w="1943001">
                  <a:extLst>
                    <a:ext uri="{9D8B030D-6E8A-4147-A177-3AD203B41FA5}">
                      <a16:colId xmlns:a16="http://schemas.microsoft.com/office/drawing/2014/main" val="2197954501"/>
                    </a:ext>
                  </a:extLst>
                </a:gridCol>
                <a:gridCol w="2736304">
                  <a:extLst>
                    <a:ext uri="{9D8B030D-6E8A-4147-A177-3AD203B41FA5}">
                      <a16:colId xmlns:a16="http://schemas.microsoft.com/office/drawing/2014/main" val="1504932552"/>
                    </a:ext>
                  </a:extLst>
                </a:gridCol>
                <a:gridCol w="3474095">
                  <a:extLst>
                    <a:ext uri="{9D8B030D-6E8A-4147-A177-3AD203B41FA5}">
                      <a16:colId xmlns:a16="http://schemas.microsoft.com/office/drawing/2014/main" val="2331183066"/>
                    </a:ext>
                  </a:extLst>
                </a:gridCol>
              </a:tblGrid>
              <a:tr h="387799">
                <a:tc>
                  <a:txBody>
                    <a:bodyPr/>
                    <a:lstStyle/>
                    <a:p>
                      <a:pPr algn="ctr">
                        <a:spcBef>
                          <a:spcPts val="600"/>
                        </a:spcBef>
                      </a:pPr>
                      <a:r>
                        <a:rPr lang="en-GB" sz="1600" b="1" dirty="0">
                          <a:solidFill>
                            <a:srgbClr val="FFFFFF"/>
                          </a:solidFill>
                          <a:effectLst/>
                        </a:rPr>
                        <a:t> </a:t>
                      </a:r>
                    </a:p>
                  </a:txBody>
                  <a:tcPr marL="0" marR="0" marT="0" marB="0" anchor="ctr"/>
                </a:tc>
                <a:tc>
                  <a:txBody>
                    <a:bodyPr/>
                    <a:lstStyle/>
                    <a:p>
                      <a:pPr algn="ctr">
                        <a:spcBef>
                          <a:spcPts val="600"/>
                        </a:spcBef>
                      </a:pPr>
                      <a:r>
                        <a:rPr lang="en-GB" sz="1600" b="1" dirty="0">
                          <a:solidFill>
                            <a:srgbClr val="FFFFFF"/>
                          </a:solidFill>
                          <a:effectLst/>
                        </a:rPr>
                        <a:t>Qual Research</a:t>
                      </a:r>
                    </a:p>
                  </a:txBody>
                  <a:tcPr marL="0" marR="0" marT="0" marB="0" anchor="ctr"/>
                </a:tc>
                <a:tc>
                  <a:txBody>
                    <a:bodyPr/>
                    <a:lstStyle/>
                    <a:p>
                      <a:pPr algn="ctr">
                        <a:spcBef>
                          <a:spcPts val="600"/>
                        </a:spcBef>
                      </a:pPr>
                      <a:r>
                        <a:rPr lang="en-GB" sz="1600" b="1" dirty="0">
                          <a:solidFill>
                            <a:srgbClr val="FFFFFF"/>
                          </a:solidFill>
                          <a:effectLst/>
                        </a:rPr>
                        <a:t>Quant Research</a:t>
                      </a:r>
                    </a:p>
                  </a:txBody>
                  <a:tcPr marL="0" marR="0" marT="0" marB="0" anchor="ctr"/>
                </a:tc>
                <a:extLst>
                  <a:ext uri="{0D108BD9-81ED-4DB2-BD59-A6C34878D82A}">
                    <a16:rowId xmlns:a16="http://schemas.microsoft.com/office/drawing/2014/main" val="3968525471"/>
                  </a:ext>
                </a:extLst>
              </a:tr>
              <a:tr h="387799">
                <a:tc>
                  <a:txBody>
                    <a:bodyPr/>
                    <a:lstStyle/>
                    <a:p>
                      <a:pPr algn="ctr">
                        <a:spcBef>
                          <a:spcPts val="600"/>
                        </a:spcBef>
                      </a:pPr>
                      <a:r>
                        <a:rPr lang="en-GB" sz="1600" dirty="0">
                          <a:effectLst/>
                        </a:rPr>
                        <a:t>Questions answered</a:t>
                      </a:r>
                    </a:p>
                  </a:txBody>
                  <a:tcPr marL="0" marR="0" marT="0" marB="0" anchor="ctr"/>
                </a:tc>
                <a:tc>
                  <a:txBody>
                    <a:bodyPr/>
                    <a:lstStyle/>
                    <a:p>
                      <a:pPr algn="ctr">
                        <a:spcBef>
                          <a:spcPts val="600"/>
                        </a:spcBef>
                      </a:pPr>
                      <a:r>
                        <a:rPr lang="en-GB" sz="1600" dirty="0">
                          <a:effectLst/>
                        </a:rPr>
                        <a:t>Why?</a:t>
                      </a:r>
                    </a:p>
                  </a:txBody>
                  <a:tcPr marL="0" marR="0" marT="0" marB="0" anchor="ctr"/>
                </a:tc>
                <a:tc>
                  <a:txBody>
                    <a:bodyPr/>
                    <a:lstStyle/>
                    <a:p>
                      <a:pPr algn="ctr">
                        <a:spcBef>
                          <a:spcPts val="600"/>
                        </a:spcBef>
                      </a:pPr>
                      <a:r>
                        <a:rPr lang="en-GB" sz="1600" dirty="0">
                          <a:effectLst/>
                        </a:rPr>
                        <a:t>How many and how much?</a:t>
                      </a:r>
                    </a:p>
                  </a:txBody>
                  <a:tcPr marL="0" marR="0" marT="0" marB="0" anchor="ctr"/>
                </a:tc>
                <a:extLst>
                  <a:ext uri="{0D108BD9-81ED-4DB2-BD59-A6C34878D82A}">
                    <a16:rowId xmlns:a16="http://schemas.microsoft.com/office/drawing/2014/main" val="275802238"/>
                  </a:ext>
                </a:extLst>
              </a:tr>
              <a:tr h="1848684">
                <a:tc>
                  <a:txBody>
                    <a:bodyPr/>
                    <a:lstStyle/>
                    <a:p>
                      <a:pPr algn="ctr">
                        <a:spcBef>
                          <a:spcPts val="0"/>
                        </a:spcBef>
                        <a:spcAft>
                          <a:spcPts val="600"/>
                        </a:spcAft>
                      </a:pPr>
                      <a:r>
                        <a:rPr lang="en-GB" sz="1600" dirty="0">
                          <a:effectLst/>
                        </a:rPr>
                        <a:t>Goals</a:t>
                      </a:r>
                    </a:p>
                  </a:txBody>
                  <a:tcPr marL="0" marR="0" marT="0" marB="0"/>
                </a:tc>
                <a:tc>
                  <a:txBody>
                    <a:bodyPr/>
                    <a:lstStyle/>
                    <a:p>
                      <a:pPr marL="93663" indent="0" algn="l">
                        <a:spcBef>
                          <a:spcPts val="0"/>
                        </a:spcBef>
                        <a:spcAft>
                          <a:spcPts val="600"/>
                        </a:spcAft>
                      </a:pPr>
                      <a:r>
                        <a:rPr lang="en-GB" sz="1600" dirty="0">
                          <a:effectLst/>
                        </a:rPr>
                        <a:t>Both formative and summative:</a:t>
                      </a:r>
                    </a:p>
                    <a:p>
                      <a:pPr marL="268288" indent="-174625" algn="l">
                        <a:spcBef>
                          <a:spcPts val="0"/>
                        </a:spcBef>
                        <a:spcAft>
                          <a:spcPts val="600"/>
                        </a:spcAft>
                        <a:buFont typeface="Arial" panose="020B0604020202020204" pitchFamily="34" charset="0"/>
                        <a:buChar char="•"/>
                      </a:pPr>
                      <a:r>
                        <a:rPr lang="en-GB" sz="1600" dirty="0">
                          <a:effectLst/>
                        </a:rPr>
                        <a:t>inform design decisions</a:t>
                      </a:r>
                    </a:p>
                    <a:p>
                      <a:pPr marL="268288" indent="-174625" algn="l">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identify</a:t>
                      </a:r>
                      <a:r>
                        <a:rPr lang="en-GB" sz="1600" dirty="0">
                          <a:effectLst/>
                        </a:rPr>
                        <a:t> usability issues and find solutions for them</a:t>
                      </a:r>
                    </a:p>
                  </a:txBody>
                  <a:tcPr marL="0" marR="0" marT="0" marB="0"/>
                </a:tc>
                <a:tc>
                  <a:txBody>
                    <a:bodyPr/>
                    <a:lstStyle/>
                    <a:p>
                      <a:pPr marL="93663" indent="0" algn="l">
                        <a:spcBef>
                          <a:spcPts val="0"/>
                        </a:spcBef>
                        <a:spcAft>
                          <a:spcPts val="600"/>
                        </a:spcAft>
                      </a:pPr>
                      <a:r>
                        <a:rPr kumimoji="0" lang="en-GB" sz="1600" kern="1200" dirty="0">
                          <a:solidFill>
                            <a:schemeClr val="dk1"/>
                          </a:solidFill>
                          <a:effectLst/>
                          <a:latin typeface="+mn-lt"/>
                          <a:ea typeface="+mn-ea"/>
                          <a:cs typeface="+mn-cs"/>
                        </a:rPr>
                        <a:t>Mostly</a:t>
                      </a:r>
                      <a:r>
                        <a:rPr lang="en-GB" sz="1600" dirty="0">
                          <a:effectLst/>
                        </a:rPr>
                        <a:t> summative:</a:t>
                      </a:r>
                    </a:p>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evaluate the usability of an existing site</a:t>
                      </a:r>
                    </a:p>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track usability over time</a:t>
                      </a:r>
                    </a:p>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compare site with competitors</a:t>
                      </a:r>
                    </a:p>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compute ROI (Return on Investment)</a:t>
                      </a:r>
                    </a:p>
                  </a:txBody>
                  <a:tcPr marL="0" marR="0" marT="0" marB="0"/>
                </a:tc>
                <a:extLst>
                  <a:ext uri="{0D108BD9-81ED-4DB2-BD59-A6C34878D82A}">
                    <a16:rowId xmlns:a16="http://schemas.microsoft.com/office/drawing/2014/main" val="3431637972"/>
                  </a:ext>
                </a:extLst>
              </a:tr>
              <a:tr h="764973">
                <a:tc>
                  <a:txBody>
                    <a:bodyPr/>
                    <a:lstStyle/>
                    <a:p>
                      <a:pPr algn="ctr">
                        <a:spcBef>
                          <a:spcPts val="0"/>
                        </a:spcBef>
                        <a:spcAft>
                          <a:spcPts val="600"/>
                        </a:spcAft>
                      </a:pPr>
                      <a:r>
                        <a:rPr lang="en-GB" sz="1600" dirty="0">
                          <a:effectLst/>
                        </a:rPr>
                        <a:t>When it is used</a:t>
                      </a:r>
                    </a:p>
                  </a:txBody>
                  <a:tcPr marL="0" marR="0" marT="0" marB="0"/>
                </a:tc>
                <a:tc>
                  <a:txBody>
                    <a:bodyPr/>
                    <a:lstStyle/>
                    <a:p>
                      <a:pPr marL="93663" indent="0" algn="l">
                        <a:spcBef>
                          <a:spcPts val="0"/>
                        </a:spcBef>
                        <a:spcAft>
                          <a:spcPts val="600"/>
                        </a:spcAft>
                      </a:pPr>
                      <a:r>
                        <a:rPr lang="en-GB" sz="1600" dirty="0">
                          <a:effectLst/>
                        </a:rPr>
                        <a:t>Anytime: during redesign, or when you have a final working product</a:t>
                      </a:r>
                    </a:p>
                  </a:txBody>
                  <a:tcPr marL="0" marR="0" marT="0" marB="0"/>
                </a:tc>
                <a:tc>
                  <a:txBody>
                    <a:bodyPr/>
                    <a:lstStyle/>
                    <a:p>
                      <a:pPr marL="93663" indent="0" algn="l">
                        <a:spcBef>
                          <a:spcPts val="0"/>
                        </a:spcBef>
                        <a:spcAft>
                          <a:spcPts val="600"/>
                        </a:spcAft>
                      </a:pPr>
                      <a:r>
                        <a:rPr kumimoji="0" lang="en-GB" sz="1600" kern="1200" dirty="0">
                          <a:solidFill>
                            <a:schemeClr val="dk1"/>
                          </a:solidFill>
                          <a:effectLst/>
                          <a:latin typeface="+mn-lt"/>
                          <a:ea typeface="+mn-ea"/>
                          <a:cs typeface="+mn-cs"/>
                        </a:rPr>
                        <a:t>When</a:t>
                      </a:r>
                      <a:r>
                        <a:rPr lang="en-GB" sz="1600" dirty="0">
                          <a:effectLst/>
                        </a:rPr>
                        <a:t> you have a working product (either at the beginning or end of a design cycle)</a:t>
                      </a:r>
                    </a:p>
                  </a:txBody>
                  <a:tcPr marL="0" marR="0" marT="0" marB="0"/>
                </a:tc>
                <a:extLst>
                  <a:ext uri="{0D108BD9-81ED-4DB2-BD59-A6C34878D82A}">
                    <a16:rowId xmlns:a16="http://schemas.microsoft.com/office/drawing/2014/main" val="3383624381"/>
                  </a:ext>
                </a:extLst>
              </a:tr>
              <a:tr h="1019964">
                <a:tc>
                  <a:txBody>
                    <a:bodyPr/>
                    <a:lstStyle/>
                    <a:p>
                      <a:pPr algn="ctr">
                        <a:spcBef>
                          <a:spcPts val="0"/>
                        </a:spcBef>
                        <a:spcAft>
                          <a:spcPts val="600"/>
                        </a:spcAft>
                      </a:pPr>
                      <a:r>
                        <a:rPr lang="en-GB" sz="1600" dirty="0">
                          <a:effectLst/>
                        </a:rPr>
                        <a:t>Outcome</a:t>
                      </a:r>
                    </a:p>
                  </a:txBody>
                  <a:tcPr marL="0" marR="0" marT="0" marB="0"/>
                </a:tc>
                <a:tc>
                  <a:txBody>
                    <a:bodyPr/>
                    <a:lstStyle/>
                    <a:p>
                      <a:pPr marL="93663" indent="0" algn="l">
                        <a:spcBef>
                          <a:spcPts val="0"/>
                        </a:spcBef>
                        <a:spcAft>
                          <a:spcPts val="600"/>
                        </a:spcAft>
                      </a:pPr>
                      <a:r>
                        <a:rPr lang="en-GB" sz="1600" dirty="0">
                          <a:effectLst/>
                        </a:rPr>
                        <a:t>Findings based on the researcher’s impressions, interpretations, and prior knowledge</a:t>
                      </a:r>
                    </a:p>
                  </a:txBody>
                  <a:tcPr marL="0" marR="0" marT="0" marB="0"/>
                </a:tc>
                <a:tc>
                  <a:txBody>
                    <a:bodyPr/>
                    <a:lstStyle/>
                    <a:p>
                      <a:pPr marL="93663" indent="0" algn="l">
                        <a:spcBef>
                          <a:spcPts val="0"/>
                        </a:spcBef>
                        <a:spcAft>
                          <a:spcPts val="600"/>
                        </a:spcAft>
                      </a:pPr>
                      <a:r>
                        <a:rPr lang="en-GB" sz="1600" dirty="0">
                          <a:effectLst/>
                        </a:rPr>
                        <a:t>Statistically meaningful results that are likely to be replicated in a different study</a:t>
                      </a:r>
                    </a:p>
                  </a:txBody>
                  <a:tcPr marL="0" marR="0" marT="0" marB="0"/>
                </a:tc>
                <a:extLst>
                  <a:ext uri="{0D108BD9-81ED-4DB2-BD59-A6C34878D82A}">
                    <a16:rowId xmlns:a16="http://schemas.microsoft.com/office/drawing/2014/main" val="2662001169"/>
                  </a:ext>
                </a:extLst>
              </a:tr>
              <a:tr h="1434324">
                <a:tc>
                  <a:txBody>
                    <a:bodyPr/>
                    <a:lstStyle/>
                    <a:p>
                      <a:pPr algn="ctr">
                        <a:spcBef>
                          <a:spcPts val="0"/>
                        </a:spcBef>
                        <a:spcAft>
                          <a:spcPts val="600"/>
                        </a:spcAft>
                      </a:pPr>
                      <a:r>
                        <a:rPr lang="en-GB" sz="1600" dirty="0">
                          <a:effectLst/>
                        </a:rPr>
                        <a:t>Methodology</a:t>
                      </a:r>
                    </a:p>
                  </a:txBody>
                  <a:tcPr marL="0" marR="0" marT="0" marB="0"/>
                </a:tc>
                <a:tc>
                  <a:txBody>
                    <a:bodyPr/>
                    <a:lstStyle/>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Few participants</a:t>
                      </a:r>
                    </a:p>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Flexible study conditions that can be adjusted according to the team’s needs</a:t>
                      </a:r>
                    </a:p>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Think-aloud protocol</a:t>
                      </a:r>
                    </a:p>
                  </a:txBody>
                  <a:tcPr marL="0" marR="0" marT="0" marB="0"/>
                </a:tc>
                <a:tc>
                  <a:txBody>
                    <a:bodyPr/>
                    <a:lstStyle/>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Many participants</a:t>
                      </a:r>
                    </a:p>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Well-defined, strictly controlled study conditions</a:t>
                      </a:r>
                    </a:p>
                    <a:p>
                      <a:pPr marL="268288" indent="-174625" algn="l" rtl="0" eaLnBrk="1" latinLnBrk="0" hangingPunct="1">
                        <a:spcBef>
                          <a:spcPts val="0"/>
                        </a:spcBef>
                        <a:spcAft>
                          <a:spcPts val="600"/>
                        </a:spcAft>
                        <a:buFont typeface="Arial" panose="020B0604020202020204" pitchFamily="34" charset="0"/>
                        <a:buChar char="•"/>
                      </a:pPr>
                      <a:r>
                        <a:rPr kumimoji="0" lang="en-GB" sz="1600" kern="1200" dirty="0">
                          <a:solidFill>
                            <a:schemeClr val="dk1"/>
                          </a:solidFill>
                          <a:effectLst/>
                          <a:latin typeface="+mn-lt"/>
                          <a:ea typeface="+mn-ea"/>
                          <a:cs typeface="+mn-cs"/>
                        </a:rPr>
                        <a:t>Usually no think-aloud</a:t>
                      </a:r>
                    </a:p>
                  </a:txBody>
                  <a:tcPr marL="0" marR="0" marT="0" marB="0"/>
                </a:tc>
                <a:extLst>
                  <a:ext uri="{0D108BD9-81ED-4DB2-BD59-A6C34878D82A}">
                    <a16:rowId xmlns:a16="http://schemas.microsoft.com/office/drawing/2014/main" val="3205692648"/>
                  </a:ext>
                </a:extLst>
              </a:tr>
            </a:tbl>
          </a:graphicData>
        </a:graphic>
      </p:graphicFrame>
      <p:pic>
        <p:nvPicPr>
          <p:cNvPr id="4" name="Picture 3">
            <a:extLst>
              <a:ext uri="{FF2B5EF4-FFF2-40B4-BE49-F238E27FC236}">
                <a16:creationId xmlns:a16="http://schemas.microsoft.com/office/drawing/2014/main" id="{A7815DC5-F546-A5A0-BC62-52BD808B78B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40057" y="181129"/>
            <a:ext cx="651981" cy="655583"/>
          </a:xfrm>
          <a:prstGeom prst="rect">
            <a:avLst/>
          </a:prstGeom>
        </p:spPr>
      </p:pic>
      <p:sp>
        <p:nvSpPr>
          <p:cNvPr id="5" name="Title 1">
            <a:extLst>
              <a:ext uri="{FF2B5EF4-FFF2-40B4-BE49-F238E27FC236}">
                <a16:creationId xmlns:a16="http://schemas.microsoft.com/office/drawing/2014/main" id="{77DDB404-D14E-5C96-86BF-C4337D31BA31}"/>
              </a:ext>
            </a:extLst>
          </p:cNvPr>
          <p:cNvSpPr txBox="1">
            <a:spLocks/>
          </p:cNvSpPr>
          <p:nvPr/>
        </p:nvSpPr>
        <p:spPr>
          <a:xfrm>
            <a:off x="337979" y="-353931"/>
            <a:ext cx="8442520" cy="1070119"/>
          </a:xfrm>
          <a:prstGeom prst="rect">
            <a:avLst/>
          </a:prstGeom>
        </p:spPr>
        <p:txBody>
          <a:bodyPr vert="horz" anchor="ctr">
            <a:normAutofit fontScale="97500"/>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spcAft>
                <a:spcPts val="0"/>
              </a:spcAft>
            </a:pPr>
            <a:r>
              <a:rPr lang="en-GB" dirty="0"/>
              <a:t>When to use Qual and Quant</a:t>
            </a:r>
          </a:p>
        </p:txBody>
      </p:sp>
      <p:sp>
        <p:nvSpPr>
          <p:cNvPr id="10" name="Footer Placeholder 9">
            <a:extLst>
              <a:ext uri="{FF2B5EF4-FFF2-40B4-BE49-F238E27FC236}">
                <a16:creationId xmlns:a16="http://schemas.microsoft.com/office/drawing/2014/main" id="{C5891DDD-18F9-44CA-2054-79A2F8C277B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912F2356-6765-0705-2E75-6150A770B0DB}"/>
              </a:ext>
            </a:extLst>
          </p:cNvPr>
          <p:cNvSpPr>
            <a:spLocks noGrp="1"/>
          </p:cNvSpPr>
          <p:nvPr>
            <p:ph type="sldNum" sz="quarter" idx="4"/>
          </p:nvPr>
        </p:nvSpPr>
        <p:spPr/>
        <p:txBody>
          <a:bodyPr/>
          <a:lstStyle/>
          <a:p>
            <a:fld id="{9FD7ECCF-50E7-4327-B945-FA93FF7B2BEF}" type="slidenum">
              <a:rPr lang="en-US" smtClean="0"/>
              <a:pPr/>
              <a:t>21</a:t>
            </a:fld>
            <a:r>
              <a:rPr lang="en-GB"/>
              <a:t>/40</a:t>
            </a:r>
            <a:endParaRPr lang="en-US" dirty="0"/>
          </a:p>
        </p:txBody>
      </p:sp>
    </p:spTree>
    <p:extLst>
      <p:ext uri="{BB962C8B-B14F-4D97-AF65-F5344CB8AC3E}">
        <p14:creationId xmlns:p14="http://schemas.microsoft.com/office/powerpoint/2010/main" val="1529321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FF8DB-6CBB-A525-EAF0-4E38F6B516C4}"/>
              </a:ext>
            </a:extLst>
          </p:cNvPr>
          <p:cNvSpPr>
            <a:spLocks noGrp="1"/>
          </p:cNvSpPr>
          <p:nvPr>
            <p:ph type="title"/>
          </p:nvPr>
        </p:nvSpPr>
        <p:spPr>
          <a:xfrm>
            <a:off x="495300" y="116632"/>
            <a:ext cx="8153400" cy="990600"/>
          </a:xfrm>
        </p:spPr>
        <p:txBody>
          <a:bodyPr>
            <a:normAutofit fontScale="90000"/>
          </a:bodyPr>
          <a:lstStyle/>
          <a:p>
            <a:pPr>
              <a:lnSpc>
                <a:spcPts val="3500"/>
              </a:lnSpc>
            </a:pPr>
            <a:r>
              <a:rPr lang="en-GB" dirty="0"/>
              <a:t>Goals of Qual and Quant in iterative design cycle</a:t>
            </a:r>
          </a:p>
        </p:txBody>
      </p:sp>
      <p:pic>
        <p:nvPicPr>
          <p:cNvPr id="7" name="Picture 6" descr="Goals of Qual and Quant in iterative design cycle">
            <a:extLst>
              <a:ext uri="{FF2B5EF4-FFF2-40B4-BE49-F238E27FC236}">
                <a16:creationId xmlns:a16="http://schemas.microsoft.com/office/drawing/2014/main" id="{12FEE73D-EB06-CA30-37F7-7BFA30073A9A}"/>
              </a:ext>
            </a:extLst>
          </p:cNvPr>
          <p:cNvPicPr>
            <a:picLocks noChangeAspect="1"/>
          </p:cNvPicPr>
          <p:nvPr/>
        </p:nvPicPr>
        <p:blipFill>
          <a:blip r:embed="rId3"/>
          <a:stretch>
            <a:fillRect/>
          </a:stretch>
        </p:blipFill>
        <p:spPr>
          <a:xfrm>
            <a:off x="1836911" y="1673992"/>
            <a:ext cx="5470178" cy="4289564"/>
          </a:xfrm>
          <a:prstGeom prst="rect">
            <a:avLst/>
          </a:prstGeom>
        </p:spPr>
      </p:pic>
      <p:pic>
        <p:nvPicPr>
          <p:cNvPr id="8" name="Picture 7">
            <a:extLst>
              <a:ext uri="{FF2B5EF4-FFF2-40B4-BE49-F238E27FC236}">
                <a16:creationId xmlns:a16="http://schemas.microsoft.com/office/drawing/2014/main" id="{019B1A86-3642-EF5F-6C47-66F4B4F4B87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440057" y="181129"/>
            <a:ext cx="651981" cy="655583"/>
          </a:xfrm>
          <a:prstGeom prst="rect">
            <a:avLst/>
          </a:prstGeom>
        </p:spPr>
      </p:pic>
      <p:sp>
        <p:nvSpPr>
          <p:cNvPr id="9" name="Footer Placeholder 8">
            <a:extLst>
              <a:ext uri="{FF2B5EF4-FFF2-40B4-BE49-F238E27FC236}">
                <a16:creationId xmlns:a16="http://schemas.microsoft.com/office/drawing/2014/main" id="{329519A7-04F4-8038-B192-02AD460D8ED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A8F4C625-6B87-2932-E381-C69D0125523D}"/>
              </a:ext>
            </a:extLst>
          </p:cNvPr>
          <p:cNvSpPr>
            <a:spLocks noGrp="1"/>
          </p:cNvSpPr>
          <p:nvPr>
            <p:ph type="sldNum" sz="quarter" idx="4"/>
          </p:nvPr>
        </p:nvSpPr>
        <p:spPr/>
        <p:txBody>
          <a:bodyPr/>
          <a:lstStyle/>
          <a:p>
            <a:fld id="{9FD7ECCF-50E7-4327-B945-FA93FF7B2BEF}" type="slidenum">
              <a:rPr lang="en-US" smtClean="0"/>
              <a:pPr/>
              <a:t>22</a:t>
            </a:fld>
            <a:r>
              <a:rPr lang="en-GB"/>
              <a:t>/40</a:t>
            </a:r>
            <a:endParaRPr lang="en-US" dirty="0"/>
          </a:p>
        </p:txBody>
      </p:sp>
    </p:spTree>
    <p:extLst>
      <p:ext uri="{BB962C8B-B14F-4D97-AF65-F5344CB8AC3E}">
        <p14:creationId xmlns:p14="http://schemas.microsoft.com/office/powerpoint/2010/main" val="3680376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2611A-C095-7A7A-BA50-CDB9FB9AD5ED}"/>
              </a:ext>
            </a:extLst>
          </p:cNvPr>
          <p:cNvSpPr>
            <a:spLocks noGrp="1"/>
          </p:cNvSpPr>
          <p:nvPr>
            <p:ph type="title"/>
          </p:nvPr>
        </p:nvSpPr>
        <p:spPr/>
        <p:txBody>
          <a:bodyPr/>
          <a:lstStyle/>
          <a:p>
            <a:r>
              <a:rPr lang="pt-BR" sz="4400" dirty="0"/>
              <a:t>Validity of Qual vs. Quant</a:t>
            </a:r>
            <a:endParaRPr lang="en-GB" dirty="0"/>
          </a:p>
        </p:txBody>
      </p:sp>
      <p:sp>
        <p:nvSpPr>
          <p:cNvPr id="3" name="Content Placeholder 2">
            <a:extLst>
              <a:ext uri="{FF2B5EF4-FFF2-40B4-BE49-F238E27FC236}">
                <a16:creationId xmlns:a16="http://schemas.microsoft.com/office/drawing/2014/main" id="{C6C6EA1D-2E33-FA6C-62B2-228B88DA9585}"/>
              </a:ext>
            </a:extLst>
          </p:cNvPr>
          <p:cNvSpPr>
            <a:spLocks noGrp="1"/>
          </p:cNvSpPr>
          <p:nvPr>
            <p:ph sz="quarter" idx="1"/>
          </p:nvPr>
        </p:nvSpPr>
        <p:spPr>
          <a:xfrm>
            <a:off x="612648" y="1600200"/>
            <a:ext cx="8153400" cy="4648006"/>
          </a:xfrm>
        </p:spPr>
        <p:txBody>
          <a:bodyPr>
            <a:normAutofit/>
          </a:bodyPr>
          <a:lstStyle/>
          <a:p>
            <a:pPr>
              <a:lnSpc>
                <a:spcPct val="110000"/>
              </a:lnSpc>
              <a:spcBef>
                <a:spcPts val="600"/>
              </a:spcBef>
              <a:spcAft>
                <a:spcPts val="600"/>
              </a:spcAft>
            </a:pPr>
            <a:r>
              <a:rPr lang="en-GB" sz="2000" i="0" dirty="0">
                <a:solidFill>
                  <a:srgbClr val="333333"/>
                </a:solidFill>
                <a:effectLst/>
              </a:rPr>
              <a:t>Both qual &amp; quant studies need to </a:t>
            </a:r>
            <a:r>
              <a:rPr lang="en-GB" sz="2000" dirty="0">
                <a:solidFill>
                  <a:srgbClr val="333333"/>
                </a:solidFill>
              </a:rPr>
              <a:t>follow certain rules of good experimental design making sure they have:</a:t>
            </a:r>
          </a:p>
          <a:p>
            <a:pPr lvl="1">
              <a:lnSpc>
                <a:spcPct val="110000"/>
              </a:lnSpc>
              <a:spcBef>
                <a:spcPts val="600"/>
              </a:spcBef>
              <a:spcAft>
                <a:spcPts val="600"/>
              </a:spcAft>
            </a:pPr>
            <a:r>
              <a:rPr lang="en-GB" sz="1800" b="1" i="0" dirty="0">
                <a:solidFill>
                  <a:srgbClr val="333333"/>
                </a:solidFill>
                <a:effectLst/>
              </a:rPr>
              <a:t>External validity</a:t>
            </a:r>
          </a:p>
          <a:p>
            <a:pPr lvl="2">
              <a:lnSpc>
                <a:spcPct val="110000"/>
              </a:lnSpc>
              <a:spcBef>
                <a:spcPts val="600"/>
              </a:spcBef>
              <a:spcAft>
                <a:spcPts val="600"/>
              </a:spcAft>
            </a:pPr>
            <a:r>
              <a:rPr lang="en-GB" sz="1800" dirty="0">
                <a:solidFill>
                  <a:srgbClr val="333333"/>
                </a:solidFill>
              </a:rPr>
              <a:t>The users are representative</a:t>
            </a:r>
          </a:p>
          <a:p>
            <a:pPr lvl="2">
              <a:lnSpc>
                <a:spcPct val="110000"/>
              </a:lnSpc>
              <a:spcBef>
                <a:spcPts val="600"/>
              </a:spcBef>
              <a:spcAft>
                <a:spcPts val="600"/>
              </a:spcAft>
            </a:pPr>
            <a:r>
              <a:rPr lang="en-GB" sz="1800" i="0" dirty="0">
                <a:solidFill>
                  <a:srgbClr val="333333"/>
                </a:solidFill>
                <a:effectLst/>
              </a:rPr>
              <a:t>The conditions map reality (test a mobile app on a desktop simulation, or test a TV set in a lab)</a:t>
            </a:r>
          </a:p>
          <a:p>
            <a:pPr lvl="1">
              <a:lnSpc>
                <a:spcPct val="110000"/>
              </a:lnSpc>
              <a:spcBef>
                <a:spcPts val="600"/>
              </a:spcBef>
              <a:spcAft>
                <a:spcPts val="600"/>
              </a:spcAft>
            </a:pPr>
            <a:r>
              <a:rPr lang="en-GB" sz="1800" b="1" i="0" dirty="0">
                <a:solidFill>
                  <a:srgbClr val="333333"/>
                </a:solidFill>
                <a:effectLst/>
              </a:rPr>
              <a:t>Internal validity</a:t>
            </a:r>
          </a:p>
          <a:p>
            <a:pPr lvl="2">
              <a:lnSpc>
                <a:spcPct val="110000"/>
              </a:lnSpc>
              <a:spcBef>
                <a:spcPts val="600"/>
              </a:spcBef>
              <a:spcAft>
                <a:spcPts val="600"/>
              </a:spcAft>
            </a:pPr>
            <a:r>
              <a:rPr lang="en-GB" sz="1800" dirty="0">
                <a:solidFill>
                  <a:srgbClr val="333333"/>
                </a:solidFill>
              </a:rPr>
              <a:t>The experiment does not favour any one condition (testing a digital product with group A in the morning and with group B in the afternoon, </a:t>
            </a:r>
            <a:r>
              <a:rPr lang="en-GB" sz="1800" b="0" i="0" dirty="0">
                <a:solidFill>
                  <a:srgbClr val="333333"/>
                </a:solidFill>
                <a:effectLst/>
              </a:rPr>
              <a:t>it is possible that fatigue plays a role in how participants use design B</a:t>
            </a:r>
            <a:r>
              <a:rPr lang="en-GB" sz="1800" dirty="0">
                <a:solidFill>
                  <a:srgbClr val="333333"/>
                </a:solidFill>
              </a:rPr>
              <a:t>)</a:t>
            </a:r>
            <a:endParaRPr lang="en-GB" sz="1800" dirty="0"/>
          </a:p>
        </p:txBody>
      </p:sp>
      <p:pic>
        <p:nvPicPr>
          <p:cNvPr id="4" name="Picture 3">
            <a:extLst>
              <a:ext uri="{FF2B5EF4-FFF2-40B4-BE49-F238E27FC236}">
                <a16:creationId xmlns:a16="http://schemas.microsoft.com/office/drawing/2014/main" id="{17F45560-519B-0302-620B-247CB4ADDF1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40057" y="181129"/>
            <a:ext cx="651981" cy="655583"/>
          </a:xfrm>
          <a:prstGeom prst="rect">
            <a:avLst/>
          </a:prstGeom>
        </p:spPr>
      </p:pic>
      <p:sp>
        <p:nvSpPr>
          <p:cNvPr id="9" name="Footer Placeholder 8">
            <a:extLst>
              <a:ext uri="{FF2B5EF4-FFF2-40B4-BE49-F238E27FC236}">
                <a16:creationId xmlns:a16="http://schemas.microsoft.com/office/drawing/2014/main" id="{84207183-0745-1586-6B7C-846F2B1BE08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1E59AFA2-3BA9-1B5D-4B76-F9293B19EA5D}"/>
              </a:ext>
            </a:extLst>
          </p:cNvPr>
          <p:cNvSpPr>
            <a:spLocks noGrp="1"/>
          </p:cNvSpPr>
          <p:nvPr>
            <p:ph type="sldNum" sz="quarter" idx="4"/>
          </p:nvPr>
        </p:nvSpPr>
        <p:spPr/>
        <p:txBody>
          <a:bodyPr/>
          <a:lstStyle/>
          <a:p>
            <a:fld id="{9FD7ECCF-50E7-4327-B945-FA93FF7B2BEF}" type="slidenum">
              <a:rPr lang="en-US" smtClean="0"/>
              <a:pPr/>
              <a:t>23</a:t>
            </a:fld>
            <a:r>
              <a:rPr lang="en-GB"/>
              <a:t>/40</a:t>
            </a:r>
            <a:endParaRPr lang="en-US" dirty="0"/>
          </a:p>
        </p:txBody>
      </p:sp>
    </p:spTree>
    <p:extLst>
      <p:ext uri="{BB962C8B-B14F-4D97-AF65-F5344CB8AC3E}">
        <p14:creationId xmlns:p14="http://schemas.microsoft.com/office/powerpoint/2010/main" val="1535468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4DA1-9319-A9FE-1931-D8D6A84D7E58}"/>
              </a:ext>
            </a:extLst>
          </p:cNvPr>
          <p:cNvSpPr>
            <a:spLocks noGrp="1"/>
          </p:cNvSpPr>
          <p:nvPr>
            <p:ph type="title"/>
          </p:nvPr>
        </p:nvSpPr>
        <p:spPr>
          <a:xfrm>
            <a:off x="612648" y="228600"/>
            <a:ext cx="7684054" cy="990600"/>
          </a:xfrm>
        </p:spPr>
        <p:txBody>
          <a:bodyPr>
            <a:normAutofit fontScale="90000"/>
          </a:bodyPr>
          <a:lstStyle/>
          <a:p>
            <a:r>
              <a:rPr lang="en-GB" dirty="0"/>
              <a:t>Types of Usability Testing - location</a:t>
            </a:r>
          </a:p>
        </p:txBody>
      </p:sp>
      <p:sp>
        <p:nvSpPr>
          <p:cNvPr id="3" name="Content Placeholder 2">
            <a:extLst>
              <a:ext uri="{FF2B5EF4-FFF2-40B4-BE49-F238E27FC236}">
                <a16:creationId xmlns:a16="http://schemas.microsoft.com/office/drawing/2014/main" id="{6CB6AAA9-DE08-D530-D36B-CF4A2C1679F2}"/>
              </a:ext>
            </a:extLst>
          </p:cNvPr>
          <p:cNvSpPr>
            <a:spLocks noGrp="1"/>
          </p:cNvSpPr>
          <p:nvPr>
            <p:ph sz="quarter" idx="1"/>
          </p:nvPr>
        </p:nvSpPr>
        <p:spPr>
          <a:xfrm>
            <a:off x="1331640" y="1600200"/>
            <a:ext cx="6816260" cy="4925144"/>
          </a:xfrm>
        </p:spPr>
        <p:txBody>
          <a:bodyPr>
            <a:normAutofit fontScale="62500" lnSpcReduction="20000"/>
          </a:bodyPr>
          <a:lstStyle/>
          <a:p>
            <a:pPr>
              <a:lnSpc>
                <a:spcPct val="120000"/>
              </a:lnSpc>
              <a:spcBef>
                <a:spcPts val="600"/>
              </a:spcBef>
              <a:spcAft>
                <a:spcPts val="200"/>
              </a:spcAft>
            </a:pPr>
            <a:r>
              <a:rPr lang="en-GB" sz="3400" b="1" u="sng" dirty="0"/>
              <a:t>In-person </a:t>
            </a:r>
            <a:r>
              <a:rPr lang="en-GB" sz="3400" dirty="0"/>
              <a:t>- a</a:t>
            </a:r>
            <a:r>
              <a:rPr lang="en-GB" sz="2900" dirty="0"/>
              <a:t>s the name suggests, requires the test to be completed </a:t>
            </a:r>
            <a:r>
              <a:rPr lang="en-GB" sz="2900" b="1" dirty="0">
                <a:solidFill>
                  <a:schemeClr val="accent2">
                    <a:lumMod val="75000"/>
                  </a:schemeClr>
                </a:solidFill>
              </a:rPr>
              <a:t>in the physical presence </a:t>
            </a:r>
            <a:r>
              <a:rPr lang="en-GB" sz="2900" dirty="0"/>
              <a:t>of a UX researcher/moderator</a:t>
            </a:r>
          </a:p>
          <a:p>
            <a:pPr lvl="1">
              <a:lnSpc>
                <a:spcPct val="120000"/>
              </a:lnSpc>
              <a:spcBef>
                <a:spcPts val="600"/>
              </a:spcBef>
              <a:spcAft>
                <a:spcPts val="200"/>
              </a:spcAft>
            </a:pPr>
            <a:r>
              <a:rPr lang="en-GB" sz="2900" b="1" dirty="0"/>
              <a:t>Pros</a:t>
            </a:r>
            <a:r>
              <a:rPr lang="en-GB" sz="2900" dirty="0"/>
              <a:t> - in-person tests provide extra data points (body language and facial expressions)</a:t>
            </a:r>
          </a:p>
          <a:p>
            <a:pPr lvl="1">
              <a:lnSpc>
                <a:spcPct val="120000"/>
              </a:lnSpc>
              <a:spcBef>
                <a:spcPts val="600"/>
              </a:spcBef>
              <a:spcAft>
                <a:spcPts val="200"/>
              </a:spcAft>
            </a:pPr>
            <a:r>
              <a:rPr lang="en-GB" sz="2900" b="1" dirty="0"/>
              <a:t>Cons</a:t>
            </a:r>
            <a:r>
              <a:rPr lang="en-GB" sz="2900" dirty="0"/>
              <a:t> - cost</a:t>
            </a:r>
          </a:p>
          <a:p>
            <a:pPr algn="l">
              <a:lnSpc>
                <a:spcPct val="120000"/>
              </a:lnSpc>
              <a:spcBef>
                <a:spcPts val="600"/>
              </a:spcBef>
              <a:spcAft>
                <a:spcPts val="200"/>
              </a:spcAft>
            </a:pPr>
            <a:r>
              <a:rPr lang="en-GB" sz="3100" b="1" u="sng" dirty="0"/>
              <a:t>Remote</a:t>
            </a:r>
            <a:r>
              <a:rPr lang="en-GB" sz="3100" dirty="0"/>
              <a:t> - t</a:t>
            </a:r>
            <a:r>
              <a:rPr lang="en-GB" sz="2900" dirty="0"/>
              <a:t>ests are done over the internet or by phone</a:t>
            </a:r>
          </a:p>
          <a:p>
            <a:pPr lvl="1">
              <a:lnSpc>
                <a:spcPct val="120000"/>
              </a:lnSpc>
              <a:spcBef>
                <a:spcPts val="600"/>
              </a:spcBef>
              <a:spcAft>
                <a:spcPts val="200"/>
              </a:spcAft>
            </a:pPr>
            <a:r>
              <a:rPr lang="en-GB" sz="2900" b="1" dirty="0"/>
              <a:t>Cons</a:t>
            </a:r>
            <a:r>
              <a:rPr lang="en-GB" sz="2900" dirty="0"/>
              <a:t> - Remote testing doesn’t go as deep into a participant’s reasoning</a:t>
            </a:r>
          </a:p>
          <a:p>
            <a:pPr lvl="1">
              <a:lnSpc>
                <a:spcPct val="120000"/>
              </a:lnSpc>
              <a:spcBef>
                <a:spcPts val="600"/>
              </a:spcBef>
              <a:spcAft>
                <a:spcPts val="200"/>
              </a:spcAft>
            </a:pPr>
            <a:r>
              <a:rPr lang="en-GB" sz="2900" b="1" dirty="0"/>
              <a:t>Pros</a:t>
            </a:r>
            <a:r>
              <a:rPr lang="en-GB" sz="2900" dirty="0"/>
              <a:t> - it allows you to test large numbers of people in different geographical areas using fewer resources</a:t>
            </a:r>
          </a:p>
          <a:p>
            <a:pPr>
              <a:lnSpc>
                <a:spcPct val="120000"/>
              </a:lnSpc>
              <a:spcBef>
                <a:spcPts val="600"/>
              </a:spcBef>
              <a:spcAft>
                <a:spcPts val="200"/>
              </a:spcAft>
            </a:pPr>
            <a:r>
              <a:rPr lang="en-GB" sz="3400" dirty="0"/>
              <a:t>In-person vs Remote</a:t>
            </a:r>
          </a:p>
          <a:p>
            <a:pPr lvl="1">
              <a:lnSpc>
                <a:spcPct val="120000"/>
              </a:lnSpc>
              <a:spcBef>
                <a:spcPts val="600"/>
              </a:spcBef>
              <a:spcAft>
                <a:spcPts val="200"/>
              </a:spcAft>
            </a:pPr>
            <a:r>
              <a:rPr lang="en-GB" sz="2900" dirty="0"/>
              <a:t>Does the method of testing benefit more from remote or in-person?</a:t>
            </a:r>
          </a:p>
          <a:p>
            <a:pPr lvl="1">
              <a:lnSpc>
                <a:spcPct val="120000"/>
              </a:lnSpc>
              <a:spcBef>
                <a:spcPts val="600"/>
              </a:spcBef>
              <a:spcAft>
                <a:spcPts val="200"/>
              </a:spcAft>
            </a:pPr>
            <a:r>
              <a:rPr lang="en-GB" sz="2900" dirty="0"/>
              <a:t>Are context, setting, and environment important factors?</a:t>
            </a:r>
          </a:p>
          <a:p>
            <a:pPr algn="l">
              <a:lnSpc>
                <a:spcPct val="120000"/>
              </a:lnSpc>
              <a:spcBef>
                <a:spcPts val="600"/>
              </a:spcBef>
              <a:spcAft>
                <a:spcPts val="200"/>
              </a:spcAft>
            </a:pPr>
            <a:endParaRPr lang="en-GB" sz="2800" dirty="0"/>
          </a:p>
        </p:txBody>
      </p:sp>
      <p:pic>
        <p:nvPicPr>
          <p:cNvPr id="6" name="Picture 5" descr="Link to article">
            <a:hlinkClick r:id="rId3"/>
            <a:extLst>
              <a:ext uri="{FF2B5EF4-FFF2-40B4-BE49-F238E27FC236}">
                <a16:creationId xmlns:a16="http://schemas.microsoft.com/office/drawing/2014/main" id="{81459514-1006-4B3E-5116-B3666BDC6C8E}"/>
              </a:ext>
            </a:extLst>
          </p:cNvPr>
          <p:cNvPicPr>
            <a:picLocks noChangeAspect="1"/>
          </p:cNvPicPr>
          <p:nvPr/>
        </p:nvPicPr>
        <p:blipFill>
          <a:blip r:embed="rId4"/>
          <a:stretch>
            <a:fillRect/>
          </a:stretch>
        </p:blipFill>
        <p:spPr>
          <a:xfrm>
            <a:off x="8147900" y="1988840"/>
            <a:ext cx="766904" cy="748350"/>
          </a:xfrm>
          <a:prstGeom prst="rect">
            <a:avLst/>
          </a:prstGeom>
        </p:spPr>
      </p:pic>
      <p:pic>
        <p:nvPicPr>
          <p:cNvPr id="5" name="Picture 4">
            <a:extLst>
              <a:ext uri="{FF2B5EF4-FFF2-40B4-BE49-F238E27FC236}">
                <a16:creationId xmlns:a16="http://schemas.microsoft.com/office/drawing/2014/main" id="{1C067600-0FED-749A-16ED-3B6459DCF7BE}"/>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96702" y="228600"/>
            <a:ext cx="673287" cy="641226"/>
          </a:xfrm>
          <a:prstGeom prst="rect">
            <a:avLst/>
          </a:prstGeom>
        </p:spPr>
      </p:pic>
      <p:pic>
        <p:nvPicPr>
          <p:cNvPr id="9" name="Picture 8" descr="in person">
            <a:extLst>
              <a:ext uri="{FF2B5EF4-FFF2-40B4-BE49-F238E27FC236}">
                <a16:creationId xmlns:a16="http://schemas.microsoft.com/office/drawing/2014/main" id="{3F5AE190-975B-2798-D1AD-2DBA11ACD078}"/>
              </a:ext>
            </a:extLst>
          </p:cNvPr>
          <p:cNvPicPr>
            <a:picLocks noChangeAspect="1"/>
          </p:cNvPicPr>
          <p:nvPr/>
        </p:nvPicPr>
        <p:blipFill>
          <a:blip r:embed="rId6"/>
          <a:stretch>
            <a:fillRect/>
          </a:stretch>
        </p:blipFill>
        <p:spPr>
          <a:xfrm>
            <a:off x="136698" y="1986893"/>
            <a:ext cx="1122744" cy="11508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1" name="Picture 10" descr="remote">
            <a:extLst>
              <a:ext uri="{FF2B5EF4-FFF2-40B4-BE49-F238E27FC236}">
                <a16:creationId xmlns:a16="http://schemas.microsoft.com/office/drawing/2014/main" id="{236AECCE-EEA6-3423-FA3B-4809C712C5B3}"/>
              </a:ext>
            </a:extLst>
          </p:cNvPr>
          <p:cNvPicPr>
            <a:picLocks noChangeAspect="1"/>
          </p:cNvPicPr>
          <p:nvPr/>
        </p:nvPicPr>
        <p:blipFill>
          <a:blip r:embed="rId7"/>
          <a:stretch>
            <a:fillRect/>
          </a:stretch>
        </p:blipFill>
        <p:spPr>
          <a:xfrm>
            <a:off x="141484" y="4045612"/>
            <a:ext cx="1122744" cy="110394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4" name="Footer Placeholder 13">
            <a:extLst>
              <a:ext uri="{FF2B5EF4-FFF2-40B4-BE49-F238E27FC236}">
                <a16:creationId xmlns:a16="http://schemas.microsoft.com/office/drawing/2014/main" id="{29DC5871-CB08-E93A-3FA1-BD38AEE952F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B3B10ABD-3520-B62C-44AF-0D0DA98A39C6}"/>
              </a:ext>
            </a:extLst>
          </p:cNvPr>
          <p:cNvSpPr>
            <a:spLocks noGrp="1"/>
          </p:cNvSpPr>
          <p:nvPr>
            <p:ph type="sldNum" sz="quarter" idx="4"/>
          </p:nvPr>
        </p:nvSpPr>
        <p:spPr/>
        <p:txBody>
          <a:bodyPr/>
          <a:lstStyle/>
          <a:p>
            <a:fld id="{9FD7ECCF-50E7-4327-B945-FA93FF7B2BEF}" type="slidenum">
              <a:rPr lang="en-US" smtClean="0"/>
              <a:pPr/>
              <a:t>24</a:t>
            </a:fld>
            <a:r>
              <a:rPr lang="en-GB"/>
              <a:t>/40</a:t>
            </a:r>
            <a:endParaRPr lang="en-US" dirty="0"/>
          </a:p>
        </p:txBody>
      </p:sp>
    </p:spTree>
    <p:extLst>
      <p:ext uri="{BB962C8B-B14F-4D97-AF65-F5344CB8AC3E}">
        <p14:creationId xmlns:p14="http://schemas.microsoft.com/office/powerpoint/2010/main" val="1948013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4DA1-9319-A9FE-1931-D8D6A84D7E58}"/>
              </a:ext>
            </a:extLst>
          </p:cNvPr>
          <p:cNvSpPr>
            <a:spLocks noGrp="1"/>
          </p:cNvSpPr>
          <p:nvPr>
            <p:ph type="title"/>
          </p:nvPr>
        </p:nvSpPr>
        <p:spPr>
          <a:xfrm>
            <a:off x="524111" y="157395"/>
            <a:ext cx="7943377" cy="869950"/>
          </a:xfrm>
        </p:spPr>
        <p:txBody>
          <a:bodyPr>
            <a:normAutofit fontScale="90000"/>
          </a:bodyPr>
          <a:lstStyle/>
          <a:p>
            <a:pPr>
              <a:lnSpc>
                <a:spcPts val="3500"/>
              </a:lnSpc>
            </a:pPr>
            <a:r>
              <a:rPr lang="en-GB" dirty="0"/>
              <a:t>Types of Usability Testing – moderator’s presence</a:t>
            </a:r>
          </a:p>
        </p:txBody>
      </p:sp>
      <p:sp>
        <p:nvSpPr>
          <p:cNvPr id="3" name="Content Placeholder 2">
            <a:extLst>
              <a:ext uri="{FF2B5EF4-FFF2-40B4-BE49-F238E27FC236}">
                <a16:creationId xmlns:a16="http://schemas.microsoft.com/office/drawing/2014/main" id="{6CB6AAA9-DE08-D530-D36B-CF4A2C1679F2}"/>
              </a:ext>
            </a:extLst>
          </p:cNvPr>
          <p:cNvSpPr>
            <a:spLocks noGrp="1"/>
          </p:cNvSpPr>
          <p:nvPr>
            <p:ph sz="quarter" idx="2"/>
          </p:nvPr>
        </p:nvSpPr>
        <p:spPr>
          <a:xfrm>
            <a:off x="609600" y="2708920"/>
            <a:ext cx="3886200" cy="3456384"/>
          </a:xfrm>
        </p:spPr>
        <p:txBody>
          <a:bodyPr>
            <a:normAutofit/>
          </a:bodyPr>
          <a:lstStyle/>
          <a:p>
            <a:pPr algn="l">
              <a:spcBef>
                <a:spcPts val="1800"/>
              </a:spcBef>
              <a:spcAft>
                <a:spcPts val="600"/>
              </a:spcAft>
            </a:pPr>
            <a:r>
              <a:rPr lang="en-GB" sz="2000" dirty="0"/>
              <a:t>A </a:t>
            </a:r>
            <a:r>
              <a:rPr lang="en-GB" sz="2000" b="1" u="sng" dirty="0"/>
              <a:t>moderated </a:t>
            </a:r>
            <a:r>
              <a:rPr lang="en-GB" sz="2000" b="1" dirty="0"/>
              <a:t>testing session is administered </a:t>
            </a:r>
            <a:r>
              <a:rPr lang="en-GB" sz="2000" b="1" u="sng" dirty="0"/>
              <a:t>in-person or remotely </a:t>
            </a:r>
            <a:r>
              <a:rPr lang="en-GB" sz="2000" b="1" dirty="0"/>
              <a:t>by a trained researcher </a:t>
            </a:r>
            <a:r>
              <a:rPr lang="en-GB" sz="2000" dirty="0"/>
              <a:t>who introduces the test to participants, answers their queries, and asks follow-up questions. </a:t>
            </a:r>
          </a:p>
        </p:txBody>
      </p:sp>
      <p:sp>
        <p:nvSpPr>
          <p:cNvPr id="16" name="Content Placeholder 15">
            <a:extLst>
              <a:ext uri="{FF2B5EF4-FFF2-40B4-BE49-F238E27FC236}">
                <a16:creationId xmlns:a16="http://schemas.microsoft.com/office/drawing/2014/main" id="{ED2E2708-1C3B-2805-D975-E6953662FC4C}"/>
              </a:ext>
            </a:extLst>
          </p:cNvPr>
          <p:cNvSpPr>
            <a:spLocks noGrp="1"/>
          </p:cNvSpPr>
          <p:nvPr>
            <p:ph sz="quarter" idx="4"/>
          </p:nvPr>
        </p:nvSpPr>
        <p:spPr>
          <a:xfrm>
            <a:off x="4800600" y="2708920"/>
            <a:ext cx="3886200" cy="3456384"/>
          </a:xfrm>
        </p:spPr>
        <p:txBody>
          <a:bodyPr>
            <a:normAutofit/>
          </a:bodyPr>
          <a:lstStyle/>
          <a:p>
            <a:r>
              <a:rPr lang="en-GB" sz="2000" dirty="0"/>
              <a:t>An </a:t>
            </a:r>
            <a:r>
              <a:rPr lang="en-GB" sz="2000" b="1" u="sng" dirty="0"/>
              <a:t>unmoderated</a:t>
            </a:r>
            <a:r>
              <a:rPr lang="en-GB" sz="2000" b="1" i="0" dirty="0">
                <a:effectLst/>
              </a:rPr>
              <a:t> test is done without direct supervision,</a:t>
            </a:r>
            <a:r>
              <a:rPr lang="en-GB" sz="2000" b="0" i="0" dirty="0">
                <a:effectLst/>
              </a:rPr>
              <a:t> participants might be in a lab, or at home and/or using their own devices to interact with the digital system that is being tested.</a:t>
            </a:r>
          </a:p>
          <a:p>
            <a:endParaRPr lang="en-GB" sz="2000" dirty="0"/>
          </a:p>
        </p:txBody>
      </p:sp>
      <p:sp>
        <p:nvSpPr>
          <p:cNvPr id="14" name="Text Placeholder 13">
            <a:extLst>
              <a:ext uri="{FF2B5EF4-FFF2-40B4-BE49-F238E27FC236}">
                <a16:creationId xmlns:a16="http://schemas.microsoft.com/office/drawing/2014/main" id="{7036F72E-3688-353E-A494-29CFC854A3F2}"/>
              </a:ext>
            </a:extLst>
          </p:cNvPr>
          <p:cNvSpPr>
            <a:spLocks noGrp="1"/>
          </p:cNvSpPr>
          <p:nvPr>
            <p:ph type="body" sz="quarter" idx="1"/>
          </p:nvPr>
        </p:nvSpPr>
        <p:spPr/>
        <p:txBody>
          <a:bodyPr/>
          <a:lstStyle/>
          <a:p>
            <a:r>
              <a:rPr lang="en-GB" dirty="0"/>
              <a:t>Moderated</a:t>
            </a:r>
          </a:p>
        </p:txBody>
      </p:sp>
      <p:sp>
        <p:nvSpPr>
          <p:cNvPr id="15" name="Text Placeholder 14">
            <a:extLst>
              <a:ext uri="{FF2B5EF4-FFF2-40B4-BE49-F238E27FC236}">
                <a16:creationId xmlns:a16="http://schemas.microsoft.com/office/drawing/2014/main" id="{7A27F0DB-FDE6-9C02-CF62-021C5AE8FEB5}"/>
              </a:ext>
            </a:extLst>
          </p:cNvPr>
          <p:cNvSpPr>
            <a:spLocks noGrp="1"/>
          </p:cNvSpPr>
          <p:nvPr>
            <p:ph type="body" sz="quarter" idx="3"/>
          </p:nvPr>
        </p:nvSpPr>
        <p:spPr/>
        <p:txBody>
          <a:bodyPr/>
          <a:lstStyle/>
          <a:p>
            <a:pPr algn="r"/>
            <a:r>
              <a:rPr lang="en-GB" dirty="0"/>
              <a:t>Unmoderated</a:t>
            </a:r>
          </a:p>
        </p:txBody>
      </p:sp>
      <p:pic>
        <p:nvPicPr>
          <p:cNvPr id="6" name="Picture 5" descr="Link to article">
            <a:hlinkClick r:id="rId3"/>
            <a:extLst>
              <a:ext uri="{FF2B5EF4-FFF2-40B4-BE49-F238E27FC236}">
                <a16:creationId xmlns:a16="http://schemas.microsoft.com/office/drawing/2014/main" id="{81459514-1006-4B3E-5116-B3666BDC6C8E}"/>
              </a:ext>
            </a:extLst>
          </p:cNvPr>
          <p:cNvPicPr>
            <a:picLocks noChangeAspect="1"/>
          </p:cNvPicPr>
          <p:nvPr/>
        </p:nvPicPr>
        <p:blipFill>
          <a:blip r:embed="rId4"/>
          <a:stretch>
            <a:fillRect/>
          </a:stretch>
        </p:blipFill>
        <p:spPr>
          <a:xfrm>
            <a:off x="2411760" y="5084230"/>
            <a:ext cx="766904" cy="748350"/>
          </a:xfrm>
          <a:prstGeom prst="rect">
            <a:avLst/>
          </a:prstGeom>
        </p:spPr>
      </p:pic>
      <p:pic>
        <p:nvPicPr>
          <p:cNvPr id="5" name="Picture 4">
            <a:extLst>
              <a:ext uri="{FF2B5EF4-FFF2-40B4-BE49-F238E27FC236}">
                <a16:creationId xmlns:a16="http://schemas.microsoft.com/office/drawing/2014/main" id="{06034524-35F2-BB83-8AE0-D09ED847D24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03572" y="297269"/>
            <a:ext cx="779411" cy="804392"/>
          </a:xfrm>
          <a:prstGeom prst="rect">
            <a:avLst/>
          </a:prstGeom>
        </p:spPr>
      </p:pic>
      <p:pic>
        <p:nvPicPr>
          <p:cNvPr id="11" name="Picture 10" descr="moderated vs unmoderated usability test">
            <a:extLst>
              <a:ext uri="{FF2B5EF4-FFF2-40B4-BE49-F238E27FC236}">
                <a16:creationId xmlns:a16="http://schemas.microsoft.com/office/drawing/2014/main" id="{F7F32954-0BBB-B08C-34A7-D38164CB175F}"/>
              </a:ext>
            </a:extLst>
          </p:cNvPr>
          <p:cNvPicPr>
            <a:picLocks noChangeAspect="1"/>
          </p:cNvPicPr>
          <p:nvPr/>
        </p:nvPicPr>
        <p:blipFill>
          <a:blip r:embed="rId6"/>
          <a:stretch>
            <a:fillRect/>
          </a:stretch>
        </p:blipFill>
        <p:spPr>
          <a:xfrm>
            <a:off x="3178664" y="1335795"/>
            <a:ext cx="2783375" cy="1267168"/>
          </a:xfrm>
          <a:prstGeom prst="round2DiagRect">
            <a:avLst>
              <a:gd name="adj1" fmla="val 16667"/>
              <a:gd name="adj2" fmla="val 0"/>
            </a:avLst>
          </a:prstGeom>
          <a:ln w="19050" cap="sq">
            <a:solidFill>
              <a:srgbClr val="FFFFFF"/>
            </a:solidFill>
            <a:miter lim="800000"/>
          </a:ln>
          <a:effectLst>
            <a:outerShdw blurRad="254000" algn="tl" rotWithShape="0">
              <a:srgbClr val="000000">
                <a:alpha val="43000"/>
              </a:srgbClr>
            </a:outerShdw>
          </a:effectLst>
        </p:spPr>
      </p:pic>
      <p:pic>
        <p:nvPicPr>
          <p:cNvPr id="13" name="Picture 12" descr="unmoderated test">
            <a:extLst>
              <a:ext uri="{FF2B5EF4-FFF2-40B4-BE49-F238E27FC236}">
                <a16:creationId xmlns:a16="http://schemas.microsoft.com/office/drawing/2014/main" id="{FA34261E-1985-E1A0-BF01-E14046C8489A}"/>
              </a:ext>
            </a:extLst>
          </p:cNvPr>
          <p:cNvPicPr>
            <a:picLocks noChangeAspect="1"/>
          </p:cNvPicPr>
          <p:nvPr/>
        </p:nvPicPr>
        <p:blipFill>
          <a:blip r:embed="rId7"/>
          <a:stretch>
            <a:fillRect/>
          </a:stretch>
        </p:blipFill>
        <p:spPr>
          <a:xfrm>
            <a:off x="6297960" y="4678678"/>
            <a:ext cx="2550378" cy="1907514"/>
          </a:xfrm>
          <a:prstGeom prst="round2DiagRect">
            <a:avLst>
              <a:gd name="adj1" fmla="val 7689"/>
              <a:gd name="adj2" fmla="val 0"/>
            </a:avLst>
          </a:prstGeom>
          <a:ln w="19050" cap="sq">
            <a:solidFill>
              <a:srgbClr val="FFFFFF"/>
            </a:solidFill>
            <a:miter lim="800000"/>
          </a:ln>
          <a:effectLst>
            <a:outerShdw blurRad="254000" algn="tl" rotWithShape="0">
              <a:srgbClr val="000000">
                <a:alpha val="43000"/>
              </a:srgbClr>
            </a:outerShdw>
          </a:effectLst>
        </p:spPr>
      </p:pic>
      <p:sp>
        <p:nvSpPr>
          <p:cNvPr id="20" name="Date Placeholder 19">
            <a:extLst>
              <a:ext uri="{FF2B5EF4-FFF2-40B4-BE49-F238E27FC236}">
                <a16:creationId xmlns:a16="http://schemas.microsoft.com/office/drawing/2014/main" id="{3ACC5745-3CD2-630A-1CDB-0DAB029D1842}"/>
              </a:ext>
            </a:extLst>
          </p:cNvPr>
          <p:cNvSpPr>
            <a:spLocks noGrp="1"/>
          </p:cNvSpPr>
          <p:nvPr>
            <p:ph type="dt" sz="half" idx="13"/>
          </p:nvPr>
        </p:nvSpPr>
        <p:spPr/>
        <p:txBody>
          <a:bodyPr/>
          <a:lstStyle/>
          <a:p>
            <a:fld id="{30ACFDB1-620C-441D-9908-0ABED9FD5A80}" type="datetime1">
              <a:rPr lang="en-US" smtClean="0"/>
              <a:t>9/23/2024</a:t>
            </a:fld>
            <a:endParaRPr lang="en-US" dirty="0"/>
          </a:p>
        </p:txBody>
      </p:sp>
      <p:sp>
        <p:nvSpPr>
          <p:cNvPr id="21" name="Footer Placeholder 20">
            <a:extLst>
              <a:ext uri="{FF2B5EF4-FFF2-40B4-BE49-F238E27FC236}">
                <a16:creationId xmlns:a16="http://schemas.microsoft.com/office/drawing/2014/main" id="{DDCFDF27-A40A-F2BD-9866-64EE59CC07A9}"/>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22" name="Slide Number Placeholder 21">
            <a:extLst>
              <a:ext uri="{FF2B5EF4-FFF2-40B4-BE49-F238E27FC236}">
                <a16:creationId xmlns:a16="http://schemas.microsoft.com/office/drawing/2014/main" id="{3144907E-FD1F-555A-D23E-0D5A8FD9F5BF}"/>
              </a:ext>
            </a:extLst>
          </p:cNvPr>
          <p:cNvSpPr>
            <a:spLocks noGrp="1"/>
          </p:cNvSpPr>
          <p:nvPr>
            <p:ph type="sldNum" sz="quarter" idx="12"/>
          </p:nvPr>
        </p:nvSpPr>
        <p:spPr/>
        <p:txBody>
          <a:bodyPr/>
          <a:lstStyle/>
          <a:p>
            <a:fld id="{9FD7ECCF-50E7-4327-B945-FA93FF7B2BEF}" type="slidenum">
              <a:rPr lang="en-US" smtClean="0"/>
              <a:pPr/>
              <a:t>25</a:t>
            </a:fld>
            <a:r>
              <a:rPr lang="en-GB"/>
              <a:t>/40</a:t>
            </a:r>
            <a:endParaRPr lang="en-US" dirty="0"/>
          </a:p>
        </p:txBody>
      </p:sp>
    </p:spTree>
    <p:extLst>
      <p:ext uri="{BB962C8B-B14F-4D97-AF65-F5344CB8AC3E}">
        <p14:creationId xmlns:p14="http://schemas.microsoft.com/office/powerpoint/2010/main" val="323774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anim calcmode="lin" valueType="num">
                                      <p:cBhvr>
                                        <p:cTn id="8" dur="2000" fill="hold"/>
                                        <p:tgtEl>
                                          <p:spTgt spid="11"/>
                                        </p:tgtEl>
                                        <p:attrNameLst>
                                          <p:attrName>ppt_w</p:attrName>
                                        </p:attrNameLst>
                                      </p:cBhvr>
                                      <p:tavLst>
                                        <p:tav tm="0" fmla="#ppt_w*sin(2.5*pi*$)">
                                          <p:val>
                                            <p:fltVal val="0"/>
                                          </p:val>
                                        </p:tav>
                                        <p:tav tm="100000">
                                          <p:val>
                                            <p:fltVal val="1"/>
                                          </p:val>
                                        </p:tav>
                                      </p:tavLst>
                                    </p:anim>
                                    <p:anim calcmode="lin" valueType="num">
                                      <p:cBhvr>
                                        <p:cTn id="9" dur="2000" fill="hold"/>
                                        <p:tgtEl>
                                          <p:spTgt spid="11"/>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F807-615C-58BD-FB0E-1C70283F5895}"/>
              </a:ext>
            </a:extLst>
          </p:cNvPr>
          <p:cNvSpPr>
            <a:spLocks noGrp="1"/>
          </p:cNvSpPr>
          <p:nvPr>
            <p:ph type="title"/>
          </p:nvPr>
        </p:nvSpPr>
        <p:spPr>
          <a:xfrm>
            <a:off x="477424" y="266700"/>
            <a:ext cx="8423848" cy="990600"/>
          </a:xfrm>
        </p:spPr>
        <p:txBody>
          <a:bodyPr>
            <a:noAutofit/>
          </a:bodyPr>
          <a:lstStyle/>
          <a:p>
            <a:r>
              <a:rPr lang="en-GB" sz="3600" dirty="0"/>
              <a:t>When to Use Moderated Usability Testing</a:t>
            </a:r>
          </a:p>
        </p:txBody>
      </p:sp>
      <p:sp>
        <p:nvSpPr>
          <p:cNvPr id="3" name="Content Placeholder 2">
            <a:extLst>
              <a:ext uri="{FF2B5EF4-FFF2-40B4-BE49-F238E27FC236}">
                <a16:creationId xmlns:a16="http://schemas.microsoft.com/office/drawing/2014/main" id="{6A82C6C0-73AE-6D81-3622-6B3C0F062A3E}"/>
              </a:ext>
            </a:extLst>
          </p:cNvPr>
          <p:cNvSpPr>
            <a:spLocks noGrp="1"/>
          </p:cNvSpPr>
          <p:nvPr>
            <p:ph sz="quarter" idx="1"/>
          </p:nvPr>
        </p:nvSpPr>
        <p:spPr/>
        <p:txBody>
          <a:bodyPr>
            <a:normAutofit/>
          </a:bodyPr>
          <a:lstStyle/>
          <a:p>
            <a:pPr>
              <a:spcBef>
                <a:spcPts val="1200"/>
              </a:spcBef>
            </a:pPr>
            <a:r>
              <a:rPr lang="en-GB" sz="2400" b="1" dirty="0"/>
              <a:t>Exploratory testing</a:t>
            </a:r>
            <a:r>
              <a:rPr lang="en-GB" sz="2400" dirty="0"/>
              <a:t>: When you want to gain deep insights into user behaviour, mental models, and preferences.</a:t>
            </a:r>
          </a:p>
          <a:p>
            <a:pPr>
              <a:spcBef>
                <a:spcPts val="1200"/>
              </a:spcBef>
            </a:pPr>
            <a:r>
              <a:rPr lang="en-GB" sz="2400" b="1" dirty="0"/>
              <a:t>Complex interfaces or products</a:t>
            </a:r>
            <a:r>
              <a:rPr lang="en-GB" sz="2400" dirty="0"/>
              <a:t>: When the tasks involve complicated workflows that might confuse users.</a:t>
            </a:r>
          </a:p>
          <a:p>
            <a:pPr>
              <a:spcBef>
                <a:spcPts val="1200"/>
              </a:spcBef>
            </a:pPr>
            <a:r>
              <a:rPr lang="en-GB" sz="2400" b="1" dirty="0"/>
              <a:t>Early-stage testing</a:t>
            </a:r>
            <a:r>
              <a:rPr lang="en-GB" sz="2400" dirty="0"/>
              <a:t>: For testing prototypes where user </a:t>
            </a:r>
            <a:r>
              <a:rPr lang="en-GB" sz="2400" dirty="0" err="1"/>
              <a:t>behavior</a:t>
            </a:r>
            <a:r>
              <a:rPr lang="en-GB" sz="2400" dirty="0"/>
              <a:t> needs close observation.</a:t>
            </a:r>
          </a:p>
          <a:p>
            <a:pPr>
              <a:spcBef>
                <a:spcPts val="1200"/>
              </a:spcBef>
            </a:pPr>
            <a:r>
              <a:rPr lang="en-GB" sz="2400" b="1" dirty="0"/>
              <a:t>Probing and real-time feedback</a:t>
            </a:r>
            <a:r>
              <a:rPr lang="en-GB" sz="2400" dirty="0"/>
              <a:t>: When you want to ask "why" questions and gather qualitative data on frustrations or preferences.</a:t>
            </a:r>
          </a:p>
        </p:txBody>
      </p:sp>
      <p:pic>
        <p:nvPicPr>
          <p:cNvPr id="6" name="Picture 5">
            <a:extLst>
              <a:ext uri="{FF2B5EF4-FFF2-40B4-BE49-F238E27FC236}">
                <a16:creationId xmlns:a16="http://schemas.microsoft.com/office/drawing/2014/main" id="{EF7F5085-4E50-3A33-F98C-A0EC77F6269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03572" y="297269"/>
            <a:ext cx="779411" cy="804392"/>
          </a:xfrm>
          <a:prstGeom prst="rect">
            <a:avLst/>
          </a:prstGeom>
        </p:spPr>
      </p:pic>
      <p:sp>
        <p:nvSpPr>
          <p:cNvPr id="9" name="Footer Placeholder 8">
            <a:extLst>
              <a:ext uri="{FF2B5EF4-FFF2-40B4-BE49-F238E27FC236}">
                <a16:creationId xmlns:a16="http://schemas.microsoft.com/office/drawing/2014/main" id="{DD458D37-40D8-81D7-1A18-7CC9C89949C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3F04C8A8-CEE7-A27A-6DE6-3898A0C4FCA4}"/>
              </a:ext>
            </a:extLst>
          </p:cNvPr>
          <p:cNvSpPr>
            <a:spLocks noGrp="1"/>
          </p:cNvSpPr>
          <p:nvPr>
            <p:ph type="sldNum" sz="quarter" idx="4"/>
          </p:nvPr>
        </p:nvSpPr>
        <p:spPr/>
        <p:txBody>
          <a:bodyPr/>
          <a:lstStyle/>
          <a:p>
            <a:fld id="{9FD7ECCF-50E7-4327-B945-FA93FF7B2BEF}" type="slidenum">
              <a:rPr lang="en-US" smtClean="0"/>
              <a:pPr/>
              <a:t>26</a:t>
            </a:fld>
            <a:r>
              <a:rPr lang="en-GB"/>
              <a:t>/40</a:t>
            </a:r>
            <a:endParaRPr lang="en-US" dirty="0"/>
          </a:p>
        </p:txBody>
      </p:sp>
    </p:spTree>
    <p:extLst>
      <p:ext uri="{BB962C8B-B14F-4D97-AF65-F5344CB8AC3E}">
        <p14:creationId xmlns:p14="http://schemas.microsoft.com/office/powerpoint/2010/main" val="1454263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F807-615C-58BD-FB0E-1C70283F5895}"/>
              </a:ext>
            </a:extLst>
          </p:cNvPr>
          <p:cNvSpPr>
            <a:spLocks noGrp="1"/>
          </p:cNvSpPr>
          <p:nvPr>
            <p:ph type="title"/>
          </p:nvPr>
        </p:nvSpPr>
        <p:spPr>
          <a:xfrm>
            <a:off x="477424" y="266700"/>
            <a:ext cx="8423848" cy="990600"/>
          </a:xfrm>
        </p:spPr>
        <p:txBody>
          <a:bodyPr>
            <a:noAutofit/>
          </a:bodyPr>
          <a:lstStyle/>
          <a:p>
            <a:r>
              <a:rPr lang="en-GB" sz="3600" dirty="0"/>
              <a:t>When to Use Unmoderated Usability Testing</a:t>
            </a:r>
          </a:p>
        </p:txBody>
      </p:sp>
      <p:sp>
        <p:nvSpPr>
          <p:cNvPr id="3" name="Content Placeholder 2">
            <a:extLst>
              <a:ext uri="{FF2B5EF4-FFF2-40B4-BE49-F238E27FC236}">
                <a16:creationId xmlns:a16="http://schemas.microsoft.com/office/drawing/2014/main" id="{6A82C6C0-73AE-6D81-3622-6B3C0F062A3E}"/>
              </a:ext>
            </a:extLst>
          </p:cNvPr>
          <p:cNvSpPr>
            <a:spLocks noGrp="1"/>
          </p:cNvSpPr>
          <p:nvPr>
            <p:ph sz="quarter" idx="1"/>
          </p:nvPr>
        </p:nvSpPr>
        <p:spPr/>
        <p:txBody>
          <a:bodyPr>
            <a:normAutofit/>
          </a:bodyPr>
          <a:lstStyle/>
          <a:p>
            <a:pPr>
              <a:spcBef>
                <a:spcPts val="1200"/>
              </a:spcBef>
            </a:pPr>
            <a:r>
              <a:rPr lang="en-GB" sz="2400" b="1" dirty="0"/>
              <a:t>Scale</a:t>
            </a:r>
            <a:r>
              <a:rPr lang="en-GB" sz="2400" dirty="0"/>
              <a:t>: When testing with many users or geographically dispersed participants.</a:t>
            </a:r>
          </a:p>
          <a:p>
            <a:pPr>
              <a:spcBef>
                <a:spcPts val="1200"/>
              </a:spcBef>
            </a:pPr>
            <a:r>
              <a:rPr lang="en-GB" sz="2400" b="1" dirty="0"/>
              <a:t>Late-stage testing</a:t>
            </a:r>
            <a:r>
              <a:rPr lang="en-GB" sz="2400" dirty="0"/>
              <a:t>: When the product is more polished and you want to measure how easily users complete tasks without help.</a:t>
            </a:r>
          </a:p>
          <a:p>
            <a:pPr>
              <a:spcBef>
                <a:spcPts val="1200"/>
              </a:spcBef>
            </a:pPr>
            <a:r>
              <a:rPr lang="en-GB" sz="2400" b="1" dirty="0"/>
              <a:t>Natural behaviour</a:t>
            </a:r>
            <a:r>
              <a:rPr lang="en-GB" sz="2400" dirty="0"/>
              <a:t>: When you want users to engage with the product in their natural environment, providing real-world insights.</a:t>
            </a:r>
          </a:p>
          <a:p>
            <a:pPr>
              <a:spcBef>
                <a:spcPts val="1200"/>
              </a:spcBef>
            </a:pPr>
            <a:r>
              <a:rPr lang="en-GB" sz="2400" b="1" dirty="0"/>
              <a:t>Time and cost efficiency</a:t>
            </a:r>
            <a:r>
              <a:rPr lang="en-GB" sz="2400" dirty="0"/>
              <a:t>: When resources are limited and quick feedback is needed.</a:t>
            </a:r>
          </a:p>
        </p:txBody>
      </p:sp>
      <p:pic>
        <p:nvPicPr>
          <p:cNvPr id="7" name="Picture 6">
            <a:extLst>
              <a:ext uri="{FF2B5EF4-FFF2-40B4-BE49-F238E27FC236}">
                <a16:creationId xmlns:a16="http://schemas.microsoft.com/office/drawing/2014/main" id="{64468388-642C-634D-48E2-D68FA4A8B87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03572" y="297269"/>
            <a:ext cx="779411" cy="804392"/>
          </a:xfrm>
          <a:prstGeom prst="rect">
            <a:avLst/>
          </a:prstGeom>
        </p:spPr>
      </p:pic>
      <p:sp>
        <p:nvSpPr>
          <p:cNvPr id="10" name="Footer Placeholder 9">
            <a:extLst>
              <a:ext uri="{FF2B5EF4-FFF2-40B4-BE49-F238E27FC236}">
                <a16:creationId xmlns:a16="http://schemas.microsoft.com/office/drawing/2014/main" id="{AC09C83B-0753-5221-7059-B5EF137B74E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B56CBB2E-FDD2-BDBB-EA93-4CC38188413E}"/>
              </a:ext>
            </a:extLst>
          </p:cNvPr>
          <p:cNvSpPr>
            <a:spLocks noGrp="1"/>
          </p:cNvSpPr>
          <p:nvPr>
            <p:ph type="sldNum" sz="quarter" idx="4"/>
          </p:nvPr>
        </p:nvSpPr>
        <p:spPr/>
        <p:txBody>
          <a:bodyPr/>
          <a:lstStyle/>
          <a:p>
            <a:fld id="{9FD7ECCF-50E7-4327-B945-FA93FF7B2BEF}" type="slidenum">
              <a:rPr lang="en-US" smtClean="0"/>
              <a:pPr/>
              <a:t>27</a:t>
            </a:fld>
            <a:r>
              <a:rPr lang="en-GB"/>
              <a:t>/40</a:t>
            </a:r>
            <a:endParaRPr lang="en-US" dirty="0"/>
          </a:p>
        </p:txBody>
      </p:sp>
    </p:spTree>
    <p:extLst>
      <p:ext uri="{BB962C8B-B14F-4D97-AF65-F5344CB8AC3E}">
        <p14:creationId xmlns:p14="http://schemas.microsoft.com/office/powerpoint/2010/main" val="1358559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B6AAA9-DE08-D530-D36B-CF4A2C1679F2}"/>
              </a:ext>
            </a:extLst>
          </p:cNvPr>
          <p:cNvSpPr>
            <a:spLocks noGrp="1"/>
          </p:cNvSpPr>
          <p:nvPr>
            <p:ph sz="quarter" idx="1"/>
          </p:nvPr>
        </p:nvSpPr>
        <p:spPr>
          <a:xfrm>
            <a:off x="612648" y="1600199"/>
            <a:ext cx="8153400" cy="5013131"/>
          </a:xfrm>
        </p:spPr>
        <p:txBody>
          <a:bodyPr>
            <a:normAutofit/>
          </a:bodyPr>
          <a:lstStyle/>
          <a:p>
            <a:pPr algn="l">
              <a:spcBef>
                <a:spcPts val="300"/>
              </a:spcBef>
              <a:spcAft>
                <a:spcPts val="300"/>
              </a:spcAft>
            </a:pPr>
            <a:r>
              <a:rPr lang="en-GB" sz="2000" dirty="0"/>
              <a:t>A </a:t>
            </a:r>
            <a:r>
              <a:rPr lang="en-GB" sz="2000" b="1" u="sng" dirty="0"/>
              <a:t>moderated </a:t>
            </a:r>
            <a:r>
              <a:rPr lang="en-GB" sz="2000" b="1" dirty="0"/>
              <a:t>test </a:t>
            </a:r>
          </a:p>
          <a:p>
            <a:pPr lvl="1">
              <a:spcBef>
                <a:spcPts val="300"/>
              </a:spcBef>
              <a:spcAft>
                <a:spcPts val="300"/>
              </a:spcAft>
            </a:pPr>
            <a:r>
              <a:rPr lang="en-GB" sz="1600" b="1" dirty="0"/>
              <a:t>Pros</a:t>
            </a:r>
            <a:r>
              <a:rPr lang="en-GB" sz="1600" dirty="0"/>
              <a:t> - produces in-depth results thanks to the direct interaction between researchers and test participants</a:t>
            </a:r>
          </a:p>
          <a:p>
            <a:pPr lvl="1">
              <a:spcBef>
                <a:spcPts val="300"/>
              </a:spcBef>
              <a:spcAft>
                <a:spcPts val="300"/>
              </a:spcAft>
            </a:pPr>
            <a:r>
              <a:rPr lang="en-GB" sz="1600" b="1" dirty="0"/>
              <a:t>Cons</a:t>
            </a:r>
            <a:r>
              <a:rPr lang="en-GB" sz="1600" dirty="0"/>
              <a:t> - </a:t>
            </a:r>
            <a:r>
              <a:rPr lang="en-GB" sz="1600" b="0" i="0" dirty="0">
                <a:effectLst/>
              </a:rPr>
              <a:t>expensive to organize and run (e.g., securing a lab, hiring a trained researcher, and/or providing compensation for the participants). </a:t>
            </a:r>
          </a:p>
          <a:p>
            <a:pPr marL="681990" lvl="1" indent="0">
              <a:spcBef>
                <a:spcPts val="300"/>
              </a:spcBef>
              <a:spcAft>
                <a:spcPts val="300"/>
              </a:spcAft>
              <a:buNone/>
            </a:pPr>
            <a:r>
              <a:rPr lang="en-GB" sz="1600" dirty="0"/>
              <a:t>It is important to</a:t>
            </a:r>
          </a:p>
          <a:p>
            <a:pPr lvl="2">
              <a:spcBef>
                <a:spcPts val="300"/>
              </a:spcBef>
            </a:pPr>
            <a:r>
              <a:rPr lang="en-GB" sz="1600" dirty="0"/>
              <a:t>Use the same format with everyone (meaning all users)</a:t>
            </a:r>
          </a:p>
          <a:p>
            <a:pPr lvl="2">
              <a:spcBef>
                <a:spcPts val="300"/>
              </a:spcBef>
            </a:pPr>
            <a:r>
              <a:rPr lang="en-GB" sz="1600" dirty="0"/>
              <a:t>Use a moderators guide to ask questions</a:t>
            </a:r>
          </a:p>
          <a:p>
            <a:pPr lvl="2">
              <a:spcBef>
                <a:spcPts val="300"/>
              </a:spcBef>
            </a:pPr>
            <a:r>
              <a:rPr lang="en-GB" sz="1600" dirty="0"/>
              <a:t>Probe deeper on responses (Why </a:t>
            </a:r>
            <a:r>
              <a:rPr lang="en-GB" sz="1600" dirty="0" err="1"/>
              <a:t>why</a:t>
            </a:r>
            <a:r>
              <a:rPr lang="en-GB" sz="1600" dirty="0"/>
              <a:t> </a:t>
            </a:r>
            <a:r>
              <a:rPr lang="en-GB" sz="1600" dirty="0" err="1"/>
              <a:t>why</a:t>
            </a:r>
            <a:r>
              <a:rPr lang="en-GB" sz="1600" dirty="0"/>
              <a:t> </a:t>
            </a:r>
            <a:r>
              <a:rPr lang="en-GB" sz="1600" dirty="0" err="1"/>
              <a:t>why</a:t>
            </a:r>
            <a:r>
              <a:rPr lang="en-GB" sz="1600" dirty="0"/>
              <a:t> </a:t>
            </a:r>
            <a:r>
              <a:rPr lang="en-GB" sz="1600" dirty="0" err="1"/>
              <a:t>why</a:t>
            </a:r>
            <a:r>
              <a:rPr lang="en-GB" sz="1600" dirty="0"/>
              <a:t> (5 x why))</a:t>
            </a:r>
          </a:p>
          <a:p>
            <a:pPr>
              <a:spcBef>
                <a:spcPts val="300"/>
              </a:spcBef>
              <a:spcAft>
                <a:spcPts val="300"/>
              </a:spcAft>
            </a:pPr>
            <a:r>
              <a:rPr lang="en-GB" sz="2000" dirty="0"/>
              <a:t>An </a:t>
            </a:r>
            <a:r>
              <a:rPr lang="en-GB" sz="2000" b="1" u="sng" dirty="0"/>
              <a:t>unmoderated</a:t>
            </a:r>
            <a:r>
              <a:rPr lang="en-GB" sz="2000" b="1" i="0" dirty="0">
                <a:effectLst/>
              </a:rPr>
              <a:t> test </a:t>
            </a:r>
          </a:p>
          <a:p>
            <a:pPr lvl="1">
              <a:spcBef>
                <a:spcPts val="300"/>
              </a:spcBef>
              <a:spcAft>
                <a:spcPts val="300"/>
              </a:spcAft>
            </a:pPr>
            <a:r>
              <a:rPr lang="en-GB" sz="1600" b="1" i="0" dirty="0">
                <a:effectLst/>
              </a:rPr>
              <a:t>Pros</a:t>
            </a:r>
            <a:r>
              <a:rPr lang="en-GB" sz="1600" b="0" i="0" dirty="0">
                <a:effectLst/>
              </a:rPr>
              <a:t> - the cost of unmoderated testing is lower</a:t>
            </a:r>
          </a:p>
          <a:p>
            <a:pPr lvl="1">
              <a:spcBef>
                <a:spcPts val="300"/>
              </a:spcBef>
              <a:spcAft>
                <a:spcPts val="300"/>
              </a:spcAft>
            </a:pPr>
            <a:r>
              <a:rPr lang="en-GB" sz="1600" b="1" dirty="0"/>
              <a:t>Cons</a:t>
            </a:r>
            <a:r>
              <a:rPr lang="en-GB" sz="1600" dirty="0"/>
              <a:t> - </a:t>
            </a:r>
            <a:r>
              <a:rPr lang="en-GB" sz="1600" b="0" i="0" dirty="0">
                <a:effectLst/>
              </a:rPr>
              <a:t>participant answers can remain superficial and follow-up questions are impossible</a:t>
            </a:r>
            <a:endParaRPr lang="en-GB" sz="1600" dirty="0"/>
          </a:p>
          <a:p>
            <a:pPr marL="714375" lvl="3" indent="0">
              <a:spcBef>
                <a:spcPts val="300"/>
              </a:spcBef>
              <a:spcAft>
                <a:spcPts val="300"/>
              </a:spcAft>
              <a:buNone/>
            </a:pPr>
            <a:r>
              <a:rPr lang="en-GB" sz="1600" dirty="0"/>
              <a:t>Methods that can be used involve</a:t>
            </a:r>
          </a:p>
          <a:p>
            <a:pPr lvl="2">
              <a:spcBef>
                <a:spcPts val="300"/>
              </a:spcBef>
            </a:pPr>
            <a:r>
              <a:rPr lang="en-GB" sz="1600" dirty="0"/>
              <a:t>Contextual inquiries (surveys)</a:t>
            </a:r>
          </a:p>
          <a:p>
            <a:pPr lvl="2">
              <a:spcBef>
                <a:spcPts val="300"/>
              </a:spcBef>
            </a:pPr>
            <a:r>
              <a:rPr lang="en-GB" sz="1600" dirty="0"/>
              <a:t>Usability testing</a:t>
            </a:r>
          </a:p>
          <a:p>
            <a:pPr lvl="2">
              <a:spcBef>
                <a:spcPts val="300"/>
              </a:spcBef>
            </a:pPr>
            <a:r>
              <a:rPr lang="en-GB" sz="1600" dirty="0"/>
              <a:t>Card shorting</a:t>
            </a:r>
          </a:p>
        </p:txBody>
      </p:sp>
      <p:sp>
        <p:nvSpPr>
          <p:cNvPr id="8" name="Title 1">
            <a:extLst>
              <a:ext uri="{FF2B5EF4-FFF2-40B4-BE49-F238E27FC236}">
                <a16:creationId xmlns:a16="http://schemas.microsoft.com/office/drawing/2014/main" id="{EC3B48CA-C093-E86F-5177-90AC728010A4}"/>
              </a:ext>
            </a:extLst>
          </p:cNvPr>
          <p:cNvSpPr>
            <a:spLocks noGrp="1"/>
          </p:cNvSpPr>
          <p:nvPr>
            <p:ph type="title"/>
          </p:nvPr>
        </p:nvSpPr>
        <p:spPr>
          <a:xfrm>
            <a:off x="609600" y="116632"/>
            <a:ext cx="8153400" cy="990600"/>
          </a:xfrm>
        </p:spPr>
        <p:txBody>
          <a:bodyPr>
            <a:normAutofit fontScale="90000"/>
          </a:bodyPr>
          <a:lstStyle/>
          <a:p>
            <a:pPr>
              <a:lnSpc>
                <a:spcPts val="3500"/>
              </a:lnSpc>
            </a:pPr>
            <a:r>
              <a:rPr lang="en-GB" dirty="0"/>
              <a:t>Types of Usability Testing – moderator’s presence</a:t>
            </a:r>
          </a:p>
        </p:txBody>
      </p:sp>
      <p:pic>
        <p:nvPicPr>
          <p:cNvPr id="2" name="Picture 1">
            <a:extLst>
              <a:ext uri="{FF2B5EF4-FFF2-40B4-BE49-F238E27FC236}">
                <a16:creationId xmlns:a16="http://schemas.microsoft.com/office/drawing/2014/main" id="{D4FB2375-FC3F-ECE5-4994-AB2F58CB1D9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03572" y="297269"/>
            <a:ext cx="779411" cy="804392"/>
          </a:xfrm>
          <a:prstGeom prst="rect">
            <a:avLst/>
          </a:prstGeom>
        </p:spPr>
      </p:pic>
      <p:sp>
        <p:nvSpPr>
          <p:cNvPr id="9" name="Footer Placeholder 8">
            <a:extLst>
              <a:ext uri="{FF2B5EF4-FFF2-40B4-BE49-F238E27FC236}">
                <a16:creationId xmlns:a16="http://schemas.microsoft.com/office/drawing/2014/main" id="{1A9C7E4F-7AD0-26A7-4319-FA8990C6879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B155EA16-DD72-25AA-5EF0-C124EBCB9AE3}"/>
              </a:ext>
            </a:extLst>
          </p:cNvPr>
          <p:cNvSpPr>
            <a:spLocks noGrp="1"/>
          </p:cNvSpPr>
          <p:nvPr>
            <p:ph type="sldNum" sz="quarter" idx="4"/>
          </p:nvPr>
        </p:nvSpPr>
        <p:spPr/>
        <p:txBody>
          <a:bodyPr/>
          <a:lstStyle/>
          <a:p>
            <a:fld id="{9FD7ECCF-50E7-4327-B945-FA93FF7B2BEF}" type="slidenum">
              <a:rPr lang="en-US" smtClean="0"/>
              <a:pPr/>
              <a:t>28</a:t>
            </a:fld>
            <a:r>
              <a:rPr lang="en-GB"/>
              <a:t>/40</a:t>
            </a:r>
            <a:endParaRPr lang="en-US" dirty="0"/>
          </a:p>
        </p:txBody>
      </p:sp>
    </p:spTree>
    <p:extLst>
      <p:ext uri="{BB962C8B-B14F-4D97-AF65-F5344CB8AC3E}">
        <p14:creationId xmlns:p14="http://schemas.microsoft.com/office/powerpoint/2010/main" val="427789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9CEF-97A7-4987-13E4-74FA76E14EC7}"/>
              </a:ext>
            </a:extLst>
          </p:cNvPr>
          <p:cNvSpPr>
            <a:spLocks noGrp="1"/>
          </p:cNvSpPr>
          <p:nvPr>
            <p:ph type="title"/>
          </p:nvPr>
        </p:nvSpPr>
        <p:spPr>
          <a:xfrm>
            <a:off x="323528" y="350168"/>
            <a:ext cx="7344816" cy="990600"/>
          </a:xfrm>
        </p:spPr>
        <p:txBody>
          <a:bodyPr>
            <a:normAutofit fontScale="90000"/>
          </a:bodyPr>
          <a:lstStyle/>
          <a:p>
            <a:pPr>
              <a:lnSpc>
                <a:spcPts val="3100"/>
              </a:lnSpc>
            </a:pPr>
            <a:r>
              <a:rPr lang="en-GB" dirty="0"/>
              <a:t>Key Differences: Moderated vs Unmoderated Usability Test</a:t>
            </a:r>
            <a:br>
              <a:rPr lang="en-GB" dirty="0"/>
            </a:br>
            <a:r>
              <a:rPr lang="en-GB" dirty="0"/>
              <a:t> </a:t>
            </a:r>
          </a:p>
        </p:txBody>
      </p:sp>
      <p:graphicFrame>
        <p:nvGraphicFramePr>
          <p:cNvPr id="6" name="Content Placeholder 5">
            <a:extLst>
              <a:ext uri="{FF2B5EF4-FFF2-40B4-BE49-F238E27FC236}">
                <a16:creationId xmlns:a16="http://schemas.microsoft.com/office/drawing/2014/main" id="{7D126FC0-19F9-ADED-E954-8C37D0742900}"/>
              </a:ext>
            </a:extLst>
          </p:cNvPr>
          <p:cNvGraphicFramePr>
            <a:graphicFrameLocks noGrp="1"/>
          </p:cNvGraphicFramePr>
          <p:nvPr>
            <p:ph sz="quarter" idx="1"/>
            <p:extLst>
              <p:ext uri="{D42A27DB-BD31-4B8C-83A1-F6EECF244321}">
                <p14:modId xmlns:p14="http://schemas.microsoft.com/office/powerpoint/2010/main" val="595711599"/>
              </p:ext>
            </p:extLst>
          </p:nvPr>
        </p:nvGraphicFramePr>
        <p:xfrm>
          <a:off x="789012" y="1844824"/>
          <a:ext cx="7794575" cy="4211320"/>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3395454128"/>
                    </a:ext>
                  </a:extLst>
                </a:gridCol>
                <a:gridCol w="2664296">
                  <a:extLst>
                    <a:ext uri="{9D8B030D-6E8A-4147-A177-3AD203B41FA5}">
                      <a16:colId xmlns:a16="http://schemas.microsoft.com/office/drawing/2014/main" val="4271603541"/>
                    </a:ext>
                  </a:extLst>
                </a:gridCol>
                <a:gridCol w="3330079">
                  <a:extLst>
                    <a:ext uri="{9D8B030D-6E8A-4147-A177-3AD203B41FA5}">
                      <a16:colId xmlns:a16="http://schemas.microsoft.com/office/drawing/2014/main" val="3580734628"/>
                    </a:ext>
                  </a:extLst>
                </a:gridCol>
              </a:tblGrid>
              <a:tr h="370840">
                <a:tc>
                  <a:txBody>
                    <a:bodyPr/>
                    <a:lstStyle/>
                    <a:p>
                      <a:r>
                        <a:rPr lang="en-GB" dirty="0">
                          <a:solidFill>
                            <a:schemeClr val="accent2">
                              <a:lumMod val="75000"/>
                            </a:schemeClr>
                          </a:solidFill>
                        </a:rPr>
                        <a:t>Aspect</a:t>
                      </a:r>
                    </a:p>
                  </a:txBody>
                  <a:tcPr anchor="ctr"/>
                </a:tc>
                <a:tc>
                  <a:txBody>
                    <a:bodyPr/>
                    <a:lstStyle/>
                    <a:p>
                      <a:r>
                        <a:rPr lang="en-GB" dirty="0">
                          <a:solidFill>
                            <a:schemeClr val="accent2">
                              <a:lumMod val="75000"/>
                            </a:schemeClr>
                          </a:solidFill>
                        </a:rPr>
                        <a:t>Moderated Usability Test</a:t>
                      </a:r>
                    </a:p>
                  </a:txBody>
                  <a:tcPr anchor="ctr"/>
                </a:tc>
                <a:tc>
                  <a:txBody>
                    <a:bodyPr/>
                    <a:lstStyle/>
                    <a:p>
                      <a:r>
                        <a:rPr lang="en-GB" dirty="0">
                          <a:solidFill>
                            <a:schemeClr val="accent2">
                              <a:lumMod val="75000"/>
                            </a:schemeClr>
                          </a:solidFill>
                        </a:rPr>
                        <a:t>Unmoderated Usability Test</a:t>
                      </a:r>
                    </a:p>
                  </a:txBody>
                  <a:tcPr anchor="ctr"/>
                </a:tc>
                <a:extLst>
                  <a:ext uri="{0D108BD9-81ED-4DB2-BD59-A6C34878D82A}">
                    <a16:rowId xmlns:a16="http://schemas.microsoft.com/office/drawing/2014/main" val="1760628508"/>
                  </a:ext>
                </a:extLst>
              </a:tr>
              <a:tr h="370840">
                <a:tc>
                  <a:txBody>
                    <a:bodyPr/>
                    <a:lstStyle/>
                    <a:p>
                      <a:r>
                        <a:rPr lang="en-GB" b="1" dirty="0"/>
                        <a:t>Facilitation</a:t>
                      </a:r>
                      <a:endParaRPr lang="en-GB" dirty="0"/>
                    </a:p>
                  </a:txBody>
                  <a:tcPr anchor="ctr"/>
                </a:tc>
                <a:tc>
                  <a:txBody>
                    <a:bodyPr/>
                    <a:lstStyle/>
                    <a:p>
                      <a:r>
                        <a:rPr lang="en-GB" dirty="0"/>
                        <a:t>Facilitator present to guide users</a:t>
                      </a:r>
                    </a:p>
                  </a:txBody>
                  <a:tcPr anchor="ctr"/>
                </a:tc>
                <a:tc>
                  <a:txBody>
                    <a:bodyPr/>
                    <a:lstStyle/>
                    <a:p>
                      <a:r>
                        <a:rPr lang="en-GB" dirty="0"/>
                        <a:t>No facilitator; users complete tasks alone</a:t>
                      </a:r>
                    </a:p>
                  </a:txBody>
                  <a:tcPr anchor="ctr"/>
                </a:tc>
                <a:extLst>
                  <a:ext uri="{0D108BD9-81ED-4DB2-BD59-A6C34878D82A}">
                    <a16:rowId xmlns:a16="http://schemas.microsoft.com/office/drawing/2014/main" val="3478242699"/>
                  </a:ext>
                </a:extLst>
              </a:tr>
              <a:tr h="370840">
                <a:tc>
                  <a:txBody>
                    <a:bodyPr/>
                    <a:lstStyle/>
                    <a:p>
                      <a:r>
                        <a:rPr lang="en-GB" b="1"/>
                        <a:t>Interaction</a:t>
                      </a:r>
                      <a:endParaRPr lang="en-GB"/>
                    </a:p>
                  </a:txBody>
                  <a:tcPr anchor="ctr"/>
                </a:tc>
                <a:tc>
                  <a:txBody>
                    <a:bodyPr/>
                    <a:lstStyle/>
                    <a:p>
                      <a:r>
                        <a:rPr lang="en-GB" dirty="0"/>
                        <a:t>Real-time interaction and guidance</a:t>
                      </a:r>
                    </a:p>
                  </a:txBody>
                  <a:tcPr anchor="ctr"/>
                </a:tc>
                <a:tc>
                  <a:txBody>
                    <a:bodyPr/>
                    <a:lstStyle/>
                    <a:p>
                      <a:r>
                        <a:rPr lang="en-GB" dirty="0"/>
                        <a:t>No real-time interaction</a:t>
                      </a:r>
                    </a:p>
                  </a:txBody>
                  <a:tcPr anchor="ctr"/>
                </a:tc>
                <a:extLst>
                  <a:ext uri="{0D108BD9-81ED-4DB2-BD59-A6C34878D82A}">
                    <a16:rowId xmlns:a16="http://schemas.microsoft.com/office/drawing/2014/main" val="1390654489"/>
                  </a:ext>
                </a:extLst>
              </a:tr>
              <a:tr h="370840">
                <a:tc>
                  <a:txBody>
                    <a:bodyPr/>
                    <a:lstStyle/>
                    <a:p>
                      <a:r>
                        <a:rPr lang="en-GB" b="1"/>
                        <a:t>Environment</a:t>
                      </a:r>
                      <a:endParaRPr lang="en-GB"/>
                    </a:p>
                  </a:txBody>
                  <a:tcPr anchor="ctr"/>
                </a:tc>
                <a:tc>
                  <a:txBody>
                    <a:bodyPr/>
                    <a:lstStyle/>
                    <a:p>
                      <a:r>
                        <a:rPr lang="en-GB" dirty="0"/>
                        <a:t>Typically in a lab or online with facilitator</a:t>
                      </a:r>
                    </a:p>
                  </a:txBody>
                  <a:tcPr anchor="ctr"/>
                </a:tc>
                <a:tc>
                  <a:txBody>
                    <a:bodyPr/>
                    <a:lstStyle/>
                    <a:p>
                      <a:r>
                        <a:rPr lang="en-GB" dirty="0"/>
                        <a:t>Typically remote, in the user's natural environment</a:t>
                      </a:r>
                    </a:p>
                  </a:txBody>
                  <a:tcPr anchor="ctr"/>
                </a:tc>
                <a:extLst>
                  <a:ext uri="{0D108BD9-81ED-4DB2-BD59-A6C34878D82A}">
                    <a16:rowId xmlns:a16="http://schemas.microsoft.com/office/drawing/2014/main" val="4245571610"/>
                  </a:ext>
                </a:extLst>
              </a:tr>
              <a:tr h="370840">
                <a:tc>
                  <a:txBody>
                    <a:bodyPr/>
                    <a:lstStyle/>
                    <a:p>
                      <a:r>
                        <a:rPr lang="en-GB" b="1"/>
                        <a:t>Feedback</a:t>
                      </a:r>
                      <a:endParaRPr lang="en-GB"/>
                    </a:p>
                  </a:txBody>
                  <a:tcPr anchor="ctr"/>
                </a:tc>
                <a:tc>
                  <a:txBody>
                    <a:bodyPr/>
                    <a:lstStyle/>
                    <a:p>
                      <a:r>
                        <a:rPr lang="en-GB" dirty="0"/>
                        <a:t>Immediate, detailed, qualitative feedback</a:t>
                      </a:r>
                    </a:p>
                  </a:txBody>
                  <a:tcPr anchor="ctr"/>
                </a:tc>
                <a:tc>
                  <a:txBody>
                    <a:bodyPr/>
                    <a:lstStyle/>
                    <a:p>
                      <a:r>
                        <a:rPr lang="en-GB" dirty="0"/>
                        <a:t>Delayed, quantitative feedback</a:t>
                      </a:r>
                    </a:p>
                  </a:txBody>
                  <a:tcPr anchor="ctr"/>
                </a:tc>
                <a:extLst>
                  <a:ext uri="{0D108BD9-81ED-4DB2-BD59-A6C34878D82A}">
                    <a16:rowId xmlns:a16="http://schemas.microsoft.com/office/drawing/2014/main" val="719870860"/>
                  </a:ext>
                </a:extLst>
              </a:tr>
              <a:tr h="370840">
                <a:tc>
                  <a:txBody>
                    <a:bodyPr/>
                    <a:lstStyle/>
                    <a:p>
                      <a:r>
                        <a:rPr lang="en-GB" b="1"/>
                        <a:t>Cost</a:t>
                      </a:r>
                      <a:endParaRPr lang="en-GB"/>
                    </a:p>
                  </a:txBody>
                  <a:tcPr anchor="ctr"/>
                </a:tc>
                <a:tc>
                  <a:txBody>
                    <a:bodyPr/>
                    <a:lstStyle/>
                    <a:p>
                      <a:r>
                        <a:rPr lang="en-GB" dirty="0"/>
                        <a:t>More expensive due to facilitator and setup</a:t>
                      </a:r>
                    </a:p>
                  </a:txBody>
                  <a:tcPr anchor="ctr"/>
                </a:tc>
                <a:tc>
                  <a:txBody>
                    <a:bodyPr/>
                    <a:lstStyle/>
                    <a:p>
                      <a:r>
                        <a:rPr lang="en-GB" dirty="0"/>
                        <a:t>Cost-effective for large-scale testing</a:t>
                      </a:r>
                    </a:p>
                  </a:txBody>
                  <a:tcPr anchor="ctr"/>
                </a:tc>
                <a:extLst>
                  <a:ext uri="{0D108BD9-81ED-4DB2-BD59-A6C34878D82A}">
                    <a16:rowId xmlns:a16="http://schemas.microsoft.com/office/drawing/2014/main" val="734356515"/>
                  </a:ext>
                </a:extLst>
              </a:tr>
              <a:tr h="370840">
                <a:tc>
                  <a:txBody>
                    <a:bodyPr/>
                    <a:lstStyle/>
                    <a:p>
                      <a:r>
                        <a:rPr lang="en-GB" b="1"/>
                        <a:t>Best For</a:t>
                      </a:r>
                      <a:endParaRPr lang="en-GB"/>
                    </a:p>
                  </a:txBody>
                  <a:tcPr anchor="ctr"/>
                </a:tc>
                <a:tc>
                  <a:txBody>
                    <a:bodyPr/>
                    <a:lstStyle/>
                    <a:p>
                      <a:r>
                        <a:rPr lang="en-GB" dirty="0"/>
                        <a:t>Early-stage, exploratory testing</a:t>
                      </a:r>
                    </a:p>
                  </a:txBody>
                  <a:tcPr anchor="ctr"/>
                </a:tc>
                <a:tc>
                  <a:txBody>
                    <a:bodyPr/>
                    <a:lstStyle/>
                    <a:p>
                      <a:r>
                        <a:rPr lang="en-GB" dirty="0"/>
                        <a:t>Large-scale, late-stage testing</a:t>
                      </a:r>
                    </a:p>
                  </a:txBody>
                  <a:tcPr anchor="ctr"/>
                </a:tc>
                <a:extLst>
                  <a:ext uri="{0D108BD9-81ED-4DB2-BD59-A6C34878D82A}">
                    <a16:rowId xmlns:a16="http://schemas.microsoft.com/office/drawing/2014/main" val="883207113"/>
                  </a:ext>
                </a:extLst>
              </a:tr>
            </a:tbl>
          </a:graphicData>
        </a:graphic>
      </p:graphicFrame>
      <p:pic>
        <p:nvPicPr>
          <p:cNvPr id="7" name="Picture 6">
            <a:extLst>
              <a:ext uri="{FF2B5EF4-FFF2-40B4-BE49-F238E27FC236}">
                <a16:creationId xmlns:a16="http://schemas.microsoft.com/office/drawing/2014/main" id="{B83C8A89-B0F9-6D19-EE5D-39AA1540241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03572" y="297269"/>
            <a:ext cx="779411" cy="804392"/>
          </a:xfrm>
          <a:prstGeom prst="rect">
            <a:avLst/>
          </a:prstGeom>
        </p:spPr>
      </p:pic>
      <p:sp>
        <p:nvSpPr>
          <p:cNvPr id="10" name="Footer Placeholder 9">
            <a:extLst>
              <a:ext uri="{FF2B5EF4-FFF2-40B4-BE49-F238E27FC236}">
                <a16:creationId xmlns:a16="http://schemas.microsoft.com/office/drawing/2014/main" id="{9397C63E-1A9C-3CAD-D4AC-FC53853DACA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57C03A06-E93A-1A6B-0180-46F2C8316408}"/>
              </a:ext>
            </a:extLst>
          </p:cNvPr>
          <p:cNvSpPr>
            <a:spLocks noGrp="1"/>
          </p:cNvSpPr>
          <p:nvPr>
            <p:ph type="sldNum" sz="quarter" idx="4"/>
          </p:nvPr>
        </p:nvSpPr>
        <p:spPr/>
        <p:txBody>
          <a:bodyPr/>
          <a:lstStyle/>
          <a:p>
            <a:fld id="{9FD7ECCF-50E7-4327-B945-FA93FF7B2BEF}" type="slidenum">
              <a:rPr lang="en-US" smtClean="0"/>
              <a:pPr/>
              <a:t>29</a:t>
            </a:fld>
            <a:r>
              <a:rPr lang="en-GB"/>
              <a:t>/40</a:t>
            </a:r>
            <a:endParaRPr lang="en-US" dirty="0"/>
          </a:p>
        </p:txBody>
      </p:sp>
    </p:spTree>
    <p:extLst>
      <p:ext uri="{BB962C8B-B14F-4D97-AF65-F5344CB8AC3E}">
        <p14:creationId xmlns:p14="http://schemas.microsoft.com/office/powerpoint/2010/main" val="135949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810AA-5D4A-4541-F611-AE96EBDFEC15}"/>
              </a:ext>
            </a:extLst>
          </p:cNvPr>
          <p:cNvSpPr>
            <a:spLocks noGrp="1"/>
          </p:cNvSpPr>
          <p:nvPr>
            <p:ph type="title"/>
          </p:nvPr>
        </p:nvSpPr>
        <p:spPr/>
        <p:txBody>
          <a:bodyPr/>
          <a:lstStyle/>
          <a:p>
            <a:r>
              <a:rPr lang="en-GB" dirty="0"/>
              <a:t>Usability testing methods</a:t>
            </a:r>
          </a:p>
        </p:txBody>
      </p:sp>
      <p:cxnSp>
        <p:nvCxnSpPr>
          <p:cNvPr id="7" name="Straight Connector 6">
            <a:extLst>
              <a:ext uri="{FF2B5EF4-FFF2-40B4-BE49-F238E27FC236}">
                <a16:creationId xmlns:a16="http://schemas.microsoft.com/office/drawing/2014/main" id="{C373ABEE-1A8D-6D5B-9D0A-14BD3F93F33C}"/>
              </a:ext>
            </a:extLst>
          </p:cNvPr>
          <p:cNvCxnSpPr>
            <a:cxnSpLocks/>
          </p:cNvCxnSpPr>
          <p:nvPr/>
        </p:nvCxnSpPr>
        <p:spPr>
          <a:xfrm>
            <a:off x="612648" y="3848100"/>
            <a:ext cx="8153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658C505-BFCE-3B7F-D23D-300C00112FA6}"/>
              </a:ext>
            </a:extLst>
          </p:cNvPr>
          <p:cNvCxnSpPr>
            <a:cxnSpLocks/>
          </p:cNvCxnSpPr>
          <p:nvPr/>
        </p:nvCxnSpPr>
        <p:spPr>
          <a:xfrm>
            <a:off x="4689347" y="1916151"/>
            <a:ext cx="0" cy="36730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81A2283-09A9-401C-FB98-9521A6DFCF2C}"/>
              </a:ext>
            </a:extLst>
          </p:cNvPr>
          <p:cNvSpPr txBox="1"/>
          <p:nvPr/>
        </p:nvSpPr>
        <p:spPr>
          <a:xfrm>
            <a:off x="609600" y="3429000"/>
            <a:ext cx="1365823" cy="369332"/>
          </a:xfrm>
          <a:prstGeom prst="rect">
            <a:avLst/>
          </a:prstGeom>
          <a:noFill/>
        </p:spPr>
        <p:txBody>
          <a:bodyPr wrap="none" rtlCol="0">
            <a:spAutoFit/>
          </a:bodyPr>
          <a:lstStyle/>
          <a:p>
            <a:r>
              <a:rPr lang="en-GB" sz="1800" dirty="0">
                <a:latin typeface="+mn-lt"/>
              </a:rPr>
              <a:t>MODERATED</a:t>
            </a:r>
          </a:p>
        </p:txBody>
      </p:sp>
      <p:sp>
        <p:nvSpPr>
          <p:cNvPr id="14" name="TextBox 13">
            <a:extLst>
              <a:ext uri="{FF2B5EF4-FFF2-40B4-BE49-F238E27FC236}">
                <a16:creationId xmlns:a16="http://schemas.microsoft.com/office/drawing/2014/main" id="{B78FE8AD-5AD5-2D0D-13C9-34D78C0D43FA}"/>
              </a:ext>
            </a:extLst>
          </p:cNvPr>
          <p:cNvSpPr txBox="1"/>
          <p:nvPr/>
        </p:nvSpPr>
        <p:spPr>
          <a:xfrm>
            <a:off x="6573685" y="3441242"/>
            <a:ext cx="1659172" cy="369332"/>
          </a:xfrm>
          <a:prstGeom prst="rect">
            <a:avLst/>
          </a:prstGeom>
          <a:noFill/>
        </p:spPr>
        <p:txBody>
          <a:bodyPr wrap="none" rtlCol="0">
            <a:spAutoFit/>
          </a:bodyPr>
          <a:lstStyle/>
          <a:p>
            <a:r>
              <a:rPr lang="en-GB" sz="1800" dirty="0">
                <a:latin typeface="+mn-lt"/>
              </a:rPr>
              <a:t>UNMODERATED</a:t>
            </a:r>
          </a:p>
        </p:txBody>
      </p:sp>
      <p:sp>
        <p:nvSpPr>
          <p:cNvPr id="15" name="TextBox 14">
            <a:extLst>
              <a:ext uri="{FF2B5EF4-FFF2-40B4-BE49-F238E27FC236}">
                <a16:creationId xmlns:a16="http://schemas.microsoft.com/office/drawing/2014/main" id="{A9FB444F-E35A-DCD4-DBD2-1043A47CA42C}"/>
              </a:ext>
            </a:extLst>
          </p:cNvPr>
          <p:cNvSpPr txBox="1"/>
          <p:nvPr/>
        </p:nvSpPr>
        <p:spPr>
          <a:xfrm>
            <a:off x="4212197" y="1546819"/>
            <a:ext cx="954300" cy="369332"/>
          </a:xfrm>
          <a:prstGeom prst="rect">
            <a:avLst/>
          </a:prstGeom>
          <a:noFill/>
        </p:spPr>
        <p:txBody>
          <a:bodyPr wrap="none" rtlCol="0">
            <a:spAutoFit/>
          </a:bodyPr>
          <a:lstStyle/>
          <a:p>
            <a:r>
              <a:rPr lang="en-GB" sz="1800" dirty="0">
                <a:latin typeface="+mn-lt"/>
              </a:rPr>
              <a:t>REMOTE</a:t>
            </a:r>
          </a:p>
        </p:txBody>
      </p:sp>
      <p:sp>
        <p:nvSpPr>
          <p:cNvPr id="16" name="TextBox 15">
            <a:extLst>
              <a:ext uri="{FF2B5EF4-FFF2-40B4-BE49-F238E27FC236}">
                <a16:creationId xmlns:a16="http://schemas.microsoft.com/office/drawing/2014/main" id="{6033F2B8-846C-4C9C-B16E-15CFDB6322F4}"/>
              </a:ext>
            </a:extLst>
          </p:cNvPr>
          <p:cNvSpPr txBox="1"/>
          <p:nvPr/>
        </p:nvSpPr>
        <p:spPr>
          <a:xfrm>
            <a:off x="4066420" y="5711229"/>
            <a:ext cx="1245854" cy="369332"/>
          </a:xfrm>
          <a:prstGeom prst="rect">
            <a:avLst/>
          </a:prstGeom>
          <a:noFill/>
        </p:spPr>
        <p:txBody>
          <a:bodyPr wrap="none" rtlCol="0">
            <a:spAutoFit/>
          </a:bodyPr>
          <a:lstStyle/>
          <a:p>
            <a:r>
              <a:rPr lang="en-GB" sz="1800" dirty="0">
                <a:latin typeface="+mn-lt"/>
              </a:rPr>
              <a:t>IN-PERSON</a:t>
            </a:r>
          </a:p>
        </p:txBody>
      </p:sp>
      <p:sp>
        <p:nvSpPr>
          <p:cNvPr id="20" name="Oval 19">
            <a:extLst>
              <a:ext uri="{FF2B5EF4-FFF2-40B4-BE49-F238E27FC236}">
                <a16:creationId xmlns:a16="http://schemas.microsoft.com/office/drawing/2014/main" id="{742A7B5A-60DC-FF03-011E-764296DCF18D}"/>
              </a:ext>
            </a:extLst>
          </p:cNvPr>
          <p:cNvSpPr/>
          <p:nvPr/>
        </p:nvSpPr>
        <p:spPr>
          <a:xfrm>
            <a:off x="606272" y="2142357"/>
            <a:ext cx="927268" cy="927268"/>
          </a:xfrm>
          <a:prstGeom prst="ellipse">
            <a:avLst/>
          </a:prstGeom>
          <a:solidFill>
            <a:srgbClr val="FFF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08967685-72EF-0D41-8A6B-B596443A3B65}"/>
              </a:ext>
            </a:extLst>
          </p:cNvPr>
          <p:cNvSpPr txBox="1"/>
          <p:nvPr/>
        </p:nvSpPr>
        <p:spPr>
          <a:xfrm>
            <a:off x="332868" y="2279816"/>
            <a:ext cx="1474076" cy="646331"/>
          </a:xfrm>
          <a:prstGeom prst="rect">
            <a:avLst/>
          </a:prstGeom>
          <a:noFill/>
        </p:spPr>
        <p:txBody>
          <a:bodyPr wrap="square" rtlCol="0">
            <a:spAutoFit/>
          </a:bodyPr>
          <a:lstStyle/>
          <a:p>
            <a:pPr algn="ctr"/>
            <a:r>
              <a:rPr lang="en-GB" sz="1800" dirty="0">
                <a:latin typeface="+mn-lt"/>
              </a:rPr>
              <a:t>Phone/Video Interview</a:t>
            </a:r>
          </a:p>
        </p:txBody>
      </p:sp>
      <p:sp>
        <p:nvSpPr>
          <p:cNvPr id="22" name="Oval 21">
            <a:extLst>
              <a:ext uri="{FF2B5EF4-FFF2-40B4-BE49-F238E27FC236}">
                <a16:creationId xmlns:a16="http://schemas.microsoft.com/office/drawing/2014/main" id="{E8B2472D-CBEF-2705-3EFD-53CBF69EE20F}"/>
              </a:ext>
            </a:extLst>
          </p:cNvPr>
          <p:cNvSpPr/>
          <p:nvPr/>
        </p:nvSpPr>
        <p:spPr>
          <a:xfrm>
            <a:off x="7403273" y="2136793"/>
            <a:ext cx="927268" cy="927268"/>
          </a:xfrm>
          <a:prstGeom prst="ellipse">
            <a:avLst/>
          </a:prstGeom>
          <a:solidFill>
            <a:srgbClr val="FED4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EFF845C3-A99B-21E1-FFF7-5C8DA855B996}"/>
              </a:ext>
            </a:extLst>
          </p:cNvPr>
          <p:cNvSpPr/>
          <p:nvPr/>
        </p:nvSpPr>
        <p:spPr>
          <a:xfrm>
            <a:off x="606272" y="4600178"/>
            <a:ext cx="927268" cy="927268"/>
          </a:xfrm>
          <a:prstGeom prst="ellipse">
            <a:avLst/>
          </a:prstGeom>
          <a:solidFill>
            <a:srgbClr val="D4FE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5B784AF4-703B-EB05-24C5-4C32AFF42E18}"/>
              </a:ext>
            </a:extLst>
          </p:cNvPr>
          <p:cNvSpPr/>
          <p:nvPr/>
        </p:nvSpPr>
        <p:spPr>
          <a:xfrm>
            <a:off x="7403273" y="4594614"/>
            <a:ext cx="927268" cy="927268"/>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ECB1A73B-88AB-D952-4558-70102C5013D8}"/>
              </a:ext>
            </a:extLst>
          </p:cNvPr>
          <p:cNvSpPr/>
          <p:nvPr/>
        </p:nvSpPr>
        <p:spPr>
          <a:xfrm>
            <a:off x="2284094" y="4594614"/>
            <a:ext cx="927268" cy="927268"/>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812CDEC7-47F8-7411-8A2E-3AA37251A7B4}"/>
              </a:ext>
            </a:extLst>
          </p:cNvPr>
          <p:cNvSpPr txBox="1"/>
          <p:nvPr/>
        </p:nvSpPr>
        <p:spPr>
          <a:xfrm>
            <a:off x="332868" y="4735082"/>
            <a:ext cx="1474076" cy="646331"/>
          </a:xfrm>
          <a:prstGeom prst="rect">
            <a:avLst/>
          </a:prstGeom>
          <a:noFill/>
        </p:spPr>
        <p:txBody>
          <a:bodyPr wrap="square" rtlCol="0">
            <a:spAutoFit/>
          </a:bodyPr>
          <a:lstStyle/>
          <a:p>
            <a:pPr algn="ctr"/>
            <a:r>
              <a:rPr lang="en-GB" sz="1800" dirty="0">
                <a:latin typeface="+mn-lt"/>
              </a:rPr>
              <a:t>Lab Usability testing</a:t>
            </a:r>
          </a:p>
        </p:txBody>
      </p:sp>
      <p:sp>
        <p:nvSpPr>
          <p:cNvPr id="27" name="TextBox 26">
            <a:extLst>
              <a:ext uri="{FF2B5EF4-FFF2-40B4-BE49-F238E27FC236}">
                <a16:creationId xmlns:a16="http://schemas.microsoft.com/office/drawing/2014/main" id="{395FA1A8-0EE3-B345-C118-FFD4260A40B3}"/>
              </a:ext>
            </a:extLst>
          </p:cNvPr>
          <p:cNvSpPr txBox="1"/>
          <p:nvPr/>
        </p:nvSpPr>
        <p:spPr>
          <a:xfrm>
            <a:off x="2016397" y="4735082"/>
            <a:ext cx="1474076" cy="646331"/>
          </a:xfrm>
          <a:prstGeom prst="rect">
            <a:avLst/>
          </a:prstGeom>
          <a:noFill/>
        </p:spPr>
        <p:txBody>
          <a:bodyPr wrap="square" rtlCol="0">
            <a:spAutoFit/>
          </a:bodyPr>
          <a:lstStyle/>
          <a:p>
            <a:pPr algn="ctr"/>
            <a:r>
              <a:rPr lang="en-GB" sz="1800" dirty="0" err="1">
                <a:latin typeface="+mn-lt"/>
              </a:rPr>
              <a:t>Querrilla</a:t>
            </a:r>
            <a:r>
              <a:rPr lang="en-GB" sz="1800" dirty="0">
                <a:latin typeface="+mn-lt"/>
              </a:rPr>
              <a:t> Testing</a:t>
            </a:r>
          </a:p>
        </p:txBody>
      </p:sp>
      <p:sp>
        <p:nvSpPr>
          <p:cNvPr id="28" name="TextBox 27">
            <a:extLst>
              <a:ext uri="{FF2B5EF4-FFF2-40B4-BE49-F238E27FC236}">
                <a16:creationId xmlns:a16="http://schemas.microsoft.com/office/drawing/2014/main" id="{BF213481-36BE-C9D9-5017-E69592A9AB02}"/>
              </a:ext>
            </a:extLst>
          </p:cNvPr>
          <p:cNvSpPr txBox="1"/>
          <p:nvPr/>
        </p:nvSpPr>
        <p:spPr>
          <a:xfrm>
            <a:off x="7129869" y="4845237"/>
            <a:ext cx="1474076" cy="369332"/>
          </a:xfrm>
          <a:prstGeom prst="rect">
            <a:avLst/>
          </a:prstGeom>
          <a:noFill/>
        </p:spPr>
        <p:txBody>
          <a:bodyPr wrap="square" rtlCol="0">
            <a:spAutoFit/>
          </a:bodyPr>
          <a:lstStyle/>
          <a:p>
            <a:pPr algn="ctr"/>
            <a:r>
              <a:rPr lang="en-GB" sz="1800" dirty="0">
                <a:latin typeface="+mn-lt"/>
              </a:rPr>
              <a:t>Observation</a:t>
            </a:r>
          </a:p>
        </p:txBody>
      </p:sp>
      <p:sp>
        <p:nvSpPr>
          <p:cNvPr id="29" name="TextBox 28">
            <a:extLst>
              <a:ext uri="{FF2B5EF4-FFF2-40B4-BE49-F238E27FC236}">
                <a16:creationId xmlns:a16="http://schemas.microsoft.com/office/drawing/2014/main" id="{8E60074B-E430-CFA3-13A9-1249A7152150}"/>
              </a:ext>
            </a:extLst>
          </p:cNvPr>
          <p:cNvSpPr txBox="1"/>
          <p:nvPr/>
        </p:nvSpPr>
        <p:spPr>
          <a:xfrm>
            <a:off x="7129869" y="2262819"/>
            <a:ext cx="1474076" cy="646331"/>
          </a:xfrm>
          <a:prstGeom prst="rect">
            <a:avLst/>
          </a:prstGeom>
          <a:noFill/>
        </p:spPr>
        <p:txBody>
          <a:bodyPr wrap="square" rtlCol="0">
            <a:spAutoFit/>
          </a:bodyPr>
          <a:lstStyle/>
          <a:p>
            <a:pPr algn="ctr"/>
            <a:r>
              <a:rPr lang="en-GB" sz="1800" dirty="0">
                <a:latin typeface="+mn-lt"/>
              </a:rPr>
              <a:t>Session Recordings</a:t>
            </a:r>
          </a:p>
        </p:txBody>
      </p:sp>
      <p:sp>
        <p:nvSpPr>
          <p:cNvPr id="30" name="Oval 29">
            <a:extLst>
              <a:ext uri="{FF2B5EF4-FFF2-40B4-BE49-F238E27FC236}">
                <a16:creationId xmlns:a16="http://schemas.microsoft.com/office/drawing/2014/main" id="{C77FB37A-DE8F-9684-6C5B-3F6CB121A719}"/>
              </a:ext>
            </a:extLst>
          </p:cNvPr>
          <p:cNvSpPr/>
          <p:nvPr/>
        </p:nvSpPr>
        <p:spPr>
          <a:xfrm>
            <a:off x="4225713" y="2614869"/>
            <a:ext cx="927268" cy="92726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Arrow: Left-Right 31">
            <a:extLst>
              <a:ext uri="{FF2B5EF4-FFF2-40B4-BE49-F238E27FC236}">
                <a16:creationId xmlns:a16="http://schemas.microsoft.com/office/drawing/2014/main" id="{E3BBE840-F04D-0698-8037-48977C76B9F3}"/>
              </a:ext>
            </a:extLst>
          </p:cNvPr>
          <p:cNvSpPr/>
          <p:nvPr/>
        </p:nvSpPr>
        <p:spPr>
          <a:xfrm>
            <a:off x="3185177" y="2827326"/>
            <a:ext cx="2956248" cy="502353"/>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09E9F263-CAEE-41A3-C241-E4953402CCA9}"/>
              </a:ext>
            </a:extLst>
          </p:cNvPr>
          <p:cNvSpPr txBox="1"/>
          <p:nvPr/>
        </p:nvSpPr>
        <p:spPr>
          <a:xfrm>
            <a:off x="3841217" y="2793038"/>
            <a:ext cx="1771819" cy="646331"/>
          </a:xfrm>
          <a:prstGeom prst="rect">
            <a:avLst/>
          </a:prstGeom>
          <a:noFill/>
        </p:spPr>
        <p:txBody>
          <a:bodyPr wrap="square" rtlCol="0">
            <a:spAutoFit/>
          </a:bodyPr>
          <a:lstStyle/>
          <a:p>
            <a:pPr algn="ctr"/>
            <a:r>
              <a:rPr lang="en-GB" sz="1800" dirty="0">
                <a:latin typeface="+mn-lt"/>
              </a:rPr>
              <a:t>USER TESTING PLATFORMS</a:t>
            </a:r>
          </a:p>
        </p:txBody>
      </p:sp>
      <p:pic>
        <p:nvPicPr>
          <p:cNvPr id="4" name="Picture 3">
            <a:extLst>
              <a:ext uri="{FF2B5EF4-FFF2-40B4-BE49-F238E27FC236}">
                <a16:creationId xmlns:a16="http://schemas.microsoft.com/office/drawing/2014/main" id="{8B2E5A3D-3A6A-57BA-0613-7154009955D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26960" y="3297318"/>
            <a:ext cx="714481" cy="737381"/>
          </a:xfrm>
          <a:prstGeom prst="ellipse">
            <a:avLst/>
          </a:prstGeom>
          <a:ln w="63500" cap="rnd">
            <a:solidFill>
              <a:schemeClr val="accent2">
                <a:lumMod val="7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a:extLst>
              <a:ext uri="{FF2B5EF4-FFF2-40B4-BE49-F238E27FC236}">
                <a16:creationId xmlns:a16="http://schemas.microsoft.com/office/drawing/2014/main" id="{07B3A76E-B31F-948E-EF05-EE7F034C65B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20072" y="1204550"/>
            <a:ext cx="673287" cy="641226"/>
          </a:xfrm>
          <a:prstGeom prst="ellipse">
            <a:avLst/>
          </a:prstGeom>
          <a:ln w="63500" cap="rnd">
            <a:solidFill>
              <a:schemeClr val="accent2">
                <a:lumMod val="7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1" name="Footer Placeholder 10">
            <a:extLst>
              <a:ext uri="{FF2B5EF4-FFF2-40B4-BE49-F238E27FC236}">
                <a16:creationId xmlns:a16="http://schemas.microsoft.com/office/drawing/2014/main" id="{43AA5C59-50FE-B5C9-9076-AB9C0535021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9BAC79E9-A9F8-789D-9791-991722F25D78}"/>
              </a:ext>
            </a:extLst>
          </p:cNvPr>
          <p:cNvSpPr>
            <a:spLocks noGrp="1"/>
          </p:cNvSpPr>
          <p:nvPr>
            <p:ph type="sldNum" sz="quarter" idx="4"/>
          </p:nvPr>
        </p:nvSpPr>
        <p:spPr/>
        <p:txBody>
          <a:bodyPr/>
          <a:lstStyle/>
          <a:p>
            <a:fld id="{9FD7ECCF-50E7-4327-B945-FA93FF7B2BEF}" type="slidenum">
              <a:rPr lang="en-US" smtClean="0"/>
              <a:pPr/>
              <a:t>30</a:t>
            </a:fld>
            <a:r>
              <a:rPr lang="en-GB"/>
              <a:t>/40</a:t>
            </a:r>
            <a:endParaRPr lang="en-US" dirty="0"/>
          </a:p>
        </p:txBody>
      </p:sp>
    </p:spTree>
    <p:extLst>
      <p:ext uri="{BB962C8B-B14F-4D97-AF65-F5344CB8AC3E}">
        <p14:creationId xmlns:p14="http://schemas.microsoft.com/office/powerpoint/2010/main" val="12492876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964A2-7069-E310-D8A4-D83497658490}"/>
              </a:ext>
            </a:extLst>
          </p:cNvPr>
          <p:cNvSpPr>
            <a:spLocks noGrp="1"/>
          </p:cNvSpPr>
          <p:nvPr>
            <p:ph type="title"/>
          </p:nvPr>
        </p:nvSpPr>
        <p:spPr>
          <a:xfrm>
            <a:off x="612648" y="116632"/>
            <a:ext cx="7590924" cy="990600"/>
          </a:xfrm>
        </p:spPr>
        <p:txBody>
          <a:bodyPr>
            <a:normAutofit fontScale="90000"/>
          </a:bodyPr>
          <a:lstStyle/>
          <a:p>
            <a:pPr>
              <a:lnSpc>
                <a:spcPts val="3500"/>
              </a:lnSpc>
            </a:pPr>
            <a:r>
              <a:rPr lang="en-GB" dirty="0"/>
              <a:t>Moderated + in-person usability testing</a:t>
            </a:r>
          </a:p>
        </p:txBody>
      </p:sp>
      <p:sp>
        <p:nvSpPr>
          <p:cNvPr id="3" name="Content Placeholder 2">
            <a:extLst>
              <a:ext uri="{FF2B5EF4-FFF2-40B4-BE49-F238E27FC236}">
                <a16:creationId xmlns:a16="http://schemas.microsoft.com/office/drawing/2014/main" id="{51A5A257-62A4-5D6D-9654-992BF3715693}"/>
              </a:ext>
            </a:extLst>
          </p:cNvPr>
          <p:cNvSpPr>
            <a:spLocks noGrp="1"/>
          </p:cNvSpPr>
          <p:nvPr>
            <p:ph sz="quarter" idx="1"/>
          </p:nvPr>
        </p:nvSpPr>
        <p:spPr>
          <a:xfrm>
            <a:off x="612648" y="1600199"/>
            <a:ext cx="4818921" cy="5013131"/>
          </a:xfrm>
        </p:spPr>
        <p:txBody>
          <a:bodyPr>
            <a:normAutofit fontScale="70000" lnSpcReduction="20000"/>
          </a:bodyPr>
          <a:lstStyle/>
          <a:p>
            <a:r>
              <a:rPr lang="en-GB" b="1" dirty="0"/>
              <a:t>Lab usability testing</a:t>
            </a:r>
          </a:p>
          <a:p>
            <a:pPr lvl="1"/>
            <a:r>
              <a:rPr lang="en-GB" dirty="0"/>
              <a:t>Test takes place in a specially built usability testing lab</a:t>
            </a:r>
          </a:p>
          <a:p>
            <a:pPr lvl="1"/>
            <a:r>
              <a:rPr lang="en-GB" dirty="0"/>
              <a:t>Test subjects complete tasks while a trained moderator observes and asks questions</a:t>
            </a:r>
          </a:p>
          <a:p>
            <a:pPr lvl="1"/>
            <a:r>
              <a:rPr lang="en-GB" sz="2500" dirty="0"/>
              <a:t>Stakeholders can also watch the proceedings and take notes behind a one-way mirror in the testing area</a:t>
            </a:r>
          </a:p>
          <a:p>
            <a:pPr lvl="1"/>
            <a:r>
              <a:rPr lang="en-GB" b="1" dirty="0"/>
              <a:t>Pros</a:t>
            </a:r>
            <a:r>
              <a:rPr lang="en-GB" dirty="0"/>
              <a:t> - </a:t>
            </a:r>
            <a:r>
              <a:rPr lang="en-GB" b="1" dirty="0"/>
              <a:t>control</a:t>
            </a:r>
            <a:r>
              <a:rPr lang="en-GB" dirty="0"/>
              <a:t> - all sessions are run under the same standardised conditions, which makes it especially useful for </a:t>
            </a:r>
            <a:r>
              <a:rPr lang="en-GB" b="1" dirty="0"/>
              <a:t>comparison</a:t>
            </a:r>
            <a:r>
              <a:rPr lang="en-GB" dirty="0"/>
              <a:t> tests</a:t>
            </a:r>
          </a:p>
          <a:p>
            <a:pPr lvl="1"/>
            <a:r>
              <a:rPr lang="en-GB" b="1" dirty="0"/>
              <a:t>Cons</a:t>
            </a:r>
            <a:r>
              <a:rPr lang="en-GB" dirty="0"/>
              <a:t> – </a:t>
            </a:r>
            <a:r>
              <a:rPr lang="en-GB" b="1" dirty="0"/>
              <a:t>cost</a:t>
            </a:r>
            <a:r>
              <a:rPr lang="en-GB" dirty="0"/>
              <a:t> - these tests are expensive and usually based on small population size (8-10 participants per research round) in a controlled environment, which is </a:t>
            </a:r>
            <a:r>
              <a:rPr lang="en-GB" b="1" dirty="0"/>
              <a:t>not necessarily reflective of your actual use </a:t>
            </a:r>
            <a:r>
              <a:rPr lang="en-GB" dirty="0"/>
              <a:t>base and/or real-life use conditions.</a:t>
            </a:r>
          </a:p>
        </p:txBody>
      </p:sp>
      <p:pic>
        <p:nvPicPr>
          <p:cNvPr id="11" name="Picture 10" descr="Lab usability testing user wearing a headset&#10;">
            <a:extLst>
              <a:ext uri="{FF2B5EF4-FFF2-40B4-BE49-F238E27FC236}">
                <a16:creationId xmlns:a16="http://schemas.microsoft.com/office/drawing/2014/main" id="{7D3FF555-3ED7-DC64-BF16-7A1729D58AFB}"/>
              </a:ext>
            </a:extLst>
          </p:cNvPr>
          <p:cNvPicPr>
            <a:picLocks noChangeAspect="1"/>
          </p:cNvPicPr>
          <p:nvPr/>
        </p:nvPicPr>
        <p:blipFill>
          <a:blip r:embed="rId3"/>
          <a:stretch>
            <a:fillRect/>
          </a:stretch>
        </p:blipFill>
        <p:spPr>
          <a:xfrm>
            <a:off x="6030683" y="3890392"/>
            <a:ext cx="2308996" cy="2205608"/>
          </a:xfrm>
          <a:prstGeom prst="rect">
            <a:avLst/>
          </a:prstGeom>
        </p:spPr>
      </p:pic>
      <p:pic>
        <p:nvPicPr>
          <p:cNvPr id="13" name="Picture 12" descr="Lab usability testing&#10;">
            <a:extLst>
              <a:ext uri="{FF2B5EF4-FFF2-40B4-BE49-F238E27FC236}">
                <a16:creationId xmlns:a16="http://schemas.microsoft.com/office/drawing/2014/main" id="{ADCB6178-3D1D-A4AE-AC4E-97549EA68E2E}"/>
              </a:ext>
            </a:extLst>
          </p:cNvPr>
          <p:cNvPicPr>
            <a:picLocks noChangeAspect="1"/>
          </p:cNvPicPr>
          <p:nvPr/>
        </p:nvPicPr>
        <p:blipFill>
          <a:blip r:embed="rId4"/>
          <a:stretch>
            <a:fillRect/>
          </a:stretch>
        </p:blipFill>
        <p:spPr>
          <a:xfrm>
            <a:off x="5431569" y="1746758"/>
            <a:ext cx="3523759" cy="1970274"/>
          </a:xfrm>
          <a:prstGeom prst="rect">
            <a:avLst/>
          </a:prstGeom>
        </p:spPr>
      </p:pic>
      <p:pic>
        <p:nvPicPr>
          <p:cNvPr id="4" name="Picture 3">
            <a:extLst>
              <a:ext uri="{FF2B5EF4-FFF2-40B4-BE49-F238E27FC236}">
                <a16:creationId xmlns:a16="http://schemas.microsoft.com/office/drawing/2014/main" id="{ECDCC71F-7C94-69ED-606A-8930BB46B1AC}"/>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03572" y="297269"/>
            <a:ext cx="779411" cy="804392"/>
          </a:xfrm>
          <a:prstGeom prst="rect">
            <a:avLst/>
          </a:prstGeom>
        </p:spPr>
      </p:pic>
      <p:sp>
        <p:nvSpPr>
          <p:cNvPr id="9" name="Footer Placeholder 8">
            <a:extLst>
              <a:ext uri="{FF2B5EF4-FFF2-40B4-BE49-F238E27FC236}">
                <a16:creationId xmlns:a16="http://schemas.microsoft.com/office/drawing/2014/main" id="{AD2C6ABA-3420-0712-1DC0-FADE873EE94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6A219E1D-1AEE-E6E7-B343-8D00B5222486}"/>
              </a:ext>
            </a:extLst>
          </p:cNvPr>
          <p:cNvSpPr>
            <a:spLocks noGrp="1"/>
          </p:cNvSpPr>
          <p:nvPr>
            <p:ph type="sldNum" sz="quarter" idx="4"/>
          </p:nvPr>
        </p:nvSpPr>
        <p:spPr/>
        <p:txBody>
          <a:bodyPr/>
          <a:lstStyle/>
          <a:p>
            <a:fld id="{9FD7ECCF-50E7-4327-B945-FA93FF7B2BEF}" type="slidenum">
              <a:rPr lang="en-US" smtClean="0"/>
              <a:pPr/>
              <a:t>31</a:t>
            </a:fld>
            <a:r>
              <a:rPr lang="en-GB"/>
              <a:t>/40</a:t>
            </a:r>
            <a:endParaRPr lang="en-US" dirty="0"/>
          </a:p>
        </p:txBody>
      </p:sp>
    </p:spTree>
    <p:extLst>
      <p:ext uri="{BB962C8B-B14F-4D97-AF65-F5344CB8AC3E}">
        <p14:creationId xmlns:p14="http://schemas.microsoft.com/office/powerpoint/2010/main" val="28848504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A5A257-62A4-5D6D-9654-992BF3715693}"/>
              </a:ext>
            </a:extLst>
          </p:cNvPr>
          <p:cNvSpPr>
            <a:spLocks noGrp="1"/>
          </p:cNvSpPr>
          <p:nvPr>
            <p:ph sz="quarter" idx="1"/>
          </p:nvPr>
        </p:nvSpPr>
        <p:spPr>
          <a:xfrm>
            <a:off x="612648" y="1600200"/>
            <a:ext cx="5039472" cy="4925144"/>
          </a:xfrm>
        </p:spPr>
        <p:txBody>
          <a:bodyPr>
            <a:normAutofit fontScale="77500" lnSpcReduction="20000"/>
          </a:bodyPr>
          <a:lstStyle/>
          <a:p>
            <a:r>
              <a:rPr lang="en-GB" b="1" dirty="0"/>
              <a:t>Guerrilla testing </a:t>
            </a:r>
          </a:p>
          <a:p>
            <a:pPr lvl="1"/>
            <a:r>
              <a:rPr lang="en-GB" dirty="0"/>
              <a:t>Test </a:t>
            </a:r>
            <a:r>
              <a:rPr lang="en-GB" b="1" dirty="0"/>
              <a:t>subjects are chosen at random from a public place</a:t>
            </a:r>
            <a:r>
              <a:rPr lang="en-GB" dirty="0"/>
              <a:t>, usually a coffee shop, mall, or airport. They are asked to perform a quick usability test, often in exchange for a gift card or other incentive.</a:t>
            </a:r>
          </a:p>
          <a:p>
            <a:pPr lvl="1"/>
            <a:r>
              <a:rPr lang="en-GB" b="1" dirty="0"/>
              <a:t>Pros</a:t>
            </a:r>
            <a:r>
              <a:rPr lang="en-GB" dirty="0"/>
              <a:t>:</a:t>
            </a:r>
          </a:p>
          <a:p>
            <a:pPr lvl="2"/>
            <a:r>
              <a:rPr lang="en-GB" dirty="0"/>
              <a:t>Test </a:t>
            </a:r>
            <a:r>
              <a:rPr lang="en-GB" b="1" dirty="0"/>
              <a:t>a wide cross-section of people </a:t>
            </a:r>
            <a:r>
              <a:rPr lang="en-GB" dirty="0"/>
              <a:t>who may have no history with a product.</a:t>
            </a:r>
          </a:p>
          <a:p>
            <a:pPr lvl="2"/>
            <a:r>
              <a:rPr lang="en-GB" dirty="0"/>
              <a:t>Offer a quick way to </a:t>
            </a:r>
            <a:r>
              <a:rPr lang="en-GB" b="1" dirty="0"/>
              <a:t>collect large amounts of data</a:t>
            </a:r>
            <a:r>
              <a:rPr lang="en-GB" dirty="0"/>
              <a:t> that validate certain design elements or functionality</a:t>
            </a:r>
          </a:p>
          <a:p>
            <a:pPr marL="628650" lvl="1" indent="-261938"/>
            <a:r>
              <a:rPr lang="en-GB" b="1" dirty="0"/>
              <a:t>Cons</a:t>
            </a:r>
            <a:r>
              <a:rPr lang="en-GB" dirty="0"/>
              <a:t> - not a good method for extensive 	testing or follow-ups, as people are 	usually reluctant or unable to give up 	more than 5-10 minutes of their time.</a:t>
            </a:r>
          </a:p>
        </p:txBody>
      </p:sp>
      <p:pic>
        <p:nvPicPr>
          <p:cNvPr id="9" name="Picture 8" descr="Guerrilla testing &#10;">
            <a:extLst>
              <a:ext uri="{FF2B5EF4-FFF2-40B4-BE49-F238E27FC236}">
                <a16:creationId xmlns:a16="http://schemas.microsoft.com/office/drawing/2014/main" id="{FFA2E80F-FA8E-D7FE-CB29-E1D68E0191AD}"/>
              </a:ext>
            </a:extLst>
          </p:cNvPr>
          <p:cNvPicPr>
            <a:picLocks noChangeAspect="1"/>
          </p:cNvPicPr>
          <p:nvPr/>
        </p:nvPicPr>
        <p:blipFill>
          <a:blip r:embed="rId3"/>
          <a:stretch>
            <a:fillRect/>
          </a:stretch>
        </p:blipFill>
        <p:spPr>
          <a:xfrm>
            <a:off x="5756785" y="1739289"/>
            <a:ext cx="2774567" cy="1994414"/>
          </a:xfrm>
          <a:prstGeom prst="rect">
            <a:avLst/>
          </a:prstGeom>
        </p:spPr>
      </p:pic>
      <p:pic>
        <p:nvPicPr>
          <p:cNvPr id="4" name="Picture 3">
            <a:extLst>
              <a:ext uri="{FF2B5EF4-FFF2-40B4-BE49-F238E27FC236}">
                <a16:creationId xmlns:a16="http://schemas.microsoft.com/office/drawing/2014/main" id="{7D703C29-DB6B-9BF6-3903-D07356F8945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03572" y="297269"/>
            <a:ext cx="779411" cy="804392"/>
          </a:xfrm>
          <a:prstGeom prst="rect">
            <a:avLst/>
          </a:prstGeom>
        </p:spPr>
      </p:pic>
      <p:sp>
        <p:nvSpPr>
          <p:cNvPr id="10" name="Title 1">
            <a:extLst>
              <a:ext uri="{FF2B5EF4-FFF2-40B4-BE49-F238E27FC236}">
                <a16:creationId xmlns:a16="http://schemas.microsoft.com/office/drawing/2014/main" id="{539C99DD-1A97-4CCF-1C65-81A198DF63C5}"/>
              </a:ext>
            </a:extLst>
          </p:cNvPr>
          <p:cNvSpPr>
            <a:spLocks noGrp="1"/>
          </p:cNvSpPr>
          <p:nvPr>
            <p:ph type="title"/>
          </p:nvPr>
        </p:nvSpPr>
        <p:spPr>
          <a:xfrm>
            <a:off x="612648" y="116632"/>
            <a:ext cx="7590924" cy="990600"/>
          </a:xfrm>
        </p:spPr>
        <p:txBody>
          <a:bodyPr>
            <a:normAutofit fontScale="90000"/>
          </a:bodyPr>
          <a:lstStyle/>
          <a:p>
            <a:pPr>
              <a:lnSpc>
                <a:spcPts val="3500"/>
              </a:lnSpc>
            </a:pPr>
            <a:r>
              <a:rPr lang="en-GB" dirty="0"/>
              <a:t>Moderated + in-person usability testing</a:t>
            </a:r>
          </a:p>
        </p:txBody>
      </p:sp>
      <p:sp>
        <p:nvSpPr>
          <p:cNvPr id="8" name="Footer Placeholder 7">
            <a:extLst>
              <a:ext uri="{FF2B5EF4-FFF2-40B4-BE49-F238E27FC236}">
                <a16:creationId xmlns:a16="http://schemas.microsoft.com/office/drawing/2014/main" id="{262A8CB0-C59C-069F-41C5-EDE1B3774F7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E7948B87-E613-F3E8-D78D-8E7EC7EA9C9A}"/>
              </a:ext>
            </a:extLst>
          </p:cNvPr>
          <p:cNvSpPr>
            <a:spLocks noGrp="1"/>
          </p:cNvSpPr>
          <p:nvPr>
            <p:ph type="sldNum" sz="quarter" idx="4"/>
          </p:nvPr>
        </p:nvSpPr>
        <p:spPr/>
        <p:txBody>
          <a:bodyPr/>
          <a:lstStyle/>
          <a:p>
            <a:fld id="{9FD7ECCF-50E7-4327-B945-FA93FF7B2BEF}" type="slidenum">
              <a:rPr lang="en-US" smtClean="0"/>
              <a:pPr/>
              <a:t>32</a:t>
            </a:fld>
            <a:r>
              <a:rPr lang="en-GB"/>
              <a:t>/40</a:t>
            </a:r>
            <a:endParaRPr lang="en-US" dirty="0"/>
          </a:p>
        </p:txBody>
      </p:sp>
    </p:spTree>
    <p:extLst>
      <p:ext uri="{BB962C8B-B14F-4D97-AF65-F5344CB8AC3E}">
        <p14:creationId xmlns:p14="http://schemas.microsoft.com/office/powerpoint/2010/main" val="15262751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964A2-7069-E310-D8A4-D83497658490}"/>
              </a:ext>
            </a:extLst>
          </p:cNvPr>
          <p:cNvSpPr>
            <a:spLocks noGrp="1"/>
          </p:cNvSpPr>
          <p:nvPr>
            <p:ph type="title"/>
          </p:nvPr>
        </p:nvSpPr>
        <p:spPr>
          <a:xfrm>
            <a:off x="612648" y="116632"/>
            <a:ext cx="7590924" cy="990600"/>
          </a:xfrm>
        </p:spPr>
        <p:txBody>
          <a:bodyPr>
            <a:normAutofit fontScale="90000"/>
          </a:bodyPr>
          <a:lstStyle/>
          <a:p>
            <a:pPr>
              <a:lnSpc>
                <a:spcPts val="3500"/>
              </a:lnSpc>
            </a:pPr>
            <a:r>
              <a:rPr lang="en-GB" dirty="0"/>
              <a:t>Moderated + remote usability testing</a:t>
            </a:r>
          </a:p>
        </p:txBody>
      </p:sp>
      <p:sp>
        <p:nvSpPr>
          <p:cNvPr id="3" name="Content Placeholder 2">
            <a:extLst>
              <a:ext uri="{FF2B5EF4-FFF2-40B4-BE49-F238E27FC236}">
                <a16:creationId xmlns:a16="http://schemas.microsoft.com/office/drawing/2014/main" id="{51A5A257-62A4-5D6D-9654-992BF3715693}"/>
              </a:ext>
            </a:extLst>
          </p:cNvPr>
          <p:cNvSpPr>
            <a:spLocks noGrp="1"/>
          </p:cNvSpPr>
          <p:nvPr>
            <p:ph sz="quarter" idx="1"/>
          </p:nvPr>
        </p:nvSpPr>
        <p:spPr>
          <a:xfrm>
            <a:off x="612648" y="1557443"/>
            <a:ext cx="8351840" cy="1684784"/>
          </a:xfrm>
        </p:spPr>
        <p:txBody>
          <a:bodyPr>
            <a:normAutofit fontScale="62500" lnSpcReduction="20000"/>
          </a:bodyPr>
          <a:lstStyle/>
          <a:p>
            <a:pPr>
              <a:lnSpc>
                <a:spcPct val="120000"/>
              </a:lnSpc>
              <a:spcBef>
                <a:spcPts val="600"/>
              </a:spcBef>
              <a:spcAft>
                <a:spcPts val="600"/>
              </a:spcAft>
            </a:pPr>
            <a:r>
              <a:rPr lang="en-GB" b="1" dirty="0"/>
              <a:t>Phone interviews </a:t>
            </a:r>
            <a:r>
              <a:rPr lang="en-GB" dirty="0"/>
              <a:t>- a moderator verbally instructs participants to complete tasks on their computer and collects feedback while the user's electronic behaviour is recorded remotely.</a:t>
            </a:r>
          </a:p>
          <a:p>
            <a:pPr lvl="1">
              <a:lnSpc>
                <a:spcPct val="120000"/>
              </a:lnSpc>
              <a:spcBef>
                <a:spcPts val="600"/>
              </a:spcBef>
            </a:pPr>
            <a:r>
              <a:rPr lang="en-GB" b="1" dirty="0"/>
              <a:t>Pros</a:t>
            </a:r>
            <a:r>
              <a:rPr lang="en-GB" dirty="0"/>
              <a:t> - an economical way to test users in a wide geographical area</a:t>
            </a:r>
          </a:p>
          <a:p>
            <a:pPr lvl="1">
              <a:lnSpc>
                <a:spcPct val="120000"/>
              </a:lnSpc>
              <a:spcBef>
                <a:spcPts val="600"/>
              </a:spcBef>
            </a:pPr>
            <a:r>
              <a:rPr lang="en-GB" b="1" dirty="0"/>
              <a:t>Pros</a:t>
            </a:r>
            <a:r>
              <a:rPr lang="en-GB" dirty="0"/>
              <a:t> - help collect more data in a shorter period.</a:t>
            </a:r>
          </a:p>
        </p:txBody>
      </p:sp>
      <p:pic>
        <p:nvPicPr>
          <p:cNvPr id="7" name="Picture 6" descr="Card sorting ">
            <a:extLst>
              <a:ext uri="{FF2B5EF4-FFF2-40B4-BE49-F238E27FC236}">
                <a16:creationId xmlns:a16="http://schemas.microsoft.com/office/drawing/2014/main" id="{FAE609C6-F938-A098-FDD6-E08E747F2ED4}"/>
              </a:ext>
            </a:extLst>
          </p:cNvPr>
          <p:cNvPicPr>
            <a:picLocks noChangeAspect="1"/>
          </p:cNvPicPr>
          <p:nvPr/>
        </p:nvPicPr>
        <p:blipFill>
          <a:blip r:embed="rId3"/>
          <a:stretch>
            <a:fillRect/>
          </a:stretch>
        </p:blipFill>
        <p:spPr>
          <a:xfrm>
            <a:off x="6084168" y="4077072"/>
            <a:ext cx="2730796" cy="1739086"/>
          </a:xfrm>
          <a:prstGeom prst="rect">
            <a:avLst/>
          </a:prstGeom>
        </p:spPr>
      </p:pic>
      <p:sp>
        <p:nvSpPr>
          <p:cNvPr id="8" name="Content Placeholder 2">
            <a:extLst>
              <a:ext uri="{FF2B5EF4-FFF2-40B4-BE49-F238E27FC236}">
                <a16:creationId xmlns:a16="http://schemas.microsoft.com/office/drawing/2014/main" id="{68F08B60-3F02-F43F-0A38-34CF07F5E31B}"/>
              </a:ext>
            </a:extLst>
          </p:cNvPr>
          <p:cNvSpPr txBox="1">
            <a:spLocks/>
          </p:cNvSpPr>
          <p:nvPr/>
        </p:nvSpPr>
        <p:spPr>
          <a:xfrm>
            <a:off x="609600" y="3379560"/>
            <a:ext cx="5328592" cy="3145784"/>
          </a:xfrm>
          <a:prstGeom prst="rect">
            <a:avLst/>
          </a:prstGeom>
        </p:spPr>
        <p:txBody>
          <a:bodyPr vert="horz">
            <a:normAutofit fontScale="475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lnSpc>
                <a:spcPct val="120000"/>
              </a:lnSpc>
              <a:spcBef>
                <a:spcPts val="600"/>
              </a:spcBef>
              <a:spcAft>
                <a:spcPts val="600"/>
              </a:spcAft>
            </a:pPr>
            <a:r>
              <a:rPr lang="en-GB" sz="3300" b="1" dirty="0"/>
              <a:t>Card sorting </a:t>
            </a:r>
            <a:r>
              <a:rPr lang="en-GB" sz="3300" dirty="0"/>
              <a:t>involves placing concepts on virtual note cards and allowing participants to manipulate the cards into groups and categories. After they sort the cards, they explain their logic in a moderator-run debriefing session.</a:t>
            </a:r>
          </a:p>
          <a:p>
            <a:pPr lvl="1" fontAlgn="auto">
              <a:lnSpc>
                <a:spcPct val="120000"/>
              </a:lnSpc>
              <a:spcBef>
                <a:spcPts val="600"/>
              </a:spcBef>
              <a:spcAft>
                <a:spcPts val="0"/>
              </a:spcAft>
            </a:pPr>
            <a:r>
              <a:rPr lang="en-GB" sz="3400" b="1" dirty="0"/>
              <a:t>Pros</a:t>
            </a:r>
            <a:r>
              <a:rPr lang="en-GB" sz="3400" dirty="0"/>
              <a:t> - a great method to get feedback about layout and navigational structure. </a:t>
            </a:r>
          </a:p>
          <a:p>
            <a:pPr lvl="1" fontAlgn="auto">
              <a:lnSpc>
                <a:spcPct val="120000"/>
              </a:lnSpc>
              <a:spcBef>
                <a:spcPts val="600"/>
              </a:spcBef>
              <a:spcAft>
                <a:spcPts val="0"/>
              </a:spcAft>
            </a:pPr>
            <a:r>
              <a:rPr lang="en-GB" sz="3400" dirty="0"/>
              <a:t>It shows designers and product managers how people and potential customers naturally organize information, which can help make a product (website) more intuitive to navigate.</a:t>
            </a:r>
          </a:p>
        </p:txBody>
      </p:sp>
      <p:pic>
        <p:nvPicPr>
          <p:cNvPr id="4" name="Picture 3">
            <a:extLst>
              <a:ext uri="{FF2B5EF4-FFF2-40B4-BE49-F238E27FC236}">
                <a16:creationId xmlns:a16="http://schemas.microsoft.com/office/drawing/2014/main" id="{37726361-8E07-FE16-9401-B28947E81CB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03572" y="297269"/>
            <a:ext cx="779411" cy="804392"/>
          </a:xfrm>
          <a:prstGeom prst="rect">
            <a:avLst/>
          </a:prstGeom>
        </p:spPr>
      </p:pic>
      <p:sp>
        <p:nvSpPr>
          <p:cNvPr id="11" name="Footer Placeholder 10">
            <a:extLst>
              <a:ext uri="{FF2B5EF4-FFF2-40B4-BE49-F238E27FC236}">
                <a16:creationId xmlns:a16="http://schemas.microsoft.com/office/drawing/2014/main" id="{510A49B0-20E6-4CDC-31E0-63EAE5C1B28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BB4760B5-3A6F-66F8-54FE-7746C49AC844}"/>
              </a:ext>
            </a:extLst>
          </p:cNvPr>
          <p:cNvSpPr>
            <a:spLocks noGrp="1"/>
          </p:cNvSpPr>
          <p:nvPr>
            <p:ph type="sldNum" sz="quarter" idx="4"/>
          </p:nvPr>
        </p:nvSpPr>
        <p:spPr/>
        <p:txBody>
          <a:bodyPr/>
          <a:lstStyle/>
          <a:p>
            <a:fld id="{9FD7ECCF-50E7-4327-B945-FA93FF7B2BEF}" type="slidenum">
              <a:rPr lang="en-US" smtClean="0"/>
              <a:pPr/>
              <a:t>33</a:t>
            </a:fld>
            <a:r>
              <a:rPr lang="en-GB"/>
              <a:t>/40</a:t>
            </a:r>
            <a:endParaRPr lang="en-US" dirty="0"/>
          </a:p>
        </p:txBody>
      </p:sp>
    </p:spTree>
    <p:extLst>
      <p:ext uri="{BB962C8B-B14F-4D97-AF65-F5344CB8AC3E}">
        <p14:creationId xmlns:p14="http://schemas.microsoft.com/office/powerpoint/2010/main" val="2265659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C199C-556B-83C5-4339-9504B84A1F08}"/>
              </a:ext>
            </a:extLst>
          </p:cNvPr>
          <p:cNvSpPr>
            <a:spLocks noGrp="1"/>
          </p:cNvSpPr>
          <p:nvPr>
            <p:ph type="title"/>
          </p:nvPr>
        </p:nvSpPr>
        <p:spPr/>
        <p:txBody>
          <a:bodyPr/>
          <a:lstStyle/>
          <a:p>
            <a:r>
              <a:rPr lang="en-GB" dirty="0"/>
              <a:t> Unmoderated + remote</a:t>
            </a:r>
          </a:p>
        </p:txBody>
      </p:sp>
      <p:sp>
        <p:nvSpPr>
          <p:cNvPr id="3" name="Content Placeholder 2">
            <a:extLst>
              <a:ext uri="{FF2B5EF4-FFF2-40B4-BE49-F238E27FC236}">
                <a16:creationId xmlns:a16="http://schemas.microsoft.com/office/drawing/2014/main" id="{0C86352C-9393-C2E2-0A02-87C5FB7FFC7C}"/>
              </a:ext>
            </a:extLst>
          </p:cNvPr>
          <p:cNvSpPr>
            <a:spLocks noGrp="1"/>
          </p:cNvSpPr>
          <p:nvPr>
            <p:ph sz="quarter" idx="1"/>
          </p:nvPr>
        </p:nvSpPr>
        <p:spPr>
          <a:xfrm>
            <a:off x="612648" y="1600200"/>
            <a:ext cx="3959352" cy="4648006"/>
          </a:xfrm>
        </p:spPr>
        <p:txBody>
          <a:bodyPr>
            <a:normAutofit lnSpcReduction="10000"/>
          </a:bodyPr>
          <a:lstStyle/>
          <a:p>
            <a:pPr>
              <a:spcBef>
                <a:spcPts val="1200"/>
              </a:spcBef>
              <a:spcAft>
                <a:spcPts val="600"/>
              </a:spcAft>
            </a:pPr>
            <a:r>
              <a:rPr lang="en-GB" sz="2000" b="1" i="0" dirty="0">
                <a:effectLst/>
              </a:rPr>
              <a:t>Session recordings </a:t>
            </a:r>
            <a:r>
              <a:rPr lang="en-GB" sz="2000" b="0" i="0" dirty="0">
                <a:effectLst/>
              </a:rPr>
              <a:t>use software to record the actions that “real” people take on a digital product such as mouse clicks, movement, and scrolling.</a:t>
            </a:r>
          </a:p>
          <a:p>
            <a:pPr>
              <a:spcBef>
                <a:spcPts val="1200"/>
              </a:spcBef>
              <a:spcAft>
                <a:spcPts val="600"/>
              </a:spcAft>
            </a:pPr>
            <a:r>
              <a:rPr lang="en-GB" sz="2000" b="1" i="0" dirty="0">
                <a:effectLst/>
              </a:rPr>
              <a:t>Pros - spot major problems</a:t>
            </a:r>
            <a:r>
              <a:rPr lang="en-GB" sz="2000" b="0" i="0" dirty="0">
                <a:effectLst/>
              </a:rPr>
              <a:t> with the intended functionality of the digital product, watch how people interact with its UI elements such as menus and Calls-to-Action (CTAs), and see places where they stumble, </a:t>
            </a:r>
            <a:r>
              <a:rPr lang="en-GB" sz="2000" b="0" i="0" dirty="0" err="1">
                <a:effectLst/>
              </a:rPr>
              <a:t>u-turn</a:t>
            </a:r>
            <a:r>
              <a:rPr lang="en-GB" sz="2000" b="0" i="0" dirty="0">
                <a:effectLst/>
              </a:rPr>
              <a:t> (go back to a previous page quickly after landing on a new one), or completely leave.</a:t>
            </a:r>
            <a:endParaRPr lang="en-GB" sz="2000" dirty="0"/>
          </a:p>
        </p:txBody>
      </p:sp>
      <p:pic>
        <p:nvPicPr>
          <p:cNvPr id="6" name="Picture 5" descr="Link to article">
            <a:hlinkClick r:id="rId5"/>
            <a:extLst>
              <a:ext uri="{FF2B5EF4-FFF2-40B4-BE49-F238E27FC236}">
                <a16:creationId xmlns:a16="http://schemas.microsoft.com/office/drawing/2014/main" id="{D415F4D3-E871-5FA6-23D9-DF7F4261B2A7}"/>
              </a:ext>
            </a:extLst>
          </p:cNvPr>
          <p:cNvPicPr>
            <a:picLocks noChangeAspect="1"/>
          </p:cNvPicPr>
          <p:nvPr/>
        </p:nvPicPr>
        <p:blipFill>
          <a:blip r:embed="rId6"/>
          <a:stretch>
            <a:fillRect/>
          </a:stretch>
        </p:blipFill>
        <p:spPr>
          <a:xfrm>
            <a:off x="8147900" y="1988840"/>
            <a:ext cx="766904" cy="748350"/>
          </a:xfrm>
          <a:prstGeom prst="rect">
            <a:avLst/>
          </a:prstGeom>
        </p:spPr>
      </p:pic>
      <p:pic>
        <p:nvPicPr>
          <p:cNvPr id="7" name="recordings-demo" descr="and Calls-to-Action (CTAs)">
            <a:hlinkClick r:id="" action="ppaction://media"/>
            <a:extLst>
              <a:ext uri="{FF2B5EF4-FFF2-40B4-BE49-F238E27FC236}">
                <a16:creationId xmlns:a16="http://schemas.microsoft.com/office/drawing/2014/main" id="{086F0E8C-AE1F-3F2A-DCAD-3DD08D20C53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744537" y="3140968"/>
            <a:ext cx="4170267" cy="2777282"/>
          </a:xfrm>
          <a:prstGeom prst="rect">
            <a:avLst/>
          </a:prstGeom>
        </p:spPr>
      </p:pic>
      <p:pic>
        <p:nvPicPr>
          <p:cNvPr id="4" name="Picture 3">
            <a:extLst>
              <a:ext uri="{FF2B5EF4-FFF2-40B4-BE49-F238E27FC236}">
                <a16:creationId xmlns:a16="http://schemas.microsoft.com/office/drawing/2014/main" id="{6BCB2A48-EDFB-4861-6D63-9F88BF5022F9}"/>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203572" y="297269"/>
            <a:ext cx="779411" cy="804392"/>
          </a:xfrm>
          <a:prstGeom prst="rect">
            <a:avLst/>
          </a:prstGeom>
        </p:spPr>
      </p:pic>
      <p:sp>
        <p:nvSpPr>
          <p:cNvPr id="11" name="Footer Placeholder 10">
            <a:extLst>
              <a:ext uri="{FF2B5EF4-FFF2-40B4-BE49-F238E27FC236}">
                <a16:creationId xmlns:a16="http://schemas.microsoft.com/office/drawing/2014/main" id="{DCF355A3-A995-8A3D-1A84-80C1C712893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E62FAF18-4D55-5A89-B007-0784426B168A}"/>
              </a:ext>
            </a:extLst>
          </p:cNvPr>
          <p:cNvSpPr>
            <a:spLocks noGrp="1"/>
          </p:cNvSpPr>
          <p:nvPr>
            <p:ph type="sldNum" sz="quarter" idx="4"/>
          </p:nvPr>
        </p:nvSpPr>
        <p:spPr/>
        <p:txBody>
          <a:bodyPr/>
          <a:lstStyle/>
          <a:p>
            <a:fld id="{9FD7ECCF-50E7-4327-B945-FA93FF7B2BEF}" type="slidenum">
              <a:rPr lang="en-US" smtClean="0"/>
              <a:pPr/>
              <a:t>34</a:t>
            </a:fld>
            <a:r>
              <a:rPr lang="en-GB"/>
              <a:t>/40</a:t>
            </a:r>
            <a:endParaRPr lang="en-US" dirty="0"/>
          </a:p>
        </p:txBody>
      </p:sp>
    </p:spTree>
    <p:extLst>
      <p:ext uri="{BB962C8B-B14F-4D97-AF65-F5344CB8AC3E}">
        <p14:creationId xmlns:p14="http://schemas.microsoft.com/office/powerpoint/2010/main" val="367595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8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C199C-556B-83C5-4339-9504B84A1F08}"/>
              </a:ext>
            </a:extLst>
          </p:cNvPr>
          <p:cNvSpPr>
            <a:spLocks noGrp="1"/>
          </p:cNvSpPr>
          <p:nvPr>
            <p:ph type="title"/>
          </p:nvPr>
        </p:nvSpPr>
        <p:spPr/>
        <p:txBody>
          <a:bodyPr/>
          <a:lstStyle/>
          <a:p>
            <a:r>
              <a:rPr lang="en-GB" dirty="0"/>
              <a:t> Unmoderated + in-person</a:t>
            </a:r>
          </a:p>
        </p:txBody>
      </p:sp>
      <p:sp>
        <p:nvSpPr>
          <p:cNvPr id="3" name="Content Placeholder 2">
            <a:extLst>
              <a:ext uri="{FF2B5EF4-FFF2-40B4-BE49-F238E27FC236}">
                <a16:creationId xmlns:a16="http://schemas.microsoft.com/office/drawing/2014/main" id="{0C86352C-9393-C2E2-0A02-87C5FB7FFC7C}"/>
              </a:ext>
            </a:extLst>
          </p:cNvPr>
          <p:cNvSpPr>
            <a:spLocks noGrp="1"/>
          </p:cNvSpPr>
          <p:nvPr>
            <p:ph sz="quarter" idx="1"/>
          </p:nvPr>
        </p:nvSpPr>
        <p:spPr>
          <a:xfrm>
            <a:off x="612648" y="1600200"/>
            <a:ext cx="7921752" cy="4648006"/>
          </a:xfrm>
        </p:spPr>
        <p:txBody>
          <a:bodyPr>
            <a:normAutofit/>
          </a:bodyPr>
          <a:lstStyle/>
          <a:p>
            <a:pPr>
              <a:spcBef>
                <a:spcPts val="1200"/>
              </a:spcBef>
            </a:pPr>
            <a:r>
              <a:rPr lang="en-GB" sz="2000" b="1" i="0" dirty="0">
                <a:effectLst/>
              </a:rPr>
              <a:t>Observation </a:t>
            </a:r>
            <a:r>
              <a:rPr lang="en-GB" sz="2000" i="0" dirty="0">
                <a:effectLst/>
              </a:rPr>
              <a:t>- the researchers watch participants run through a set of instructions in a lab</a:t>
            </a:r>
            <a:r>
              <a:rPr lang="en-GB" sz="2000" i="0" u="sng" dirty="0">
                <a:effectLst/>
              </a:rPr>
              <a:t>, but they do not participate</a:t>
            </a:r>
            <a:r>
              <a:rPr lang="en-GB" sz="2000" i="0" dirty="0">
                <a:effectLst/>
              </a:rPr>
              <a:t>. They may interject if a participant gets stuck, but otherwise, they remain quiet and concentrate on taking notes.</a:t>
            </a:r>
          </a:p>
          <a:p>
            <a:pPr>
              <a:spcBef>
                <a:spcPts val="1200"/>
              </a:spcBef>
            </a:pPr>
            <a:r>
              <a:rPr lang="en-GB" sz="2000" b="1" i="0" dirty="0">
                <a:effectLst/>
              </a:rPr>
              <a:t>Pros</a:t>
            </a:r>
            <a:r>
              <a:rPr lang="en-GB" sz="2000" i="0" dirty="0">
                <a:effectLst/>
              </a:rPr>
              <a:t> – it allows researchers to see the body language and facial expressions of participants without </a:t>
            </a:r>
            <a:r>
              <a:rPr lang="en-GB" sz="2000" b="1" i="0" dirty="0">
                <a:effectLst/>
              </a:rPr>
              <a:t>interference from a moderator.</a:t>
            </a:r>
            <a:endParaRPr lang="en-GB" sz="2000" dirty="0"/>
          </a:p>
        </p:txBody>
      </p:sp>
      <p:pic>
        <p:nvPicPr>
          <p:cNvPr id="4" name="Picture 3">
            <a:extLst>
              <a:ext uri="{FF2B5EF4-FFF2-40B4-BE49-F238E27FC236}">
                <a16:creationId xmlns:a16="http://schemas.microsoft.com/office/drawing/2014/main" id="{F18F2BE6-C7E2-536B-53F6-A3213119942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03572" y="297269"/>
            <a:ext cx="779411" cy="804392"/>
          </a:xfrm>
          <a:prstGeom prst="rect">
            <a:avLst/>
          </a:prstGeom>
        </p:spPr>
      </p:pic>
      <p:sp>
        <p:nvSpPr>
          <p:cNvPr id="9" name="Footer Placeholder 8">
            <a:extLst>
              <a:ext uri="{FF2B5EF4-FFF2-40B4-BE49-F238E27FC236}">
                <a16:creationId xmlns:a16="http://schemas.microsoft.com/office/drawing/2014/main" id="{C7987C07-2686-1B9B-8C4B-8AAD46277D2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380D58C7-5323-506A-9611-04E35FBC5C80}"/>
              </a:ext>
            </a:extLst>
          </p:cNvPr>
          <p:cNvSpPr>
            <a:spLocks noGrp="1"/>
          </p:cNvSpPr>
          <p:nvPr>
            <p:ph type="sldNum" sz="quarter" idx="4"/>
          </p:nvPr>
        </p:nvSpPr>
        <p:spPr/>
        <p:txBody>
          <a:bodyPr/>
          <a:lstStyle/>
          <a:p>
            <a:fld id="{9FD7ECCF-50E7-4327-B945-FA93FF7B2BEF}" type="slidenum">
              <a:rPr lang="en-US" smtClean="0"/>
              <a:pPr/>
              <a:t>35</a:t>
            </a:fld>
            <a:r>
              <a:rPr lang="en-GB"/>
              <a:t>/40</a:t>
            </a:r>
            <a:endParaRPr lang="en-US" dirty="0"/>
          </a:p>
        </p:txBody>
      </p:sp>
    </p:spTree>
    <p:extLst>
      <p:ext uri="{BB962C8B-B14F-4D97-AF65-F5344CB8AC3E}">
        <p14:creationId xmlns:p14="http://schemas.microsoft.com/office/powerpoint/2010/main" val="3059398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C199C-556B-83C5-4339-9504B84A1F08}"/>
              </a:ext>
            </a:extLst>
          </p:cNvPr>
          <p:cNvSpPr>
            <a:spLocks noGrp="1"/>
          </p:cNvSpPr>
          <p:nvPr>
            <p:ph type="title"/>
          </p:nvPr>
        </p:nvSpPr>
        <p:spPr/>
        <p:txBody>
          <a:bodyPr/>
          <a:lstStyle/>
          <a:p>
            <a:r>
              <a:rPr lang="en-GB" dirty="0"/>
              <a:t> Unmoderated + in-person</a:t>
            </a:r>
          </a:p>
        </p:txBody>
      </p:sp>
      <p:sp>
        <p:nvSpPr>
          <p:cNvPr id="3" name="Content Placeholder 2">
            <a:extLst>
              <a:ext uri="{FF2B5EF4-FFF2-40B4-BE49-F238E27FC236}">
                <a16:creationId xmlns:a16="http://schemas.microsoft.com/office/drawing/2014/main" id="{0C86352C-9393-C2E2-0A02-87C5FB7FFC7C}"/>
              </a:ext>
            </a:extLst>
          </p:cNvPr>
          <p:cNvSpPr>
            <a:spLocks noGrp="1"/>
          </p:cNvSpPr>
          <p:nvPr>
            <p:ph sz="quarter" idx="1"/>
          </p:nvPr>
        </p:nvSpPr>
        <p:spPr>
          <a:xfrm>
            <a:off x="612648" y="1600200"/>
            <a:ext cx="5687544" cy="4781128"/>
          </a:xfrm>
        </p:spPr>
        <p:txBody>
          <a:bodyPr>
            <a:noAutofit/>
          </a:bodyPr>
          <a:lstStyle/>
          <a:p>
            <a:pPr>
              <a:spcBef>
                <a:spcPts val="1200"/>
              </a:spcBef>
            </a:pPr>
            <a:r>
              <a:rPr lang="en-GB" sz="1800" b="1" i="0" dirty="0">
                <a:effectLst/>
              </a:rPr>
              <a:t>Eye-tracking tests </a:t>
            </a:r>
            <a:r>
              <a:rPr lang="en-GB" sz="1800" i="0" dirty="0">
                <a:effectLst/>
              </a:rPr>
              <a:t>- researchers observe and study users' eye movements using a special pupil-tracking device mounted on a computer. </a:t>
            </a:r>
          </a:p>
          <a:p>
            <a:pPr>
              <a:spcBef>
                <a:spcPts val="1200"/>
              </a:spcBef>
            </a:pPr>
            <a:r>
              <a:rPr lang="en-GB" sz="1800" dirty="0"/>
              <a:t>T</a:t>
            </a:r>
            <a:r>
              <a:rPr lang="en-GB" sz="1800" i="0" dirty="0">
                <a:effectLst/>
              </a:rPr>
              <a:t>he machine/software creates heatmaps or movement pathway diagrams based on where users focus their attention.</a:t>
            </a:r>
          </a:p>
          <a:p>
            <a:pPr>
              <a:spcBef>
                <a:spcPts val="1200"/>
              </a:spcBef>
            </a:pPr>
            <a:r>
              <a:rPr lang="en-GB" sz="1800" b="1" i="0" dirty="0">
                <a:effectLst/>
              </a:rPr>
              <a:t>Pros</a:t>
            </a:r>
            <a:r>
              <a:rPr lang="en-GB" sz="1800" i="0" dirty="0">
                <a:effectLst/>
              </a:rPr>
              <a:t> – we can understand how users interact visually with a page and this can help to test the UI, the layout and design elements of a page, identify what may be distracting or taking someone's focus away from the main page elements. </a:t>
            </a:r>
          </a:p>
          <a:p>
            <a:pPr>
              <a:spcBef>
                <a:spcPts val="1200"/>
              </a:spcBef>
            </a:pPr>
            <a:r>
              <a:rPr lang="en-GB" sz="1800" b="1" i="0" dirty="0">
                <a:effectLst/>
              </a:rPr>
              <a:t>Cons-</a:t>
            </a:r>
            <a:r>
              <a:rPr lang="en-GB" sz="1800" i="0" dirty="0">
                <a:effectLst/>
              </a:rPr>
              <a:t> cost</a:t>
            </a:r>
            <a:r>
              <a:rPr lang="en-GB" sz="1800" dirty="0"/>
              <a:t> -</a:t>
            </a:r>
            <a:r>
              <a:rPr lang="en-GB" sz="1800" i="0" dirty="0">
                <a:effectLst/>
              </a:rPr>
              <a:t> eye-tracking studies require a lab with special equipment and dedicated software (plus a trained technician who can help you calibrate the device).</a:t>
            </a:r>
            <a:endParaRPr lang="en-GB" sz="1800" dirty="0"/>
          </a:p>
        </p:txBody>
      </p:sp>
      <p:pic>
        <p:nvPicPr>
          <p:cNvPr id="7" name="Picture 6" descr="Eye-tracking tests ">
            <a:extLst>
              <a:ext uri="{FF2B5EF4-FFF2-40B4-BE49-F238E27FC236}">
                <a16:creationId xmlns:a16="http://schemas.microsoft.com/office/drawing/2014/main" id="{A8507D84-40A9-56B5-1ED9-84F5A6779A17}"/>
              </a:ext>
            </a:extLst>
          </p:cNvPr>
          <p:cNvPicPr>
            <a:picLocks noChangeAspect="1"/>
          </p:cNvPicPr>
          <p:nvPr/>
        </p:nvPicPr>
        <p:blipFill>
          <a:blip r:embed="rId3"/>
          <a:stretch>
            <a:fillRect/>
          </a:stretch>
        </p:blipFill>
        <p:spPr>
          <a:xfrm>
            <a:off x="6414533" y="980728"/>
            <a:ext cx="2249981" cy="1947826"/>
          </a:xfrm>
          <a:prstGeom prst="rect">
            <a:avLst/>
          </a:prstGeom>
        </p:spPr>
      </p:pic>
      <p:pic>
        <p:nvPicPr>
          <p:cNvPr id="9" name="Picture 8" descr="heatmap">
            <a:extLst>
              <a:ext uri="{FF2B5EF4-FFF2-40B4-BE49-F238E27FC236}">
                <a16:creationId xmlns:a16="http://schemas.microsoft.com/office/drawing/2014/main" id="{327ADCCF-89A0-A66A-0162-8FBBD6010F83}"/>
              </a:ext>
            </a:extLst>
          </p:cNvPr>
          <p:cNvPicPr>
            <a:picLocks noChangeAspect="1"/>
          </p:cNvPicPr>
          <p:nvPr/>
        </p:nvPicPr>
        <p:blipFill>
          <a:blip r:embed="rId4"/>
          <a:stretch>
            <a:fillRect/>
          </a:stretch>
        </p:blipFill>
        <p:spPr>
          <a:xfrm>
            <a:off x="6300192" y="3212976"/>
            <a:ext cx="2628517" cy="2852727"/>
          </a:xfrm>
          <a:prstGeom prst="rect">
            <a:avLst/>
          </a:prstGeom>
        </p:spPr>
      </p:pic>
      <p:pic>
        <p:nvPicPr>
          <p:cNvPr id="4" name="Picture 3">
            <a:extLst>
              <a:ext uri="{FF2B5EF4-FFF2-40B4-BE49-F238E27FC236}">
                <a16:creationId xmlns:a16="http://schemas.microsoft.com/office/drawing/2014/main" id="{9CED9F86-0658-714E-DCDD-027D9B3A4C84}"/>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03572" y="297269"/>
            <a:ext cx="779411" cy="804392"/>
          </a:xfrm>
          <a:prstGeom prst="rect">
            <a:avLst/>
          </a:prstGeom>
        </p:spPr>
      </p:pic>
      <p:sp>
        <p:nvSpPr>
          <p:cNvPr id="11" name="Footer Placeholder 10">
            <a:extLst>
              <a:ext uri="{FF2B5EF4-FFF2-40B4-BE49-F238E27FC236}">
                <a16:creationId xmlns:a16="http://schemas.microsoft.com/office/drawing/2014/main" id="{8F503A58-1E16-B55C-4E91-5500F780909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9BA37B23-5E75-C705-33EE-3FF2E5862FC3}"/>
              </a:ext>
            </a:extLst>
          </p:cNvPr>
          <p:cNvSpPr>
            <a:spLocks noGrp="1"/>
          </p:cNvSpPr>
          <p:nvPr>
            <p:ph type="sldNum" sz="quarter" idx="4"/>
          </p:nvPr>
        </p:nvSpPr>
        <p:spPr/>
        <p:txBody>
          <a:bodyPr/>
          <a:lstStyle/>
          <a:p>
            <a:fld id="{9FD7ECCF-50E7-4327-B945-FA93FF7B2BEF}" type="slidenum">
              <a:rPr lang="en-US" smtClean="0"/>
              <a:pPr/>
              <a:t>36</a:t>
            </a:fld>
            <a:r>
              <a:rPr lang="en-GB"/>
              <a:t>/40</a:t>
            </a:r>
            <a:endParaRPr lang="en-US" dirty="0"/>
          </a:p>
        </p:txBody>
      </p:sp>
    </p:spTree>
    <p:extLst>
      <p:ext uri="{BB962C8B-B14F-4D97-AF65-F5344CB8AC3E}">
        <p14:creationId xmlns:p14="http://schemas.microsoft.com/office/powerpoint/2010/main" val="16260960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C9CDB3">
            <a:alpha val="4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D77FB-3327-A213-C792-9502924A9805}"/>
              </a:ext>
            </a:extLst>
          </p:cNvPr>
          <p:cNvSpPr>
            <a:spLocks noGrp="1"/>
          </p:cNvSpPr>
          <p:nvPr>
            <p:ph type="title"/>
          </p:nvPr>
        </p:nvSpPr>
        <p:spPr/>
        <p:txBody>
          <a:bodyPr/>
          <a:lstStyle/>
          <a:p>
            <a:r>
              <a:rPr lang="en-GB" dirty="0"/>
              <a:t> Unmoderated + remote</a:t>
            </a:r>
          </a:p>
        </p:txBody>
      </p:sp>
      <p:sp>
        <p:nvSpPr>
          <p:cNvPr id="3" name="Content Placeholder 2">
            <a:extLst>
              <a:ext uri="{FF2B5EF4-FFF2-40B4-BE49-F238E27FC236}">
                <a16:creationId xmlns:a16="http://schemas.microsoft.com/office/drawing/2014/main" id="{6E90E0C2-09FC-6250-31E9-9BDAFEAE6529}"/>
              </a:ext>
            </a:extLst>
          </p:cNvPr>
          <p:cNvSpPr>
            <a:spLocks noGrp="1"/>
          </p:cNvSpPr>
          <p:nvPr>
            <p:ph sz="quarter" idx="1"/>
          </p:nvPr>
        </p:nvSpPr>
        <p:spPr/>
        <p:txBody>
          <a:bodyPr>
            <a:normAutofit/>
          </a:bodyPr>
          <a:lstStyle/>
          <a:p>
            <a:r>
              <a:rPr lang="en-GB" dirty="0"/>
              <a:t>Software - here are some of the most common tools/software that facilitate online testing :</a:t>
            </a:r>
          </a:p>
          <a:p>
            <a:pPr lvl="1"/>
            <a:r>
              <a:rPr lang="en-GB" i="0" dirty="0">
                <a:solidFill>
                  <a:schemeClr val="accent2">
                    <a:lumMod val="75000"/>
                  </a:schemeClr>
                </a:solidFill>
                <a:effectLst/>
                <a:latin typeface="Ambit"/>
                <a:hlinkClick r:id="rId2">
                  <a:extLst>
                    <a:ext uri="{A12FA001-AC4F-418D-AE19-62706E023703}">
                      <ahyp:hlinkClr xmlns:ahyp="http://schemas.microsoft.com/office/drawing/2018/hyperlinkcolor" val="tx"/>
                    </a:ext>
                  </a:extLst>
                </a:hlinkClick>
              </a:rPr>
              <a:t>Remote usability testing tools and software</a:t>
            </a:r>
            <a:endParaRPr lang="en-GB" i="0" dirty="0">
              <a:solidFill>
                <a:schemeClr val="accent2">
                  <a:lumMod val="75000"/>
                </a:schemeClr>
              </a:solidFill>
              <a:effectLst/>
              <a:latin typeface="Ambit"/>
            </a:endParaRPr>
          </a:p>
          <a:p>
            <a:pPr lvl="1"/>
            <a:r>
              <a:rPr lang="en-GB" i="0" dirty="0">
                <a:solidFill>
                  <a:schemeClr val="accent2">
                    <a:lumMod val="75000"/>
                  </a:schemeClr>
                </a:solidFill>
                <a:effectLst/>
                <a:latin typeface="Ambit"/>
                <a:hlinkClick r:id="rId3">
                  <a:extLst>
                    <a:ext uri="{A12FA001-AC4F-418D-AE19-62706E023703}">
                      <ahyp:hlinkClr xmlns:ahyp="http://schemas.microsoft.com/office/drawing/2018/hyperlinkcolor" val="tx"/>
                    </a:ext>
                  </a:extLst>
                </a:hlinkClick>
              </a:rPr>
              <a:t>Unmoderated card sorting</a:t>
            </a:r>
            <a:endParaRPr lang="en-GB" i="0" dirty="0">
              <a:solidFill>
                <a:schemeClr val="accent2">
                  <a:lumMod val="75000"/>
                </a:schemeClr>
              </a:solidFill>
              <a:effectLst/>
              <a:latin typeface="Ambit"/>
            </a:endParaRPr>
          </a:p>
          <a:p>
            <a:pPr lvl="1"/>
            <a:r>
              <a:rPr lang="en-GB" i="0" dirty="0">
                <a:solidFill>
                  <a:schemeClr val="accent2">
                    <a:lumMod val="75000"/>
                  </a:schemeClr>
                </a:solidFill>
                <a:effectLst/>
                <a:latin typeface="Ambit"/>
                <a:hlinkClick r:id="rId4">
                  <a:extLst>
                    <a:ext uri="{A12FA001-AC4F-418D-AE19-62706E023703}">
                      <ahyp:hlinkClr xmlns:ahyp="http://schemas.microsoft.com/office/drawing/2018/hyperlinkcolor" val="tx"/>
                    </a:ext>
                  </a:extLst>
                </a:hlinkClick>
              </a:rPr>
              <a:t>First-click</a:t>
            </a:r>
            <a:endParaRPr lang="en-GB" i="0" dirty="0">
              <a:solidFill>
                <a:schemeClr val="accent2">
                  <a:lumMod val="75000"/>
                </a:schemeClr>
              </a:solidFill>
              <a:effectLst/>
              <a:latin typeface="Ambit"/>
            </a:endParaRPr>
          </a:p>
          <a:p>
            <a:endParaRPr lang="en-GB" dirty="0"/>
          </a:p>
        </p:txBody>
      </p:sp>
      <p:pic>
        <p:nvPicPr>
          <p:cNvPr id="4" name="Picture 3">
            <a:extLst>
              <a:ext uri="{FF2B5EF4-FFF2-40B4-BE49-F238E27FC236}">
                <a16:creationId xmlns:a16="http://schemas.microsoft.com/office/drawing/2014/main" id="{3F33171A-922B-0B96-DC7B-2185876F551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03572" y="297269"/>
            <a:ext cx="779411" cy="804392"/>
          </a:xfrm>
          <a:prstGeom prst="rect">
            <a:avLst/>
          </a:prstGeom>
        </p:spPr>
      </p:pic>
      <p:sp>
        <p:nvSpPr>
          <p:cNvPr id="9" name="Footer Placeholder 8">
            <a:extLst>
              <a:ext uri="{FF2B5EF4-FFF2-40B4-BE49-F238E27FC236}">
                <a16:creationId xmlns:a16="http://schemas.microsoft.com/office/drawing/2014/main" id="{E7E51190-4CFF-D7A3-71B9-83EE7C9EB5E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0D3632BB-B91E-2A2A-53C1-7C707EA4AF44}"/>
              </a:ext>
            </a:extLst>
          </p:cNvPr>
          <p:cNvSpPr>
            <a:spLocks noGrp="1"/>
          </p:cNvSpPr>
          <p:nvPr>
            <p:ph type="sldNum" sz="quarter" idx="4"/>
          </p:nvPr>
        </p:nvSpPr>
        <p:spPr/>
        <p:txBody>
          <a:bodyPr/>
          <a:lstStyle/>
          <a:p>
            <a:fld id="{9FD7ECCF-50E7-4327-B945-FA93FF7B2BEF}" type="slidenum">
              <a:rPr lang="en-US" smtClean="0"/>
              <a:pPr/>
              <a:t>37</a:t>
            </a:fld>
            <a:r>
              <a:rPr lang="en-GB"/>
              <a:t>/40</a:t>
            </a:r>
            <a:endParaRPr lang="en-US" dirty="0"/>
          </a:p>
        </p:txBody>
      </p:sp>
    </p:spTree>
    <p:extLst>
      <p:ext uri="{BB962C8B-B14F-4D97-AF65-F5344CB8AC3E}">
        <p14:creationId xmlns:p14="http://schemas.microsoft.com/office/powerpoint/2010/main" val="2155816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p:txBody>
          <a:bodyPr>
            <a:normAutofit fontScale="85000" lnSpcReduction="20000"/>
          </a:bodyPr>
          <a:lstStyle/>
          <a:p>
            <a:pPr>
              <a:lnSpc>
                <a:spcPct val="110000"/>
              </a:lnSpc>
              <a:spcBef>
                <a:spcPts val="600"/>
              </a:spcBef>
              <a:spcAft>
                <a:spcPts val="600"/>
              </a:spcAft>
            </a:pPr>
            <a:r>
              <a:rPr lang="en-GB" sz="2800" dirty="0"/>
              <a:t>Where usability testing fits in the SDLC</a:t>
            </a:r>
          </a:p>
          <a:p>
            <a:pPr>
              <a:lnSpc>
                <a:spcPct val="110000"/>
              </a:lnSpc>
              <a:spcBef>
                <a:spcPts val="600"/>
              </a:spcBef>
              <a:spcAft>
                <a:spcPts val="600"/>
              </a:spcAft>
            </a:pPr>
            <a:r>
              <a:rPr lang="en-GB" sz="2800" dirty="0"/>
              <a:t>Building in usability in UCD</a:t>
            </a:r>
          </a:p>
          <a:p>
            <a:pPr>
              <a:lnSpc>
                <a:spcPct val="110000"/>
              </a:lnSpc>
              <a:spcBef>
                <a:spcPts val="600"/>
              </a:spcBef>
              <a:spcAft>
                <a:spcPts val="600"/>
              </a:spcAft>
            </a:pPr>
            <a:r>
              <a:rPr lang="en-GB" sz="2800" dirty="0"/>
              <a:t>Testing usability</a:t>
            </a:r>
          </a:p>
          <a:p>
            <a:pPr>
              <a:lnSpc>
                <a:spcPct val="110000"/>
              </a:lnSpc>
              <a:spcBef>
                <a:spcPts val="600"/>
              </a:spcBef>
              <a:spcAft>
                <a:spcPts val="600"/>
              </a:spcAft>
            </a:pPr>
            <a:r>
              <a:rPr lang="en-GB" sz="2800" dirty="0"/>
              <a:t>How we decide what usability testing methods to use based on what we want to achieve</a:t>
            </a:r>
          </a:p>
          <a:p>
            <a:pPr>
              <a:lnSpc>
                <a:spcPct val="110000"/>
              </a:lnSpc>
              <a:spcBef>
                <a:spcPts val="600"/>
              </a:spcBef>
              <a:spcAft>
                <a:spcPts val="600"/>
              </a:spcAft>
            </a:pPr>
            <a:r>
              <a:rPr lang="en-GB" sz="2800" dirty="0"/>
              <a:t>Classification of Usability testing methods based on:</a:t>
            </a:r>
          </a:p>
          <a:p>
            <a:pPr lvl="1">
              <a:lnSpc>
                <a:spcPct val="110000"/>
              </a:lnSpc>
              <a:spcBef>
                <a:spcPts val="600"/>
              </a:spcBef>
              <a:spcAft>
                <a:spcPts val="600"/>
              </a:spcAft>
            </a:pPr>
            <a:r>
              <a:rPr lang="en-GB" sz="2500" dirty="0"/>
              <a:t>Data type – qual, quant</a:t>
            </a:r>
          </a:p>
          <a:p>
            <a:pPr lvl="1">
              <a:lnSpc>
                <a:spcPct val="110000"/>
              </a:lnSpc>
              <a:spcBef>
                <a:spcPts val="600"/>
              </a:spcBef>
              <a:spcAft>
                <a:spcPts val="600"/>
              </a:spcAft>
            </a:pPr>
            <a:r>
              <a:rPr lang="en-GB" sz="2500" dirty="0"/>
              <a:t>Location</a:t>
            </a:r>
          </a:p>
          <a:p>
            <a:pPr lvl="1">
              <a:lnSpc>
                <a:spcPct val="110000"/>
              </a:lnSpc>
              <a:spcBef>
                <a:spcPts val="600"/>
              </a:spcBef>
              <a:spcAft>
                <a:spcPts val="600"/>
              </a:spcAft>
            </a:pPr>
            <a:r>
              <a:rPr lang="en-GB" sz="2500" dirty="0"/>
              <a:t>How they are facilitated</a:t>
            </a:r>
          </a:p>
          <a:p>
            <a:pPr>
              <a:lnSpc>
                <a:spcPct val="110000"/>
              </a:lnSpc>
              <a:spcBef>
                <a:spcPts val="600"/>
              </a:spcBef>
              <a:spcAft>
                <a:spcPts val="600"/>
              </a:spcAft>
              <a:tabLst>
                <a:tab pos="1882775" algn="l"/>
              </a:tabLst>
            </a:pPr>
            <a:r>
              <a:rPr lang="en-GB" sz="2800" dirty="0"/>
              <a:t>Next week – understand data types</a:t>
            </a:r>
          </a:p>
        </p:txBody>
      </p:sp>
      <p:sp>
        <p:nvSpPr>
          <p:cNvPr id="6" name="Footer Placeholder 5">
            <a:extLst>
              <a:ext uri="{FF2B5EF4-FFF2-40B4-BE49-F238E27FC236}">
                <a16:creationId xmlns:a16="http://schemas.microsoft.com/office/drawing/2014/main" id="{F720F809-22FC-A22D-4126-41A458BABD6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1F0B484E-7506-6265-E7F1-2494BEA1FFDB}"/>
              </a:ext>
            </a:extLst>
          </p:cNvPr>
          <p:cNvSpPr>
            <a:spLocks noGrp="1"/>
          </p:cNvSpPr>
          <p:nvPr>
            <p:ph type="sldNum" sz="quarter" idx="4"/>
          </p:nvPr>
        </p:nvSpPr>
        <p:spPr/>
        <p:txBody>
          <a:bodyPr/>
          <a:lstStyle/>
          <a:p>
            <a:fld id="{9FD7ECCF-50E7-4327-B945-FA93FF7B2BEF}" type="slidenum">
              <a:rPr lang="en-US" smtClean="0"/>
              <a:pPr/>
              <a:t>38</a:t>
            </a:fld>
            <a:r>
              <a:rPr lang="en-GB"/>
              <a:t>/40</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p:txBody>
          <a:bodyPr>
            <a:normAutofit fontScale="55000" lnSpcReduction="20000"/>
          </a:bodyPr>
          <a:lstStyle/>
          <a:p>
            <a:pPr>
              <a:lnSpc>
                <a:spcPct val="110000"/>
              </a:lnSpc>
              <a:spcBef>
                <a:spcPts val="600"/>
              </a:spcBef>
              <a:spcAft>
                <a:spcPts val="600"/>
              </a:spcAft>
            </a:pPr>
            <a:r>
              <a:rPr lang="en-GB" sz="3200" dirty="0"/>
              <a:t>What are the benefits of usability testing?</a:t>
            </a:r>
          </a:p>
          <a:p>
            <a:pPr>
              <a:lnSpc>
                <a:spcPct val="110000"/>
              </a:lnSpc>
              <a:spcBef>
                <a:spcPts val="600"/>
              </a:spcBef>
              <a:spcAft>
                <a:spcPts val="600"/>
              </a:spcAft>
            </a:pPr>
            <a:r>
              <a:rPr lang="en-GB" sz="3200" dirty="0"/>
              <a:t>How we gather information about usability during the following stages of the SDLC:</a:t>
            </a:r>
          </a:p>
          <a:p>
            <a:pPr lvl="1">
              <a:lnSpc>
                <a:spcPct val="110000"/>
              </a:lnSpc>
              <a:spcBef>
                <a:spcPts val="600"/>
              </a:spcBef>
              <a:spcAft>
                <a:spcPts val="600"/>
              </a:spcAft>
            </a:pPr>
            <a:r>
              <a:rPr lang="en-GB" sz="2900" dirty="0"/>
              <a:t>Ideation</a:t>
            </a:r>
          </a:p>
          <a:p>
            <a:pPr lvl="1">
              <a:lnSpc>
                <a:spcPct val="110000"/>
              </a:lnSpc>
              <a:spcBef>
                <a:spcPts val="600"/>
              </a:spcBef>
              <a:spcAft>
                <a:spcPts val="600"/>
              </a:spcAft>
            </a:pPr>
            <a:r>
              <a:rPr lang="en-GB" sz="2900" dirty="0"/>
              <a:t>Iteration and &amp; evaluation</a:t>
            </a:r>
          </a:p>
          <a:p>
            <a:pPr>
              <a:lnSpc>
                <a:spcPct val="110000"/>
              </a:lnSpc>
              <a:spcBef>
                <a:spcPts val="600"/>
              </a:spcBef>
              <a:spcAft>
                <a:spcPts val="600"/>
              </a:spcAft>
            </a:pPr>
            <a:r>
              <a:rPr lang="en-GB" sz="3200" dirty="0"/>
              <a:t>What types of data we can collect with usability testing?</a:t>
            </a:r>
          </a:p>
          <a:p>
            <a:pPr>
              <a:lnSpc>
                <a:spcPct val="110000"/>
              </a:lnSpc>
              <a:spcBef>
                <a:spcPts val="600"/>
              </a:spcBef>
              <a:spcAft>
                <a:spcPts val="600"/>
              </a:spcAft>
            </a:pPr>
            <a:r>
              <a:rPr lang="en-GB" sz="3200" dirty="0"/>
              <a:t>When do we need to conduct qual vs quant usability testing? And why?</a:t>
            </a:r>
          </a:p>
          <a:p>
            <a:pPr>
              <a:lnSpc>
                <a:spcPct val="110000"/>
              </a:lnSpc>
              <a:spcBef>
                <a:spcPts val="600"/>
              </a:spcBef>
              <a:spcAft>
                <a:spcPts val="600"/>
              </a:spcAft>
            </a:pPr>
            <a:r>
              <a:rPr lang="en-GB" sz="3200" dirty="0"/>
              <a:t>When do we conduct moderated vs unmoderated usability testing? And why?</a:t>
            </a:r>
          </a:p>
          <a:p>
            <a:pPr>
              <a:lnSpc>
                <a:spcPct val="110000"/>
              </a:lnSpc>
              <a:spcBef>
                <a:spcPts val="600"/>
              </a:spcBef>
              <a:spcAft>
                <a:spcPts val="600"/>
              </a:spcAft>
            </a:pPr>
            <a:r>
              <a:rPr lang="en-GB" sz="3200" dirty="0"/>
              <a:t>When do we conduct in-person vs remote usability testing? And why?</a:t>
            </a:r>
          </a:p>
          <a:p>
            <a:pPr>
              <a:lnSpc>
                <a:spcPct val="110000"/>
              </a:lnSpc>
              <a:spcBef>
                <a:spcPts val="600"/>
              </a:spcBef>
              <a:spcAft>
                <a:spcPts val="600"/>
              </a:spcAft>
            </a:pPr>
            <a:r>
              <a:rPr lang="en-GB" sz="3200" dirty="0"/>
              <a:t>Find 2 web-based open-source sites you could use for remote moderated testing, what data it allows you to collect and in what format?</a:t>
            </a:r>
          </a:p>
          <a:p>
            <a:pPr>
              <a:lnSpc>
                <a:spcPct val="110000"/>
              </a:lnSpc>
              <a:spcBef>
                <a:spcPts val="600"/>
              </a:spcBef>
              <a:spcAft>
                <a:spcPts val="600"/>
              </a:spcAft>
            </a:pPr>
            <a:r>
              <a:rPr lang="en-GB" sz="3200" dirty="0"/>
              <a:t>Find 1 web-based open-source site you could use for remote un-moderated testing, what data it allows you to collect and in what format?</a:t>
            </a:r>
          </a:p>
          <a:p>
            <a:pPr>
              <a:lnSpc>
                <a:spcPct val="110000"/>
              </a:lnSpc>
              <a:spcBef>
                <a:spcPts val="600"/>
              </a:spcBef>
              <a:spcAft>
                <a:spcPts val="600"/>
              </a:spcAft>
            </a:pPr>
            <a:endParaRPr lang="en-GB" sz="3200" dirty="0"/>
          </a:p>
        </p:txBody>
      </p:sp>
      <p:sp>
        <p:nvSpPr>
          <p:cNvPr id="8" name="Footer Placeholder 7">
            <a:extLst>
              <a:ext uri="{FF2B5EF4-FFF2-40B4-BE49-F238E27FC236}">
                <a16:creationId xmlns:a16="http://schemas.microsoft.com/office/drawing/2014/main" id="{60DD0524-41DC-240E-8E12-F527310B427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5774EACD-979B-BDE7-5C37-7AC8149DE1CC}"/>
              </a:ext>
            </a:extLst>
          </p:cNvPr>
          <p:cNvSpPr>
            <a:spLocks noGrp="1"/>
          </p:cNvSpPr>
          <p:nvPr>
            <p:ph type="sldNum" sz="quarter" idx="4"/>
          </p:nvPr>
        </p:nvSpPr>
        <p:spPr/>
        <p:txBody>
          <a:bodyPr/>
          <a:lstStyle/>
          <a:p>
            <a:fld id="{9FD7ECCF-50E7-4327-B945-FA93FF7B2BEF}" type="slidenum">
              <a:rPr lang="en-US" smtClean="0"/>
              <a:pPr/>
              <a:t>39</a:t>
            </a:fld>
            <a:r>
              <a:rPr lang="en-GB"/>
              <a:t>/40</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4449676"/>
          </a:xfrm>
        </p:spPr>
        <p:txBody>
          <a:bodyPr>
            <a:normAutofit fontScale="92500" lnSpcReduction="10000"/>
          </a:bodyPr>
          <a:lstStyle/>
          <a:p>
            <a:pPr algn="just">
              <a:spcBef>
                <a:spcPts val="0"/>
              </a:spcBef>
            </a:pPr>
            <a:r>
              <a:rPr lang="en-GB" sz="1800" dirty="0">
                <a:cs typeface="Times New Roman" pitchFamily="18" charset="0"/>
              </a:rPr>
              <a:t>Carol M. Barnum (2020) </a:t>
            </a:r>
            <a:r>
              <a:rPr lang="en-GB" sz="1800" i="1" dirty="0">
                <a:cs typeface="Times New Roman" pitchFamily="18" charset="0"/>
              </a:rPr>
              <a:t>Usability testing essentials, Ready, Set... Test!</a:t>
            </a:r>
            <a:r>
              <a:rPr lang="en-GB" sz="1800" dirty="0">
                <a:cs typeface="Times New Roman" pitchFamily="18" charset="0"/>
              </a:rPr>
              <a:t>, </a:t>
            </a:r>
            <a:r>
              <a:rPr lang="en-GB" sz="1800" dirty="0"/>
              <a:t>Morgan Kaufmann. </a:t>
            </a:r>
          </a:p>
          <a:p>
            <a:pPr lvl="1" algn="just">
              <a:spcBef>
                <a:spcPts val="0"/>
              </a:spcBef>
            </a:pPr>
            <a:r>
              <a:rPr lang="en-GB" sz="1600" i="1" dirty="0">
                <a:solidFill>
                  <a:schemeClr val="accent1">
                    <a:lumMod val="50000"/>
                  </a:schemeClr>
                </a:solidFill>
              </a:rPr>
              <a:t>Chapter 1, Establishing the essentials</a:t>
            </a:r>
          </a:p>
          <a:p>
            <a:pPr lvl="1" algn="just">
              <a:spcBef>
                <a:spcPts val="0"/>
              </a:spcBef>
            </a:pPr>
            <a:r>
              <a:rPr lang="en-GB" sz="1600" i="1" dirty="0">
                <a:solidFill>
                  <a:schemeClr val="accent1">
                    <a:lumMod val="50000"/>
                  </a:schemeClr>
                </a:solidFill>
              </a:rPr>
              <a:t>Chapter 2 Testing here, there, everywhere</a:t>
            </a:r>
          </a:p>
          <a:p>
            <a:pPr algn="just">
              <a:spcBef>
                <a:spcPts val="0"/>
              </a:spcBef>
            </a:pPr>
            <a:endParaRPr lang="en-GB" sz="1800" i="1" dirty="0">
              <a:solidFill>
                <a:srgbClr val="00B0F0"/>
              </a:solidFill>
            </a:endParaRPr>
          </a:p>
          <a:p>
            <a:pPr algn="just">
              <a:spcBef>
                <a:spcPts val="0"/>
              </a:spcBef>
            </a:pPr>
            <a:r>
              <a:rPr lang="en-GB" sz="1800" dirty="0">
                <a:cs typeface="Times New Roman" pitchFamily="18" charset="0"/>
              </a:rPr>
              <a:t>Rubin, J. &amp; </a:t>
            </a:r>
            <a:r>
              <a:rPr lang="en-GB" sz="1800" dirty="0" err="1">
                <a:cs typeface="Times New Roman" pitchFamily="18" charset="0"/>
              </a:rPr>
              <a:t>Chisnell</a:t>
            </a:r>
            <a:r>
              <a:rPr lang="en-GB" sz="1800" dirty="0">
                <a:cs typeface="Times New Roman" pitchFamily="18" charset="0"/>
              </a:rPr>
              <a:t>, D. (2008) Handbook of usability testing: how to plan, design, and conduct effective tests, second edition. 2nd ed. Indianapolis, Ind: Wiley.</a:t>
            </a:r>
          </a:p>
          <a:p>
            <a:pPr lvl="1">
              <a:spcBef>
                <a:spcPts val="0"/>
              </a:spcBef>
            </a:pPr>
            <a:r>
              <a:rPr lang="en-GB" sz="1400" i="1" dirty="0">
                <a:solidFill>
                  <a:schemeClr val="accent1">
                    <a:lumMod val="50000"/>
                  </a:schemeClr>
                </a:solidFill>
              </a:rPr>
              <a:t>Chapter 1. What Makes Something Usable?</a:t>
            </a:r>
          </a:p>
          <a:p>
            <a:pPr lvl="1">
              <a:spcBef>
                <a:spcPts val="0"/>
              </a:spcBef>
            </a:pPr>
            <a:r>
              <a:rPr lang="en-GB" sz="1400" i="1" dirty="0">
                <a:solidFill>
                  <a:schemeClr val="accent1">
                    <a:lumMod val="50000"/>
                  </a:schemeClr>
                </a:solidFill>
              </a:rPr>
              <a:t>Chapter 2. What Is Usability Testing?</a:t>
            </a:r>
          </a:p>
          <a:p>
            <a:pPr lvl="1">
              <a:spcBef>
                <a:spcPts val="0"/>
              </a:spcBef>
            </a:pPr>
            <a:r>
              <a:rPr lang="en-GB" sz="1400" i="1" dirty="0">
                <a:solidFill>
                  <a:schemeClr val="accent1">
                    <a:lumMod val="50000"/>
                  </a:schemeClr>
                </a:solidFill>
              </a:rPr>
              <a:t>Chapter 3. When should you Test?</a:t>
            </a:r>
          </a:p>
          <a:p>
            <a:pPr lvl="1" algn="just">
              <a:spcBef>
                <a:spcPts val="0"/>
              </a:spcBef>
            </a:pPr>
            <a:endParaRPr lang="en-GB" sz="1600" i="1" dirty="0">
              <a:solidFill>
                <a:srgbClr val="00B0F0"/>
              </a:solidFill>
            </a:endParaRPr>
          </a:p>
          <a:p>
            <a:pPr algn="just">
              <a:spcBef>
                <a:spcPts val="0"/>
              </a:spcBef>
            </a:pPr>
            <a:r>
              <a:rPr lang="en-GB" sz="1800" i="1" dirty="0">
                <a:solidFill>
                  <a:schemeClr val="accent1">
                    <a:lumMod val="50000"/>
                  </a:schemeClr>
                </a:solidFill>
              </a:rPr>
              <a:t>Online Resources</a:t>
            </a:r>
          </a:p>
          <a:p>
            <a:pPr lvl="1" algn="just">
              <a:spcBef>
                <a:spcPts val="0"/>
              </a:spcBef>
            </a:pPr>
            <a:r>
              <a:rPr lang="en-GB" sz="1600" dirty="0">
                <a:cs typeface="Times New Roman" pitchFamily="18" charset="0"/>
              </a:rPr>
              <a:t>When to Use Which User-Experience Research Methods</a:t>
            </a:r>
          </a:p>
          <a:p>
            <a:pPr marL="365760" lvl="1" indent="0" algn="just">
              <a:spcBef>
                <a:spcPts val="0"/>
              </a:spcBef>
              <a:buNone/>
            </a:pPr>
            <a:r>
              <a:rPr lang="en-GB" sz="1500" i="1" dirty="0">
                <a:solidFill>
                  <a:schemeClr val="accent1">
                    <a:lumMod val="50000"/>
                  </a:schemeClr>
                </a:solidFill>
                <a:hlinkClick r:id="rId3"/>
              </a:rPr>
              <a:t>      https://www.nngroup.com/articles/which-ux-research-methods/</a:t>
            </a:r>
            <a:endParaRPr lang="en-GB" sz="1500" i="1" dirty="0">
              <a:solidFill>
                <a:schemeClr val="accent1">
                  <a:lumMod val="50000"/>
                </a:schemeClr>
              </a:solidFill>
            </a:endParaRPr>
          </a:p>
          <a:p>
            <a:pPr lvl="1" algn="just">
              <a:spcBef>
                <a:spcPts val="0"/>
              </a:spcBef>
            </a:pPr>
            <a:r>
              <a:rPr lang="en-GB" sz="1600" dirty="0">
                <a:cs typeface="Times New Roman" pitchFamily="18" charset="0"/>
              </a:rPr>
              <a:t>Usability 101: Introduction to Usability</a:t>
            </a:r>
          </a:p>
          <a:p>
            <a:pPr marL="594360" lvl="2" indent="0" algn="just">
              <a:spcBef>
                <a:spcPts val="0"/>
              </a:spcBef>
              <a:buNone/>
            </a:pPr>
            <a:r>
              <a:rPr lang="en-GB" sz="1400" i="1" dirty="0">
                <a:solidFill>
                  <a:schemeClr val="accent2">
                    <a:lumMod val="75000"/>
                  </a:schemeClr>
                </a:solidFill>
                <a:hlinkClick r:id="rId4">
                  <a:extLst>
                    <a:ext uri="{A12FA001-AC4F-418D-AE19-62706E023703}">
                      <ahyp:hlinkClr xmlns:ahyp="http://schemas.microsoft.com/office/drawing/2018/hyperlinkcolor" val="tx"/>
                    </a:ext>
                  </a:extLst>
                </a:hlinkClick>
              </a:rPr>
              <a:t>https://www.nngroup.com/articles/usability-101-introduction-to-usability/</a:t>
            </a:r>
            <a:endParaRPr lang="en-GB" sz="1400" i="1" dirty="0">
              <a:solidFill>
                <a:schemeClr val="accent2">
                  <a:lumMod val="75000"/>
                </a:schemeClr>
              </a:solidFill>
            </a:endParaRPr>
          </a:p>
          <a:p>
            <a:pPr lvl="1" algn="just">
              <a:spcBef>
                <a:spcPts val="0"/>
              </a:spcBef>
            </a:pPr>
            <a:r>
              <a:rPr lang="en-GB" sz="1600" dirty="0">
                <a:cs typeface="Times New Roman" pitchFamily="18" charset="0"/>
              </a:rPr>
              <a:t>Usability Testing 101</a:t>
            </a:r>
          </a:p>
          <a:p>
            <a:pPr marL="594360" lvl="2" indent="0" algn="just">
              <a:spcBef>
                <a:spcPts val="0"/>
              </a:spcBef>
              <a:buNone/>
            </a:pPr>
            <a:r>
              <a:rPr lang="en-GB" sz="1400" i="1" dirty="0">
                <a:solidFill>
                  <a:schemeClr val="accent2">
                    <a:lumMod val="75000"/>
                  </a:schemeClr>
                </a:solidFill>
                <a:cs typeface="Times New Roman" pitchFamily="18" charset="0"/>
                <a:hlinkClick r:id="rId5"/>
              </a:rPr>
              <a:t>https://www.nngroup.com/articles/usability-testing-101/</a:t>
            </a:r>
            <a:endParaRPr lang="en-GB" sz="1400" i="1" dirty="0">
              <a:solidFill>
                <a:schemeClr val="accent2">
                  <a:lumMod val="75000"/>
                </a:schemeClr>
              </a:solidFill>
              <a:cs typeface="Times New Roman" pitchFamily="18" charset="0"/>
            </a:endParaRPr>
          </a:p>
          <a:p>
            <a:pPr marL="605790" lvl="1" indent="-285750" algn="just">
              <a:spcBef>
                <a:spcPts val="0"/>
              </a:spcBef>
            </a:pPr>
            <a:r>
              <a:rPr lang="it-IT" sz="1600" dirty="0">
                <a:cs typeface="Times New Roman" pitchFamily="18" charset="0"/>
              </a:rPr>
              <a:t>Quantitative vs. Qualitative Usability Testing</a:t>
            </a:r>
            <a:endParaRPr lang="en-GB" sz="1600" dirty="0">
              <a:cs typeface="Times New Roman" pitchFamily="18" charset="0"/>
            </a:endParaRPr>
          </a:p>
          <a:p>
            <a:pPr marL="594360" lvl="2" indent="0" algn="just">
              <a:spcBef>
                <a:spcPts val="0"/>
              </a:spcBef>
              <a:buNone/>
            </a:pPr>
            <a:r>
              <a:rPr lang="en-GB" sz="1400" i="1" dirty="0">
                <a:solidFill>
                  <a:schemeClr val="accent2">
                    <a:lumMod val="75000"/>
                  </a:schemeClr>
                </a:solidFill>
                <a:cs typeface="Times New Roman" pitchFamily="18" charset="0"/>
                <a:hlinkClick r:id="rId6"/>
              </a:rPr>
              <a:t>https://www.nngroup.com/articles/quant-vs-qual/</a:t>
            </a:r>
            <a:endParaRPr lang="en-GB" sz="1400" i="1" dirty="0">
              <a:solidFill>
                <a:schemeClr val="accent2">
                  <a:lumMod val="75000"/>
                </a:schemeClr>
              </a:solidFill>
              <a:cs typeface="Times New Roman" pitchFamily="18" charset="0"/>
            </a:endParaRPr>
          </a:p>
          <a:p>
            <a:pPr marL="605790" lvl="1" indent="-285750" algn="just">
              <a:spcBef>
                <a:spcPts val="0"/>
              </a:spcBef>
            </a:pPr>
            <a:r>
              <a:rPr lang="en-GB" sz="1600" dirty="0">
                <a:cs typeface="Times New Roman" pitchFamily="18" charset="0"/>
              </a:rPr>
              <a:t>Benchmarking UX: Tracking Metrics</a:t>
            </a:r>
          </a:p>
          <a:p>
            <a:pPr marL="594360" lvl="2" indent="0" algn="just">
              <a:spcBef>
                <a:spcPts val="0"/>
              </a:spcBef>
              <a:buNone/>
            </a:pPr>
            <a:r>
              <a:rPr lang="en-GB" sz="1400" i="1" dirty="0">
                <a:solidFill>
                  <a:schemeClr val="accent2">
                    <a:lumMod val="75000"/>
                  </a:schemeClr>
                </a:solidFill>
                <a:cs typeface="Times New Roman" pitchFamily="18" charset="0"/>
              </a:rPr>
              <a:t>https://www.nngroup.com/articles/benchmarking-ux/</a:t>
            </a:r>
          </a:p>
        </p:txBody>
      </p:sp>
      <p:sp>
        <p:nvSpPr>
          <p:cNvPr id="6" name="Footer Placeholder 5">
            <a:extLst>
              <a:ext uri="{FF2B5EF4-FFF2-40B4-BE49-F238E27FC236}">
                <a16:creationId xmlns:a16="http://schemas.microsoft.com/office/drawing/2014/main" id="{62A68685-B8DD-2BA1-3D25-854880E3A9D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59A960A8-341D-E172-5623-FFA3714BD95A}"/>
              </a:ext>
            </a:extLst>
          </p:cNvPr>
          <p:cNvSpPr>
            <a:spLocks noGrp="1"/>
          </p:cNvSpPr>
          <p:nvPr>
            <p:ph type="sldNum" sz="quarter" idx="4"/>
          </p:nvPr>
        </p:nvSpPr>
        <p:spPr/>
        <p:txBody>
          <a:bodyPr/>
          <a:lstStyle/>
          <a:p>
            <a:fld id="{9FD7ECCF-50E7-4327-B945-FA93FF7B2BEF}" type="slidenum">
              <a:rPr lang="en-US" smtClean="0"/>
              <a:pPr/>
              <a:t>40</a:t>
            </a:fld>
            <a:r>
              <a:rPr lang="en-GB"/>
              <a:t>/40</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8641</TotalTime>
  <Words>10532</Words>
  <Application>Microsoft Office PowerPoint</Application>
  <PresentationFormat>On-screen Show (4:3)</PresentationFormat>
  <Paragraphs>698</Paragraphs>
  <Slides>40</Slides>
  <Notes>29</Notes>
  <HiddenSlides>0</HiddenSlides>
  <MMClips>1</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40</vt:i4>
      </vt:variant>
    </vt:vector>
  </HeadingPairs>
  <TitlesOfParts>
    <vt:vector size="55" baseType="lpstr">
      <vt:lpstr>Abadi</vt:lpstr>
      <vt:lpstr>Bradley Hand ITC</vt:lpstr>
      <vt:lpstr>Arial Narrow</vt:lpstr>
      <vt:lpstr>-apple-system</vt:lpstr>
      <vt:lpstr>Wingdings 2</vt:lpstr>
      <vt:lpstr>Ambit</vt:lpstr>
      <vt:lpstr>Arial</vt:lpstr>
      <vt:lpstr>var(--med-font)</vt:lpstr>
      <vt:lpstr>Noto serif</vt:lpstr>
      <vt:lpstr>Source Sans Variable</vt:lpstr>
      <vt:lpstr>Times New Roman</vt:lpstr>
      <vt:lpstr>Wingdings</vt:lpstr>
      <vt:lpstr>CharterITCPro-Regular</vt:lpstr>
      <vt:lpstr>Tw Cen MT</vt:lpstr>
      <vt:lpstr>Median</vt:lpstr>
      <vt:lpstr>Usability Testing in the Context of UX Research Methods</vt:lpstr>
      <vt:lpstr>Recap</vt:lpstr>
      <vt:lpstr>What makes something useful?</vt:lpstr>
      <vt:lpstr>When should I do user research on my project?</vt:lpstr>
      <vt:lpstr>Why products are hard to use?</vt:lpstr>
      <vt:lpstr>What makes products more usable</vt:lpstr>
      <vt:lpstr>UCD involves</vt:lpstr>
      <vt:lpstr>What do we measure?</vt:lpstr>
      <vt:lpstr>What do we test and measure? Usability metrics</vt:lpstr>
      <vt:lpstr>Core elements of usability testing</vt:lpstr>
      <vt:lpstr>How to we measure usability?</vt:lpstr>
      <vt:lpstr>What is involved in usability testing</vt:lpstr>
      <vt:lpstr>Core elements of usability testing</vt:lpstr>
      <vt:lpstr> A 3-dimensional framework of UX research methods</vt:lpstr>
      <vt:lpstr>Types of Usability Testing - data</vt:lpstr>
      <vt:lpstr>A landscape of User Research Methods</vt:lpstr>
      <vt:lpstr>What methods?</vt:lpstr>
      <vt:lpstr>Methods for testing usability</vt:lpstr>
      <vt:lpstr>Quantitative (Qual) vs.  Qualitative (Quant) Usability Testing </vt:lpstr>
      <vt:lpstr>Differences between Qual and Quant</vt:lpstr>
      <vt:lpstr>PowerPoint Presentation</vt:lpstr>
      <vt:lpstr>Goals of Qual and Quant in iterative design cycle</vt:lpstr>
      <vt:lpstr>Validity of Qual vs. Quant</vt:lpstr>
      <vt:lpstr>Types of Usability Testing - location</vt:lpstr>
      <vt:lpstr>Types of Usability Testing – moderator’s presence</vt:lpstr>
      <vt:lpstr>When to Use Moderated Usability Testing</vt:lpstr>
      <vt:lpstr>When to Use Unmoderated Usability Testing</vt:lpstr>
      <vt:lpstr>Types of Usability Testing – moderator’s presence</vt:lpstr>
      <vt:lpstr>Key Differences: Moderated vs Unmoderated Usability Test  </vt:lpstr>
      <vt:lpstr>Usability testing methods</vt:lpstr>
      <vt:lpstr>Moderated + in-person usability testing</vt:lpstr>
      <vt:lpstr>Moderated + in-person usability testing</vt:lpstr>
      <vt:lpstr>Moderated + remote usability testing</vt:lpstr>
      <vt:lpstr> Unmoderated + remote</vt:lpstr>
      <vt:lpstr> Unmoderated + in-person</vt:lpstr>
      <vt:lpstr> Unmoderated + in-person</vt:lpstr>
      <vt:lpstr> Unmoderated + remote</vt:lpstr>
      <vt:lpstr>Recap</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714</cp:revision>
  <cp:lastPrinted>1601-01-01T00:00:00Z</cp:lastPrinted>
  <dcterms:created xsi:type="dcterms:W3CDTF">2003-07-23T09:11:55Z</dcterms:created>
  <dcterms:modified xsi:type="dcterms:W3CDTF">2024-09-23T20:56:39Z</dcterms:modified>
</cp:coreProperties>
</file>